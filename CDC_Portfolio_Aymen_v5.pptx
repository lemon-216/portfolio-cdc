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18.svg" ContentType="image/svg"/>
  <Override PartName="/ppt/media/image20.svg" ContentType="image/svg"/>
  <Override PartName="/ppt/media/image22.svg" ContentType="image/svg"/>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10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101.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100.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0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6.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05.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10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Masters/slideMaster1.xml" ContentType="application/vnd.openxmlformats-officedocument.presentationml.slideMaster+xml"/>
  <Override PartName="/ppt/notesSlides/notesSlide54.xml" ContentType="application/vnd.openxmlformats-officedocument.presentationml.notesSlide+xml"/>
  <Override PartName="/ppt/notesSlides/notesSlide100.xml" ContentType="application/vnd.openxmlformats-officedocument.presentationml.notesSlide+xml"/>
  <Override PartName="/ppt/notesSlides/notesSlide76.xml" ContentType="application/vnd.openxmlformats-officedocument.presentationml.notesSlide+xml"/>
  <Override PartName="/ppt/notesSlides/notesSlide1.xml" ContentType="application/vnd.openxmlformats-officedocument.presentationml.notesSlide+xml"/>
  <Override PartName="/ppt/notesSlides/notesSlide53.xml" ContentType="application/vnd.openxmlformats-officedocument.presentationml.notesSlide+xml"/>
  <Override PartName="/ppt/notesSlides/notesSlide103.xml" ContentType="application/vnd.openxmlformats-officedocument.presentationml.notesSlide+xml"/>
  <Override PartName="/ppt/notesSlides/notesSlide75.xml" ContentType="application/vnd.openxmlformats-officedocument.presentationml.notesSlide+xml"/>
  <Override PartName="/ppt/notesSlides/notesSlide2.xml" ContentType="application/vnd.openxmlformats-officedocument.presentationml.notesSlide+xml"/>
  <Override PartName="/ppt/notesSlides/notesSlide56.xml" ContentType="application/vnd.openxmlformats-officedocument.presentationml.notesSlide+xml"/>
  <Override PartName="/ppt/notesSlides/notesSlide102.xml" ContentType="application/vnd.openxmlformats-officedocument.presentationml.notesSlide+xml"/>
  <Override PartName="/ppt/notesSlides/notesSlide74.xml" ContentType="application/vnd.openxmlformats-officedocument.presentationml.notesSlide+xml"/>
  <Override PartName="/ppt/notesSlides/notesSlide3.xml" ContentType="application/vnd.openxmlformats-officedocument.presentationml.notesSlide+xml"/>
  <Override PartName="/ppt/notesSlides/notesSlide55.xml" ContentType="application/vnd.openxmlformats-officedocument.presentationml.notesSlide+xml"/>
  <Override PartName="/ppt/notesSlides/notesSlide105.xml" ContentType="application/vnd.openxmlformats-officedocument.presentationml.notesSlide+xml"/>
  <Override PartName="/ppt/notesSlides/notesSlide73.xml" ContentType="application/vnd.openxmlformats-officedocument.presentationml.notesSlide+xml"/>
  <Override PartName="/ppt/notesSlides/notesSlide4.xml" ContentType="application/vnd.openxmlformats-officedocument.presentationml.notesSlide+xml"/>
  <Override PartName="/ppt/notesSlides/notesSlide104.xml" ContentType="application/vnd.openxmlformats-officedocument.presentationml.notesSlide+xml"/>
  <Override PartName="/ppt/notesSlides/notesSlide72.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107.xml" ContentType="application/vnd.openxmlformats-officedocument.presentationml.notesSlide+xml"/>
  <Override PartName="/ppt/notesSlides/notesSlide71.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106.xml" ContentType="application/vnd.openxmlformats-officedocument.presentationml.notesSlide+xml"/>
  <Override PartName="/ppt/notesSlides/notesSlide70.xml" ContentType="application/vnd.openxmlformats-officedocument.presentationml.notesSlide+xml"/>
  <Override PartName="/ppt/notesSlides/notesSlide7.xml" ContentType="application/vnd.openxmlformats-officedocument.presentationml.notesSlide+xml"/>
  <Override PartName="/ppt/notesSlides/notesSlide62.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101.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fr-FR" sz="4400" b="0" u="none" strike="noStrike">
                <a:solidFill>
                  <a:srgbClr val="000000"/>
                </a:solidFill>
                <a:effectLst/>
                <a:uFillTx/>
                <a:latin typeface="Arial"/>
              </a:rPr>
              <a:t>Cliquez pour déplacer la diapo</a:t>
            </a:r>
            <a:endParaRPr lang="fr-FR" sz="4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AFFE18EE-4D48-4768-A2EA-FE28A4E30BB2}"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0" name="PlaceHolder 1"/>
          <p:cNvSpPr>
            <a:spLocks noGrp="1"/>
          </p:cNvSpPr>
          <p:nvPr>
            <p:ph type="sldImg"/>
          </p:nvPr>
        </p:nvSpPr>
        <p:spPr>
          <a:xfrm>
            <a:off x="685800" y="1143000"/>
            <a:ext cx="5479200" cy="3079080"/>
          </a:xfrm>
          <a:prstGeom prst="rect">
            <a:avLst/>
          </a:prstGeom>
          <a:ln w="0">
            <a:noFill/>
          </a:ln>
        </p:spPr>
      </p:sp>
      <p:sp>
        <p:nvSpPr>
          <p:cNvPr id="223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32" name="PlaceHolder 3"/>
          <p:cNvSpPr>
            <a:spLocks noGrp="1"/>
          </p:cNvSpPr>
          <p:nvPr>
            <p:ph type="sldNum" idx="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608CE9E3-CCDA-4E16-8F07-18EEBCE50A4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3" name="PlaceHolder 1"/>
          <p:cNvSpPr>
            <a:spLocks noGrp="1"/>
          </p:cNvSpPr>
          <p:nvPr>
            <p:ph type="sldImg"/>
          </p:nvPr>
        </p:nvSpPr>
        <p:spPr>
          <a:xfrm>
            <a:off x="685800" y="1143000"/>
            <a:ext cx="5479200" cy="3079080"/>
          </a:xfrm>
          <a:prstGeom prst="rect">
            <a:avLst/>
          </a:prstGeom>
          <a:ln w="0">
            <a:noFill/>
          </a:ln>
        </p:spPr>
      </p:sp>
      <p:sp>
        <p:nvSpPr>
          <p:cNvPr id="223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35" name="PlaceHolder 3"/>
          <p:cNvSpPr>
            <a:spLocks noGrp="1"/>
          </p:cNvSpPr>
          <p:nvPr>
            <p:ph type="sldNum" idx="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F4BF7BF-8842-44FD-815D-AD6AF876BBC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6" name="PlaceHolder 1"/>
          <p:cNvSpPr>
            <a:spLocks noGrp="1"/>
          </p:cNvSpPr>
          <p:nvPr>
            <p:ph type="sldImg"/>
          </p:nvPr>
        </p:nvSpPr>
        <p:spPr>
          <a:xfrm>
            <a:off x="685800" y="1143000"/>
            <a:ext cx="5479200" cy="3079080"/>
          </a:xfrm>
          <a:prstGeom prst="rect">
            <a:avLst/>
          </a:prstGeom>
          <a:ln w="0">
            <a:noFill/>
          </a:ln>
        </p:spPr>
      </p:sp>
      <p:sp>
        <p:nvSpPr>
          <p:cNvPr id="223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38" name="PlaceHolder 3"/>
          <p:cNvSpPr>
            <a:spLocks noGrp="1"/>
          </p:cNvSpPr>
          <p:nvPr>
            <p:ph type="sldNum" idx="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A4BEB8A-987C-43AF-8EA5-521AD06070F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9" name="PlaceHolder 1"/>
          <p:cNvSpPr>
            <a:spLocks noGrp="1"/>
          </p:cNvSpPr>
          <p:nvPr>
            <p:ph type="sldImg"/>
          </p:nvPr>
        </p:nvSpPr>
        <p:spPr>
          <a:xfrm>
            <a:off x="685800" y="1143000"/>
            <a:ext cx="5479200" cy="3079080"/>
          </a:xfrm>
          <a:prstGeom prst="rect">
            <a:avLst/>
          </a:prstGeom>
          <a:ln w="0">
            <a:noFill/>
          </a:ln>
        </p:spPr>
      </p:sp>
      <p:sp>
        <p:nvSpPr>
          <p:cNvPr id="224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41" name="PlaceHolder 3"/>
          <p:cNvSpPr>
            <a:spLocks noGrp="1"/>
          </p:cNvSpPr>
          <p:nvPr>
            <p:ph type="sldNum" idx="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8D26F664-235C-4FEB-B5F3-9DFD1619B927}"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2" name="PlaceHolder 1"/>
          <p:cNvSpPr>
            <a:spLocks noGrp="1"/>
          </p:cNvSpPr>
          <p:nvPr>
            <p:ph type="sldImg"/>
          </p:nvPr>
        </p:nvSpPr>
        <p:spPr>
          <a:xfrm>
            <a:off x="685800" y="1143000"/>
            <a:ext cx="5479200" cy="3079080"/>
          </a:xfrm>
          <a:prstGeom prst="rect">
            <a:avLst/>
          </a:prstGeom>
          <a:ln w="0">
            <a:noFill/>
          </a:ln>
        </p:spPr>
      </p:sp>
      <p:sp>
        <p:nvSpPr>
          <p:cNvPr id="224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44" name="PlaceHolder 3"/>
          <p:cNvSpPr>
            <a:spLocks noGrp="1"/>
          </p:cNvSpPr>
          <p:nvPr>
            <p:ph type="sldNum" idx="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701DCC6-C177-4634-BDB7-F8E5CB6BD31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5" name="PlaceHolder 1"/>
          <p:cNvSpPr>
            <a:spLocks noGrp="1"/>
          </p:cNvSpPr>
          <p:nvPr>
            <p:ph type="sldImg"/>
          </p:nvPr>
        </p:nvSpPr>
        <p:spPr>
          <a:xfrm>
            <a:off x="685800" y="1143000"/>
            <a:ext cx="5479200" cy="3079080"/>
          </a:xfrm>
          <a:prstGeom prst="rect">
            <a:avLst/>
          </a:prstGeom>
          <a:ln w="0">
            <a:noFill/>
          </a:ln>
        </p:spPr>
      </p:sp>
      <p:sp>
        <p:nvSpPr>
          <p:cNvPr id="224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47" name="PlaceHolder 3"/>
          <p:cNvSpPr>
            <a:spLocks noGrp="1"/>
          </p:cNvSpPr>
          <p:nvPr>
            <p:ph type="sldNum" idx="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D08F96C-A1B1-475A-A6F8-F190F0D31BA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8" name="PlaceHolder 1"/>
          <p:cNvSpPr>
            <a:spLocks noGrp="1"/>
          </p:cNvSpPr>
          <p:nvPr>
            <p:ph type="sldImg"/>
          </p:nvPr>
        </p:nvSpPr>
        <p:spPr>
          <a:xfrm>
            <a:off x="685800" y="1143000"/>
            <a:ext cx="5479200" cy="3079080"/>
          </a:xfrm>
          <a:prstGeom prst="rect">
            <a:avLst/>
          </a:prstGeom>
          <a:ln w="0">
            <a:noFill/>
          </a:ln>
        </p:spPr>
      </p:sp>
      <p:sp>
        <p:nvSpPr>
          <p:cNvPr id="224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50" name="PlaceHolder 3"/>
          <p:cNvSpPr>
            <a:spLocks noGrp="1"/>
          </p:cNvSpPr>
          <p:nvPr>
            <p:ph type="sldNum" idx="1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73CF2E0-62C1-428F-A26E-A483559275A3}"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1" name="PlaceHolder 1"/>
          <p:cNvSpPr>
            <a:spLocks noGrp="1"/>
          </p:cNvSpPr>
          <p:nvPr>
            <p:ph type="sldImg"/>
          </p:nvPr>
        </p:nvSpPr>
        <p:spPr>
          <a:xfrm>
            <a:off x="685800" y="1143000"/>
            <a:ext cx="5479200" cy="3079080"/>
          </a:xfrm>
          <a:prstGeom prst="rect">
            <a:avLst/>
          </a:prstGeom>
          <a:ln w="0">
            <a:noFill/>
          </a:ln>
        </p:spPr>
      </p:sp>
      <p:sp>
        <p:nvSpPr>
          <p:cNvPr id="225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53" name="PlaceHolder 3"/>
          <p:cNvSpPr>
            <a:spLocks noGrp="1"/>
          </p:cNvSpPr>
          <p:nvPr>
            <p:ph type="sldNum" idx="1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4B11FAF-F4D6-458A-8A7C-15552EE936B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4" name="PlaceHolder 1"/>
          <p:cNvSpPr>
            <a:spLocks noGrp="1"/>
          </p:cNvSpPr>
          <p:nvPr>
            <p:ph type="sldImg"/>
          </p:nvPr>
        </p:nvSpPr>
        <p:spPr>
          <a:xfrm>
            <a:off x="685800" y="1143000"/>
            <a:ext cx="5479200" cy="3079080"/>
          </a:xfrm>
          <a:prstGeom prst="rect">
            <a:avLst/>
          </a:prstGeom>
          <a:ln w="0">
            <a:noFill/>
          </a:ln>
        </p:spPr>
      </p:sp>
      <p:sp>
        <p:nvSpPr>
          <p:cNvPr id="225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56" name="PlaceHolder 3"/>
          <p:cNvSpPr>
            <a:spLocks noGrp="1"/>
          </p:cNvSpPr>
          <p:nvPr>
            <p:ph type="sldNum" idx="1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AE5F2F8-DE11-459C-BEF0-E50C37B348E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7" name="PlaceHolder 1"/>
          <p:cNvSpPr>
            <a:spLocks noGrp="1"/>
          </p:cNvSpPr>
          <p:nvPr>
            <p:ph type="sldImg"/>
          </p:nvPr>
        </p:nvSpPr>
        <p:spPr>
          <a:xfrm>
            <a:off x="685800" y="1143000"/>
            <a:ext cx="5479200" cy="3079080"/>
          </a:xfrm>
          <a:prstGeom prst="rect">
            <a:avLst/>
          </a:prstGeom>
          <a:ln w="0">
            <a:noFill/>
          </a:ln>
        </p:spPr>
      </p:sp>
      <p:sp>
        <p:nvSpPr>
          <p:cNvPr id="225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59" name="PlaceHolder 3"/>
          <p:cNvSpPr>
            <a:spLocks noGrp="1"/>
          </p:cNvSpPr>
          <p:nvPr>
            <p:ph type="sldNum" idx="1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741691C-46CE-4227-921A-665A5B14E90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0" name="PlaceHolder 1"/>
          <p:cNvSpPr>
            <a:spLocks noGrp="1"/>
          </p:cNvSpPr>
          <p:nvPr>
            <p:ph type="sldImg"/>
          </p:nvPr>
        </p:nvSpPr>
        <p:spPr>
          <a:xfrm>
            <a:off x="685800" y="1143000"/>
            <a:ext cx="5479200" cy="3079080"/>
          </a:xfrm>
          <a:prstGeom prst="rect">
            <a:avLst/>
          </a:prstGeom>
          <a:ln w="0">
            <a:noFill/>
          </a:ln>
        </p:spPr>
      </p:sp>
      <p:sp>
        <p:nvSpPr>
          <p:cNvPr id="226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62" name="PlaceHolder 3"/>
          <p:cNvSpPr>
            <a:spLocks noGrp="1"/>
          </p:cNvSpPr>
          <p:nvPr>
            <p:ph type="sldNum" idx="1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AE0CD98-12C4-48E3-A862-031F0F011413}"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3" name="PlaceHolder 1"/>
          <p:cNvSpPr>
            <a:spLocks noGrp="1"/>
          </p:cNvSpPr>
          <p:nvPr>
            <p:ph type="sldImg"/>
          </p:nvPr>
        </p:nvSpPr>
        <p:spPr>
          <a:xfrm>
            <a:off x="685800" y="1143000"/>
            <a:ext cx="5479200" cy="3079080"/>
          </a:xfrm>
          <a:prstGeom prst="rect">
            <a:avLst/>
          </a:prstGeom>
          <a:ln w="0">
            <a:noFill/>
          </a:ln>
        </p:spPr>
      </p:sp>
      <p:sp>
        <p:nvSpPr>
          <p:cNvPr id="226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65" name="PlaceHolder 3"/>
          <p:cNvSpPr>
            <a:spLocks noGrp="1"/>
          </p:cNvSpPr>
          <p:nvPr>
            <p:ph type="sldNum" idx="1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BC55F90-4FC1-4256-8987-CC0C85D8203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6" name="PlaceHolder 1"/>
          <p:cNvSpPr>
            <a:spLocks noGrp="1"/>
          </p:cNvSpPr>
          <p:nvPr>
            <p:ph type="sldImg"/>
          </p:nvPr>
        </p:nvSpPr>
        <p:spPr>
          <a:xfrm>
            <a:off x="685800" y="1143000"/>
            <a:ext cx="5479200" cy="3079080"/>
          </a:xfrm>
          <a:prstGeom prst="rect">
            <a:avLst/>
          </a:prstGeom>
          <a:ln w="0">
            <a:noFill/>
          </a:ln>
        </p:spPr>
      </p:sp>
      <p:sp>
        <p:nvSpPr>
          <p:cNvPr id="226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68" name="PlaceHolder 3"/>
          <p:cNvSpPr>
            <a:spLocks noGrp="1"/>
          </p:cNvSpPr>
          <p:nvPr>
            <p:ph type="sldNum" idx="1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FAA9C01-0437-49A9-B031-3CF3CBA7D50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9" name="PlaceHolder 1"/>
          <p:cNvSpPr>
            <a:spLocks noGrp="1"/>
          </p:cNvSpPr>
          <p:nvPr>
            <p:ph type="sldImg"/>
          </p:nvPr>
        </p:nvSpPr>
        <p:spPr>
          <a:xfrm>
            <a:off x="685800" y="1143000"/>
            <a:ext cx="5479200" cy="3079080"/>
          </a:xfrm>
          <a:prstGeom prst="rect">
            <a:avLst/>
          </a:prstGeom>
          <a:ln w="0">
            <a:noFill/>
          </a:ln>
        </p:spPr>
      </p:sp>
      <p:sp>
        <p:nvSpPr>
          <p:cNvPr id="227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71" name="PlaceHolder 3"/>
          <p:cNvSpPr>
            <a:spLocks noGrp="1"/>
          </p:cNvSpPr>
          <p:nvPr>
            <p:ph type="sldNum" idx="1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910A204-71B2-4F1A-BF32-1AD592AEA25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2" name="PlaceHolder 1"/>
          <p:cNvSpPr>
            <a:spLocks noGrp="1"/>
          </p:cNvSpPr>
          <p:nvPr>
            <p:ph type="sldImg"/>
          </p:nvPr>
        </p:nvSpPr>
        <p:spPr>
          <a:xfrm>
            <a:off x="685800" y="1143000"/>
            <a:ext cx="5479200" cy="3079080"/>
          </a:xfrm>
          <a:prstGeom prst="rect">
            <a:avLst/>
          </a:prstGeom>
          <a:ln w="0">
            <a:noFill/>
          </a:ln>
        </p:spPr>
      </p:sp>
      <p:sp>
        <p:nvSpPr>
          <p:cNvPr id="227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74" name="PlaceHolder 3"/>
          <p:cNvSpPr>
            <a:spLocks noGrp="1"/>
          </p:cNvSpPr>
          <p:nvPr>
            <p:ph type="sldNum" idx="1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C3D542C-C361-4213-B0A6-2B452C484BD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5" name="PlaceHolder 1"/>
          <p:cNvSpPr>
            <a:spLocks noGrp="1"/>
          </p:cNvSpPr>
          <p:nvPr>
            <p:ph type="sldImg"/>
          </p:nvPr>
        </p:nvSpPr>
        <p:spPr>
          <a:xfrm>
            <a:off x="685800" y="1143000"/>
            <a:ext cx="5479200" cy="3079080"/>
          </a:xfrm>
          <a:prstGeom prst="rect">
            <a:avLst/>
          </a:prstGeom>
          <a:ln w="0">
            <a:noFill/>
          </a:ln>
        </p:spPr>
      </p:sp>
      <p:sp>
        <p:nvSpPr>
          <p:cNvPr id="227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77" name="PlaceHolder 3"/>
          <p:cNvSpPr>
            <a:spLocks noGrp="1"/>
          </p:cNvSpPr>
          <p:nvPr>
            <p:ph type="sldNum" idx="1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3514438-A6A6-41EB-A4BD-151B3C247F3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8" name="PlaceHolder 1"/>
          <p:cNvSpPr>
            <a:spLocks noGrp="1"/>
          </p:cNvSpPr>
          <p:nvPr>
            <p:ph type="sldImg"/>
          </p:nvPr>
        </p:nvSpPr>
        <p:spPr>
          <a:xfrm>
            <a:off x="685800" y="1143000"/>
            <a:ext cx="5479200" cy="3079080"/>
          </a:xfrm>
          <a:prstGeom prst="rect">
            <a:avLst/>
          </a:prstGeom>
          <a:ln w="0">
            <a:noFill/>
          </a:ln>
        </p:spPr>
      </p:sp>
      <p:sp>
        <p:nvSpPr>
          <p:cNvPr id="227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80" name="PlaceHolder 3"/>
          <p:cNvSpPr>
            <a:spLocks noGrp="1"/>
          </p:cNvSpPr>
          <p:nvPr>
            <p:ph type="sldNum" idx="2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86864F2F-10BD-4169-BF92-A543CE865FA3}"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1" name="PlaceHolder 1"/>
          <p:cNvSpPr>
            <a:spLocks noGrp="1"/>
          </p:cNvSpPr>
          <p:nvPr>
            <p:ph type="sldImg"/>
          </p:nvPr>
        </p:nvSpPr>
        <p:spPr>
          <a:xfrm>
            <a:off x="685800" y="1143000"/>
            <a:ext cx="5479200" cy="3079080"/>
          </a:xfrm>
          <a:prstGeom prst="rect">
            <a:avLst/>
          </a:prstGeom>
          <a:ln w="0">
            <a:noFill/>
          </a:ln>
        </p:spPr>
      </p:sp>
      <p:sp>
        <p:nvSpPr>
          <p:cNvPr id="228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83" name="PlaceHolder 3"/>
          <p:cNvSpPr>
            <a:spLocks noGrp="1"/>
          </p:cNvSpPr>
          <p:nvPr>
            <p:ph type="sldNum" idx="2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ABE40A5-7B0C-4AB8-B570-259FE542577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4" name="PlaceHolder 1"/>
          <p:cNvSpPr>
            <a:spLocks noGrp="1"/>
          </p:cNvSpPr>
          <p:nvPr>
            <p:ph type="sldImg"/>
          </p:nvPr>
        </p:nvSpPr>
        <p:spPr>
          <a:xfrm>
            <a:off x="685800" y="1143000"/>
            <a:ext cx="5479200" cy="3079080"/>
          </a:xfrm>
          <a:prstGeom prst="rect">
            <a:avLst/>
          </a:prstGeom>
          <a:ln w="0">
            <a:noFill/>
          </a:ln>
        </p:spPr>
      </p:sp>
      <p:sp>
        <p:nvSpPr>
          <p:cNvPr id="228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86" name="PlaceHolder 3"/>
          <p:cNvSpPr>
            <a:spLocks noGrp="1"/>
          </p:cNvSpPr>
          <p:nvPr>
            <p:ph type="sldNum" idx="2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5FC3B72-5689-41F9-8451-3F7B2FEC46B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7" name="PlaceHolder 1"/>
          <p:cNvSpPr>
            <a:spLocks noGrp="1"/>
          </p:cNvSpPr>
          <p:nvPr>
            <p:ph type="sldImg"/>
          </p:nvPr>
        </p:nvSpPr>
        <p:spPr>
          <a:xfrm>
            <a:off x="685800" y="1143000"/>
            <a:ext cx="5479200" cy="3079080"/>
          </a:xfrm>
          <a:prstGeom prst="rect">
            <a:avLst/>
          </a:prstGeom>
          <a:ln w="0">
            <a:noFill/>
          </a:ln>
        </p:spPr>
      </p:sp>
      <p:sp>
        <p:nvSpPr>
          <p:cNvPr id="228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89" name="PlaceHolder 3"/>
          <p:cNvSpPr>
            <a:spLocks noGrp="1"/>
          </p:cNvSpPr>
          <p:nvPr>
            <p:ph type="sldNum" idx="2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060491D-1CA4-41F6-A060-59DCD6130F4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0" name="PlaceHolder 1"/>
          <p:cNvSpPr>
            <a:spLocks noGrp="1"/>
          </p:cNvSpPr>
          <p:nvPr>
            <p:ph type="sldImg"/>
          </p:nvPr>
        </p:nvSpPr>
        <p:spPr>
          <a:xfrm>
            <a:off x="685800" y="1143000"/>
            <a:ext cx="5479200" cy="3079080"/>
          </a:xfrm>
          <a:prstGeom prst="rect">
            <a:avLst/>
          </a:prstGeom>
          <a:ln w="0">
            <a:noFill/>
          </a:ln>
        </p:spPr>
      </p:sp>
      <p:sp>
        <p:nvSpPr>
          <p:cNvPr id="229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92" name="PlaceHolder 3"/>
          <p:cNvSpPr>
            <a:spLocks noGrp="1"/>
          </p:cNvSpPr>
          <p:nvPr>
            <p:ph type="sldNum" idx="2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F52ADED-F4D3-4A7C-B347-B864A651CED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3" name="PlaceHolder 1"/>
          <p:cNvSpPr>
            <a:spLocks noGrp="1"/>
          </p:cNvSpPr>
          <p:nvPr>
            <p:ph type="sldImg"/>
          </p:nvPr>
        </p:nvSpPr>
        <p:spPr>
          <a:xfrm>
            <a:off x="685800" y="1143000"/>
            <a:ext cx="5479200" cy="3079080"/>
          </a:xfrm>
          <a:prstGeom prst="rect">
            <a:avLst/>
          </a:prstGeom>
          <a:ln w="0">
            <a:noFill/>
          </a:ln>
        </p:spPr>
      </p:sp>
      <p:sp>
        <p:nvSpPr>
          <p:cNvPr id="229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95" name="PlaceHolder 3"/>
          <p:cNvSpPr>
            <a:spLocks noGrp="1"/>
          </p:cNvSpPr>
          <p:nvPr>
            <p:ph type="sldNum" idx="2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5DB9A27-1AA4-4873-A61F-862AD7060807}"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6" name="PlaceHolder 1"/>
          <p:cNvSpPr>
            <a:spLocks noGrp="1"/>
          </p:cNvSpPr>
          <p:nvPr>
            <p:ph type="sldImg"/>
          </p:nvPr>
        </p:nvSpPr>
        <p:spPr>
          <a:xfrm>
            <a:off x="685800" y="1143000"/>
            <a:ext cx="5479200" cy="3079080"/>
          </a:xfrm>
          <a:prstGeom prst="rect">
            <a:avLst/>
          </a:prstGeom>
          <a:ln w="0">
            <a:noFill/>
          </a:ln>
        </p:spPr>
      </p:sp>
      <p:sp>
        <p:nvSpPr>
          <p:cNvPr id="229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298" name="PlaceHolder 3"/>
          <p:cNvSpPr>
            <a:spLocks noGrp="1"/>
          </p:cNvSpPr>
          <p:nvPr>
            <p:ph type="sldNum" idx="2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81DA39D-6780-43CE-8B3E-ECCB2C18886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9" name="PlaceHolder 1"/>
          <p:cNvSpPr>
            <a:spLocks noGrp="1"/>
          </p:cNvSpPr>
          <p:nvPr>
            <p:ph type="sldImg"/>
          </p:nvPr>
        </p:nvSpPr>
        <p:spPr>
          <a:xfrm>
            <a:off x="685800" y="1143000"/>
            <a:ext cx="5479200" cy="3079080"/>
          </a:xfrm>
          <a:prstGeom prst="rect">
            <a:avLst/>
          </a:prstGeom>
          <a:ln w="0">
            <a:noFill/>
          </a:ln>
        </p:spPr>
      </p:sp>
      <p:sp>
        <p:nvSpPr>
          <p:cNvPr id="230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01" name="PlaceHolder 3"/>
          <p:cNvSpPr>
            <a:spLocks noGrp="1"/>
          </p:cNvSpPr>
          <p:nvPr>
            <p:ph type="sldNum" idx="2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9648559-9D04-4BE2-A7E1-84100C732CF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2" name="PlaceHolder 1"/>
          <p:cNvSpPr>
            <a:spLocks noGrp="1"/>
          </p:cNvSpPr>
          <p:nvPr>
            <p:ph type="sldImg"/>
          </p:nvPr>
        </p:nvSpPr>
        <p:spPr>
          <a:xfrm>
            <a:off x="685800" y="1143000"/>
            <a:ext cx="5479200" cy="3079080"/>
          </a:xfrm>
          <a:prstGeom prst="rect">
            <a:avLst/>
          </a:prstGeom>
          <a:ln w="0">
            <a:noFill/>
          </a:ln>
        </p:spPr>
      </p:sp>
      <p:sp>
        <p:nvSpPr>
          <p:cNvPr id="230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04" name="PlaceHolder 3"/>
          <p:cNvSpPr>
            <a:spLocks noGrp="1"/>
          </p:cNvSpPr>
          <p:nvPr>
            <p:ph type="sldNum" idx="2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F5A0F13-9898-4330-9A98-62C8305D40E6}"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5" name="PlaceHolder 1"/>
          <p:cNvSpPr>
            <a:spLocks noGrp="1"/>
          </p:cNvSpPr>
          <p:nvPr>
            <p:ph type="sldImg"/>
          </p:nvPr>
        </p:nvSpPr>
        <p:spPr>
          <a:xfrm>
            <a:off x="685800" y="1143000"/>
            <a:ext cx="5479200" cy="3079080"/>
          </a:xfrm>
          <a:prstGeom prst="rect">
            <a:avLst/>
          </a:prstGeom>
          <a:ln w="0">
            <a:noFill/>
          </a:ln>
        </p:spPr>
      </p:sp>
      <p:sp>
        <p:nvSpPr>
          <p:cNvPr id="230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07" name="PlaceHolder 3"/>
          <p:cNvSpPr>
            <a:spLocks noGrp="1"/>
          </p:cNvSpPr>
          <p:nvPr>
            <p:ph type="sldNum" idx="2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1B5A1D4-EB25-440D-9A8C-B3DF0ADF895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8" name="PlaceHolder 1"/>
          <p:cNvSpPr>
            <a:spLocks noGrp="1"/>
          </p:cNvSpPr>
          <p:nvPr>
            <p:ph type="sldImg"/>
          </p:nvPr>
        </p:nvSpPr>
        <p:spPr>
          <a:xfrm>
            <a:off x="685800" y="1143000"/>
            <a:ext cx="5479200" cy="3079080"/>
          </a:xfrm>
          <a:prstGeom prst="rect">
            <a:avLst/>
          </a:prstGeom>
          <a:ln w="0">
            <a:noFill/>
          </a:ln>
        </p:spPr>
      </p:sp>
      <p:sp>
        <p:nvSpPr>
          <p:cNvPr id="230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10" name="PlaceHolder 3"/>
          <p:cNvSpPr>
            <a:spLocks noGrp="1"/>
          </p:cNvSpPr>
          <p:nvPr>
            <p:ph type="sldNum" idx="3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54D9D94-CB55-4882-BFF7-1DE01594558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1" name="PlaceHolder 1"/>
          <p:cNvSpPr>
            <a:spLocks noGrp="1"/>
          </p:cNvSpPr>
          <p:nvPr>
            <p:ph type="sldImg"/>
          </p:nvPr>
        </p:nvSpPr>
        <p:spPr>
          <a:xfrm>
            <a:off x="685800" y="1143000"/>
            <a:ext cx="5479200" cy="3079080"/>
          </a:xfrm>
          <a:prstGeom prst="rect">
            <a:avLst/>
          </a:prstGeom>
          <a:ln w="0">
            <a:noFill/>
          </a:ln>
        </p:spPr>
      </p:sp>
      <p:sp>
        <p:nvSpPr>
          <p:cNvPr id="231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13" name="PlaceHolder 3"/>
          <p:cNvSpPr>
            <a:spLocks noGrp="1"/>
          </p:cNvSpPr>
          <p:nvPr>
            <p:ph type="sldNum" idx="3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E845120-EF27-4293-8921-C574A4EE9E6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4" name="PlaceHolder 1"/>
          <p:cNvSpPr>
            <a:spLocks noGrp="1"/>
          </p:cNvSpPr>
          <p:nvPr>
            <p:ph type="sldImg"/>
          </p:nvPr>
        </p:nvSpPr>
        <p:spPr>
          <a:xfrm>
            <a:off x="685800" y="1143000"/>
            <a:ext cx="5479200" cy="3079080"/>
          </a:xfrm>
          <a:prstGeom prst="rect">
            <a:avLst/>
          </a:prstGeom>
          <a:ln w="0">
            <a:noFill/>
          </a:ln>
        </p:spPr>
      </p:sp>
      <p:sp>
        <p:nvSpPr>
          <p:cNvPr id="231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16" name="PlaceHolder 3"/>
          <p:cNvSpPr>
            <a:spLocks noGrp="1"/>
          </p:cNvSpPr>
          <p:nvPr>
            <p:ph type="sldNum" idx="3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5AAB1F7-1707-42C4-856A-C5441AC49E56}"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7" name="PlaceHolder 1"/>
          <p:cNvSpPr>
            <a:spLocks noGrp="1"/>
          </p:cNvSpPr>
          <p:nvPr>
            <p:ph type="sldImg"/>
          </p:nvPr>
        </p:nvSpPr>
        <p:spPr>
          <a:xfrm>
            <a:off x="685800" y="1143000"/>
            <a:ext cx="5479200" cy="3079080"/>
          </a:xfrm>
          <a:prstGeom prst="rect">
            <a:avLst/>
          </a:prstGeom>
          <a:ln w="0">
            <a:noFill/>
          </a:ln>
        </p:spPr>
      </p:sp>
      <p:sp>
        <p:nvSpPr>
          <p:cNvPr id="231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19" name="PlaceHolder 3"/>
          <p:cNvSpPr>
            <a:spLocks noGrp="1"/>
          </p:cNvSpPr>
          <p:nvPr>
            <p:ph type="sldNum" idx="3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21DF126-E9DD-480E-8543-E7D05BA77A07}"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0" name="PlaceHolder 1"/>
          <p:cNvSpPr>
            <a:spLocks noGrp="1"/>
          </p:cNvSpPr>
          <p:nvPr>
            <p:ph type="sldImg"/>
          </p:nvPr>
        </p:nvSpPr>
        <p:spPr>
          <a:xfrm>
            <a:off x="685800" y="1143000"/>
            <a:ext cx="5479200" cy="3079080"/>
          </a:xfrm>
          <a:prstGeom prst="rect">
            <a:avLst/>
          </a:prstGeom>
          <a:ln w="0">
            <a:noFill/>
          </a:ln>
        </p:spPr>
      </p:sp>
      <p:sp>
        <p:nvSpPr>
          <p:cNvPr id="232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22" name="PlaceHolder 3"/>
          <p:cNvSpPr>
            <a:spLocks noGrp="1"/>
          </p:cNvSpPr>
          <p:nvPr>
            <p:ph type="sldNum" idx="3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C90FCDF-72A2-4994-A976-C431D297A0B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3" name="PlaceHolder 1"/>
          <p:cNvSpPr>
            <a:spLocks noGrp="1"/>
          </p:cNvSpPr>
          <p:nvPr>
            <p:ph type="sldImg"/>
          </p:nvPr>
        </p:nvSpPr>
        <p:spPr>
          <a:xfrm>
            <a:off x="685800" y="1143000"/>
            <a:ext cx="5479200" cy="3079080"/>
          </a:xfrm>
          <a:prstGeom prst="rect">
            <a:avLst/>
          </a:prstGeom>
          <a:ln w="0">
            <a:noFill/>
          </a:ln>
        </p:spPr>
      </p:sp>
      <p:sp>
        <p:nvSpPr>
          <p:cNvPr id="232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25" name="PlaceHolder 3"/>
          <p:cNvSpPr>
            <a:spLocks noGrp="1"/>
          </p:cNvSpPr>
          <p:nvPr>
            <p:ph type="sldNum" idx="3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5F4ECDD-5FA9-4694-9107-4E7FB7E8BABA}"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6" name="PlaceHolder 1"/>
          <p:cNvSpPr>
            <a:spLocks noGrp="1"/>
          </p:cNvSpPr>
          <p:nvPr>
            <p:ph type="sldImg"/>
          </p:nvPr>
        </p:nvSpPr>
        <p:spPr>
          <a:xfrm>
            <a:off x="685800" y="1143000"/>
            <a:ext cx="5479200" cy="3079080"/>
          </a:xfrm>
          <a:prstGeom prst="rect">
            <a:avLst/>
          </a:prstGeom>
          <a:ln w="0">
            <a:noFill/>
          </a:ln>
        </p:spPr>
      </p:sp>
      <p:sp>
        <p:nvSpPr>
          <p:cNvPr id="232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28" name="PlaceHolder 3"/>
          <p:cNvSpPr>
            <a:spLocks noGrp="1"/>
          </p:cNvSpPr>
          <p:nvPr>
            <p:ph type="sldNum" idx="3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C606903-D580-448E-B230-FFE2E46D2D1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9" name="PlaceHolder 1"/>
          <p:cNvSpPr>
            <a:spLocks noGrp="1"/>
          </p:cNvSpPr>
          <p:nvPr>
            <p:ph type="sldImg"/>
          </p:nvPr>
        </p:nvSpPr>
        <p:spPr>
          <a:xfrm>
            <a:off x="685800" y="1143000"/>
            <a:ext cx="5479200" cy="3079080"/>
          </a:xfrm>
          <a:prstGeom prst="rect">
            <a:avLst/>
          </a:prstGeom>
          <a:ln w="0">
            <a:noFill/>
          </a:ln>
        </p:spPr>
      </p:sp>
      <p:sp>
        <p:nvSpPr>
          <p:cNvPr id="233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31" name="PlaceHolder 3"/>
          <p:cNvSpPr>
            <a:spLocks noGrp="1"/>
          </p:cNvSpPr>
          <p:nvPr>
            <p:ph type="sldNum" idx="3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5C2AA96-E6AE-4BC3-86B8-6AB369BCFB3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2" name="PlaceHolder 1"/>
          <p:cNvSpPr>
            <a:spLocks noGrp="1"/>
          </p:cNvSpPr>
          <p:nvPr>
            <p:ph type="sldImg"/>
          </p:nvPr>
        </p:nvSpPr>
        <p:spPr>
          <a:xfrm>
            <a:off x="685800" y="1143000"/>
            <a:ext cx="5479200" cy="3079080"/>
          </a:xfrm>
          <a:prstGeom prst="rect">
            <a:avLst/>
          </a:prstGeom>
          <a:ln w="0">
            <a:noFill/>
          </a:ln>
        </p:spPr>
      </p:sp>
      <p:sp>
        <p:nvSpPr>
          <p:cNvPr id="233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34" name="PlaceHolder 3"/>
          <p:cNvSpPr>
            <a:spLocks noGrp="1"/>
          </p:cNvSpPr>
          <p:nvPr>
            <p:ph type="sldNum" idx="3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E85F051-2C2A-47F0-878D-D9928B51E18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5" name="PlaceHolder 1"/>
          <p:cNvSpPr>
            <a:spLocks noGrp="1"/>
          </p:cNvSpPr>
          <p:nvPr>
            <p:ph type="sldImg"/>
          </p:nvPr>
        </p:nvSpPr>
        <p:spPr>
          <a:xfrm>
            <a:off x="685800" y="1143000"/>
            <a:ext cx="5479200" cy="3079080"/>
          </a:xfrm>
          <a:prstGeom prst="rect">
            <a:avLst/>
          </a:prstGeom>
          <a:ln w="0">
            <a:noFill/>
          </a:ln>
        </p:spPr>
      </p:sp>
      <p:sp>
        <p:nvSpPr>
          <p:cNvPr id="233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37" name="PlaceHolder 3"/>
          <p:cNvSpPr>
            <a:spLocks noGrp="1"/>
          </p:cNvSpPr>
          <p:nvPr>
            <p:ph type="sldNum" idx="3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B0C158B-9E3D-4D8C-B827-1A341B8AD9B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8" name="PlaceHolder 1"/>
          <p:cNvSpPr>
            <a:spLocks noGrp="1"/>
          </p:cNvSpPr>
          <p:nvPr>
            <p:ph type="sldImg"/>
          </p:nvPr>
        </p:nvSpPr>
        <p:spPr>
          <a:xfrm>
            <a:off x="685800" y="1143000"/>
            <a:ext cx="5479200" cy="3079080"/>
          </a:xfrm>
          <a:prstGeom prst="rect">
            <a:avLst/>
          </a:prstGeom>
          <a:ln w="0">
            <a:noFill/>
          </a:ln>
        </p:spPr>
      </p:sp>
      <p:sp>
        <p:nvSpPr>
          <p:cNvPr id="233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40" name="PlaceHolder 3"/>
          <p:cNvSpPr>
            <a:spLocks noGrp="1"/>
          </p:cNvSpPr>
          <p:nvPr>
            <p:ph type="sldNum" idx="4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BFE7CD5-39FD-4396-921B-4EA5BF4933B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1" name="PlaceHolder 1"/>
          <p:cNvSpPr>
            <a:spLocks noGrp="1"/>
          </p:cNvSpPr>
          <p:nvPr>
            <p:ph type="sldImg"/>
          </p:nvPr>
        </p:nvSpPr>
        <p:spPr>
          <a:xfrm>
            <a:off x="685800" y="1143000"/>
            <a:ext cx="5479200" cy="3079080"/>
          </a:xfrm>
          <a:prstGeom prst="rect">
            <a:avLst/>
          </a:prstGeom>
          <a:ln w="0">
            <a:noFill/>
          </a:ln>
        </p:spPr>
      </p:sp>
      <p:sp>
        <p:nvSpPr>
          <p:cNvPr id="234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43" name="PlaceHolder 3"/>
          <p:cNvSpPr>
            <a:spLocks noGrp="1"/>
          </p:cNvSpPr>
          <p:nvPr>
            <p:ph type="sldNum" idx="4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80CFE0D-31D8-4020-84E9-6B8E1898894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4" name="PlaceHolder 1"/>
          <p:cNvSpPr>
            <a:spLocks noGrp="1"/>
          </p:cNvSpPr>
          <p:nvPr>
            <p:ph type="sldImg"/>
          </p:nvPr>
        </p:nvSpPr>
        <p:spPr>
          <a:xfrm>
            <a:off x="685800" y="1143000"/>
            <a:ext cx="5479200" cy="3079080"/>
          </a:xfrm>
          <a:prstGeom prst="rect">
            <a:avLst/>
          </a:prstGeom>
          <a:ln w="0">
            <a:noFill/>
          </a:ln>
        </p:spPr>
      </p:sp>
      <p:sp>
        <p:nvSpPr>
          <p:cNvPr id="234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46" name="PlaceHolder 3"/>
          <p:cNvSpPr>
            <a:spLocks noGrp="1"/>
          </p:cNvSpPr>
          <p:nvPr>
            <p:ph type="sldNum" idx="4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385A9AD-4D2C-4015-8AE0-892A6D4B1924}"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7" name="PlaceHolder 1"/>
          <p:cNvSpPr>
            <a:spLocks noGrp="1"/>
          </p:cNvSpPr>
          <p:nvPr>
            <p:ph type="sldImg"/>
          </p:nvPr>
        </p:nvSpPr>
        <p:spPr>
          <a:xfrm>
            <a:off x="685800" y="1143000"/>
            <a:ext cx="5479200" cy="3079080"/>
          </a:xfrm>
          <a:prstGeom prst="rect">
            <a:avLst/>
          </a:prstGeom>
          <a:ln w="0">
            <a:noFill/>
          </a:ln>
        </p:spPr>
      </p:sp>
      <p:sp>
        <p:nvSpPr>
          <p:cNvPr id="234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49" name="PlaceHolder 3"/>
          <p:cNvSpPr>
            <a:spLocks noGrp="1"/>
          </p:cNvSpPr>
          <p:nvPr>
            <p:ph type="sldNum" idx="4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D00E098-B7FF-4C6C-8E68-E5A8793EA93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0" name="PlaceHolder 1"/>
          <p:cNvSpPr>
            <a:spLocks noGrp="1"/>
          </p:cNvSpPr>
          <p:nvPr>
            <p:ph type="sldImg"/>
          </p:nvPr>
        </p:nvSpPr>
        <p:spPr>
          <a:xfrm>
            <a:off x="685800" y="1143000"/>
            <a:ext cx="5479200" cy="3079080"/>
          </a:xfrm>
          <a:prstGeom prst="rect">
            <a:avLst/>
          </a:prstGeom>
          <a:ln w="0">
            <a:noFill/>
          </a:ln>
        </p:spPr>
      </p:sp>
      <p:sp>
        <p:nvSpPr>
          <p:cNvPr id="235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52" name="PlaceHolder 3"/>
          <p:cNvSpPr>
            <a:spLocks noGrp="1"/>
          </p:cNvSpPr>
          <p:nvPr>
            <p:ph type="sldNum" idx="4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846BD77-E265-4A24-89E4-4FF5B91FAC9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3" name="PlaceHolder 1"/>
          <p:cNvSpPr>
            <a:spLocks noGrp="1"/>
          </p:cNvSpPr>
          <p:nvPr>
            <p:ph type="sldImg"/>
          </p:nvPr>
        </p:nvSpPr>
        <p:spPr>
          <a:xfrm>
            <a:off x="685800" y="1143000"/>
            <a:ext cx="5479200" cy="3079080"/>
          </a:xfrm>
          <a:prstGeom prst="rect">
            <a:avLst/>
          </a:prstGeom>
          <a:ln w="0">
            <a:noFill/>
          </a:ln>
        </p:spPr>
      </p:sp>
      <p:sp>
        <p:nvSpPr>
          <p:cNvPr id="235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55" name="PlaceHolder 3"/>
          <p:cNvSpPr>
            <a:spLocks noGrp="1"/>
          </p:cNvSpPr>
          <p:nvPr>
            <p:ph type="sldNum" idx="4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B11526B-210B-4397-9FF1-AD5B3D1794D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6" name="PlaceHolder 1"/>
          <p:cNvSpPr>
            <a:spLocks noGrp="1"/>
          </p:cNvSpPr>
          <p:nvPr>
            <p:ph type="sldImg"/>
          </p:nvPr>
        </p:nvSpPr>
        <p:spPr>
          <a:xfrm>
            <a:off x="685800" y="1143000"/>
            <a:ext cx="5479200" cy="3079080"/>
          </a:xfrm>
          <a:prstGeom prst="rect">
            <a:avLst/>
          </a:prstGeom>
          <a:ln w="0">
            <a:noFill/>
          </a:ln>
        </p:spPr>
      </p:sp>
      <p:sp>
        <p:nvSpPr>
          <p:cNvPr id="235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58" name="PlaceHolder 3"/>
          <p:cNvSpPr>
            <a:spLocks noGrp="1"/>
          </p:cNvSpPr>
          <p:nvPr>
            <p:ph type="sldNum" idx="4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6459E18-0A74-4E3F-A90D-37C6B461C15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9" name="PlaceHolder 1"/>
          <p:cNvSpPr>
            <a:spLocks noGrp="1"/>
          </p:cNvSpPr>
          <p:nvPr>
            <p:ph type="sldImg"/>
          </p:nvPr>
        </p:nvSpPr>
        <p:spPr>
          <a:xfrm>
            <a:off x="685800" y="1143000"/>
            <a:ext cx="5479200" cy="3079080"/>
          </a:xfrm>
          <a:prstGeom prst="rect">
            <a:avLst/>
          </a:prstGeom>
          <a:ln w="0">
            <a:noFill/>
          </a:ln>
        </p:spPr>
      </p:sp>
      <p:sp>
        <p:nvSpPr>
          <p:cNvPr id="236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61" name="PlaceHolder 3"/>
          <p:cNvSpPr>
            <a:spLocks noGrp="1"/>
          </p:cNvSpPr>
          <p:nvPr>
            <p:ph type="sldNum" idx="4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4D2EB4F-D176-4A67-B40A-3CCF0F294DF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2" name="PlaceHolder 1"/>
          <p:cNvSpPr>
            <a:spLocks noGrp="1"/>
          </p:cNvSpPr>
          <p:nvPr>
            <p:ph type="sldImg"/>
          </p:nvPr>
        </p:nvSpPr>
        <p:spPr>
          <a:xfrm>
            <a:off x="685800" y="1143000"/>
            <a:ext cx="5479200" cy="3079080"/>
          </a:xfrm>
          <a:prstGeom prst="rect">
            <a:avLst/>
          </a:prstGeom>
          <a:ln w="0">
            <a:noFill/>
          </a:ln>
        </p:spPr>
      </p:sp>
      <p:sp>
        <p:nvSpPr>
          <p:cNvPr id="236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64" name="PlaceHolder 3"/>
          <p:cNvSpPr>
            <a:spLocks noGrp="1"/>
          </p:cNvSpPr>
          <p:nvPr>
            <p:ph type="sldNum" idx="4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C64ACFD-978C-480C-B537-F0A1CB27EC4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5" name="PlaceHolder 1"/>
          <p:cNvSpPr>
            <a:spLocks noGrp="1"/>
          </p:cNvSpPr>
          <p:nvPr>
            <p:ph type="sldImg"/>
          </p:nvPr>
        </p:nvSpPr>
        <p:spPr>
          <a:xfrm>
            <a:off x="685800" y="1143000"/>
            <a:ext cx="5479200" cy="3079080"/>
          </a:xfrm>
          <a:prstGeom prst="rect">
            <a:avLst/>
          </a:prstGeom>
          <a:ln w="0">
            <a:noFill/>
          </a:ln>
        </p:spPr>
      </p:sp>
      <p:sp>
        <p:nvSpPr>
          <p:cNvPr id="236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67" name="PlaceHolder 3"/>
          <p:cNvSpPr>
            <a:spLocks noGrp="1"/>
          </p:cNvSpPr>
          <p:nvPr>
            <p:ph type="sldNum" idx="4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1862FC7F-4862-4BF7-9503-A1DD966A324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8" name="PlaceHolder 1"/>
          <p:cNvSpPr>
            <a:spLocks noGrp="1"/>
          </p:cNvSpPr>
          <p:nvPr>
            <p:ph type="sldImg"/>
          </p:nvPr>
        </p:nvSpPr>
        <p:spPr>
          <a:xfrm>
            <a:off x="685800" y="1143000"/>
            <a:ext cx="5479200" cy="3079080"/>
          </a:xfrm>
          <a:prstGeom prst="rect">
            <a:avLst/>
          </a:prstGeom>
          <a:ln w="0">
            <a:noFill/>
          </a:ln>
        </p:spPr>
      </p:sp>
      <p:sp>
        <p:nvSpPr>
          <p:cNvPr id="236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70" name="PlaceHolder 3"/>
          <p:cNvSpPr>
            <a:spLocks noGrp="1"/>
          </p:cNvSpPr>
          <p:nvPr>
            <p:ph type="sldNum" idx="5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6CE5391-9CB5-4B83-8A00-6EE5A6700B3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1" name="PlaceHolder 1"/>
          <p:cNvSpPr>
            <a:spLocks noGrp="1"/>
          </p:cNvSpPr>
          <p:nvPr>
            <p:ph type="sldImg"/>
          </p:nvPr>
        </p:nvSpPr>
        <p:spPr>
          <a:xfrm>
            <a:off x="685800" y="1143000"/>
            <a:ext cx="5479200" cy="3079080"/>
          </a:xfrm>
          <a:prstGeom prst="rect">
            <a:avLst/>
          </a:prstGeom>
          <a:ln w="0">
            <a:noFill/>
          </a:ln>
        </p:spPr>
      </p:sp>
      <p:sp>
        <p:nvSpPr>
          <p:cNvPr id="237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73" name="PlaceHolder 3"/>
          <p:cNvSpPr>
            <a:spLocks noGrp="1"/>
          </p:cNvSpPr>
          <p:nvPr>
            <p:ph type="sldNum" idx="5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DB94246-57C7-45A2-B392-327E57B66674}"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4" name="PlaceHolder 1"/>
          <p:cNvSpPr>
            <a:spLocks noGrp="1"/>
          </p:cNvSpPr>
          <p:nvPr>
            <p:ph type="sldImg"/>
          </p:nvPr>
        </p:nvSpPr>
        <p:spPr>
          <a:xfrm>
            <a:off x="685800" y="1143000"/>
            <a:ext cx="5479200" cy="3079080"/>
          </a:xfrm>
          <a:prstGeom prst="rect">
            <a:avLst/>
          </a:prstGeom>
          <a:ln w="0">
            <a:noFill/>
          </a:ln>
        </p:spPr>
      </p:sp>
      <p:sp>
        <p:nvSpPr>
          <p:cNvPr id="237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76" name="PlaceHolder 3"/>
          <p:cNvSpPr>
            <a:spLocks noGrp="1"/>
          </p:cNvSpPr>
          <p:nvPr>
            <p:ph type="sldNum" idx="5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0024C25-4C39-4A09-B260-F0CA30A457EA}"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7" name="PlaceHolder 1"/>
          <p:cNvSpPr>
            <a:spLocks noGrp="1"/>
          </p:cNvSpPr>
          <p:nvPr>
            <p:ph type="sldImg"/>
          </p:nvPr>
        </p:nvSpPr>
        <p:spPr>
          <a:xfrm>
            <a:off x="685800" y="1143000"/>
            <a:ext cx="5479200" cy="3079080"/>
          </a:xfrm>
          <a:prstGeom prst="rect">
            <a:avLst/>
          </a:prstGeom>
          <a:ln w="0">
            <a:noFill/>
          </a:ln>
        </p:spPr>
      </p:sp>
      <p:sp>
        <p:nvSpPr>
          <p:cNvPr id="237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79" name="PlaceHolder 3"/>
          <p:cNvSpPr>
            <a:spLocks noGrp="1"/>
          </p:cNvSpPr>
          <p:nvPr>
            <p:ph type="sldNum" idx="5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CB93973-8265-467C-AA30-EC0F91F7D8C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0" name="PlaceHolder 1"/>
          <p:cNvSpPr>
            <a:spLocks noGrp="1"/>
          </p:cNvSpPr>
          <p:nvPr>
            <p:ph type="sldImg"/>
          </p:nvPr>
        </p:nvSpPr>
        <p:spPr>
          <a:xfrm>
            <a:off x="685800" y="1143000"/>
            <a:ext cx="5479200" cy="3079080"/>
          </a:xfrm>
          <a:prstGeom prst="rect">
            <a:avLst/>
          </a:prstGeom>
          <a:ln w="0">
            <a:noFill/>
          </a:ln>
        </p:spPr>
      </p:sp>
      <p:sp>
        <p:nvSpPr>
          <p:cNvPr id="238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82" name="PlaceHolder 3"/>
          <p:cNvSpPr>
            <a:spLocks noGrp="1"/>
          </p:cNvSpPr>
          <p:nvPr>
            <p:ph type="sldNum" idx="5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E41DA0C-C228-4F80-A771-743090A7959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3" name="PlaceHolder 1"/>
          <p:cNvSpPr>
            <a:spLocks noGrp="1"/>
          </p:cNvSpPr>
          <p:nvPr>
            <p:ph type="sldImg"/>
          </p:nvPr>
        </p:nvSpPr>
        <p:spPr>
          <a:xfrm>
            <a:off x="685800" y="1143000"/>
            <a:ext cx="5479200" cy="3079080"/>
          </a:xfrm>
          <a:prstGeom prst="rect">
            <a:avLst/>
          </a:prstGeom>
          <a:ln w="0">
            <a:noFill/>
          </a:ln>
        </p:spPr>
      </p:sp>
      <p:sp>
        <p:nvSpPr>
          <p:cNvPr id="238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85" name="PlaceHolder 3"/>
          <p:cNvSpPr>
            <a:spLocks noGrp="1"/>
          </p:cNvSpPr>
          <p:nvPr>
            <p:ph type="sldNum" idx="5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8DE71DB-580B-4CC5-AE6B-0345DCAC954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6" name="PlaceHolder 1"/>
          <p:cNvSpPr>
            <a:spLocks noGrp="1"/>
          </p:cNvSpPr>
          <p:nvPr>
            <p:ph type="sldImg"/>
          </p:nvPr>
        </p:nvSpPr>
        <p:spPr>
          <a:xfrm>
            <a:off x="685800" y="1143000"/>
            <a:ext cx="5479200" cy="3079080"/>
          </a:xfrm>
          <a:prstGeom prst="rect">
            <a:avLst/>
          </a:prstGeom>
          <a:ln w="0">
            <a:noFill/>
          </a:ln>
        </p:spPr>
      </p:sp>
      <p:sp>
        <p:nvSpPr>
          <p:cNvPr id="238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88" name="PlaceHolder 3"/>
          <p:cNvSpPr>
            <a:spLocks noGrp="1"/>
          </p:cNvSpPr>
          <p:nvPr>
            <p:ph type="sldNum" idx="5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EBAD900-899F-4188-A4CF-73F86428E85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9" name="PlaceHolder 1"/>
          <p:cNvSpPr>
            <a:spLocks noGrp="1"/>
          </p:cNvSpPr>
          <p:nvPr>
            <p:ph type="sldImg"/>
          </p:nvPr>
        </p:nvSpPr>
        <p:spPr>
          <a:xfrm>
            <a:off x="685800" y="1143000"/>
            <a:ext cx="5479200" cy="3079080"/>
          </a:xfrm>
          <a:prstGeom prst="rect">
            <a:avLst/>
          </a:prstGeom>
          <a:ln w="0">
            <a:noFill/>
          </a:ln>
        </p:spPr>
      </p:sp>
      <p:sp>
        <p:nvSpPr>
          <p:cNvPr id="239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91" name="PlaceHolder 3"/>
          <p:cNvSpPr>
            <a:spLocks noGrp="1"/>
          </p:cNvSpPr>
          <p:nvPr>
            <p:ph type="sldNum" idx="5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B1667AB-8CBB-4EC6-A135-73D074FF22C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2" name="PlaceHolder 1"/>
          <p:cNvSpPr>
            <a:spLocks noGrp="1"/>
          </p:cNvSpPr>
          <p:nvPr>
            <p:ph type="sldImg"/>
          </p:nvPr>
        </p:nvSpPr>
        <p:spPr>
          <a:xfrm>
            <a:off x="685800" y="1143000"/>
            <a:ext cx="5479200" cy="3079080"/>
          </a:xfrm>
          <a:prstGeom prst="rect">
            <a:avLst/>
          </a:prstGeom>
          <a:ln w="0">
            <a:noFill/>
          </a:ln>
        </p:spPr>
      </p:sp>
      <p:sp>
        <p:nvSpPr>
          <p:cNvPr id="239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94" name="PlaceHolder 3"/>
          <p:cNvSpPr>
            <a:spLocks noGrp="1"/>
          </p:cNvSpPr>
          <p:nvPr>
            <p:ph type="sldNum" idx="5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637078A-91C0-4FCA-A4BF-F6A2DC63F06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5" name="PlaceHolder 1"/>
          <p:cNvSpPr>
            <a:spLocks noGrp="1"/>
          </p:cNvSpPr>
          <p:nvPr>
            <p:ph type="sldImg"/>
          </p:nvPr>
        </p:nvSpPr>
        <p:spPr>
          <a:xfrm>
            <a:off x="685800" y="1143000"/>
            <a:ext cx="5479200" cy="3079080"/>
          </a:xfrm>
          <a:prstGeom prst="rect">
            <a:avLst/>
          </a:prstGeom>
          <a:ln w="0">
            <a:noFill/>
          </a:ln>
        </p:spPr>
      </p:sp>
      <p:sp>
        <p:nvSpPr>
          <p:cNvPr id="239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397" name="PlaceHolder 3"/>
          <p:cNvSpPr>
            <a:spLocks noGrp="1"/>
          </p:cNvSpPr>
          <p:nvPr>
            <p:ph type="sldNum" idx="5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B8BE95F-27DD-4D83-B3AE-6FDDFEB9FB4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8" name="PlaceHolder 1"/>
          <p:cNvSpPr>
            <a:spLocks noGrp="1"/>
          </p:cNvSpPr>
          <p:nvPr>
            <p:ph type="sldImg"/>
          </p:nvPr>
        </p:nvSpPr>
        <p:spPr>
          <a:xfrm>
            <a:off x="685800" y="1143000"/>
            <a:ext cx="5479200" cy="3079080"/>
          </a:xfrm>
          <a:prstGeom prst="rect">
            <a:avLst/>
          </a:prstGeom>
          <a:ln w="0">
            <a:noFill/>
          </a:ln>
        </p:spPr>
      </p:sp>
      <p:sp>
        <p:nvSpPr>
          <p:cNvPr id="239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00" name="PlaceHolder 3"/>
          <p:cNvSpPr>
            <a:spLocks noGrp="1"/>
          </p:cNvSpPr>
          <p:nvPr>
            <p:ph type="sldNum" idx="6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635FB70-1EC4-40A6-B430-985A9B92839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1" name="PlaceHolder 1"/>
          <p:cNvSpPr>
            <a:spLocks noGrp="1"/>
          </p:cNvSpPr>
          <p:nvPr>
            <p:ph type="sldImg"/>
          </p:nvPr>
        </p:nvSpPr>
        <p:spPr>
          <a:xfrm>
            <a:off x="685800" y="1143000"/>
            <a:ext cx="5479200" cy="3079080"/>
          </a:xfrm>
          <a:prstGeom prst="rect">
            <a:avLst/>
          </a:prstGeom>
          <a:ln w="0">
            <a:noFill/>
          </a:ln>
        </p:spPr>
      </p:sp>
      <p:sp>
        <p:nvSpPr>
          <p:cNvPr id="240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03" name="PlaceHolder 3"/>
          <p:cNvSpPr>
            <a:spLocks noGrp="1"/>
          </p:cNvSpPr>
          <p:nvPr>
            <p:ph type="sldNum" idx="6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F43311F-D485-4CE5-9A0B-7BAB0FBA953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4" name="PlaceHolder 1"/>
          <p:cNvSpPr>
            <a:spLocks noGrp="1"/>
          </p:cNvSpPr>
          <p:nvPr>
            <p:ph type="sldImg"/>
          </p:nvPr>
        </p:nvSpPr>
        <p:spPr>
          <a:xfrm>
            <a:off x="685800" y="1143000"/>
            <a:ext cx="5479200" cy="3079080"/>
          </a:xfrm>
          <a:prstGeom prst="rect">
            <a:avLst/>
          </a:prstGeom>
          <a:ln w="0">
            <a:noFill/>
          </a:ln>
        </p:spPr>
      </p:sp>
      <p:sp>
        <p:nvSpPr>
          <p:cNvPr id="240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06" name="PlaceHolder 3"/>
          <p:cNvSpPr>
            <a:spLocks noGrp="1"/>
          </p:cNvSpPr>
          <p:nvPr>
            <p:ph type="sldNum" idx="6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28667BC-B10E-4079-90A4-DA3BAA64E7E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7" name="PlaceHolder 1"/>
          <p:cNvSpPr>
            <a:spLocks noGrp="1"/>
          </p:cNvSpPr>
          <p:nvPr>
            <p:ph type="sldImg"/>
          </p:nvPr>
        </p:nvSpPr>
        <p:spPr>
          <a:xfrm>
            <a:off x="685800" y="1143000"/>
            <a:ext cx="5479200" cy="3079080"/>
          </a:xfrm>
          <a:prstGeom prst="rect">
            <a:avLst/>
          </a:prstGeom>
          <a:ln w="0">
            <a:noFill/>
          </a:ln>
        </p:spPr>
      </p:sp>
      <p:sp>
        <p:nvSpPr>
          <p:cNvPr id="240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09" name="PlaceHolder 3"/>
          <p:cNvSpPr>
            <a:spLocks noGrp="1"/>
          </p:cNvSpPr>
          <p:nvPr>
            <p:ph type="sldNum" idx="6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0752DBE-A420-4729-9C5D-AB87A6DB157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0" name="PlaceHolder 1"/>
          <p:cNvSpPr>
            <a:spLocks noGrp="1"/>
          </p:cNvSpPr>
          <p:nvPr>
            <p:ph type="sldImg"/>
          </p:nvPr>
        </p:nvSpPr>
        <p:spPr>
          <a:xfrm>
            <a:off x="685800" y="1143000"/>
            <a:ext cx="5479200" cy="3079080"/>
          </a:xfrm>
          <a:prstGeom prst="rect">
            <a:avLst/>
          </a:prstGeom>
          <a:ln w="0">
            <a:noFill/>
          </a:ln>
        </p:spPr>
      </p:sp>
      <p:sp>
        <p:nvSpPr>
          <p:cNvPr id="241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12" name="PlaceHolder 3"/>
          <p:cNvSpPr>
            <a:spLocks noGrp="1"/>
          </p:cNvSpPr>
          <p:nvPr>
            <p:ph type="sldNum" idx="6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8A70DA3-7C96-4FE4-AAAF-E071252CC09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3" name="PlaceHolder 1"/>
          <p:cNvSpPr>
            <a:spLocks noGrp="1"/>
          </p:cNvSpPr>
          <p:nvPr>
            <p:ph type="sldImg"/>
          </p:nvPr>
        </p:nvSpPr>
        <p:spPr>
          <a:xfrm>
            <a:off x="685800" y="1143000"/>
            <a:ext cx="5479200" cy="3079080"/>
          </a:xfrm>
          <a:prstGeom prst="rect">
            <a:avLst/>
          </a:prstGeom>
          <a:ln w="0">
            <a:noFill/>
          </a:ln>
        </p:spPr>
      </p:sp>
      <p:sp>
        <p:nvSpPr>
          <p:cNvPr id="241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15" name="PlaceHolder 3"/>
          <p:cNvSpPr>
            <a:spLocks noGrp="1"/>
          </p:cNvSpPr>
          <p:nvPr>
            <p:ph type="sldNum" idx="6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1838D70-1DA6-4776-AC34-6BB28558284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6" name="PlaceHolder 1"/>
          <p:cNvSpPr>
            <a:spLocks noGrp="1"/>
          </p:cNvSpPr>
          <p:nvPr>
            <p:ph type="sldImg"/>
          </p:nvPr>
        </p:nvSpPr>
        <p:spPr>
          <a:xfrm>
            <a:off x="685800" y="1143000"/>
            <a:ext cx="5479200" cy="3079080"/>
          </a:xfrm>
          <a:prstGeom prst="rect">
            <a:avLst/>
          </a:prstGeom>
          <a:ln w="0">
            <a:noFill/>
          </a:ln>
        </p:spPr>
      </p:sp>
      <p:sp>
        <p:nvSpPr>
          <p:cNvPr id="241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18" name="PlaceHolder 3"/>
          <p:cNvSpPr>
            <a:spLocks noGrp="1"/>
          </p:cNvSpPr>
          <p:nvPr>
            <p:ph type="sldNum" idx="6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B240189-2E77-49EA-8FFB-0E7AD2CEF79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9" name="PlaceHolder 1"/>
          <p:cNvSpPr>
            <a:spLocks noGrp="1"/>
          </p:cNvSpPr>
          <p:nvPr>
            <p:ph type="sldImg"/>
          </p:nvPr>
        </p:nvSpPr>
        <p:spPr>
          <a:xfrm>
            <a:off x="685800" y="1143000"/>
            <a:ext cx="5479200" cy="3079080"/>
          </a:xfrm>
          <a:prstGeom prst="rect">
            <a:avLst/>
          </a:prstGeom>
          <a:ln w="0">
            <a:noFill/>
          </a:ln>
        </p:spPr>
      </p:sp>
      <p:sp>
        <p:nvSpPr>
          <p:cNvPr id="242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21" name="PlaceHolder 3"/>
          <p:cNvSpPr>
            <a:spLocks noGrp="1"/>
          </p:cNvSpPr>
          <p:nvPr>
            <p:ph type="sldNum" idx="6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B3FA908-1ADF-4129-8CF4-39AB6E3FC2D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2" name="PlaceHolder 1"/>
          <p:cNvSpPr>
            <a:spLocks noGrp="1"/>
          </p:cNvSpPr>
          <p:nvPr>
            <p:ph type="sldImg"/>
          </p:nvPr>
        </p:nvSpPr>
        <p:spPr>
          <a:xfrm>
            <a:off x="685800" y="1143000"/>
            <a:ext cx="5479200" cy="3079080"/>
          </a:xfrm>
          <a:prstGeom prst="rect">
            <a:avLst/>
          </a:prstGeom>
          <a:ln w="0">
            <a:noFill/>
          </a:ln>
        </p:spPr>
      </p:sp>
      <p:sp>
        <p:nvSpPr>
          <p:cNvPr id="242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24" name="PlaceHolder 3"/>
          <p:cNvSpPr>
            <a:spLocks noGrp="1"/>
          </p:cNvSpPr>
          <p:nvPr>
            <p:ph type="sldNum" idx="6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CC7E340-5DD1-48A2-B489-A62509E97B2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5" name="PlaceHolder 1"/>
          <p:cNvSpPr>
            <a:spLocks noGrp="1"/>
          </p:cNvSpPr>
          <p:nvPr>
            <p:ph type="sldImg"/>
          </p:nvPr>
        </p:nvSpPr>
        <p:spPr>
          <a:xfrm>
            <a:off x="685800" y="1143000"/>
            <a:ext cx="5479200" cy="3079080"/>
          </a:xfrm>
          <a:prstGeom prst="rect">
            <a:avLst/>
          </a:prstGeom>
          <a:ln w="0">
            <a:noFill/>
          </a:ln>
        </p:spPr>
      </p:sp>
      <p:sp>
        <p:nvSpPr>
          <p:cNvPr id="242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27" name="PlaceHolder 3"/>
          <p:cNvSpPr>
            <a:spLocks noGrp="1"/>
          </p:cNvSpPr>
          <p:nvPr>
            <p:ph type="sldNum" idx="6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667F86F-3A84-4749-9144-06FC011483F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8" name="PlaceHolder 1"/>
          <p:cNvSpPr>
            <a:spLocks noGrp="1"/>
          </p:cNvSpPr>
          <p:nvPr>
            <p:ph type="sldImg"/>
          </p:nvPr>
        </p:nvSpPr>
        <p:spPr>
          <a:xfrm>
            <a:off x="685800" y="1143000"/>
            <a:ext cx="5479200" cy="3079080"/>
          </a:xfrm>
          <a:prstGeom prst="rect">
            <a:avLst/>
          </a:prstGeom>
          <a:ln w="0">
            <a:noFill/>
          </a:ln>
        </p:spPr>
      </p:sp>
      <p:sp>
        <p:nvSpPr>
          <p:cNvPr id="242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30" name="PlaceHolder 3"/>
          <p:cNvSpPr>
            <a:spLocks noGrp="1"/>
          </p:cNvSpPr>
          <p:nvPr>
            <p:ph type="sldNum" idx="7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F03FD73-6817-45AD-B166-55EBC68F587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1" name="PlaceHolder 1"/>
          <p:cNvSpPr>
            <a:spLocks noGrp="1"/>
          </p:cNvSpPr>
          <p:nvPr>
            <p:ph type="sldImg"/>
          </p:nvPr>
        </p:nvSpPr>
        <p:spPr>
          <a:xfrm>
            <a:off x="685800" y="1143000"/>
            <a:ext cx="5479200" cy="3079080"/>
          </a:xfrm>
          <a:prstGeom prst="rect">
            <a:avLst/>
          </a:prstGeom>
          <a:ln w="0">
            <a:noFill/>
          </a:ln>
        </p:spPr>
      </p:sp>
      <p:sp>
        <p:nvSpPr>
          <p:cNvPr id="243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33" name="PlaceHolder 3"/>
          <p:cNvSpPr>
            <a:spLocks noGrp="1"/>
          </p:cNvSpPr>
          <p:nvPr>
            <p:ph type="sldNum" idx="7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BF2D532-CE2B-4FF9-9E72-9650E7FCDEA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4" name="PlaceHolder 1"/>
          <p:cNvSpPr>
            <a:spLocks noGrp="1"/>
          </p:cNvSpPr>
          <p:nvPr>
            <p:ph type="sldImg"/>
          </p:nvPr>
        </p:nvSpPr>
        <p:spPr>
          <a:xfrm>
            <a:off x="685800" y="1143000"/>
            <a:ext cx="5479200" cy="3079080"/>
          </a:xfrm>
          <a:prstGeom prst="rect">
            <a:avLst/>
          </a:prstGeom>
          <a:ln w="0">
            <a:noFill/>
          </a:ln>
        </p:spPr>
      </p:sp>
      <p:sp>
        <p:nvSpPr>
          <p:cNvPr id="243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36" name="PlaceHolder 3"/>
          <p:cNvSpPr>
            <a:spLocks noGrp="1"/>
          </p:cNvSpPr>
          <p:nvPr>
            <p:ph type="sldNum" idx="7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8360718-5B56-4D17-A7BD-1162A246F93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7" name="PlaceHolder 1"/>
          <p:cNvSpPr>
            <a:spLocks noGrp="1"/>
          </p:cNvSpPr>
          <p:nvPr>
            <p:ph type="sldImg"/>
          </p:nvPr>
        </p:nvSpPr>
        <p:spPr>
          <a:xfrm>
            <a:off x="685800" y="1143000"/>
            <a:ext cx="5479200" cy="3079080"/>
          </a:xfrm>
          <a:prstGeom prst="rect">
            <a:avLst/>
          </a:prstGeom>
          <a:ln w="0">
            <a:noFill/>
          </a:ln>
        </p:spPr>
      </p:sp>
      <p:sp>
        <p:nvSpPr>
          <p:cNvPr id="243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39" name="PlaceHolder 3"/>
          <p:cNvSpPr>
            <a:spLocks noGrp="1"/>
          </p:cNvSpPr>
          <p:nvPr>
            <p:ph type="sldNum" idx="7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64C6171-431C-41B3-925B-0783AF34C72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0" name="PlaceHolder 1"/>
          <p:cNvSpPr>
            <a:spLocks noGrp="1"/>
          </p:cNvSpPr>
          <p:nvPr>
            <p:ph type="sldImg"/>
          </p:nvPr>
        </p:nvSpPr>
        <p:spPr>
          <a:xfrm>
            <a:off x="685800" y="1143000"/>
            <a:ext cx="5479200" cy="3079080"/>
          </a:xfrm>
          <a:prstGeom prst="rect">
            <a:avLst/>
          </a:prstGeom>
          <a:ln w="0">
            <a:noFill/>
          </a:ln>
        </p:spPr>
      </p:sp>
      <p:sp>
        <p:nvSpPr>
          <p:cNvPr id="244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42" name="PlaceHolder 3"/>
          <p:cNvSpPr>
            <a:spLocks noGrp="1"/>
          </p:cNvSpPr>
          <p:nvPr>
            <p:ph type="sldNum" idx="7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65CD2D9-5647-46AE-A57A-85CDA034B86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3" name="PlaceHolder 1"/>
          <p:cNvSpPr>
            <a:spLocks noGrp="1"/>
          </p:cNvSpPr>
          <p:nvPr>
            <p:ph type="sldImg"/>
          </p:nvPr>
        </p:nvSpPr>
        <p:spPr>
          <a:xfrm>
            <a:off x="685800" y="1143000"/>
            <a:ext cx="5479200" cy="3079080"/>
          </a:xfrm>
          <a:prstGeom prst="rect">
            <a:avLst/>
          </a:prstGeom>
          <a:ln w="0">
            <a:noFill/>
          </a:ln>
        </p:spPr>
      </p:sp>
      <p:sp>
        <p:nvSpPr>
          <p:cNvPr id="244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45" name="PlaceHolder 3"/>
          <p:cNvSpPr>
            <a:spLocks noGrp="1"/>
          </p:cNvSpPr>
          <p:nvPr>
            <p:ph type="sldNum" idx="7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8D0AC70-9A01-42B8-9988-51629D6B8ED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6" name="PlaceHolder 1"/>
          <p:cNvSpPr>
            <a:spLocks noGrp="1"/>
          </p:cNvSpPr>
          <p:nvPr>
            <p:ph type="sldImg"/>
          </p:nvPr>
        </p:nvSpPr>
        <p:spPr>
          <a:xfrm>
            <a:off x="685800" y="1143000"/>
            <a:ext cx="5479200" cy="3079080"/>
          </a:xfrm>
          <a:prstGeom prst="rect">
            <a:avLst/>
          </a:prstGeom>
          <a:ln w="0">
            <a:noFill/>
          </a:ln>
        </p:spPr>
      </p:sp>
      <p:sp>
        <p:nvSpPr>
          <p:cNvPr id="244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48" name="PlaceHolder 3"/>
          <p:cNvSpPr>
            <a:spLocks noGrp="1"/>
          </p:cNvSpPr>
          <p:nvPr>
            <p:ph type="sldNum" idx="7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9AC22A2-DF6D-47D5-8B9F-40493653439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9" name="PlaceHolder 1"/>
          <p:cNvSpPr>
            <a:spLocks noGrp="1"/>
          </p:cNvSpPr>
          <p:nvPr>
            <p:ph type="sldImg"/>
          </p:nvPr>
        </p:nvSpPr>
        <p:spPr>
          <a:xfrm>
            <a:off x="685800" y="1143000"/>
            <a:ext cx="5479200" cy="3079080"/>
          </a:xfrm>
          <a:prstGeom prst="rect">
            <a:avLst/>
          </a:prstGeom>
          <a:ln w="0">
            <a:noFill/>
          </a:ln>
        </p:spPr>
      </p:sp>
      <p:sp>
        <p:nvSpPr>
          <p:cNvPr id="245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51" name="PlaceHolder 3"/>
          <p:cNvSpPr>
            <a:spLocks noGrp="1"/>
          </p:cNvSpPr>
          <p:nvPr>
            <p:ph type="sldNum" idx="7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68F7919-C628-4FCD-99E4-31D17E1D2652}"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2" name="PlaceHolder 1"/>
          <p:cNvSpPr>
            <a:spLocks noGrp="1"/>
          </p:cNvSpPr>
          <p:nvPr>
            <p:ph type="sldImg"/>
          </p:nvPr>
        </p:nvSpPr>
        <p:spPr>
          <a:xfrm>
            <a:off x="685800" y="1143000"/>
            <a:ext cx="5479200" cy="3079080"/>
          </a:xfrm>
          <a:prstGeom prst="rect">
            <a:avLst/>
          </a:prstGeom>
          <a:ln w="0">
            <a:noFill/>
          </a:ln>
        </p:spPr>
      </p:sp>
      <p:sp>
        <p:nvSpPr>
          <p:cNvPr id="245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54" name="PlaceHolder 3"/>
          <p:cNvSpPr>
            <a:spLocks noGrp="1"/>
          </p:cNvSpPr>
          <p:nvPr>
            <p:ph type="sldNum" idx="7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849A171-D285-47F0-9B15-C10BABA2179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5" name="PlaceHolder 1"/>
          <p:cNvSpPr>
            <a:spLocks noGrp="1"/>
          </p:cNvSpPr>
          <p:nvPr>
            <p:ph type="sldImg"/>
          </p:nvPr>
        </p:nvSpPr>
        <p:spPr>
          <a:xfrm>
            <a:off x="685800" y="1143000"/>
            <a:ext cx="5479200" cy="3079080"/>
          </a:xfrm>
          <a:prstGeom prst="rect">
            <a:avLst/>
          </a:prstGeom>
          <a:ln w="0">
            <a:noFill/>
          </a:ln>
        </p:spPr>
      </p:sp>
      <p:sp>
        <p:nvSpPr>
          <p:cNvPr id="245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57" name="PlaceHolder 3"/>
          <p:cNvSpPr>
            <a:spLocks noGrp="1"/>
          </p:cNvSpPr>
          <p:nvPr>
            <p:ph type="sldNum" idx="7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8230A8F-DE61-4E45-BA05-13989078C8A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8" name="PlaceHolder 1"/>
          <p:cNvSpPr>
            <a:spLocks noGrp="1"/>
          </p:cNvSpPr>
          <p:nvPr>
            <p:ph type="sldImg"/>
          </p:nvPr>
        </p:nvSpPr>
        <p:spPr>
          <a:xfrm>
            <a:off x="685800" y="1143000"/>
            <a:ext cx="5479200" cy="3079080"/>
          </a:xfrm>
          <a:prstGeom prst="rect">
            <a:avLst/>
          </a:prstGeom>
          <a:ln w="0">
            <a:noFill/>
          </a:ln>
        </p:spPr>
      </p:sp>
      <p:sp>
        <p:nvSpPr>
          <p:cNvPr id="245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60" name="PlaceHolder 3"/>
          <p:cNvSpPr>
            <a:spLocks noGrp="1"/>
          </p:cNvSpPr>
          <p:nvPr>
            <p:ph type="sldNum" idx="8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4E15090-E6C4-4864-94D0-EC06D4983A3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1" name="PlaceHolder 1"/>
          <p:cNvSpPr>
            <a:spLocks noGrp="1"/>
          </p:cNvSpPr>
          <p:nvPr>
            <p:ph type="sldImg"/>
          </p:nvPr>
        </p:nvSpPr>
        <p:spPr>
          <a:xfrm>
            <a:off x="685800" y="1143000"/>
            <a:ext cx="5479200" cy="3079080"/>
          </a:xfrm>
          <a:prstGeom prst="rect">
            <a:avLst/>
          </a:prstGeom>
          <a:ln w="0">
            <a:noFill/>
          </a:ln>
        </p:spPr>
      </p:sp>
      <p:sp>
        <p:nvSpPr>
          <p:cNvPr id="246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63" name="PlaceHolder 3"/>
          <p:cNvSpPr>
            <a:spLocks noGrp="1"/>
          </p:cNvSpPr>
          <p:nvPr>
            <p:ph type="sldNum" idx="8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1CABB75-32A9-4638-85DD-5C47D2360B37}"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4" name="PlaceHolder 1"/>
          <p:cNvSpPr>
            <a:spLocks noGrp="1"/>
          </p:cNvSpPr>
          <p:nvPr>
            <p:ph type="sldImg"/>
          </p:nvPr>
        </p:nvSpPr>
        <p:spPr>
          <a:xfrm>
            <a:off x="685800" y="1143000"/>
            <a:ext cx="5479200" cy="3079080"/>
          </a:xfrm>
          <a:prstGeom prst="rect">
            <a:avLst/>
          </a:prstGeom>
          <a:ln w="0">
            <a:noFill/>
          </a:ln>
        </p:spPr>
      </p:sp>
      <p:sp>
        <p:nvSpPr>
          <p:cNvPr id="246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66" name="PlaceHolder 3"/>
          <p:cNvSpPr>
            <a:spLocks noGrp="1"/>
          </p:cNvSpPr>
          <p:nvPr>
            <p:ph type="sldNum" idx="8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6AAF909-07CA-4C87-9B03-476A7C4A2C4D}"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7" name="PlaceHolder 1"/>
          <p:cNvSpPr>
            <a:spLocks noGrp="1"/>
          </p:cNvSpPr>
          <p:nvPr>
            <p:ph type="sldImg"/>
          </p:nvPr>
        </p:nvSpPr>
        <p:spPr>
          <a:xfrm>
            <a:off x="685800" y="1143000"/>
            <a:ext cx="5479200" cy="3079080"/>
          </a:xfrm>
          <a:prstGeom prst="rect">
            <a:avLst/>
          </a:prstGeom>
          <a:ln w="0">
            <a:noFill/>
          </a:ln>
        </p:spPr>
      </p:sp>
      <p:sp>
        <p:nvSpPr>
          <p:cNvPr id="246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69" name="PlaceHolder 3"/>
          <p:cNvSpPr>
            <a:spLocks noGrp="1"/>
          </p:cNvSpPr>
          <p:nvPr>
            <p:ph type="sldNum" idx="8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46AE7F9-0FCA-4EBB-9A85-6EC772E8AAB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0" name="PlaceHolder 1"/>
          <p:cNvSpPr>
            <a:spLocks noGrp="1"/>
          </p:cNvSpPr>
          <p:nvPr>
            <p:ph type="sldImg"/>
          </p:nvPr>
        </p:nvSpPr>
        <p:spPr>
          <a:xfrm>
            <a:off x="685800" y="1143000"/>
            <a:ext cx="5479200" cy="3079080"/>
          </a:xfrm>
          <a:prstGeom prst="rect">
            <a:avLst/>
          </a:prstGeom>
          <a:ln w="0">
            <a:noFill/>
          </a:ln>
        </p:spPr>
      </p:sp>
      <p:sp>
        <p:nvSpPr>
          <p:cNvPr id="247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72" name="PlaceHolder 3"/>
          <p:cNvSpPr>
            <a:spLocks noGrp="1"/>
          </p:cNvSpPr>
          <p:nvPr>
            <p:ph type="sldNum" idx="8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DD12E12-98EF-4662-ABD7-560E83A5BF6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3" name="PlaceHolder 1"/>
          <p:cNvSpPr>
            <a:spLocks noGrp="1"/>
          </p:cNvSpPr>
          <p:nvPr>
            <p:ph type="sldImg"/>
          </p:nvPr>
        </p:nvSpPr>
        <p:spPr>
          <a:xfrm>
            <a:off x="685800" y="1143000"/>
            <a:ext cx="5479200" cy="3079080"/>
          </a:xfrm>
          <a:prstGeom prst="rect">
            <a:avLst/>
          </a:prstGeom>
          <a:ln w="0">
            <a:noFill/>
          </a:ln>
        </p:spPr>
      </p:sp>
      <p:sp>
        <p:nvSpPr>
          <p:cNvPr id="247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75" name="PlaceHolder 3"/>
          <p:cNvSpPr>
            <a:spLocks noGrp="1"/>
          </p:cNvSpPr>
          <p:nvPr>
            <p:ph type="sldNum" idx="8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5C78EC3-2F80-4F23-ADF2-270101CA29E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6" name="PlaceHolder 1"/>
          <p:cNvSpPr>
            <a:spLocks noGrp="1"/>
          </p:cNvSpPr>
          <p:nvPr>
            <p:ph type="sldImg"/>
          </p:nvPr>
        </p:nvSpPr>
        <p:spPr>
          <a:xfrm>
            <a:off x="685800" y="1143000"/>
            <a:ext cx="5479200" cy="3079080"/>
          </a:xfrm>
          <a:prstGeom prst="rect">
            <a:avLst/>
          </a:prstGeom>
          <a:ln w="0">
            <a:noFill/>
          </a:ln>
        </p:spPr>
      </p:sp>
      <p:sp>
        <p:nvSpPr>
          <p:cNvPr id="247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78" name="PlaceHolder 3"/>
          <p:cNvSpPr>
            <a:spLocks noGrp="1"/>
          </p:cNvSpPr>
          <p:nvPr>
            <p:ph type="sldNum" idx="8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CD20C96-B187-48DA-980D-E15F7709361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9" name="PlaceHolder 1"/>
          <p:cNvSpPr>
            <a:spLocks noGrp="1"/>
          </p:cNvSpPr>
          <p:nvPr>
            <p:ph type="sldImg"/>
          </p:nvPr>
        </p:nvSpPr>
        <p:spPr>
          <a:xfrm>
            <a:off x="685800" y="1143000"/>
            <a:ext cx="5479200" cy="3079080"/>
          </a:xfrm>
          <a:prstGeom prst="rect">
            <a:avLst/>
          </a:prstGeom>
          <a:ln w="0">
            <a:noFill/>
          </a:ln>
        </p:spPr>
      </p:sp>
      <p:sp>
        <p:nvSpPr>
          <p:cNvPr id="248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81" name="PlaceHolder 3"/>
          <p:cNvSpPr>
            <a:spLocks noGrp="1"/>
          </p:cNvSpPr>
          <p:nvPr>
            <p:ph type="sldNum" idx="8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380FB33-22AD-4740-B5B1-F1981CD757D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2" name="PlaceHolder 1"/>
          <p:cNvSpPr>
            <a:spLocks noGrp="1"/>
          </p:cNvSpPr>
          <p:nvPr>
            <p:ph type="sldImg"/>
          </p:nvPr>
        </p:nvSpPr>
        <p:spPr>
          <a:xfrm>
            <a:off x="685800" y="1143000"/>
            <a:ext cx="5479200" cy="3079080"/>
          </a:xfrm>
          <a:prstGeom prst="rect">
            <a:avLst/>
          </a:prstGeom>
          <a:ln w="0">
            <a:noFill/>
          </a:ln>
        </p:spPr>
      </p:sp>
      <p:sp>
        <p:nvSpPr>
          <p:cNvPr id="248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84" name="PlaceHolder 3"/>
          <p:cNvSpPr>
            <a:spLocks noGrp="1"/>
          </p:cNvSpPr>
          <p:nvPr>
            <p:ph type="sldNum" idx="8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8A23477-A110-4CB5-B9C0-78AA2F3F409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5" name="PlaceHolder 1"/>
          <p:cNvSpPr>
            <a:spLocks noGrp="1"/>
          </p:cNvSpPr>
          <p:nvPr>
            <p:ph type="sldImg"/>
          </p:nvPr>
        </p:nvSpPr>
        <p:spPr>
          <a:xfrm>
            <a:off x="685800" y="1143000"/>
            <a:ext cx="5479200" cy="3079080"/>
          </a:xfrm>
          <a:prstGeom prst="rect">
            <a:avLst/>
          </a:prstGeom>
          <a:ln w="0">
            <a:noFill/>
          </a:ln>
        </p:spPr>
      </p:sp>
      <p:sp>
        <p:nvSpPr>
          <p:cNvPr id="248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87" name="PlaceHolder 3"/>
          <p:cNvSpPr>
            <a:spLocks noGrp="1"/>
          </p:cNvSpPr>
          <p:nvPr>
            <p:ph type="sldNum" idx="8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8915683-E55C-46A4-B5CA-84A6F190ED23}"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8" name="PlaceHolder 1"/>
          <p:cNvSpPr>
            <a:spLocks noGrp="1"/>
          </p:cNvSpPr>
          <p:nvPr>
            <p:ph type="sldImg"/>
          </p:nvPr>
        </p:nvSpPr>
        <p:spPr>
          <a:xfrm>
            <a:off x="685800" y="1143000"/>
            <a:ext cx="5479200" cy="3079080"/>
          </a:xfrm>
          <a:prstGeom prst="rect">
            <a:avLst/>
          </a:prstGeom>
          <a:ln w="0">
            <a:noFill/>
          </a:ln>
        </p:spPr>
      </p:sp>
      <p:sp>
        <p:nvSpPr>
          <p:cNvPr id="248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90" name="PlaceHolder 3"/>
          <p:cNvSpPr>
            <a:spLocks noGrp="1"/>
          </p:cNvSpPr>
          <p:nvPr>
            <p:ph type="sldNum" idx="9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D12AACB-76DB-468A-8FDD-99925677CA2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1" name="PlaceHolder 1"/>
          <p:cNvSpPr>
            <a:spLocks noGrp="1"/>
          </p:cNvSpPr>
          <p:nvPr>
            <p:ph type="sldImg"/>
          </p:nvPr>
        </p:nvSpPr>
        <p:spPr>
          <a:xfrm>
            <a:off x="685800" y="1143000"/>
            <a:ext cx="5479200" cy="3079080"/>
          </a:xfrm>
          <a:prstGeom prst="rect">
            <a:avLst/>
          </a:prstGeom>
          <a:ln w="0">
            <a:noFill/>
          </a:ln>
        </p:spPr>
      </p:sp>
      <p:sp>
        <p:nvSpPr>
          <p:cNvPr id="249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93" name="PlaceHolder 3"/>
          <p:cNvSpPr>
            <a:spLocks noGrp="1"/>
          </p:cNvSpPr>
          <p:nvPr>
            <p:ph type="sldNum" idx="9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68D8DE2D-7C79-4983-9B22-B4ACF4E6C00C}"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4" name="PlaceHolder 1"/>
          <p:cNvSpPr>
            <a:spLocks noGrp="1"/>
          </p:cNvSpPr>
          <p:nvPr>
            <p:ph type="sldImg"/>
          </p:nvPr>
        </p:nvSpPr>
        <p:spPr>
          <a:xfrm>
            <a:off x="685800" y="1143000"/>
            <a:ext cx="5479200" cy="3079080"/>
          </a:xfrm>
          <a:prstGeom prst="rect">
            <a:avLst/>
          </a:prstGeom>
          <a:ln w="0">
            <a:noFill/>
          </a:ln>
        </p:spPr>
      </p:sp>
      <p:sp>
        <p:nvSpPr>
          <p:cNvPr id="249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96" name="PlaceHolder 3"/>
          <p:cNvSpPr>
            <a:spLocks noGrp="1"/>
          </p:cNvSpPr>
          <p:nvPr>
            <p:ph type="sldNum" idx="9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E4C0F89-30DE-4B51-AE06-9E249B1EBAA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7" name="PlaceHolder 1"/>
          <p:cNvSpPr>
            <a:spLocks noGrp="1"/>
          </p:cNvSpPr>
          <p:nvPr>
            <p:ph type="sldImg"/>
          </p:nvPr>
        </p:nvSpPr>
        <p:spPr>
          <a:xfrm>
            <a:off x="685800" y="1143000"/>
            <a:ext cx="5479200" cy="3079080"/>
          </a:xfrm>
          <a:prstGeom prst="rect">
            <a:avLst/>
          </a:prstGeom>
          <a:ln w="0">
            <a:noFill/>
          </a:ln>
        </p:spPr>
      </p:sp>
      <p:sp>
        <p:nvSpPr>
          <p:cNvPr id="249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499" name="PlaceHolder 3"/>
          <p:cNvSpPr>
            <a:spLocks noGrp="1"/>
          </p:cNvSpPr>
          <p:nvPr>
            <p:ph type="sldNum" idx="9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EEFC14B-524E-44C8-80B2-D443061BDC4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0" name="PlaceHolder 1"/>
          <p:cNvSpPr>
            <a:spLocks noGrp="1"/>
          </p:cNvSpPr>
          <p:nvPr>
            <p:ph type="sldImg"/>
          </p:nvPr>
        </p:nvSpPr>
        <p:spPr>
          <a:xfrm>
            <a:off x="685800" y="1143000"/>
            <a:ext cx="5479200" cy="3079080"/>
          </a:xfrm>
          <a:prstGeom prst="rect">
            <a:avLst/>
          </a:prstGeom>
          <a:ln w="0">
            <a:noFill/>
          </a:ln>
        </p:spPr>
      </p:sp>
      <p:sp>
        <p:nvSpPr>
          <p:cNvPr id="250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02" name="PlaceHolder 3"/>
          <p:cNvSpPr>
            <a:spLocks noGrp="1"/>
          </p:cNvSpPr>
          <p:nvPr>
            <p:ph type="sldNum" idx="9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58AC6D3-6098-4BB2-AA5C-81A22D91B53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3" name="PlaceHolder 1"/>
          <p:cNvSpPr>
            <a:spLocks noGrp="1"/>
          </p:cNvSpPr>
          <p:nvPr>
            <p:ph type="sldImg"/>
          </p:nvPr>
        </p:nvSpPr>
        <p:spPr>
          <a:xfrm>
            <a:off x="685800" y="1143000"/>
            <a:ext cx="5479200" cy="3079080"/>
          </a:xfrm>
          <a:prstGeom prst="rect">
            <a:avLst/>
          </a:prstGeom>
          <a:ln w="0">
            <a:noFill/>
          </a:ln>
        </p:spPr>
      </p:sp>
      <p:sp>
        <p:nvSpPr>
          <p:cNvPr id="250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05" name="PlaceHolder 3"/>
          <p:cNvSpPr>
            <a:spLocks noGrp="1"/>
          </p:cNvSpPr>
          <p:nvPr>
            <p:ph type="sldNum" idx="9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FEDB9B43-2584-4596-8EA0-B853C263FEEF}"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6" name="PlaceHolder 1"/>
          <p:cNvSpPr>
            <a:spLocks noGrp="1"/>
          </p:cNvSpPr>
          <p:nvPr>
            <p:ph type="sldImg"/>
          </p:nvPr>
        </p:nvSpPr>
        <p:spPr>
          <a:xfrm>
            <a:off x="685800" y="1143000"/>
            <a:ext cx="5479200" cy="3079080"/>
          </a:xfrm>
          <a:prstGeom prst="rect">
            <a:avLst/>
          </a:prstGeom>
          <a:ln w="0">
            <a:noFill/>
          </a:ln>
        </p:spPr>
      </p:sp>
      <p:sp>
        <p:nvSpPr>
          <p:cNvPr id="250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08" name="PlaceHolder 3"/>
          <p:cNvSpPr>
            <a:spLocks noGrp="1"/>
          </p:cNvSpPr>
          <p:nvPr>
            <p:ph type="sldNum" idx="9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8F317F6D-CA3C-4D47-A3BD-88E73667591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9" name="PlaceHolder 1"/>
          <p:cNvSpPr>
            <a:spLocks noGrp="1"/>
          </p:cNvSpPr>
          <p:nvPr>
            <p:ph type="sldImg"/>
          </p:nvPr>
        </p:nvSpPr>
        <p:spPr>
          <a:xfrm>
            <a:off x="685800" y="1143000"/>
            <a:ext cx="5479200" cy="3079080"/>
          </a:xfrm>
          <a:prstGeom prst="rect">
            <a:avLst/>
          </a:prstGeom>
          <a:ln w="0">
            <a:noFill/>
          </a:ln>
        </p:spPr>
      </p:sp>
      <p:sp>
        <p:nvSpPr>
          <p:cNvPr id="251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11" name="PlaceHolder 3"/>
          <p:cNvSpPr>
            <a:spLocks noGrp="1"/>
          </p:cNvSpPr>
          <p:nvPr>
            <p:ph type="sldNum" idx="9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9EDE995-68DD-437E-B420-766EFCE133E1}"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2" name="PlaceHolder 1"/>
          <p:cNvSpPr>
            <a:spLocks noGrp="1"/>
          </p:cNvSpPr>
          <p:nvPr>
            <p:ph type="sldImg"/>
          </p:nvPr>
        </p:nvSpPr>
        <p:spPr>
          <a:xfrm>
            <a:off x="685800" y="1143000"/>
            <a:ext cx="5479200" cy="3079080"/>
          </a:xfrm>
          <a:prstGeom prst="rect">
            <a:avLst/>
          </a:prstGeom>
          <a:ln w="0">
            <a:noFill/>
          </a:ln>
        </p:spPr>
      </p:sp>
      <p:sp>
        <p:nvSpPr>
          <p:cNvPr id="251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14" name="PlaceHolder 3"/>
          <p:cNvSpPr>
            <a:spLocks noGrp="1"/>
          </p:cNvSpPr>
          <p:nvPr>
            <p:ph type="sldNum" idx="9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919EC5D-9472-4F79-B029-59A3C2C2D20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5" name="PlaceHolder 1"/>
          <p:cNvSpPr>
            <a:spLocks noGrp="1"/>
          </p:cNvSpPr>
          <p:nvPr>
            <p:ph type="sldImg"/>
          </p:nvPr>
        </p:nvSpPr>
        <p:spPr>
          <a:xfrm>
            <a:off x="685800" y="1143000"/>
            <a:ext cx="5479200" cy="3079080"/>
          </a:xfrm>
          <a:prstGeom prst="rect">
            <a:avLst/>
          </a:prstGeom>
          <a:ln w="0">
            <a:noFill/>
          </a:ln>
        </p:spPr>
      </p:sp>
      <p:sp>
        <p:nvSpPr>
          <p:cNvPr id="251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17" name="PlaceHolder 3"/>
          <p:cNvSpPr>
            <a:spLocks noGrp="1"/>
          </p:cNvSpPr>
          <p:nvPr>
            <p:ph type="sldNum" idx="9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923FDF0E-5B9A-4238-BE00-8E048C481D89}"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8" name="PlaceHolder 1"/>
          <p:cNvSpPr>
            <a:spLocks noGrp="1"/>
          </p:cNvSpPr>
          <p:nvPr>
            <p:ph type="sldImg"/>
          </p:nvPr>
        </p:nvSpPr>
        <p:spPr>
          <a:xfrm>
            <a:off x="685800" y="1143000"/>
            <a:ext cx="5479200" cy="3079080"/>
          </a:xfrm>
          <a:prstGeom prst="rect">
            <a:avLst/>
          </a:prstGeom>
          <a:ln w="0">
            <a:noFill/>
          </a:ln>
        </p:spPr>
      </p:sp>
      <p:sp>
        <p:nvSpPr>
          <p:cNvPr id="251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20" name="PlaceHolder 3"/>
          <p:cNvSpPr>
            <a:spLocks noGrp="1"/>
          </p:cNvSpPr>
          <p:nvPr>
            <p:ph type="sldNum" idx="10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C0F23B0-6AEB-4DBD-A0B9-BF6901E8338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1" name="PlaceHolder 1"/>
          <p:cNvSpPr>
            <a:spLocks noGrp="1"/>
          </p:cNvSpPr>
          <p:nvPr>
            <p:ph type="sldImg"/>
          </p:nvPr>
        </p:nvSpPr>
        <p:spPr>
          <a:xfrm>
            <a:off x="685800" y="1143000"/>
            <a:ext cx="5479200" cy="3079080"/>
          </a:xfrm>
          <a:prstGeom prst="rect">
            <a:avLst/>
          </a:prstGeom>
          <a:ln w="0">
            <a:noFill/>
          </a:ln>
        </p:spPr>
      </p:sp>
      <p:sp>
        <p:nvSpPr>
          <p:cNvPr id="2522"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23" name="PlaceHolder 3"/>
          <p:cNvSpPr>
            <a:spLocks noGrp="1"/>
          </p:cNvSpPr>
          <p:nvPr>
            <p:ph type="sldNum" idx="101"/>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86F72C1B-201D-47EC-8E9F-C8B5C928D897}"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4" name="PlaceHolder 1"/>
          <p:cNvSpPr>
            <a:spLocks noGrp="1"/>
          </p:cNvSpPr>
          <p:nvPr>
            <p:ph type="sldImg"/>
          </p:nvPr>
        </p:nvSpPr>
        <p:spPr>
          <a:xfrm>
            <a:off x="685800" y="1143000"/>
            <a:ext cx="5479200" cy="3079080"/>
          </a:xfrm>
          <a:prstGeom prst="rect">
            <a:avLst/>
          </a:prstGeom>
          <a:ln w="0">
            <a:noFill/>
          </a:ln>
        </p:spPr>
      </p:sp>
      <p:sp>
        <p:nvSpPr>
          <p:cNvPr id="2525"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26" name="PlaceHolder 3"/>
          <p:cNvSpPr>
            <a:spLocks noGrp="1"/>
          </p:cNvSpPr>
          <p:nvPr>
            <p:ph type="sldNum" idx="102"/>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CF8B6080-9568-4EF4-8F01-B38FFD45296A}"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7" name="PlaceHolder 1"/>
          <p:cNvSpPr>
            <a:spLocks noGrp="1"/>
          </p:cNvSpPr>
          <p:nvPr>
            <p:ph type="sldImg"/>
          </p:nvPr>
        </p:nvSpPr>
        <p:spPr>
          <a:xfrm>
            <a:off x="685800" y="1143000"/>
            <a:ext cx="5479200" cy="3079080"/>
          </a:xfrm>
          <a:prstGeom prst="rect">
            <a:avLst/>
          </a:prstGeom>
          <a:ln w="0">
            <a:noFill/>
          </a:ln>
        </p:spPr>
      </p:sp>
      <p:sp>
        <p:nvSpPr>
          <p:cNvPr id="2528"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29" name="PlaceHolder 3"/>
          <p:cNvSpPr>
            <a:spLocks noGrp="1"/>
          </p:cNvSpPr>
          <p:nvPr>
            <p:ph type="sldNum" idx="103"/>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4EBD041-1680-4C20-9D31-F1F0AD3C71F4}"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0" name="PlaceHolder 1"/>
          <p:cNvSpPr>
            <a:spLocks noGrp="1"/>
          </p:cNvSpPr>
          <p:nvPr>
            <p:ph type="sldImg"/>
          </p:nvPr>
        </p:nvSpPr>
        <p:spPr>
          <a:xfrm>
            <a:off x="685800" y="1143000"/>
            <a:ext cx="5479200" cy="3079080"/>
          </a:xfrm>
          <a:prstGeom prst="rect">
            <a:avLst/>
          </a:prstGeom>
          <a:ln w="0">
            <a:noFill/>
          </a:ln>
        </p:spPr>
      </p:sp>
      <p:sp>
        <p:nvSpPr>
          <p:cNvPr id="2531"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32" name="PlaceHolder 3"/>
          <p:cNvSpPr>
            <a:spLocks noGrp="1"/>
          </p:cNvSpPr>
          <p:nvPr>
            <p:ph type="sldNum" idx="104"/>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2225AC57-F9D4-4AB7-B35F-7BD903A35080}"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3" name="PlaceHolder 1"/>
          <p:cNvSpPr>
            <a:spLocks noGrp="1"/>
          </p:cNvSpPr>
          <p:nvPr>
            <p:ph type="sldImg"/>
          </p:nvPr>
        </p:nvSpPr>
        <p:spPr>
          <a:xfrm>
            <a:off x="685800" y="1143000"/>
            <a:ext cx="5479200" cy="3079080"/>
          </a:xfrm>
          <a:prstGeom prst="rect">
            <a:avLst/>
          </a:prstGeom>
          <a:ln w="0">
            <a:noFill/>
          </a:ln>
        </p:spPr>
      </p:sp>
      <p:sp>
        <p:nvSpPr>
          <p:cNvPr id="2534"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35" name="PlaceHolder 3"/>
          <p:cNvSpPr>
            <a:spLocks noGrp="1"/>
          </p:cNvSpPr>
          <p:nvPr>
            <p:ph type="sldNum" idx="105"/>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507FAAB-9F63-4636-A654-ECC648F38995}"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6" name="PlaceHolder 1"/>
          <p:cNvSpPr>
            <a:spLocks noGrp="1"/>
          </p:cNvSpPr>
          <p:nvPr>
            <p:ph type="sldImg"/>
          </p:nvPr>
        </p:nvSpPr>
        <p:spPr>
          <a:xfrm>
            <a:off x="685800" y="1143000"/>
            <a:ext cx="5479200" cy="3079080"/>
          </a:xfrm>
          <a:prstGeom prst="rect">
            <a:avLst/>
          </a:prstGeom>
          <a:ln w="0">
            <a:noFill/>
          </a:ln>
        </p:spPr>
      </p:sp>
      <p:sp>
        <p:nvSpPr>
          <p:cNvPr id="2537"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38" name="PlaceHolder 3"/>
          <p:cNvSpPr>
            <a:spLocks noGrp="1"/>
          </p:cNvSpPr>
          <p:nvPr>
            <p:ph type="sldNum" idx="106"/>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8D4BFEE-D204-40F2-8C40-BCA6C19AAFFE}"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9" name="PlaceHolder 1"/>
          <p:cNvSpPr>
            <a:spLocks noGrp="1"/>
          </p:cNvSpPr>
          <p:nvPr>
            <p:ph type="sldImg"/>
          </p:nvPr>
        </p:nvSpPr>
        <p:spPr>
          <a:xfrm>
            <a:off x="685800" y="1143000"/>
            <a:ext cx="5479200" cy="3079080"/>
          </a:xfrm>
          <a:prstGeom prst="rect">
            <a:avLst/>
          </a:prstGeom>
          <a:ln w="0">
            <a:noFill/>
          </a:ln>
        </p:spPr>
      </p:sp>
      <p:sp>
        <p:nvSpPr>
          <p:cNvPr id="2540"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41" name="PlaceHolder 3"/>
          <p:cNvSpPr>
            <a:spLocks noGrp="1"/>
          </p:cNvSpPr>
          <p:nvPr>
            <p:ph type="sldNum" idx="107"/>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78094B8-EC58-47A0-9E1E-B7160F196A44}"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2" name="PlaceHolder 1"/>
          <p:cNvSpPr>
            <a:spLocks noGrp="1"/>
          </p:cNvSpPr>
          <p:nvPr>
            <p:ph type="sldImg"/>
          </p:nvPr>
        </p:nvSpPr>
        <p:spPr>
          <a:xfrm>
            <a:off x="685800" y="1143000"/>
            <a:ext cx="5479200" cy="3079080"/>
          </a:xfrm>
          <a:prstGeom prst="rect">
            <a:avLst/>
          </a:prstGeom>
          <a:ln w="0">
            <a:noFill/>
          </a:ln>
        </p:spPr>
      </p:sp>
      <p:sp>
        <p:nvSpPr>
          <p:cNvPr id="2543"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44" name="PlaceHolder 3"/>
          <p:cNvSpPr>
            <a:spLocks noGrp="1"/>
          </p:cNvSpPr>
          <p:nvPr>
            <p:ph type="sldNum" idx="108"/>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5B290F9-8559-45D7-B715-5937FFD4E7D8}"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5" name="PlaceHolder 1"/>
          <p:cNvSpPr>
            <a:spLocks noGrp="1"/>
          </p:cNvSpPr>
          <p:nvPr>
            <p:ph type="sldImg"/>
          </p:nvPr>
        </p:nvSpPr>
        <p:spPr>
          <a:xfrm>
            <a:off x="685800" y="1143000"/>
            <a:ext cx="5479200" cy="3079080"/>
          </a:xfrm>
          <a:prstGeom prst="rect">
            <a:avLst/>
          </a:prstGeom>
          <a:ln w="0">
            <a:noFill/>
          </a:ln>
        </p:spPr>
      </p:sp>
      <p:sp>
        <p:nvSpPr>
          <p:cNvPr id="2546"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47" name="PlaceHolder 3"/>
          <p:cNvSpPr>
            <a:spLocks noGrp="1"/>
          </p:cNvSpPr>
          <p:nvPr>
            <p:ph type="sldNum" idx="109"/>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4820FFF-043A-4773-B1AD-1E24A01A595B}"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8" name="PlaceHolder 1"/>
          <p:cNvSpPr>
            <a:spLocks noGrp="1"/>
          </p:cNvSpPr>
          <p:nvPr>
            <p:ph type="sldImg"/>
          </p:nvPr>
        </p:nvSpPr>
        <p:spPr>
          <a:xfrm>
            <a:off x="685800" y="1143000"/>
            <a:ext cx="5479200" cy="3079080"/>
          </a:xfrm>
          <a:prstGeom prst="rect">
            <a:avLst/>
          </a:prstGeom>
          <a:ln w="0">
            <a:noFill/>
          </a:ln>
        </p:spPr>
      </p:sp>
      <p:sp>
        <p:nvSpPr>
          <p:cNvPr id="2549" name="PlaceHolder 2"/>
          <p:cNvSpPr>
            <a:spLocks noGrp="1"/>
          </p:cNvSpPr>
          <p:nvPr>
            <p:ph type="body"/>
          </p:nvPr>
        </p:nvSpPr>
        <p:spPr>
          <a:xfrm>
            <a:off x="685800" y="4400640"/>
            <a:ext cx="5479200" cy="359316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2550" name="PlaceHolder 3"/>
          <p:cNvSpPr>
            <a:spLocks noGrp="1"/>
          </p:cNvSpPr>
          <p:nvPr>
            <p:ph type="sldNum" idx="110"/>
          </p:nvPr>
        </p:nvSpPr>
        <p:spPr>
          <a:xfrm>
            <a:off x="3884760" y="8685360"/>
            <a:ext cx="2964600" cy="4514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E87D706F-1620-4505-838C-27FE6E138394}" type="slidenum">
              <a:rPr lang="fr-FR"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ctr">
              <a:buNone/>
              <a:defRPr lang="fr-FR" sz="4400" b="0" u="none" strike="noStrike">
                <a:solidFill>
                  <a:srgbClr val="000000"/>
                </a:solidFill>
                <a:effectLst/>
                <a:uFillTx/>
                <a:latin typeface="Arial"/>
              </a:defRPr>
            </a:lvl1pPr>
          </a:lstStyle>
          <a:p>
            <a:pPr indent="0" algn="ctr">
              <a:buNone/>
            </a:pPr>
            <a:r>
              <a:rPr lang="fr-FR" sz="4400" b="0" u="none" strike="noStrike">
                <a:solidFill>
                  <a:srgbClr val="000000"/>
                </a:solidFill>
                <a:effectLst/>
                <a:uFillTx/>
                <a:latin typeface="Arial"/>
              </a:rPr>
              <a:t>Cliquez pour éditer le format du texte-titre</a:t>
            </a:r>
            <a:endParaRPr lang="fr-FR" sz="44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fr-FR"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fr-FR"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fr-FR"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fr-FR"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jpeg"/><Relationship Id="rId7" Type="http://schemas.openxmlformats.org/officeDocument/2006/relationships/slideLayout" Target="../slideLayouts/slideLayout1.xml"/><Relationship Id="rId8"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svg"/><Relationship Id="rId3" Type="http://schemas.openxmlformats.org/officeDocument/2006/relationships/slideLayout" Target="../slideLayouts/slideLayout1.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 name="Text 0"/>
          <p:cNvSpPr/>
          <p:nvPr/>
        </p:nvSpPr>
        <p:spPr>
          <a:xfrm>
            <a:off x="457200" y="36576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Satoshi"/>
                <a:ea typeface="Satoshi"/>
              </a:rPr>
              <a:t>Aymen CHAABANE</a:t>
            </a:r>
            <a:endParaRPr lang="fr-FR" sz="1200" b="0" u="none" strike="noStrike">
              <a:solidFill>
                <a:srgbClr val="000000"/>
              </a:solidFill>
              <a:effectLst/>
              <a:uFillTx/>
              <a:latin typeface="Arial"/>
            </a:endParaRPr>
          </a:p>
        </p:txBody>
      </p:sp>
      <p:sp>
        <p:nvSpPr>
          <p:cNvPr id="11" name="Shape 1"/>
          <p:cNvSpPr/>
          <p:nvPr/>
        </p:nvSpPr>
        <p:spPr>
          <a:xfrm>
            <a:off x="457200" y="713160"/>
            <a:ext cx="2286000" cy="360"/>
          </a:xfrm>
          <a:prstGeom prst="line">
            <a:avLst/>
          </a:prstGeom>
          <a:ln w="12700">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 name="Text 2"/>
          <p:cNvSpPr/>
          <p:nvPr/>
        </p:nvSpPr>
        <p:spPr>
          <a:xfrm>
            <a:off x="457200" y="1280160"/>
            <a:ext cx="8222400" cy="907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7200" b="1" u="none" strike="noStrike">
                <a:solidFill>
                  <a:srgbClr val="0A0A0A"/>
                </a:solidFill>
                <a:effectLst/>
                <a:uFillTx/>
                <a:latin typeface="Arelv"/>
                <a:ea typeface="Arelv"/>
              </a:rPr>
              <a:t>CAHIER</a:t>
            </a:r>
            <a:endParaRPr lang="fr-FR" sz="7200" b="0" u="none" strike="noStrike">
              <a:solidFill>
                <a:srgbClr val="000000"/>
              </a:solidFill>
              <a:effectLst/>
              <a:uFillTx/>
              <a:latin typeface="Arial"/>
            </a:endParaRPr>
          </a:p>
        </p:txBody>
      </p:sp>
      <p:sp>
        <p:nvSpPr>
          <p:cNvPr id="13" name="Text 3"/>
          <p:cNvSpPr/>
          <p:nvPr/>
        </p:nvSpPr>
        <p:spPr>
          <a:xfrm>
            <a:off x="457200" y="2286000"/>
            <a:ext cx="8222400" cy="907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7200" b="1" u="none" strike="noStrike">
                <a:solidFill>
                  <a:srgbClr val="0A0A0A"/>
                </a:solidFill>
                <a:effectLst/>
                <a:uFillTx/>
                <a:latin typeface="Arelv"/>
                <a:ea typeface="Arelv"/>
              </a:rPr>
              <a:t>DES CHARGES</a:t>
            </a:r>
            <a:endParaRPr lang="fr-FR" sz="7200" b="0" u="none" strike="noStrike">
              <a:solidFill>
                <a:srgbClr val="000000"/>
              </a:solidFill>
              <a:effectLst/>
              <a:uFillTx/>
              <a:latin typeface="Arial"/>
            </a:endParaRPr>
          </a:p>
        </p:txBody>
      </p:sp>
      <p:sp>
        <p:nvSpPr>
          <p:cNvPr id="14" name="Text 4"/>
          <p:cNvSpPr/>
          <p:nvPr/>
        </p:nvSpPr>
        <p:spPr>
          <a:xfrm>
            <a:off x="457200" y="35204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u="none" strike="noStrike">
                <a:solidFill>
                  <a:srgbClr val="37474F"/>
                </a:solidFill>
                <a:effectLst/>
                <a:uFillTx/>
                <a:latin typeface="Satoshi"/>
                <a:ea typeface="Satoshi"/>
              </a:rPr>
              <a:t>Portfolio personnel — Projet fil rouge</a:t>
            </a:r>
            <a:endParaRPr lang="fr-FR" sz="1600" b="0" u="none" strike="noStrike">
              <a:solidFill>
                <a:srgbClr val="000000"/>
              </a:solidFill>
              <a:effectLst/>
              <a:uFillTx/>
              <a:latin typeface="Arial"/>
            </a:endParaRPr>
          </a:p>
        </p:txBody>
      </p:sp>
      <p:sp>
        <p:nvSpPr>
          <p:cNvPr id="15" name="Text 5"/>
          <p:cNvSpPr/>
          <p:nvPr/>
        </p:nvSpPr>
        <p:spPr>
          <a:xfrm>
            <a:off x="457200" y="461772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pc="99" strike="noStrike">
                <a:solidFill>
                  <a:srgbClr val="0A0A0A"/>
                </a:solidFill>
                <a:effectLst/>
                <a:uFillTx/>
                <a:latin typeface="Satoshi"/>
                <a:ea typeface="Satoshi"/>
              </a:rPr>
              <a:t>Bachelor Chef de Projet Digital · FIM CCI Campus 2 — Saint-Lô · 2026</a:t>
            </a:r>
            <a:endParaRPr lang="fr-FR"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FICHE PROJET</a:t>
            </a:r>
            <a:endParaRPr lang="fr-FR" sz="5600" b="0" u="none" strike="noStrike">
              <a:solidFill>
                <a:srgbClr val="000000"/>
              </a:solidFill>
              <a:effectLst/>
              <a:uFillTx/>
              <a:latin typeface="Arial"/>
            </a:endParaRPr>
          </a:p>
        </p:txBody>
      </p:sp>
      <p:sp>
        <p:nvSpPr>
          <p:cNvPr id="20" name="Text 4"/>
          <p:cNvSpPr/>
          <p:nvPr/>
        </p:nvSpPr>
        <p:spPr>
          <a:xfrm>
            <a:off x="457200" y="182880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PROJET</a:t>
            </a:r>
            <a:endParaRPr lang="fr-FR" sz="1000" b="0" u="none" strike="noStrike">
              <a:solidFill>
                <a:srgbClr val="000000"/>
              </a:solidFill>
              <a:effectLst/>
              <a:uFillTx/>
              <a:latin typeface="Arial"/>
            </a:endParaRPr>
          </a:p>
        </p:txBody>
      </p:sp>
      <p:sp>
        <p:nvSpPr>
          <p:cNvPr id="21" name="Text 5"/>
          <p:cNvSpPr/>
          <p:nvPr/>
        </p:nvSpPr>
        <p:spPr>
          <a:xfrm>
            <a:off x="2743200" y="182880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Portfolio personnel — aymen-chaabane.fr</a:t>
            </a:r>
            <a:endParaRPr lang="fr-FR" sz="1200" b="0" u="none" strike="noStrike">
              <a:solidFill>
                <a:srgbClr val="000000"/>
              </a:solidFill>
              <a:effectLst/>
              <a:uFillTx/>
              <a:latin typeface="Arial"/>
            </a:endParaRPr>
          </a:p>
        </p:txBody>
      </p:sp>
      <p:sp>
        <p:nvSpPr>
          <p:cNvPr id="22" name="Text 6"/>
          <p:cNvSpPr/>
          <p:nvPr/>
        </p:nvSpPr>
        <p:spPr>
          <a:xfrm>
            <a:off x="457200" y="212148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AUTEUR</a:t>
            </a:r>
            <a:endParaRPr lang="fr-FR" sz="1000" b="0" u="none" strike="noStrike">
              <a:solidFill>
                <a:srgbClr val="000000"/>
              </a:solidFill>
              <a:effectLst/>
              <a:uFillTx/>
              <a:latin typeface="Arial"/>
            </a:endParaRPr>
          </a:p>
        </p:txBody>
      </p:sp>
      <p:sp>
        <p:nvSpPr>
          <p:cNvPr id="23" name="Text 7"/>
          <p:cNvSpPr/>
          <p:nvPr/>
        </p:nvSpPr>
        <p:spPr>
          <a:xfrm>
            <a:off x="2743200" y="212148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Aymen CHAABANE</a:t>
            </a:r>
            <a:endParaRPr lang="fr-FR" sz="1200" b="0" u="none" strike="noStrike">
              <a:solidFill>
                <a:srgbClr val="000000"/>
              </a:solidFill>
              <a:effectLst/>
              <a:uFillTx/>
              <a:latin typeface="Arial"/>
            </a:endParaRPr>
          </a:p>
        </p:txBody>
      </p:sp>
      <p:sp>
        <p:nvSpPr>
          <p:cNvPr id="24" name="Text 8"/>
          <p:cNvSpPr/>
          <p:nvPr/>
        </p:nvSpPr>
        <p:spPr>
          <a:xfrm>
            <a:off x="457200" y="241416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FORMATION</a:t>
            </a:r>
            <a:endParaRPr lang="fr-FR" sz="1000" b="0" u="none" strike="noStrike">
              <a:solidFill>
                <a:srgbClr val="000000"/>
              </a:solidFill>
              <a:effectLst/>
              <a:uFillTx/>
              <a:latin typeface="Arial"/>
            </a:endParaRPr>
          </a:p>
        </p:txBody>
      </p:sp>
      <p:sp>
        <p:nvSpPr>
          <p:cNvPr id="25" name="Text 9"/>
          <p:cNvSpPr/>
          <p:nvPr/>
        </p:nvSpPr>
        <p:spPr>
          <a:xfrm>
            <a:off x="2743200" y="241416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Bachelor Chef de Projet Digital — parcours Développeur Web</a:t>
            </a:r>
            <a:endParaRPr lang="fr-FR" sz="1200" b="0" u="none" strike="noStrike">
              <a:solidFill>
                <a:srgbClr val="000000"/>
              </a:solidFill>
              <a:effectLst/>
              <a:uFillTx/>
              <a:latin typeface="Arial"/>
            </a:endParaRPr>
          </a:p>
        </p:txBody>
      </p:sp>
      <p:sp>
        <p:nvSpPr>
          <p:cNvPr id="26" name="Text 10"/>
          <p:cNvSpPr/>
          <p:nvPr/>
        </p:nvSpPr>
        <p:spPr>
          <a:xfrm>
            <a:off x="457200" y="270648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ÉTABLISSEMENT</a:t>
            </a:r>
            <a:endParaRPr lang="fr-FR" sz="1000" b="0" u="none" strike="noStrike">
              <a:solidFill>
                <a:srgbClr val="000000"/>
              </a:solidFill>
              <a:effectLst/>
              <a:uFillTx/>
              <a:latin typeface="Arial"/>
            </a:endParaRPr>
          </a:p>
        </p:txBody>
      </p:sp>
      <p:sp>
        <p:nvSpPr>
          <p:cNvPr id="27" name="Text 11"/>
          <p:cNvSpPr/>
          <p:nvPr/>
        </p:nvSpPr>
        <p:spPr>
          <a:xfrm>
            <a:off x="2743200" y="270648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FIM CCI Campus 2 — Saint-Lô (Normandie)</a:t>
            </a:r>
            <a:endParaRPr lang="fr-FR" sz="1200" b="0" u="none" strike="noStrike">
              <a:solidFill>
                <a:srgbClr val="000000"/>
              </a:solidFill>
              <a:effectLst/>
              <a:uFillTx/>
              <a:latin typeface="Arial"/>
            </a:endParaRPr>
          </a:p>
        </p:txBody>
      </p:sp>
      <p:sp>
        <p:nvSpPr>
          <p:cNvPr id="28" name="Text 12"/>
          <p:cNvSpPr/>
          <p:nvPr/>
        </p:nvSpPr>
        <p:spPr>
          <a:xfrm>
            <a:off x="457200" y="299916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RÉFÉRENT PÉDA.</a:t>
            </a:r>
            <a:endParaRPr lang="fr-FR" sz="1000" b="0" u="none" strike="noStrike">
              <a:solidFill>
                <a:srgbClr val="000000"/>
              </a:solidFill>
              <a:effectLst/>
              <a:uFillTx/>
              <a:latin typeface="Arial"/>
            </a:endParaRPr>
          </a:p>
        </p:txBody>
      </p:sp>
      <p:sp>
        <p:nvSpPr>
          <p:cNvPr id="29" name="Text 13"/>
          <p:cNvSpPr/>
          <p:nvPr/>
        </p:nvSpPr>
        <p:spPr>
          <a:xfrm>
            <a:off x="2743200" y="299916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Benoît MOTTIN</a:t>
            </a:r>
            <a:endParaRPr lang="fr-FR" sz="1200" b="0" u="none" strike="noStrike">
              <a:solidFill>
                <a:srgbClr val="000000"/>
              </a:solidFill>
              <a:effectLst/>
              <a:uFillTx/>
              <a:latin typeface="Arial"/>
            </a:endParaRPr>
          </a:p>
        </p:txBody>
      </p:sp>
      <p:sp>
        <p:nvSpPr>
          <p:cNvPr id="30" name="Text 14"/>
          <p:cNvSpPr/>
          <p:nvPr/>
        </p:nvSpPr>
        <p:spPr>
          <a:xfrm>
            <a:off x="457200" y="329184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MAÎTRE DE STAGE</a:t>
            </a:r>
            <a:endParaRPr lang="fr-FR" sz="1000" b="0" u="none" strike="noStrike">
              <a:solidFill>
                <a:srgbClr val="000000"/>
              </a:solidFill>
              <a:effectLst/>
              <a:uFillTx/>
              <a:latin typeface="Arial"/>
            </a:endParaRPr>
          </a:p>
        </p:txBody>
      </p:sp>
      <p:sp>
        <p:nvSpPr>
          <p:cNvPr id="31" name="Text 15"/>
          <p:cNvSpPr/>
          <p:nvPr/>
        </p:nvSpPr>
        <p:spPr>
          <a:xfrm>
            <a:off x="2743200" y="329184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Lucas TREHET (Saobio)</a:t>
            </a:r>
            <a:endParaRPr lang="fr-FR" sz="1200" b="0" u="none" strike="noStrike">
              <a:solidFill>
                <a:srgbClr val="000000"/>
              </a:solidFill>
              <a:effectLst/>
              <a:uFillTx/>
              <a:latin typeface="Arial"/>
            </a:endParaRPr>
          </a:p>
        </p:txBody>
      </p:sp>
      <p:sp>
        <p:nvSpPr>
          <p:cNvPr id="32" name="Text 16"/>
          <p:cNvSpPr/>
          <p:nvPr/>
        </p:nvSpPr>
        <p:spPr>
          <a:xfrm>
            <a:off x="457200" y="358452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DATE DE DÉBUT</a:t>
            </a:r>
            <a:endParaRPr lang="fr-FR" sz="1000" b="0" u="none" strike="noStrike">
              <a:solidFill>
                <a:srgbClr val="000000"/>
              </a:solidFill>
              <a:effectLst/>
              <a:uFillTx/>
              <a:latin typeface="Arial"/>
            </a:endParaRPr>
          </a:p>
        </p:txBody>
      </p:sp>
      <p:sp>
        <p:nvSpPr>
          <p:cNvPr id="33" name="Text 17"/>
          <p:cNvSpPr/>
          <p:nvPr/>
        </p:nvSpPr>
        <p:spPr>
          <a:xfrm>
            <a:off x="2743200" y="358452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15 septembre 2025</a:t>
            </a:r>
            <a:endParaRPr lang="fr-FR" sz="1200" b="0" u="none" strike="noStrike">
              <a:solidFill>
                <a:srgbClr val="000000"/>
              </a:solidFill>
              <a:effectLst/>
              <a:uFillTx/>
              <a:latin typeface="Arial"/>
            </a:endParaRPr>
          </a:p>
        </p:txBody>
      </p:sp>
      <p:sp>
        <p:nvSpPr>
          <p:cNvPr id="34" name="Text 18"/>
          <p:cNvSpPr/>
          <p:nvPr/>
        </p:nvSpPr>
        <p:spPr>
          <a:xfrm>
            <a:off x="457200" y="387720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LIVRAISON PRÉVUE</a:t>
            </a:r>
            <a:endParaRPr lang="fr-FR" sz="1000" b="0" u="none" strike="noStrike">
              <a:solidFill>
                <a:srgbClr val="000000"/>
              </a:solidFill>
              <a:effectLst/>
              <a:uFillTx/>
              <a:latin typeface="Arial"/>
            </a:endParaRPr>
          </a:p>
        </p:txBody>
      </p:sp>
      <p:sp>
        <p:nvSpPr>
          <p:cNvPr id="35" name="Text 19"/>
          <p:cNvSpPr/>
          <p:nvPr/>
        </p:nvSpPr>
        <p:spPr>
          <a:xfrm>
            <a:off x="2743200" y="387720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Juin 2026</a:t>
            </a:r>
            <a:endParaRPr lang="fr-FR" sz="1200" b="0" u="none" strike="noStrike">
              <a:solidFill>
                <a:srgbClr val="000000"/>
              </a:solidFill>
              <a:effectLst/>
              <a:uFillTx/>
              <a:latin typeface="Arial"/>
            </a:endParaRPr>
          </a:p>
        </p:txBody>
      </p:sp>
      <p:sp>
        <p:nvSpPr>
          <p:cNvPr id="36" name="Text 20"/>
          <p:cNvSpPr/>
          <p:nvPr/>
        </p:nvSpPr>
        <p:spPr>
          <a:xfrm>
            <a:off x="457200" y="4169520"/>
            <a:ext cx="21873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37474F"/>
                </a:solidFill>
                <a:effectLst/>
                <a:uFillTx/>
                <a:latin typeface="Satoshi"/>
                <a:ea typeface="Satoshi"/>
              </a:rPr>
              <a:t>VERSION</a:t>
            </a:r>
            <a:endParaRPr lang="fr-FR" sz="1000" b="0" u="none" strike="noStrike">
              <a:solidFill>
                <a:srgbClr val="000000"/>
              </a:solidFill>
              <a:effectLst/>
              <a:uFillTx/>
              <a:latin typeface="Arial"/>
            </a:endParaRPr>
          </a:p>
        </p:txBody>
      </p:sp>
      <p:sp>
        <p:nvSpPr>
          <p:cNvPr id="37" name="Text 21"/>
          <p:cNvSpPr/>
          <p:nvPr/>
        </p:nvSpPr>
        <p:spPr>
          <a:xfrm>
            <a:off x="2743200" y="4169520"/>
            <a:ext cx="5936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0" u="none" strike="noStrike">
                <a:solidFill>
                  <a:srgbClr val="0A0A0A"/>
                </a:solidFill>
                <a:effectLst/>
                <a:uFillTx/>
                <a:latin typeface="Satoshi"/>
                <a:ea typeface="Satoshi"/>
              </a:rPr>
              <a:t>5.0</a:t>
            </a:r>
            <a:endParaRPr lang="fr-FR" sz="1200" b="0" u="none" strike="noStrike">
              <a:solidFill>
                <a:srgbClr val="000000"/>
              </a:solidFill>
              <a:effectLst/>
              <a:uFillTx/>
              <a:latin typeface="Arial"/>
            </a:endParaRPr>
          </a:p>
        </p:txBody>
      </p:sp>
      <p:sp>
        <p:nvSpPr>
          <p:cNvPr id="38"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9"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40"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4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4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4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SOMMAIRE</a:t>
            </a:r>
            <a:endParaRPr lang="fr-FR" sz="5600" b="0" u="none" strike="noStrike">
              <a:solidFill>
                <a:srgbClr val="000000"/>
              </a:solidFill>
              <a:effectLst/>
              <a:uFillTx/>
              <a:latin typeface="Arial"/>
            </a:endParaRPr>
          </a:p>
        </p:txBody>
      </p:sp>
      <p:sp>
        <p:nvSpPr>
          <p:cNvPr id="45" name="Text 4"/>
          <p:cNvSpPr/>
          <p:nvPr/>
        </p:nvSpPr>
        <p:spPr>
          <a:xfrm>
            <a:off x="457200" y="160020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Première partie</a:t>
            </a:r>
            <a:endParaRPr lang="fr-FR" sz="1400" b="0" u="none" strike="noStrike">
              <a:solidFill>
                <a:srgbClr val="000000"/>
              </a:solidFill>
              <a:effectLst/>
              <a:uFillTx/>
              <a:latin typeface="Arial"/>
            </a:endParaRPr>
          </a:p>
        </p:txBody>
      </p:sp>
      <p:sp>
        <p:nvSpPr>
          <p:cNvPr id="46" name="Text 5"/>
          <p:cNvSpPr/>
          <p:nvPr/>
        </p:nvSpPr>
        <p:spPr>
          <a:xfrm>
            <a:off x="457200" y="20768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01</a:t>
            </a:r>
            <a:endParaRPr lang="fr-FR" sz="2400" b="0" u="none" strike="noStrike">
              <a:solidFill>
                <a:srgbClr val="000000"/>
              </a:solidFill>
              <a:effectLst/>
              <a:uFillTx/>
              <a:latin typeface="Arial"/>
            </a:endParaRPr>
          </a:p>
        </p:txBody>
      </p:sp>
      <p:sp>
        <p:nvSpPr>
          <p:cNvPr id="47" name="Text 6"/>
          <p:cNvSpPr/>
          <p:nvPr/>
        </p:nvSpPr>
        <p:spPr>
          <a:xfrm>
            <a:off x="1188720" y="212256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u="none" strike="noStrike">
                <a:solidFill>
                  <a:srgbClr val="0A0A0A"/>
                </a:solidFill>
                <a:effectLst/>
                <a:uFillTx/>
                <a:latin typeface="Satoshi"/>
                <a:ea typeface="Satoshi"/>
              </a:rPr>
              <a:t>Présentation du projet</a:t>
            </a:r>
            <a:endParaRPr lang="fr-FR" sz="1800" b="0" u="none" strike="noStrike">
              <a:solidFill>
                <a:srgbClr val="000000"/>
              </a:solidFill>
              <a:effectLst/>
              <a:uFillTx/>
              <a:latin typeface="Arial"/>
            </a:endParaRPr>
          </a:p>
        </p:txBody>
      </p:sp>
      <p:sp>
        <p:nvSpPr>
          <p:cNvPr id="48" name="Text 7"/>
          <p:cNvSpPr/>
          <p:nvPr/>
        </p:nvSpPr>
        <p:spPr>
          <a:xfrm>
            <a:off x="7223760" y="212256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05 — 12</a:t>
            </a:r>
            <a:endParaRPr lang="fr-FR" sz="1300" b="0" u="none" strike="noStrike">
              <a:solidFill>
                <a:srgbClr val="000000"/>
              </a:solidFill>
              <a:effectLst/>
              <a:uFillTx/>
              <a:latin typeface="Arial"/>
            </a:endParaRPr>
          </a:p>
        </p:txBody>
      </p:sp>
      <p:sp>
        <p:nvSpPr>
          <p:cNvPr id="49" name="Shape 8"/>
          <p:cNvSpPr/>
          <p:nvPr/>
        </p:nvSpPr>
        <p:spPr>
          <a:xfrm>
            <a:off x="1188000" y="244368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0" name="Text 9"/>
          <p:cNvSpPr/>
          <p:nvPr/>
        </p:nvSpPr>
        <p:spPr>
          <a:xfrm>
            <a:off x="457200" y="247176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02</a:t>
            </a:r>
            <a:endParaRPr lang="fr-FR" sz="2400" b="0" u="none" strike="noStrike">
              <a:solidFill>
                <a:srgbClr val="000000"/>
              </a:solidFill>
              <a:effectLst/>
              <a:uFillTx/>
              <a:latin typeface="Arial"/>
            </a:endParaRPr>
          </a:p>
        </p:txBody>
      </p:sp>
      <p:sp>
        <p:nvSpPr>
          <p:cNvPr id="51" name="Text 10"/>
          <p:cNvSpPr/>
          <p:nvPr/>
        </p:nvSpPr>
        <p:spPr>
          <a:xfrm>
            <a:off x="1188720" y="251748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u="none" strike="noStrike">
                <a:solidFill>
                  <a:srgbClr val="0A0A0A"/>
                </a:solidFill>
                <a:effectLst/>
                <a:uFillTx/>
                <a:latin typeface="Satoshi"/>
                <a:ea typeface="Satoshi"/>
              </a:rPr>
              <a:t>Analyse stratégique</a:t>
            </a:r>
            <a:endParaRPr lang="fr-FR" sz="1800" b="0" u="none" strike="noStrike">
              <a:solidFill>
                <a:srgbClr val="000000"/>
              </a:solidFill>
              <a:effectLst/>
              <a:uFillTx/>
              <a:latin typeface="Arial"/>
            </a:endParaRPr>
          </a:p>
        </p:txBody>
      </p:sp>
      <p:sp>
        <p:nvSpPr>
          <p:cNvPr id="52" name="Text 11"/>
          <p:cNvSpPr/>
          <p:nvPr/>
        </p:nvSpPr>
        <p:spPr>
          <a:xfrm>
            <a:off x="7223760" y="251748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13 — 22</a:t>
            </a:r>
            <a:endParaRPr lang="fr-FR" sz="1300" b="0" u="none" strike="noStrike">
              <a:solidFill>
                <a:srgbClr val="000000"/>
              </a:solidFill>
              <a:effectLst/>
              <a:uFillTx/>
              <a:latin typeface="Arial"/>
            </a:endParaRPr>
          </a:p>
        </p:txBody>
      </p:sp>
      <p:sp>
        <p:nvSpPr>
          <p:cNvPr id="53" name="Shape 12"/>
          <p:cNvSpPr/>
          <p:nvPr/>
        </p:nvSpPr>
        <p:spPr>
          <a:xfrm>
            <a:off x="1188000" y="287460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4" name="Text 13"/>
          <p:cNvSpPr/>
          <p:nvPr/>
        </p:nvSpPr>
        <p:spPr>
          <a:xfrm>
            <a:off x="457200" y="293868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03</a:t>
            </a:r>
            <a:endParaRPr lang="fr-FR" sz="2400" b="0" u="none" strike="noStrike">
              <a:solidFill>
                <a:srgbClr val="000000"/>
              </a:solidFill>
              <a:effectLst/>
              <a:uFillTx/>
              <a:latin typeface="Arial"/>
            </a:endParaRPr>
          </a:p>
        </p:txBody>
      </p:sp>
      <p:sp>
        <p:nvSpPr>
          <p:cNvPr id="55" name="Text 14"/>
          <p:cNvSpPr/>
          <p:nvPr/>
        </p:nvSpPr>
        <p:spPr>
          <a:xfrm>
            <a:off x="1188720" y="298440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u="none" strike="noStrike">
                <a:solidFill>
                  <a:srgbClr val="0A0A0A"/>
                </a:solidFill>
                <a:effectLst/>
                <a:uFillTx/>
                <a:latin typeface="Satoshi"/>
                <a:ea typeface="Satoshi"/>
              </a:rPr>
              <a:t>Cibles &amp; Personas</a:t>
            </a:r>
            <a:endParaRPr lang="fr-FR" sz="1800" b="0" u="none" strike="noStrike">
              <a:solidFill>
                <a:srgbClr val="000000"/>
              </a:solidFill>
              <a:effectLst/>
              <a:uFillTx/>
              <a:latin typeface="Arial"/>
            </a:endParaRPr>
          </a:p>
        </p:txBody>
      </p:sp>
      <p:sp>
        <p:nvSpPr>
          <p:cNvPr id="56" name="Text 15"/>
          <p:cNvSpPr/>
          <p:nvPr/>
        </p:nvSpPr>
        <p:spPr>
          <a:xfrm>
            <a:off x="7223760" y="298440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23 — 30</a:t>
            </a:r>
            <a:endParaRPr lang="fr-FR" sz="1300" b="0" u="none" strike="noStrike">
              <a:solidFill>
                <a:srgbClr val="000000"/>
              </a:solidFill>
              <a:effectLst/>
              <a:uFillTx/>
              <a:latin typeface="Arial"/>
            </a:endParaRPr>
          </a:p>
        </p:txBody>
      </p:sp>
      <p:sp>
        <p:nvSpPr>
          <p:cNvPr id="57" name="Shape 16"/>
          <p:cNvSpPr/>
          <p:nvPr/>
        </p:nvSpPr>
        <p:spPr>
          <a:xfrm>
            <a:off x="1188000" y="330552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8" name="Text 17"/>
          <p:cNvSpPr/>
          <p:nvPr/>
        </p:nvSpPr>
        <p:spPr>
          <a:xfrm>
            <a:off x="457200" y="340560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04</a:t>
            </a:r>
            <a:endParaRPr lang="fr-FR" sz="2400" b="0" u="none" strike="noStrike">
              <a:solidFill>
                <a:srgbClr val="000000"/>
              </a:solidFill>
              <a:effectLst/>
              <a:uFillTx/>
              <a:latin typeface="Arial"/>
            </a:endParaRPr>
          </a:p>
        </p:txBody>
      </p:sp>
      <p:sp>
        <p:nvSpPr>
          <p:cNvPr id="59" name="Text 18"/>
          <p:cNvSpPr/>
          <p:nvPr/>
        </p:nvSpPr>
        <p:spPr>
          <a:xfrm>
            <a:off x="1188720" y="345132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u="none" strike="noStrike">
                <a:solidFill>
                  <a:srgbClr val="0A0A0A"/>
                </a:solidFill>
                <a:effectLst/>
                <a:uFillTx/>
                <a:latin typeface="Satoshi"/>
                <a:ea typeface="Satoshi"/>
              </a:rPr>
              <a:t>Périmètre &amp; Faisabilité</a:t>
            </a:r>
            <a:endParaRPr lang="fr-FR" sz="1800" b="0" u="none" strike="noStrike">
              <a:solidFill>
                <a:srgbClr val="000000"/>
              </a:solidFill>
              <a:effectLst/>
              <a:uFillTx/>
              <a:latin typeface="Arial"/>
            </a:endParaRPr>
          </a:p>
        </p:txBody>
      </p:sp>
      <p:sp>
        <p:nvSpPr>
          <p:cNvPr id="60" name="Text 19"/>
          <p:cNvSpPr/>
          <p:nvPr/>
        </p:nvSpPr>
        <p:spPr>
          <a:xfrm>
            <a:off x="7223760" y="345132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31 — 38 </a:t>
            </a:r>
            <a:endParaRPr lang="fr-FR" sz="1300" b="0" u="none" strike="noStrike">
              <a:solidFill>
                <a:srgbClr val="000000"/>
              </a:solidFill>
              <a:effectLst/>
              <a:uFillTx/>
              <a:latin typeface="Arial"/>
            </a:endParaRPr>
          </a:p>
        </p:txBody>
      </p:sp>
      <p:sp>
        <p:nvSpPr>
          <p:cNvPr id="61" name="Shape 20"/>
          <p:cNvSpPr/>
          <p:nvPr/>
        </p:nvSpPr>
        <p:spPr>
          <a:xfrm>
            <a:off x="1188000" y="380844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2" name="Text 21"/>
          <p:cNvSpPr/>
          <p:nvPr/>
        </p:nvSpPr>
        <p:spPr>
          <a:xfrm>
            <a:off x="457200" y="387252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05</a:t>
            </a:r>
            <a:endParaRPr lang="fr-FR" sz="2400" b="0" u="none" strike="noStrike">
              <a:solidFill>
                <a:srgbClr val="000000"/>
              </a:solidFill>
              <a:effectLst/>
              <a:uFillTx/>
              <a:latin typeface="Arial"/>
            </a:endParaRPr>
          </a:p>
        </p:txBody>
      </p:sp>
      <p:sp>
        <p:nvSpPr>
          <p:cNvPr id="63" name="Text 22"/>
          <p:cNvSpPr/>
          <p:nvPr/>
        </p:nvSpPr>
        <p:spPr>
          <a:xfrm>
            <a:off x="1188720" y="391824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u="none" strike="noStrike">
                <a:solidFill>
                  <a:srgbClr val="0A0A0A"/>
                </a:solidFill>
                <a:effectLst/>
                <a:uFillTx/>
                <a:latin typeface="Satoshi"/>
                <a:ea typeface="Satoshi"/>
              </a:rPr>
              <a:t>Identité visuelle</a:t>
            </a:r>
            <a:endParaRPr lang="fr-FR" sz="1800" b="0" u="none" strike="noStrike">
              <a:solidFill>
                <a:srgbClr val="000000"/>
              </a:solidFill>
              <a:effectLst/>
              <a:uFillTx/>
              <a:latin typeface="Arial"/>
            </a:endParaRPr>
          </a:p>
        </p:txBody>
      </p:sp>
      <p:sp>
        <p:nvSpPr>
          <p:cNvPr id="64" name="Text 23"/>
          <p:cNvSpPr/>
          <p:nvPr/>
        </p:nvSpPr>
        <p:spPr>
          <a:xfrm>
            <a:off x="7223760" y="391824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39 — 52</a:t>
            </a:r>
            <a:endParaRPr lang="fr-FR" sz="1300" b="0" u="none" strike="noStrike">
              <a:solidFill>
                <a:srgbClr val="000000"/>
              </a:solidFill>
              <a:effectLst/>
              <a:uFillTx/>
              <a:latin typeface="Arial"/>
            </a:endParaRPr>
          </a:p>
        </p:txBody>
      </p:sp>
      <p:sp>
        <p:nvSpPr>
          <p:cNvPr id="65" name="Shape 2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6" name="Text 2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67" name="Text 2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a:t>
            </a:r>
            <a:endParaRPr lang="fr-FR" sz="900" b="0" u="none" strike="noStrike">
              <a:solidFill>
                <a:srgbClr val="000000"/>
              </a:solidFill>
              <a:effectLst/>
              <a:uFillTx/>
              <a:latin typeface="Arial"/>
            </a:endParaRPr>
          </a:p>
        </p:txBody>
      </p:sp>
      <p:sp>
        <p:nvSpPr>
          <p:cNvPr id="68" name="Shape 38"/>
          <p:cNvSpPr/>
          <p:nvPr/>
        </p:nvSpPr>
        <p:spPr>
          <a:xfrm>
            <a:off x="1188000" y="428364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9" name="Text 62"/>
          <p:cNvSpPr/>
          <p:nvPr/>
        </p:nvSpPr>
        <p:spPr>
          <a:xfrm>
            <a:off x="457200" y="42836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06</a:t>
            </a:r>
            <a:endParaRPr lang="fr-FR" sz="2200" b="0" u="none" strike="noStrike">
              <a:solidFill>
                <a:srgbClr val="000000"/>
              </a:solidFill>
              <a:effectLst/>
              <a:uFillTx/>
              <a:latin typeface="Arial"/>
            </a:endParaRPr>
          </a:p>
        </p:txBody>
      </p:sp>
      <p:sp>
        <p:nvSpPr>
          <p:cNvPr id="70" name="Text 63"/>
          <p:cNvSpPr/>
          <p:nvPr/>
        </p:nvSpPr>
        <p:spPr>
          <a:xfrm>
            <a:off x="1188720" y="432936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Stratégie éditoriale</a:t>
            </a:r>
            <a:endParaRPr lang="fr-FR" sz="1700" b="0" u="none" strike="noStrike">
              <a:solidFill>
                <a:srgbClr val="000000"/>
              </a:solidFill>
              <a:effectLst/>
              <a:uFillTx/>
              <a:latin typeface="Arial"/>
            </a:endParaRPr>
          </a:p>
        </p:txBody>
      </p:sp>
      <p:sp>
        <p:nvSpPr>
          <p:cNvPr id="71" name="Text 64"/>
          <p:cNvSpPr/>
          <p:nvPr/>
        </p:nvSpPr>
        <p:spPr>
          <a:xfrm>
            <a:off x="7223760" y="432936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53 — 57</a:t>
            </a:r>
            <a:endParaRPr lang="fr-FR"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2" name="Text 65"/>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73" name="Text 66"/>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74" name="Shape 4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5" name="Text 67"/>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SOMMAIRE</a:t>
            </a:r>
            <a:endParaRPr lang="fr-FR" sz="5600" b="0" u="none" strike="noStrike">
              <a:solidFill>
                <a:srgbClr val="000000"/>
              </a:solidFill>
              <a:effectLst/>
              <a:uFillTx/>
              <a:latin typeface="Arial"/>
            </a:endParaRPr>
          </a:p>
        </p:txBody>
      </p:sp>
      <p:sp>
        <p:nvSpPr>
          <p:cNvPr id="76" name="Text 68"/>
          <p:cNvSpPr/>
          <p:nvPr/>
        </p:nvSpPr>
        <p:spPr>
          <a:xfrm>
            <a:off x="457200" y="160020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Seconde partie</a:t>
            </a:r>
            <a:endParaRPr lang="fr-FR" sz="1400" b="0" u="none" strike="noStrike">
              <a:solidFill>
                <a:srgbClr val="000000"/>
              </a:solidFill>
              <a:effectLst/>
              <a:uFillTx/>
              <a:latin typeface="Arial"/>
            </a:endParaRPr>
          </a:p>
        </p:txBody>
      </p:sp>
      <p:sp>
        <p:nvSpPr>
          <p:cNvPr id="77" name="Text 69"/>
          <p:cNvSpPr/>
          <p:nvPr/>
        </p:nvSpPr>
        <p:spPr>
          <a:xfrm>
            <a:off x="457200" y="20768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07</a:t>
            </a:r>
            <a:endParaRPr lang="fr-FR" sz="2400" b="0" u="none" strike="noStrike">
              <a:solidFill>
                <a:srgbClr val="000000"/>
              </a:solidFill>
              <a:effectLst/>
              <a:uFillTx/>
              <a:latin typeface="Arial"/>
            </a:endParaRPr>
          </a:p>
        </p:txBody>
      </p:sp>
      <p:sp>
        <p:nvSpPr>
          <p:cNvPr id="78" name="Text 70"/>
          <p:cNvSpPr/>
          <p:nvPr/>
        </p:nvSpPr>
        <p:spPr>
          <a:xfrm>
            <a:off x="1188720" y="212256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Conception fonctionnelle</a:t>
            </a:r>
            <a:endParaRPr lang="fr-FR" sz="1700" b="0" u="none" strike="noStrike">
              <a:solidFill>
                <a:srgbClr val="000000"/>
              </a:solidFill>
              <a:effectLst/>
              <a:uFillTx/>
              <a:latin typeface="Arial"/>
            </a:endParaRPr>
          </a:p>
        </p:txBody>
      </p:sp>
      <p:sp>
        <p:nvSpPr>
          <p:cNvPr id="79" name="Text 71"/>
          <p:cNvSpPr/>
          <p:nvPr/>
        </p:nvSpPr>
        <p:spPr>
          <a:xfrm>
            <a:off x="7223760" y="212256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58 — 66</a:t>
            </a:r>
            <a:endParaRPr lang="fr-FR" sz="1300" b="0" u="none" strike="noStrike">
              <a:solidFill>
                <a:srgbClr val="000000"/>
              </a:solidFill>
              <a:effectLst/>
              <a:uFillTx/>
              <a:latin typeface="Arial"/>
            </a:endParaRPr>
          </a:p>
        </p:txBody>
      </p:sp>
      <p:sp>
        <p:nvSpPr>
          <p:cNvPr id="80" name="Shape 44"/>
          <p:cNvSpPr/>
          <p:nvPr/>
        </p:nvSpPr>
        <p:spPr>
          <a:xfrm>
            <a:off x="1188000" y="244368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1" name="Text 72"/>
          <p:cNvSpPr/>
          <p:nvPr/>
        </p:nvSpPr>
        <p:spPr>
          <a:xfrm>
            <a:off x="457200" y="247176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08</a:t>
            </a:r>
            <a:endParaRPr lang="fr-FR" sz="2400" b="0" u="none" strike="noStrike">
              <a:solidFill>
                <a:srgbClr val="000000"/>
              </a:solidFill>
              <a:effectLst/>
              <a:uFillTx/>
              <a:latin typeface="Arial"/>
            </a:endParaRPr>
          </a:p>
        </p:txBody>
      </p:sp>
      <p:sp>
        <p:nvSpPr>
          <p:cNvPr id="82" name="Text 73"/>
          <p:cNvSpPr/>
          <p:nvPr/>
        </p:nvSpPr>
        <p:spPr>
          <a:xfrm>
            <a:off x="1188720" y="251748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Spécifications techniques</a:t>
            </a:r>
            <a:endParaRPr lang="fr-FR" sz="1700" b="0" u="none" strike="noStrike">
              <a:solidFill>
                <a:srgbClr val="000000"/>
              </a:solidFill>
              <a:effectLst/>
              <a:uFillTx/>
              <a:latin typeface="Arial"/>
            </a:endParaRPr>
          </a:p>
        </p:txBody>
      </p:sp>
      <p:sp>
        <p:nvSpPr>
          <p:cNvPr id="83" name="Text 74"/>
          <p:cNvSpPr/>
          <p:nvPr/>
        </p:nvSpPr>
        <p:spPr>
          <a:xfrm>
            <a:off x="7223760" y="251748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67 — 75</a:t>
            </a:r>
            <a:endParaRPr lang="fr-FR" sz="1300" b="0" u="none" strike="noStrike">
              <a:solidFill>
                <a:srgbClr val="000000"/>
              </a:solidFill>
              <a:effectLst/>
              <a:uFillTx/>
              <a:latin typeface="Arial"/>
            </a:endParaRPr>
          </a:p>
        </p:txBody>
      </p:sp>
      <p:sp>
        <p:nvSpPr>
          <p:cNvPr id="84" name="Shape 46"/>
          <p:cNvSpPr/>
          <p:nvPr/>
        </p:nvSpPr>
        <p:spPr>
          <a:xfrm>
            <a:off x="1188000" y="287460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5" name="Text 75"/>
          <p:cNvSpPr/>
          <p:nvPr/>
        </p:nvSpPr>
        <p:spPr>
          <a:xfrm>
            <a:off x="457200" y="293868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09</a:t>
            </a:r>
            <a:endParaRPr lang="fr-FR" sz="2400" b="0" u="none" strike="noStrike">
              <a:solidFill>
                <a:srgbClr val="000000"/>
              </a:solidFill>
              <a:effectLst/>
              <a:uFillTx/>
              <a:latin typeface="Arial"/>
            </a:endParaRPr>
          </a:p>
        </p:txBody>
      </p:sp>
      <p:sp>
        <p:nvSpPr>
          <p:cNvPr id="86" name="Text 76"/>
          <p:cNvSpPr/>
          <p:nvPr/>
        </p:nvSpPr>
        <p:spPr>
          <a:xfrm>
            <a:off x="1188720" y="298440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SEO &amp; Marketing digital</a:t>
            </a:r>
            <a:endParaRPr lang="fr-FR" sz="1700" b="0" u="none" strike="noStrike">
              <a:solidFill>
                <a:srgbClr val="000000"/>
              </a:solidFill>
              <a:effectLst/>
              <a:uFillTx/>
              <a:latin typeface="Arial"/>
            </a:endParaRPr>
          </a:p>
        </p:txBody>
      </p:sp>
      <p:sp>
        <p:nvSpPr>
          <p:cNvPr id="87" name="Text 77"/>
          <p:cNvSpPr/>
          <p:nvPr/>
        </p:nvSpPr>
        <p:spPr>
          <a:xfrm>
            <a:off x="7223760" y="298440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76 — 81</a:t>
            </a:r>
            <a:endParaRPr lang="fr-FR" sz="1300" b="0" u="none" strike="noStrike">
              <a:solidFill>
                <a:srgbClr val="000000"/>
              </a:solidFill>
              <a:effectLst/>
              <a:uFillTx/>
              <a:latin typeface="Arial"/>
            </a:endParaRPr>
          </a:p>
        </p:txBody>
      </p:sp>
      <p:sp>
        <p:nvSpPr>
          <p:cNvPr id="88" name="Shape 48"/>
          <p:cNvSpPr/>
          <p:nvPr/>
        </p:nvSpPr>
        <p:spPr>
          <a:xfrm>
            <a:off x="1188000" y="330552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9" name="Text 78"/>
          <p:cNvSpPr/>
          <p:nvPr/>
        </p:nvSpPr>
        <p:spPr>
          <a:xfrm>
            <a:off x="457200" y="340560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10</a:t>
            </a:r>
            <a:endParaRPr lang="fr-FR" sz="2400" b="0" u="none" strike="noStrike">
              <a:solidFill>
                <a:srgbClr val="000000"/>
              </a:solidFill>
              <a:effectLst/>
              <a:uFillTx/>
              <a:latin typeface="Arial"/>
            </a:endParaRPr>
          </a:p>
        </p:txBody>
      </p:sp>
      <p:sp>
        <p:nvSpPr>
          <p:cNvPr id="90" name="Text 79"/>
          <p:cNvSpPr/>
          <p:nvPr/>
        </p:nvSpPr>
        <p:spPr>
          <a:xfrm>
            <a:off x="1188720" y="345132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Gestion de projet</a:t>
            </a:r>
            <a:endParaRPr lang="fr-FR" sz="1700" b="0" u="none" strike="noStrike">
              <a:solidFill>
                <a:srgbClr val="000000"/>
              </a:solidFill>
              <a:effectLst/>
              <a:uFillTx/>
              <a:latin typeface="Arial"/>
            </a:endParaRPr>
          </a:p>
        </p:txBody>
      </p:sp>
      <p:sp>
        <p:nvSpPr>
          <p:cNvPr id="91" name="Text 80"/>
          <p:cNvSpPr/>
          <p:nvPr/>
        </p:nvSpPr>
        <p:spPr>
          <a:xfrm>
            <a:off x="7223760" y="345132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82 — 87</a:t>
            </a:r>
            <a:endParaRPr lang="fr-FR" sz="1300" b="0" u="none" strike="noStrike">
              <a:solidFill>
                <a:srgbClr val="000000"/>
              </a:solidFill>
              <a:effectLst/>
              <a:uFillTx/>
              <a:latin typeface="Arial"/>
            </a:endParaRPr>
          </a:p>
        </p:txBody>
      </p:sp>
      <p:sp>
        <p:nvSpPr>
          <p:cNvPr id="92" name="Shape 50"/>
          <p:cNvSpPr/>
          <p:nvPr/>
        </p:nvSpPr>
        <p:spPr>
          <a:xfrm>
            <a:off x="1188000" y="380844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3" name="Text 81"/>
          <p:cNvSpPr/>
          <p:nvPr/>
        </p:nvSpPr>
        <p:spPr>
          <a:xfrm>
            <a:off x="457200" y="387252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BF360C"/>
                </a:solidFill>
                <a:effectLst/>
                <a:uFillTx/>
                <a:latin typeface="Arelv"/>
                <a:ea typeface="Arelv"/>
              </a:rPr>
              <a:t>11</a:t>
            </a:r>
            <a:endParaRPr lang="fr-FR" sz="2400" b="0" u="none" strike="noStrike">
              <a:solidFill>
                <a:srgbClr val="000000"/>
              </a:solidFill>
              <a:effectLst/>
              <a:uFillTx/>
              <a:latin typeface="Arial"/>
            </a:endParaRPr>
          </a:p>
        </p:txBody>
      </p:sp>
      <p:sp>
        <p:nvSpPr>
          <p:cNvPr id="94" name="Text 82"/>
          <p:cNvSpPr/>
          <p:nvPr/>
        </p:nvSpPr>
        <p:spPr>
          <a:xfrm>
            <a:off x="1188720" y="391824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Projets exposés au portfolio</a:t>
            </a:r>
            <a:endParaRPr lang="fr-FR" sz="1700" b="0" u="none" strike="noStrike">
              <a:solidFill>
                <a:srgbClr val="000000"/>
              </a:solidFill>
              <a:effectLst/>
              <a:uFillTx/>
              <a:latin typeface="Arial"/>
            </a:endParaRPr>
          </a:p>
        </p:txBody>
      </p:sp>
      <p:sp>
        <p:nvSpPr>
          <p:cNvPr id="95" name="Text 83"/>
          <p:cNvSpPr/>
          <p:nvPr/>
        </p:nvSpPr>
        <p:spPr>
          <a:xfrm>
            <a:off x="7223760" y="391824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88 — 98</a:t>
            </a:r>
            <a:endParaRPr lang="fr-FR" sz="1300" b="0" u="none" strike="noStrike">
              <a:solidFill>
                <a:srgbClr val="000000"/>
              </a:solidFill>
              <a:effectLst/>
              <a:uFillTx/>
              <a:latin typeface="Arial"/>
            </a:endParaRPr>
          </a:p>
        </p:txBody>
      </p:sp>
      <p:sp>
        <p:nvSpPr>
          <p:cNvPr id="96" name="Shape 5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7" name="Text 8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98" name="Text 8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a:t>
            </a:r>
            <a:endParaRPr lang="fr-FR" sz="900" b="0" u="none" strike="noStrike">
              <a:solidFill>
                <a:srgbClr val="000000"/>
              </a:solidFill>
              <a:effectLst/>
              <a:uFillTx/>
              <a:latin typeface="Arial"/>
            </a:endParaRPr>
          </a:p>
        </p:txBody>
      </p:sp>
      <p:sp>
        <p:nvSpPr>
          <p:cNvPr id="99" name="Shape 52"/>
          <p:cNvSpPr/>
          <p:nvPr/>
        </p:nvSpPr>
        <p:spPr>
          <a:xfrm>
            <a:off x="1188000" y="4283640"/>
            <a:ext cx="75895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0" name="Text 86"/>
          <p:cNvSpPr/>
          <p:nvPr/>
        </p:nvSpPr>
        <p:spPr>
          <a:xfrm>
            <a:off x="457200" y="42836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12</a:t>
            </a:r>
            <a:endParaRPr lang="fr-FR" sz="2200" b="0" u="none" strike="noStrike">
              <a:solidFill>
                <a:srgbClr val="000000"/>
              </a:solidFill>
              <a:effectLst/>
              <a:uFillTx/>
              <a:latin typeface="Arial"/>
            </a:endParaRPr>
          </a:p>
        </p:txBody>
      </p:sp>
      <p:sp>
        <p:nvSpPr>
          <p:cNvPr id="101" name="Text 87"/>
          <p:cNvSpPr/>
          <p:nvPr/>
        </p:nvSpPr>
        <p:spPr>
          <a:xfrm>
            <a:off x="1188720" y="4329360"/>
            <a:ext cx="5936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u="none" strike="noStrike">
                <a:solidFill>
                  <a:srgbClr val="0A0A0A"/>
                </a:solidFill>
                <a:effectLst/>
                <a:uFillTx/>
                <a:latin typeface="Satoshi"/>
                <a:ea typeface="Satoshi"/>
              </a:rPr>
              <a:t>Annexes &amp; conclusion</a:t>
            </a:r>
            <a:endParaRPr lang="fr-FR" sz="1700" b="0" u="none" strike="noStrike">
              <a:solidFill>
                <a:srgbClr val="000000"/>
              </a:solidFill>
              <a:effectLst/>
              <a:uFillTx/>
              <a:latin typeface="Arial"/>
            </a:endParaRPr>
          </a:p>
        </p:txBody>
      </p:sp>
      <p:sp>
        <p:nvSpPr>
          <p:cNvPr id="102" name="Text 88"/>
          <p:cNvSpPr/>
          <p:nvPr/>
        </p:nvSpPr>
        <p:spPr>
          <a:xfrm>
            <a:off x="7223760" y="4329360"/>
            <a:ext cx="1547280" cy="312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37474F"/>
                </a:solidFill>
                <a:effectLst/>
                <a:uFillTx/>
                <a:latin typeface="Satoshi"/>
                <a:ea typeface="Satoshi"/>
              </a:rPr>
              <a:t>99 — 106</a:t>
            </a:r>
            <a:endParaRPr lang="fr-FR"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INTRODUCTION</a:t>
            </a:r>
            <a:endParaRPr lang="fr-FR" sz="5000" b="0" u="none" strike="noStrike">
              <a:solidFill>
                <a:srgbClr val="000000"/>
              </a:solidFill>
              <a:effectLst/>
              <a:uFillTx/>
              <a:latin typeface="Arial"/>
            </a:endParaRPr>
          </a:p>
        </p:txBody>
      </p:sp>
      <p:sp>
        <p:nvSpPr>
          <p:cNvPr id="10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i="1" u="none" strike="noStrike">
                <a:solidFill>
                  <a:srgbClr val="37474F"/>
                </a:solidFill>
                <a:effectLst/>
                <a:uFillTx/>
                <a:latin typeface="Satoshi"/>
                <a:ea typeface="Satoshi"/>
              </a:rPr>
              <a:t>Note d'intention</a:t>
            </a:r>
            <a:endParaRPr lang="fr-FR" sz="1800" b="0" u="none" strike="noStrike">
              <a:solidFill>
                <a:srgbClr val="000000"/>
              </a:solidFill>
              <a:effectLst/>
              <a:uFillTx/>
              <a:latin typeface="Arial"/>
            </a:endParaRPr>
          </a:p>
        </p:txBody>
      </p:sp>
      <p:sp>
        <p:nvSpPr>
          <p:cNvPr id="108" name="Text 5"/>
          <p:cNvSpPr/>
          <p:nvPr/>
        </p:nvSpPr>
        <p:spPr>
          <a:xfrm>
            <a:off x="457200" y="2011680"/>
            <a:ext cx="8222400" cy="2644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00"/>
              </a:spcAft>
              <a:tabLst>
                <a:tab pos="0" algn="l"/>
              </a:tabLst>
            </a:pPr>
            <a:r>
              <a:rPr lang="fr-FR" sz="1200" b="0" u="none" strike="noStrike">
                <a:solidFill>
                  <a:srgbClr val="0A0A0A"/>
                </a:solidFill>
                <a:effectLst/>
                <a:uFillTx/>
                <a:latin typeface="Satoshi"/>
                <a:ea typeface="Satoshi"/>
              </a:rPr>
              <a:t>Ce document accompagne la construction d'un portfolio web personnel. Il s'inscrit dans le projet fil rouge du Bachelor Chef de Projet Digital — parcours Développeur Web — mené à FIM CCI Campus 2 de Saint-Lô, et débouchera sur la mise en ligne du domaine aymen-chaabane.fr.</a:t>
            </a:r>
            <a:endParaRPr lang="fr-FR" sz="1200" b="0" u="none" strike="noStrike">
              <a:solidFill>
                <a:srgbClr val="000000"/>
              </a:solidFill>
              <a:effectLst/>
              <a:uFillTx/>
              <a:latin typeface="Arial"/>
            </a:endParaRPr>
          </a:p>
          <a:p>
            <a:pPr defTabSz="914400">
              <a:lnSpc>
                <a:spcPct val="100000"/>
              </a:lnSpc>
              <a:spcAft>
                <a:spcPts val="400"/>
              </a:spcAft>
              <a:tabLst>
                <a:tab pos="0" algn="l"/>
              </a:tabLst>
            </a:pPr>
            <a:r>
              <a:rPr lang="fr-FR" sz="800" b="0" u="none" strike="noStrike">
                <a:solidFill>
                  <a:srgbClr val="0A0A0A"/>
                </a:solidFill>
                <a:effectLst/>
                <a:uFillTx/>
                <a:latin typeface="Satoshi"/>
                <a:ea typeface="Satoshi"/>
              </a:rPr>
              <a:t> </a:t>
            </a:r>
            <a:endParaRPr lang="fr-FR" sz="800" b="0" u="none" strike="noStrike">
              <a:solidFill>
                <a:srgbClr val="000000"/>
              </a:solidFill>
              <a:effectLst/>
              <a:uFillTx/>
              <a:latin typeface="Arial"/>
            </a:endParaRPr>
          </a:p>
          <a:p>
            <a:pPr defTabSz="914400">
              <a:lnSpc>
                <a:spcPct val="100000"/>
              </a:lnSpc>
              <a:spcAft>
                <a:spcPts val="400"/>
              </a:spcAft>
              <a:tabLst>
                <a:tab pos="0" algn="l"/>
              </a:tabLst>
            </a:pPr>
            <a:r>
              <a:rPr lang="fr-FR" sz="1200" b="0" u="none" strike="noStrike">
                <a:solidFill>
                  <a:srgbClr val="0A0A0A"/>
                </a:solidFill>
                <a:effectLst/>
                <a:uFillTx/>
                <a:latin typeface="Satoshi"/>
                <a:ea typeface="Satoshi"/>
              </a:rPr>
              <a:t>On y trouvera ce qu'on attend d'un cahier des charges — périmètre, cibles, choix techniques, planning, budget, risques —, mais aussi la charte graphique élaborée en amont, intégrée ici comme document de référence. C'est un parti pris : la cohérence visuelle d'un portfolio se décide en même temps que sa structure, pas après.</a:t>
            </a:r>
            <a:endParaRPr lang="fr-FR" sz="1200" b="0" u="none" strike="noStrike">
              <a:solidFill>
                <a:srgbClr val="000000"/>
              </a:solidFill>
              <a:effectLst/>
              <a:uFillTx/>
              <a:latin typeface="Arial"/>
            </a:endParaRPr>
          </a:p>
          <a:p>
            <a:pPr defTabSz="914400">
              <a:lnSpc>
                <a:spcPct val="100000"/>
              </a:lnSpc>
              <a:spcAft>
                <a:spcPts val="400"/>
              </a:spcAft>
              <a:tabLst>
                <a:tab pos="0" algn="l"/>
              </a:tabLst>
            </a:pPr>
            <a:r>
              <a:rPr lang="fr-FR" sz="800" b="0" u="none" strike="noStrike">
                <a:solidFill>
                  <a:srgbClr val="0A0A0A"/>
                </a:solidFill>
                <a:effectLst/>
                <a:uFillTx/>
                <a:latin typeface="Satoshi"/>
                <a:ea typeface="Satoshi"/>
              </a:rPr>
              <a:t> </a:t>
            </a:r>
            <a:endParaRPr lang="fr-FR" sz="800" b="0" u="none" strike="noStrike">
              <a:solidFill>
                <a:srgbClr val="000000"/>
              </a:solidFill>
              <a:effectLst/>
              <a:uFillTx/>
              <a:latin typeface="Arial"/>
            </a:endParaRPr>
          </a:p>
          <a:p>
            <a:pPr defTabSz="914400">
              <a:lnSpc>
                <a:spcPct val="100000"/>
              </a:lnSpc>
              <a:spcAft>
                <a:spcPts val="400"/>
              </a:spcAft>
              <a:tabLst>
                <a:tab pos="0" algn="l"/>
              </a:tabLst>
            </a:pPr>
            <a:r>
              <a:rPr lang="fr-FR" sz="1200" b="0" u="none" strike="noStrike">
                <a:solidFill>
                  <a:srgbClr val="0A0A0A"/>
                </a:solidFill>
                <a:effectLst/>
                <a:uFillTx/>
                <a:latin typeface="Satoshi"/>
                <a:ea typeface="Satoshi"/>
              </a:rPr>
              <a:t>Le projet prolonge un parcours doctoral et post-doctoral en Anthropologie — plus précisément en Ethno-scénologie. Cette trajectoire affleure tout au long du document, non par nostalgie académique, mais parce qu'elle informe la manière dont j'aborde aujourd'hui le digital : avec une habitude de la précision, du terrain, et une certaine méfiance envers les solutions trop immédiates.</a:t>
            </a:r>
            <a:endParaRPr lang="fr-FR" sz="1200" b="0" u="none" strike="noStrike">
              <a:solidFill>
                <a:srgbClr val="000000"/>
              </a:solidFill>
              <a:effectLst/>
              <a:uFillTx/>
              <a:latin typeface="Arial"/>
            </a:endParaRPr>
          </a:p>
        </p:txBody>
      </p:sp>
      <p:sp>
        <p:nvSpPr>
          <p:cNvPr id="109"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0"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11"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12"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01</a:t>
            </a:r>
            <a:endParaRPr lang="fr-FR" sz="28000" b="0" u="none" strike="noStrike">
              <a:solidFill>
                <a:srgbClr val="FFFFFF"/>
              </a:solidFill>
              <a:effectLst/>
              <a:uFillTx/>
              <a:latin typeface="Arial"/>
            </a:endParaRPr>
          </a:p>
        </p:txBody>
      </p:sp>
      <p:sp>
        <p:nvSpPr>
          <p:cNvPr id="113"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PRÉSENTATION</a:t>
            </a:r>
            <a:endParaRPr lang="fr-FR" sz="3200" b="0" u="none" strike="noStrike">
              <a:solidFill>
                <a:srgbClr val="FFFFFF"/>
              </a:solidFill>
              <a:effectLst/>
              <a:uFillTx/>
              <a:latin typeface="Arial"/>
            </a:endParaRPr>
          </a:p>
        </p:txBody>
      </p:sp>
      <p:sp>
        <p:nvSpPr>
          <p:cNvPr id="114"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DU PROJET</a:t>
            </a:r>
            <a:endParaRPr lang="fr-FR" sz="3200" b="0" u="none" strike="noStrike">
              <a:solidFill>
                <a:srgbClr val="FFFFFF"/>
              </a:solidFill>
              <a:effectLst/>
              <a:uFillTx/>
              <a:latin typeface="Arial"/>
            </a:endParaRPr>
          </a:p>
        </p:txBody>
      </p:sp>
      <p:sp>
        <p:nvSpPr>
          <p:cNvPr id="115"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Première partie · pages 05 → 12</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1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1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1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CONTEXTE</a:t>
            </a:r>
            <a:endParaRPr lang="fr-FR" sz="5000" b="0" u="none" strike="noStrike">
              <a:solidFill>
                <a:srgbClr val="000000"/>
              </a:solidFill>
              <a:effectLst/>
              <a:uFillTx/>
              <a:latin typeface="Arial"/>
            </a:endParaRPr>
          </a:p>
        </p:txBody>
      </p:sp>
      <p:sp>
        <p:nvSpPr>
          <p:cNvPr id="12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i="1" u="none" strike="noStrike">
                <a:solidFill>
                  <a:srgbClr val="37474F"/>
                </a:solidFill>
                <a:effectLst/>
                <a:uFillTx/>
                <a:latin typeface="Satoshi"/>
                <a:ea typeface="Satoshi"/>
              </a:rPr>
              <a:t>D'un parcours doctoral au digital</a:t>
            </a:r>
            <a:endParaRPr lang="fr-FR" sz="1800" b="0" u="none" strike="noStrike">
              <a:solidFill>
                <a:srgbClr val="000000"/>
              </a:solidFill>
              <a:effectLst/>
              <a:uFillTx/>
              <a:latin typeface="Arial"/>
            </a:endParaRPr>
          </a:p>
        </p:txBody>
      </p:sp>
      <p:sp>
        <p:nvSpPr>
          <p:cNvPr id="121" name="Text 5"/>
          <p:cNvSpPr/>
          <p:nvPr/>
        </p:nvSpPr>
        <p:spPr>
          <a:xfrm>
            <a:off x="457200" y="2057400"/>
            <a:ext cx="4016160" cy="2598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100" b="1" u="none" spc="150" strike="noStrike">
                <a:solidFill>
                  <a:srgbClr val="BF360C"/>
                </a:solidFill>
                <a:effectLst/>
                <a:uFillTx/>
                <a:latin typeface="Satoshi"/>
                <a:ea typeface="Satoshi"/>
              </a:rPr>
              <a:t>UNE TRAJECTOIRE EN MUTATION</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Après plus d'une décennie consacrée à la recherche en Anthropologie — spécifiquement à l'Ethno-scénologie, étude des pratiques corporelles, performatives et scéniques —, j'ai engagé en 2025 une reconversion vers les métiers du digital.</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Cette transition n'est pas un effacement mais une translation : la même exigence méthodologique, la même attention au détail, déplacées vers la conception de produits numériques.</a:t>
            </a:r>
            <a:endParaRPr lang="fr-FR" sz="1200" b="0" u="none" strike="noStrike">
              <a:solidFill>
                <a:srgbClr val="000000"/>
              </a:solidFill>
              <a:effectLst/>
              <a:uFillTx/>
              <a:latin typeface="Arial"/>
            </a:endParaRPr>
          </a:p>
        </p:txBody>
      </p:sp>
      <p:sp>
        <p:nvSpPr>
          <p:cNvPr id="122" name="Text 6"/>
          <p:cNvSpPr/>
          <p:nvPr/>
        </p:nvSpPr>
        <p:spPr>
          <a:xfrm>
            <a:off x="4754880" y="2057400"/>
            <a:ext cx="4016160" cy="2598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100" b="1" u="none" spc="150" strike="noStrike">
                <a:solidFill>
                  <a:srgbClr val="BF360C"/>
                </a:solidFill>
                <a:effectLst/>
                <a:uFillTx/>
                <a:latin typeface="Satoshi"/>
                <a:ea typeface="Satoshi"/>
              </a:rPr>
              <a:t>UN CADRE STRUCTURANT</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La formation Bachelor Chef de Projet Digital — parcours Développeur Web — à FIM CCI Campus 2 de Saint-Lô consolide cette transition. Le portfolio constitue le projet fil rouge de l'année et le livrable principal de soutenance, sous la supervision du référent pédagogique Benoît MOTTIN.</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Le stage en entreprise chez Saobio (Saint-Pair-sur-Mer, Manche, février → mai 2026), encadré par Lucas TREHET, complète ce parcours par une mise en application opérationnelle sur le projet e-commerce secretdecoton.fr.</a:t>
            </a:r>
            <a:endParaRPr lang="fr-FR" sz="1200" b="0" u="none" strike="noStrike">
              <a:solidFill>
                <a:srgbClr val="000000"/>
              </a:solidFill>
              <a:effectLst/>
              <a:uFillTx/>
              <a:latin typeface="Arial"/>
            </a:endParaRPr>
          </a:p>
        </p:txBody>
      </p:sp>
      <p:sp>
        <p:nvSpPr>
          <p:cNvPr id="123" name="Shape 7"/>
          <p:cNvSpPr/>
          <p:nvPr/>
        </p:nvSpPr>
        <p:spPr>
          <a:xfrm>
            <a:off x="4617720" y="2103120"/>
            <a:ext cx="360" cy="2468880"/>
          </a:xfrm>
          <a:prstGeom prst="line">
            <a:avLst/>
          </a:prstGeom>
          <a:ln w="635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24" name="Shape 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5" name="Text 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26" name="Text 1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2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2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2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QUI JE SUIS</a:t>
            </a:r>
            <a:endParaRPr lang="fr-FR" sz="5000" b="0" u="none" strike="noStrike">
              <a:solidFill>
                <a:srgbClr val="000000"/>
              </a:solidFill>
              <a:effectLst/>
              <a:uFillTx/>
              <a:latin typeface="Arial"/>
            </a:endParaRPr>
          </a:p>
        </p:txBody>
      </p:sp>
      <p:sp>
        <p:nvSpPr>
          <p:cNvPr id="13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i="1" u="none" strike="noStrike">
                <a:solidFill>
                  <a:srgbClr val="37474F"/>
                </a:solidFill>
                <a:effectLst/>
                <a:uFillTx/>
                <a:latin typeface="Satoshi"/>
                <a:ea typeface="Satoshi"/>
              </a:rPr>
              <a:t>Double identité, démarche unifiée</a:t>
            </a:r>
            <a:endParaRPr lang="fr-FR" sz="1800" b="0" u="none" strike="noStrike">
              <a:solidFill>
                <a:srgbClr val="000000"/>
              </a:solidFill>
              <a:effectLst/>
              <a:uFillTx/>
              <a:latin typeface="Arial"/>
            </a:endParaRPr>
          </a:p>
        </p:txBody>
      </p:sp>
      <p:sp>
        <p:nvSpPr>
          <p:cNvPr id="132" name="Text 5"/>
          <p:cNvSpPr/>
          <p:nvPr/>
        </p:nvSpPr>
        <p:spPr>
          <a:xfrm>
            <a:off x="457200" y="2011680"/>
            <a:ext cx="8222400" cy="2644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300" b="1" u="none" strike="noStrike">
                <a:solidFill>
                  <a:srgbClr val="000000"/>
                </a:solidFill>
                <a:effectLst/>
                <a:uFillTx/>
                <a:latin typeface="Satoshi"/>
                <a:ea typeface="Satoshi"/>
              </a:rPr>
              <a:t>Aymen CHAABANE — 41 ans — Carentan, Normandie.</a:t>
            </a:r>
            <a:endParaRPr lang="fr-FR" sz="13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00000"/>
                </a:solidFill>
                <a:effectLst/>
                <a:uFillTx/>
                <a:latin typeface="Satoshi"/>
                <a:ea typeface="Satoshi"/>
              </a:rPr>
              <a:t>Doctorat en Anthropologie, post-doctorant en Ethno-scénologie, mes recherches ont porté sur les pratiques corporelles, les gestualités rituelles, le corps comme fluide. Mes terrains m'ont conduit au Japon, au Maghreb et en Europe.</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00000"/>
                </a:solidFill>
                <a:effectLst/>
                <a:uFillTx/>
                <a:latin typeface="Satoshi"/>
                <a:ea typeface="Satoshi"/>
              </a:rPr>
              <a:t>Aujourd'hui en reconversion vers les métiers du digital. Je n'ai pas tout à fait quitté la recherche — j'ai déplacé son objet. La même attention au détail, le même goût pour la structure, mais appliqués cette fois à des interfaces et à des architectures de site web. C'est moins éloigné qu'on pourrait croire.</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i="1" u="none" strike="noStrike">
                <a:solidFill>
                  <a:srgbClr val="000000"/>
                </a:solidFill>
                <a:effectLst/>
                <a:uFillTx/>
                <a:latin typeface="Satoshi"/>
                <a:ea typeface="Satoshi"/>
              </a:rPr>
              <a:t>Cette double appartenance, je l'assume pleinement. Elle n'est ni un détour ni une mise en doute. Pour les recruteurs qui consulteront ce portfolio, c'est précisément ce qui fait la différence.</a:t>
            </a:r>
            <a:endParaRPr lang="fr-FR" sz="1200" b="0" u="none" strike="noStrike">
              <a:solidFill>
                <a:srgbClr val="000000"/>
              </a:solidFill>
              <a:effectLst/>
              <a:uFillTx/>
              <a:latin typeface="Arial"/>
            </a:endParaRPr>
          </a:p>
        </p:txBody>
      </p:sp>
      <p:sp>
        <p:nvSpPr>
          <p:cNvPr id="133"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4"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35"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3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3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3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L'ENVIRONNEMENT</a:t>
            </a:r>
            <a:endParaRPr lang="fr-FR" sz="5000" b="0" u="none" strike="noStrike">
              <a:solidFill>
                <a:srgbClr val="000000"/>
              </a:solidFill>
              <a:effectLst/>
              <a:uFillTx/>
              <a:latin typeface="Arial"/>
            </a:endParaRPr>
          </a:p>
        </p:txBody>
      </p:sp>
      <p:sp>
        <p:nvSpPr>
          <p:cNvPr id="14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Établissement de formation &amp; entreprise d'accueil</a:t>
            </a:r>
            <a:endParaRPr lang="fr-FR" sz="1600" b="0" u="none" strike="noStrike">
              <a:solidFill>
                <a:srgbClr val="000000"/>
              </a:solidFill>
              <a:effectLst/>
              <a:uFillTx/>
              <a:latin typeface="Arial"/>
            </a:endParaRPr>
          </a:p>
        </p:txBody>
      </p:sp>
      <p:sp>
        <p:nvSpPr>
          <p:cNvPr id="141" name="Text 5"/>
          <p:cNvSpPr/>
          <p:nvPr/>
        </p:nvSpPr>
        <p:spPr>
          <a:xfrm>
            <a:off x="457200" y="1985400"/>
            <a:ext cx="4016160" cy="2598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100" b="1" u="none" spc="150" strike="noStrike">
                <a:solidFill>
                  <a:srgbClr val="BF360C"/>
                </a:solidFill>
                <a:effectLst/>
                <a:uFillTx/>
                <a:latin typeface="Satoshi"/>
                <a:ea typeface="Satoshi"/>
              </a:rPr>
              <a:t>FIM CCI CAMPUS 2</a:t>
            </a: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1000" b="0" i="1" u="none" strike="noStrike">
                <a:solidFill>
                  <a:srgbClr val="37474F"/>
                </a:solidFill>
                <a:effectLst/>
                <a:uFillTx/>
                <a:latin typeface="Satoshi"/>
                <a:ea typeface="Satoshi"/>
              </a:rPr>
              <a:t>Saint-Lô, Normandie</a:t>
            </a:r>
            <a:endParaRPr lang="fr-FR" sz="1000" b="0" u="none" strike="noStrike">
              <a:solidFill>
                <a:srgbClr val="000000"/>
              </a:solidFill>
              <a:effectLst/>
              <a:uFillTx/>
              <a:latin typeface="Arial"/>
            </a:endParaRPr>
          </a:p>
          <a:p>
            <a:pPr defTabSz="914400">
              <a:lnSpc>
                <a:spcPct val="100000"/>
              </a:lnSpc>
              <a:spcAft>
                <a:spcPts val="99"/>
              </a:spcAft>
              <a:tabLst>
                <a:tab pos="0" algn="l"/>
              </a:tabLst>
            </a:pP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1100" b="0" u="none" strike="noStrike">
                <a:solidFill>
                  <a:srgbClr val="0A0A0A"/>
                </a:solidFill>
                <a:effectLst/>
                <a:uFillTx/>
                <a:latin typeface="Satoshi"/>
                <a:ea typeface="Satoshi"/>
              </a:rPr>
              <a:t>Centre de formation de la Chambre de Commerce et d'Industrie Ouest Normandie. Le campus propose des formations diversifiées, notamment au sein de sa filière dédiée au numérique, au design, à l'audiovisuel et au marketing.</a:t>
            </a:r>
            <a:endParaRPr lang="fr-FR" sz="1100" b="0" u="none" strike="noStrike">
              <a:solidFill>
                <a:srgbClr val="000000"/>
              </a:solidFill>
              <a:effectLst/>
              <a:uFillTx/>
              <a:latin typeface="Arial"/>
            </a:endParaRPr>
          </a:p>
          <a:p>
            <a:pPr defTabSz="914400">
              <a:lnSpc>
                <a:spcPct val="100000"/>
              </a:lnSpc>
              <a:spcAft>
                <a:spcPts val="99"/>
              </a:spcAft>
              <a:tabLst>
                <a:tab pos="0" algn="l"/>
              </a:tabLst>
            </a:pP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1100" b="0" u="none" strike="noStrike">
                <a:solidFill>
                  <a:srgbClr val="0A0A0A"/>
                </a:solidFill>
                <a:effectLst/>
                <a:uFillTx/>
                <a:latin typeface="Satoshi"/>
                <a:ea typeface="Satoshi"/>
              </a:rPr>
              <a:t>C'est dans ce cadre que s'inscrit le Bachelor Chef de Projet Digital — parcours Développeur Web. Ce cursus couvre la gestion de projet web, le développement front-end et back-end, l'UX/UI, le marketing digital et la stratégie de contenu. </a:t>
            </a: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99"/>
              </a:spcAft>
              <a:tabLst>
                <a:tab pos="0" algn="l"/>
              </a:tabLst>
            </a:pPr>
            <a:r>
              <a:rPr lang="fr-FR" sz="1100" b="1" u="none" strike="noStrike">
                <a:solidFill>
                  <a:srgbClr val="0A0A0A"/>
                </a:solidFill>
                <a:effectLst/>
                <a:uFillTx/>
                <a:latin typeface="Satoshi"/>
                <a:ea typeface="Satoshi"/>
              </a:rPr>
              <a:t>Référent pédagogique : Benoît MOTTIN.</a:t>
            </a:r>
            <a:endParaRPr lang="fr-FR" sz="1100" b="0" u="none" strike="noStrike">
              <a:solidFill>
                <a:srgbClr val="000000"/>
              </a:solidFill>
              <a:effectLst/>
              <a:uFillTx/>
              <a:latin typeface="Arial"/>
            </a:endParaRPr>
          </a:p>
        </p:txBody>
      </p:sp>
      <p:sp>
        <p:nvSpPr>
          <p:cNvPr id="142" name="Text 6"/>
          <p:cNvSpPr/>
          <p:nvPr/>
        </p:nvSpPr>
        <p:spPr>
          <a:xfrm>
            <a:off x="4754880" y="1985400"/>
            <a:ext cx="4016160" cy="2598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100" b="1" u="none" spc="150" strike="noStrike">
                <a:solidFill>
                  <a:srgbClr val="BF360C"/>
                </a:solidFill>
                <a:effectLst/>
                <a:uFillTx/>
                <a:latin typeface="Satoshi"/>
                <a:ea typeface="Satoshi"/>
              </a:rPr>
              <a:t>SAOBIO</a:t>
            </a: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1000" b="0" i="1" u="none" strike="noStrike">
                <a:solidFill>
                  <a:srgbClr val="37474F"/>
                </a:solidFill>
                <a:effectLst/>
                <a:uFillTx/>
                <a:latin typeface="Satoshi"/>
                <a:ea typeface="Satoshi"/>
              </a:rPr>
              <a:t>Saint-Pair-sur-Mer, La Manche, Normandie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800" b="0" u="none" strike="noStrike">
                <a:solidFill>
                  <a:srgbClr val="0A0A0A"/>
                </a:solidFill>
                <a:effectLst/>
                <a:uFillTx/>
                <a:latin typeface="Satoshi"/>
                <a:ea typeface="Satoshi"/>
              </a:rPr>
              <a:t> </a:t>
            </a:r>
            <a:endParaRPr lang="fr-FR" sz="800" b="0" u="none" strike="noStrike">
              <a:solidFill>
                <a:srgbClr val="000000"/>
              </a:solidFill>
              <a:effectLst/>
              <a:uFillTx/>
              <a:latin typeface="Arial"/>
            </a:endParaRPr>
          </a:p>
          <a:p>
            <a:pPr defTabSz="914400">
              <a:lnSpc>
                <a:spcPct val="100000"/>
              </a:lnSpc>
              <a:spcAft>
                <a:spcPts val="99"/>
              </a:spcAft>
              <a:tabLst>
                <a:tab pos="0" algn="l"/>
              </a:tabLst>
            </a:pPr>
            <a:r>
              <a:rPr lang="fr-FR" sz="1100" b="0" u="none" strike="noStrike">
                <a:solidFill>
                  <a:srgbClr val="0A0A0A"/>
                </a:solidFill>
                <a:effectLst/>
                <a:uFillTx/>
                <a:latin typeface="Satoshi"/>
                <a:ea typeface="Satoshi"/>
              </a:rPr>
              <a:t>Entreprise e-commerce spécialisée en lingerie biologiques. Stage de 14 semaines (23 février → 31 mai 2026).</a:t>
            </a: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99"/>
              </a:spcAft>
              <a:tabLst>
                <a:tab pos="0" algn="l"/>
              </a:tabLst>
            </a:pPr>
            <a:r>
              <a:rPr lang="fr-FR" sz="1100" b="0" u="none" strike="noStrike">
                <a:solidFill>
                  <a:srgbClr val="0A0A0A"/>
                </a:solidFill>
                <a:effectLst/>
                <a:uFillTx/>
                <a:latin typeface="Satoshi"/>
                <a:ea typeface="Satoshi"/>
              </a:rPr>
              <a:t>Missions principales : conception du site secretdecoton.fr au sein d'un écosystème multiboutique PrestaShop, optimisation des catalogues produits, gestion des flux de données et analyse UX.</a:t>
            </a:r>
            <a:endParaRPr lang="fr-FR" sz="1100" b="0" u="none" strike="noStrike">
              <a:solidFill>
                <a:srgbClr val="000000"/>
              </a:solidFill>
              <a:effectLst/>
              <a:uFillTx/>
              <a:latin typeface="Arial"/>
            </a:endParaRPr>
          </a:p>
          <a:p>
            <a:pPr defTabSz="914400">
              <a:lnSpc>
                <a:spcPct val="100000"/>
              </a:lnSpc>
              <a:spcAft>
                <a:spcPts val="99"/>
              </a:spcAft>
              <a:tabLst>
                <a:tab pos="0" algn="l"/>
              </a:tabLst>
            </a:pPr>
            <a:endParaRPr lang="fr-FR" sz="1100" b="0" u="none" strike="noStrike">
              <a:solidFill>
                <a:srgbClr val="000000"/>
              </a:solidFill>
              <a:effectLst/>
              <a:uFillTx/>
              <a:latin typeface="Arial"/>
            </a:endParaRPr>
          </a:p>
          <a:p>
            <a:pPr defTabSz="914400">
              <a:lnSpc>
                <a:spcPct val="100000"/>
              </a:lnSpc>
              <a:spcAft>
                <a:spcPts val="99"/>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99"/>
              </a:spcAft>
              <a:tabLst>
                <a:tab pos="0" algn="l"/>
              </a:tabLst>
            </a:pPr>
            <a:r>
              <a:rPr lang="fr-FR" sz="1100" b="1" u="none" strike="noStrike">
                <a:solidFill>
                  <a:srgbClr val="0A0A0A"/>
                </a:solidFill>
                <a:effectLst/>
                <a:uFillTx/>
                <a:latin typeface="Satoshi"/>
                <a:ea typeface="Satoshi"/>
              </a:rPr>
              <a:t>Maître de stage : Lucas TREHET.</a:t>
            </a:r>
            <a:endParaRPr lang="fr-FR" sz="1100" b="0" u="none" strike="noStrike">
              <a:solidFill>
                <a:srgbClr val="000000"/>
              </a:solidFill>
              <a:effectLst/>
              <a:uFillTx/>
              <a:latin typeface="Arial"/>
            </a:endParaRPr>
          </a:p>
        </p:txBody>
      </p:sp>
      <p:sp>
        <p:nvSpPr>
          <p:cNvPr id="143" name="Shape 7"/>
          <p:cNvSpPr/>
          <p:nvPr/>
        </p:nvSpPr>
        <p:spPr>
          <a:xfrm>
            <a:off x="4617720" y="2103120"/>
            <a:ext cx="360" cy="2468880"/>
          </a:xfrm>
          <a:prstGeom prst="line">
            <a:avLst/>
          </a:prstGeom>
          <a:ln w="635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44" name="Shape 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5" name="Text 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46" name="Text 1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4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4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4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OBJECTIFS</a:t>
            </a:r>
            <a:endParaRPr lang="fr-FR" sz="5000" b="0" u="none" strike="noStrike">
              <a:solidFill>
                <a:srgbClr val="000000"/>
              </a:solidFill>
              <a:effectLst/>
              <a:uFillTx/>
              <a:latin typeface="Arial"/>
            </a:endParaRPr>
          </a:p>
        </p:txBody>
      </p:sp>
      <p:sp>
        <p:nvSpPr>
          <p:cNvPr id="15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Ce que le portfolio doit accomplir</a:t>
            </a:r>
            <a:endParaRPr lang="fr-FR" sz="1600" b="0" u="none" strike="noStrike">
              <a:solidFill>
                <a:srgbClr val="000000"/>
              </a:solidFill>
              <a:effectLst/>
              <a:uFillTx/>
              <a:latin typeface="Arial"/>
            </a:endParaRPr>
          </a:p>
        </p:txBody>
      </p:sp>
      <p:sp>
        <p:nvSpPr>
          <p:cNvPr id="152" name="Text 5"/>
          <p:cNvSpPr/>
          <p:nvPr/>
        </p:nvSpPr>
        <p:spPr>
          <a:xfrm>
            <a:off x="457200" y="205740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01</a:t>
            </a:r>
            <a:endParaRPr lang="fr-FR" sz="2200" b="0" u="none" strike="noStrike">
              <a:solidFill>
                <a:srgbClr val="000000"/>
              </a:solidFill>
              <a:effectLst/>
              <a:uFillTx/>
              <a:latin typeface="Arial"/>
            </a:endParaRPr>
          </a:p>
        </p:txBody>
      </p:sp>
      <p:sp>
        <p:nvSpPr>
          <p:cNvPr id="153" name="Text 6"/>
          <p:cNvSpPr/>
          <p:nvPr/>
        </p:nvSpPr>
        <p:spPr>
          <a:xfrm>
            <a:off x="1097280" y="209412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Presenter</a:t>
            </a:r>
            <a:endParaRPr lang="fr-FR" sz="1600" b="0" u="none" strike="noStrike">
              <a:solidFill>
                <a:srgbClr val="000000"/>
              </a:solidFill>
              <a:effectLst/>
              <a:uFillTx/>
              <a:latin typeface="Arial"/>
            </a:endParaRPr>
          </a:p>
        </p:txBody>
      </p:sp>
      <p:sp>
        <p:nvSpPr>
          <p:cNvPr id="154" name="Text 7"/>
          <p:cNvSpPr/>
          <p:nvPr/>
        </p:nvSpPr>
        <p:spPr>
          <a:xfrm>
            <a:off x="457200" y="246888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Exposer mon parcours académique et professionnel de manière structurée et accessible aux profils non-spécialistes du digital.</a:t>
            </a:r>
            <a:endParaRPr lang="fr-FR" sz="950" b="0" u="none" strike="noStrike">
              <a:solidFill>
                <a:srgbClr val="000000"/>
              </a:solidFill>
              <a:effectLst/>
              <a:uFillTx/>
              <a:latin typeface="Arial"/>
            </a:endParaRPr>
          </a:p>
        </p:txBody>
      </p:sp>
      <p:sp>
        <p:nvSpPr>
          <p:cNvPr id="155" name="Text 8"/>
          <p:cNvSpPr/>
          <p:nvPr/>
        </p:nvSpPr>
        <p:spPr>
          <a:xfrm>
            <a:off x="3246120" y="205740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02</a:t>
            </a:r>
            <a:endParaRPr lang="fr-FR" sz="2200" b="0" u="none" strike="noStrike">
              <a:solidFill>
                <a:srgbClr val="000000"/>
              </a:solidFill>
              <a:effectLst/>
              <a:uFillTx/>
              <a:latin typeface="Arial"/>
            </a:endParaRPr>
          </a:p>
        </p:txBody>
      </p:sp>
      <p:sp>
        <p:nvSpPr>
          <p:cNvPr id="156" name="Text 9"/>
          <p:cNvSpPr/>
          <p:nvPr/>
        </p:nvSpPr>
        <p:spPr>
          <a:xfrm>
            <a:off x="3886200" y="209412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Demontrer</a:t>
            </a:r>
            <a:endParaRPr lang="fr-FR" sz="1600" b="0" u="none" strike="noStrike">
              <a:solidFill>
                <a:srgbClr val="000000"/>
              </a:solidFill>
              <a:effectLst/>
              <a:uFillTx/>
              <a:latin typeface="Arial"/>
            </a:endParaRPr>
          </a:p>
        </p:txBody>
      </p:sp>
      <p:sp>
        <p:nvSpPr>
          <p:cNvPr id="157" name="Text 10"/>
          <p:cNvSpPr/>
          <p:nvPr/>
        </p:nvSpPr>
        <p:spPr>
          <a:xfrm>
            <a:off x="3246120" y="246888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Mettre en valeur quatre projets représentatifs — Portfolio, Recherche &amp; Scène, Secret de Coton (stage Saobio) et Les Tourelles — avec descriptifs techniques détaillés.</a:t>
            </a:r>
            <a:endParaRPr lang="fr-FR" sz="950" b="0" u="none" strike="noStrike">
              <a:solidFill>
                <a:srgbClr val="000000"/>
              </a:solidFill>
              <a:effectLst/>
              <a:uFillTx/>
              <a:latin typeface="Arial"/>
            </a:endParaRPr>
          </a:p>
        </p:txBody>
      </p:sp>
      <p:sp>
        <p:nvSpPr>
          <p:cNvPr id="158" name="Text 11"/>
          <p:cNvSpPr/>
          <p:nvPr/>
        </p:nvSpPr>
        <p:spPr>
          <a:xfrm>
            <a:off x="6035040" y="205740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03</a:t>
            </a:r>
            <a:endParaRPr lang="fr-FR" sz="2200" b="0" u="none" strike="noStrike">
              <a:solidFill>
                <a:srgbClr val="000000"/>
              </a:solidFill>
              <a:effectLst/>
              <a:uFillTx/>
              <a:latin typeface="Arial"/>
            </a:endParaRPr>
          </a:p>
        </p:txBody>
      </p:sp>
      <p:sp>
        <p:nvSpPr>
          <p:cNvPr id="159" name="Text 12"/>
          <p:cNvSpPr/>
          <p:nvPr/>
        </p:nvSpPr>
        <p:spPr>
          <a:xfrm>
            <a:off x="6675120" y="209412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Convertir</a:t>
            </a:r>
            <a:endParaRPr lang="fr-FR" sz="1600" b="0" u="none" strike="noStrike">
              <a:solidFill>
                <a:srgbClr val="000000"/>
              </a:solidFill>
              <a:effectLst/>
              <a:uFillTx/>
              <a:latin typeface="Arial"/>
            </a:endParaRPr>
          </a:p>
        </p:txBody>
      </p:sp>
      <p:sp>
        <p:nvSpPr>
          <p:cNvPr id="160" name="Text 13"/>
          <p:cNvSpPr/>
          <p:nvPr/>
        </p:nvSpPr>
        <p:spPr>
          <a:xfrm>
            <a:off x="6035040" y="246888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Faciliter la prise de contact : formulaire fonctionnel, téléchargement du CV, accès direct aux profils LinkedIn et GitHub.</a:t>
            </a:r>
            <a:endParaRPr lang="fr-FR" sz="950" b="0" u="none" strike="noStrike">
              <a:solidFill>
                <a:srgbClr val="000000"/>
              </a:solidFill>
              <a:effectLst/>
              <a:uFillTx/>
              <a:latin typeface="Arial"/>
            </a:endParaRPr>
          </a:p>
        </p:txBody>
      </p:sp>
      <p:sp>
        <p:nvSpPr>
          <p:cNvPr id="161" name="Text 14"/>
          <p:cNvSpPr/>
          <p:nvPr/>
        </p:nvSpPr>
        <p:spPr>
          <a:xfrm>
            <a:off x="457200" y="34016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04</a:t>
            </a:r>
            <a:endParaRPr lang="fr-FR" sz="2200" b="0" u="none" strike="noStrike">
              <a:solidFill>
                <a:srgbClr val="000000"/>
              </a:solidFill>
              <a:effectLst/>
              <a:uFillTx/>
              <a:latin typeface="Arial"/>
            </a:endParaRPr>
          </a:p>
        </p:txBody>
      </p:sp>
      <p:sp>
        <p:nvSpPr>
          <p:cNvPr id="162" name="Text 15"/>
          <p:cNvSpPr/>
          <p:nvPr/>
        </p:nvSpPr>
        <p:spPr>
          <a:xfrm>
            <a:off x="1097280" y="343800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Rayonner</a:t>
            </a:r>
            <a:endParaRPr lang="fr-FR" sz="1600" b="0" u="none" strike="noStrike">
              <a:solidFill>
                <a:srgbClr val="000000"/>
              </a:solidFill>
              <a:effectLst/>
              <a:uFillTx/>
              <a:latin typeface="Arial"/>
            </a:endParaRPr>
          </a:p>
        </p:txBody>
      </p:sp>
      <p:sp>
        <p:nvSpPr>
          <p:cNvPr id="163" name="Text 16"/>
          <p:cNvSpPr/>
          <p:nvPr/>
        </p:nvSpPr>
        <p:spPr>
          <a:xfrm>
            <a:off x="457200" y="381312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Garantir une accessibilité multilingue (FR, EN, JA, AR) pour ouvrir le portfolio à des recruteurs et collaborateurs internationaux.</a:t>
            </a:r>
            <a:endParaRPr lang="fr-FR" sz="950" b="0" u="none" strike="noStrike">
              <a:solidFill>
                <a:srgbClr val="000000"/>
              </a:solidFill>
              <a:effectLst/>
              <a:uFillTx/>
              <a:latin typeface="Arial"/>
            </a:endParaRPr>
          </a:p>
        </p:txBody>
      </p:sp>
      <p:sp>
        <p:nvSpPr>
          <p:cNvPr id="164" name="Text 17"/>
          <p:cNvSpPr/>
          <p:nvPr/>
        </p:nvSpPr>
        <p:spPr>
          <a:xfrm>
            <a:off x="3246120" y="34016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05</a:t>
            </a:r>
            <a:endParaRPr lang="fr-FR" sz="2200" b="0" u="none" strike="noStrike">
              <a:solidFill>
                <a:srgbClr val="000000"/>
              </a:solidFill>
              <a:effectLst/>
              <a:uFillTx/>
              <a:latin typeface="Arial"/>
            </a:endParaRPr>
          </a:p>
        </p:txBody>
      </p:sp>
      <p:sp>
        <p:nvSpPr>
          <p:cNvPr id="165" name="Text 18"/>
          <p:cNvSpPr/>
          <p:nvPr/>
        </p:nvSpPr>
        <p:spPr>
          <a:xfrm>
            <a:off x="3886200" y="343800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Perenniser</a:t>
            </a:r>
            <a:endParaRPr lang="fr-FR" sz="1600" b="0" u="none" strike="noStrike">
              <a:solidFill>
                <a:srgbClr val="000000"/>
              </a:solidFill>
              <a:effectLst/>
              <a:uFillTx/>
              <a:latin typeface="Arial"/>
            </a:endParaRPr>
          </a:p>
        </p:txBody>
      </p:sp>
      <p:sp>
        <p:nvSpPr>
          <p:cNvPr id="166" name="Text 19"/>
          <p:cNvSpPr/>
          <p:nvPr/>
        </p:nvSpPr>
        <p:spPr>
          <a:xfrm>
            <a:off x="3246120" y="381312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Concevoir une architecture évolutive permettant des mises à jour régulières du contenu sans intervention technique complexe.</a:t>
            </a:r>
            <a:endParaRPr lang="fr-FR" sz="950" b="0" u="none" strike="noStrike">
              <a:solidFill>
                <a:srgbClr val="000000"/>
              </a:solidFill>
              <a:effectLst/>
              <a:uFillTx/>
              <a:latin typeface="Arial"/>
            </a:endParaRPr>
          </a:p>
        </p:txBody>
      </p:sp>
      <p:sp>
        <p:nvSpPr>
          <p:cNvPr id="167" name="Text 20"/>
          <p:cNvSpPr/>
          <p:nvPr/>
        </p:nvSpPr>
        <p:spPr>
          <a:xfrm>
            <a:off x="6035040" y="3401640"/>
            <a:ext cx="6328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BF360C"/>
                </a:solidFill>
                <a:effectLst/>
                <a:uFillTx/>
                <a:latin typeface="Arelv"/>
                <a:ea typeface="Arelv"/>
              </a:rPr>
              <a:t>06</a:t>
            </a:r>
            <a:endParaRPr lang="fr-FR" sz="2200" b="0" u="none" strike="noStrike">
              <a:solidFill>
                <a:srgbClr val="000000"/>
              </a:solidFill>
              <a:effectLst/>
              <a:uFillTx/>
              <a:latin typeface="Arial"/>
            </a:endParaRPr>
          </a:p>
        </p:txBody>
      </p:sp>
      <p:sp>
        <p:nvSpPr>
          <p:cNvPr id="168" name="Text 21"/>
          <p:cNvSpPr/>
          <p:nvPr/>
        </p:nvSpPr>
        <p:spPr>
          <a:xfrm>
            <a:off x="6675120" y="3438000"/>
            <a:ext cx="20044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Signer</a:t>
            </a:r>
            <a:endParaRPr lang="fr-FR" sz="1600" b="0" u="none" strike="noStrike">
              <a:solidFill>
                <a:srgbClr val="000000"/>
              </a:solidFill>
              <a:effectLst/>
              <a:uFillTx/>
              <a:latin typeface="Arial"/>
            </a:endParaRPr>
          </a:p>
        </p:txBody>
      </p:sp>
      <p:sp>
        <p:nvSpPr>
          <p:cNvPr id="169" name="Text 22"/>
          <p:cNvSpPr/>
          <p:nvPr/>
        </p:nvSpPr>
        <p:spPr>
          <a:xfrm>
            <a:off x="6035040" y="3813120"/>
            <a:ext cx="2644560" cy="815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Affirmer une identité visuelle reconnaissable, cohérente avec la charte graphique élaborée en amont du projet.</a:t>
            </a:r>
            <a:endParaRPr lang="fr-FR" sz="950" b="0" u="none" strike="noStrike">
              <a:solidFill>
                <a:srgbClr val="000000"/>
              </a:solidFill>
              <a:effectLst/>
              <a:uFillTx/>
              <a:latin typeface="Arial"/>
            </a:endParaRPr>
          </a:p>
        </p:txBody>
      </p:sp>
      <p:sp>
        <p:nvSpPr>
          <p:cNvPr id="170"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1"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72"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7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7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ENJEUX</a:t>
            </a:r>
            <a:endParaRPr lang="fr-FR" sz="5000" b="0" u="none" strike="noStrike">
              <a:solidFill>
                <a:srgbClr val="000000"/>
              </a:solidFill>
              <a:effectLst/>
              <a:uFillTx/>
              <a:latin typeface="Arial"/>
            </a:endParaRPr>
          </a:p>
        </p:txBody>
      </p:sp>
      <p:sp>
        <p:nvSpPr>
          <p:cNvPr id="17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Quatre tensions productives à équilibrer</a:t>
            </a:r>
            <a:endParaRPr lang="fr-FR" sz="1600" b="0" u="none" strike="noStrike">
              <a:solidFill>
                <a:srgbClr val="000000"/>
              </a:solidFill>
              <a:effectLst/>
              <a:uFillTx/>
              <a:latin typeface="Arial"/>
            </a:endParaRPr>
          </a:p>
        </p:txBody>
      </p:sp>
      <p:sp>
        <p:nvSpPr>
          <p:cNvPr id="178" name="Shape 5"/>
          <p:cNvSpPr/>
          <p:nvPr/>
        </p:nvSpPr>
        <p:spPr>
          <a:xfrm>
            <a:off x="45720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9" name="Text 6"/>
          <p:cNvSpPr/>
          <p:nvPr/>
        </p:nvSpPr>
        <p:spPr>
          <a:xfrm>
            <a:off x="64008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A0A0A"/>
                </a:solidFill>
                <a:effectLst/>
                <a:uFillTx/>
                <a:latin typeface="Arelv"/>
                <a:ea typeface="Arelv"/>
              </a:rPr>
              <a:t>Professionnalisation</a:t>
            </a:r>
            <a:endParaRPr lang="fr-FR" sz="1800" b="0" u="none" strike="noStrike">
              <a:solidFill>
                <a:srgbClr val="000000"/>
              </a:solidFill>
              <a:effectLst/>
              <a:uFillTx/>
              <a:latin typeface="Arial"/>
            </a:endParaRPr>
          </a:p>
        </p:txBody>
      </p:sp>
      <p:sp>
        <p:nvSpPr>
          <p:cNvPr id="180" name="Text 7"/>
          <p:cNvSpPr/>
          <p:nvPr/>
        </p:nvSpPr>
        <p:spPr>
          <a:xfrm>
            <a:off x="457200" y="2606040"/>
            <a:ext cx="4016160" cy="67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Le portfolio est un livrable visible : il sera consulté par des recruteurs, des écoles et des pairs. Il doit refléter le niveau de rigueur attendu d'un Chef de projet digital, sans céder à l'effet de mode.</a:t>
            </a:r>
            <a:endParaRPr lang="fr-FR" sz="1050" b="0" u="none" strike="noStrike">
              <a:solidFill>
                <a:srgbClr val="000000"/>
              </a:solidFill>
              <a:effectLst/>
              <a:uFillTx/>
              <a:latin typeface="Arial"/>
            </a:endParaRPr>
          </a:p>
        </p:txBody>
      </p:sp>
      <p:sp>
        <p:nvSpPr>
          <p:cNvPr id="181" name="Shape 8"/>
          <p:cNvSpPr/>
          <p:nvPr/>
        </p:nvSpPr>
        <p:spPr>
          <a:xfrm>
            <a:off x="466344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2" name="Text 9"/>
          <p:cNvSpPr/>
          <p:nvPr/>
        </p:nvSpPr>
        <p:spPr>
          <a:xfrm>
            <a:off x="484632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A0A0A"/>
                </a:solidFill>
                <a:effectLst/>
                <a:uFillTx/>
                <a:latin typeface="Arelv"/>
                <a:ea typeface="Arelv"/>
              </a:rPr>
              <a:t>Accessibilité</a:t>
            </a:r>
            <a:endParaRPr lang="fr-FR" sz="1800" b="0" u="none" strike="noStrike">
              <a:solidFill>
                <a:srgbClr val="000000"/>
              </a:solidFill>
              <a:effectLst/>
              <a:uFillTx/>
              <a:latin typeface="Arial"/>
            </a:endParaRPr>
          </a:p>
        </p:txBody>
      </p:sp>
      <p:sp>
        <p:nvSpPr>
          <p:cNvPr id="183" name="Text 10"/>
          <p:cNvSpPr/>
          <p:nvPr/>
        </p:nvSpPr>
        <p:spPr>
          <a:xfrm>
            <a:off x="4663440" y="2606040"/>
            <a:ext cx="4016160" cy="6786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050" b="0" u="none" strike="noStrike">
                <a:solidFill>
                  <a:srgbClr val="37474F"/>
                </a:solidFill>
                <a:effectLst/>
                <a:uFillTx/>
                <a:latin typeface="Satoshi"/>
                <a:ea typeface="Satoshi"/>
              </a:rPr>
              <a:t>L'expérience utilisateur doit rester fluide et agréable pour tous. Le site est conçu pour être Responsive, disponible en plusieurs langues, et structuré de manière claire et lisible pour faciliter la lecture et la navigation de chaque visiteur. </a:t>
            </a:r>
            <a:endParaRPr lang="fr-FR" sz="1050" b="0" u="none" strike="noStrike">
              <a:solidFill>
                <a:srgbClr val="000000"/>
              </a:solidFill>
              <a:effectLst/>
              <a:uFillTx/>
              <a:latin typeface="Arial"/>
            </a:endParaRPr>
          </a:p>
        </p:txBody>
      </p:sp>
      <p:sp>
        <p:nvSpPr>
          <p:cNvPr id="184" name="Shape 11"/>
          <p:cNvSpPr/>
          <p:nvPr/>
        </p:nvSpPr>
        <p:spPr>
          <a:xfrm>
            <a:off x="45720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5" name="Text 12"/>
          <p:cNvSpPr/>
          <p:nvPr/>
        </p:nvSpPr>
        <p:spPr>
          <a:xfrm>
            <a:off x="64008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A0A0A"/>
                </a:solidFill>
                <a:effectLst/>
                <a:uFillTx/>
                <a:latin typeface="Arelv"/>
                <a:ea typeface="Arelv"/>
              </a:rPr>
              <a:t>Differenciation</a:t>
            </a:r>
            <a:endParaRPr lang="fr-FR" sz="1800" b="0" u="none" strike="noStrike">
              <a:solidFill>
                <a:srgbClr val="000000"/>
              </a:solidFill>
              <a:effectLst/>
              <a:uFillTx/>
              <a:latin typeface="Arial"/>
            </a:endParaRPr>
          </a:p>
        </p:txBody>
      </p:sp>
      <p:sp>
        <p:nvSpPr>
          <p:cNvPr id="186" name="Text 13"/>
          <p:cNvSpPr/>
          <p:nvPr/>
        </p:nvSpPr>
        <p:spPr>
          <a:xfrm>
            <a:off x="457200" y="3977640"/>
            <a:ext cx="4016160" cy="67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Dans un marché saturé de portfolios génériques, la signature visuelle — désert saharien revisité, calligraphie arabe, palette désertique — doit assumer une identité forte, lisible dès la première seconde.</a:t>
            </a:r>
            <a:endParaRPr lang="fr-FR" sz="1050" b="0" u="none" strike="noStrike">
              <a:solidFill>
                <a:srgbClr val="000000"/>
              </a:solidFill>
              <a:effectLst/>
              <a:uFillTx/>
              <a:latin typeface="Arial"/>
            </a:endParaRPr>
          </a:p>
        </p:txBody>
      </p:sp>
      <p:sp>
        <p:nvSpPr>
          <p:cNvPr id="187" name="Shape 14"/>
          <p:cNvSpPr/>
          <p:nvPr/>
        </p:nvSpPr>
        <p:spPr>
          <a:xfrm>
            <a:off x="466344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8" name="Text 15"/>
          <p:cNvSpPr/>
          <p:nvPr/>
        </p:nvSpPr>
        <p:spPr>
          <a:xfrm>
            <a:off x="484632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A0A0A"/>
                </a:solidFill>
                <a:effectLst/>
                <a:uFillTx/>
                <a:latin typeface="Arelv"/>
                <a:ea typeface="Arelv"/>
              </a:rPr>
              <a:t>Evolutivité</a:t>
            </a:r>
            <a:endParaRPr lang="fr-FR" sz="1800" b="0" u="none" strike="noStrike">
              <a:solidFill>
                <a:srgbClr val="000000"/>
              </a:solidFill>
              <a:effectLst/>
              <a:uFillTx/>
              <a:latin typeface="Arial"/>
            </a:endParaRPr>
          </a:p>
        </p:txBody>
      </p:sp>
      <p:sp>
        <p:nvSpPr>
          <p:cNvPr id="189" name="Text 16"/>
          <p:cNvSpPr/>
          <p:nvPr/>
        </p:nvSpPr>
        <p:spPr>
          <a:xfrm>
            <a:off x="4663440" y="3977640"/>
            <a:ext cx="4016160" cy="67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Le portfolio est vivant : il accueillera de nouveaux projets, des articles, des publications supplémentaires éventuellement. L'architecture WordPress + Polylang autorise ces ajouts sans refonte.</a:t>
            </a:r>
            <a:endParaRPr lang="fr-FR" sz="1050" b="0" u="none" strike="noStrike">
              <a:solidFill>
                <a:srgbClr val="000000"/>
              </a:solidFill>
              <a:effectLst/>
              <a:uFillTx/>
              <a:latin typeface="Arial"/>
            </a:endParaRPr>
          </a:p>
        </p:txBody>
      </p:sp>
      <p:sp>
        <p:nvSpPr>
          <p:cNvPr id="190"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1"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92"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9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9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9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PUBLIC CIBLE</a:t>
            </a:r>
            <a:endParaRPr lang="fr-FR" sz="5000" b="0" u="none" strike="noStrike">
              <a:solidFill>
                <a:srgbClr val="000000"/>
              </a:solidFill>
              <a:effectLst/>
              <a:uFillTx/>
              <a:latin typeface="Arial"/>
            </a:endParaRPr>
          </a:p>
        </p:txBody>
      </p:sp>
      <p:sp>
        <p:nvSpPr>
          <p:cNvPr id="19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Cibles primaires et secondaires</a:t>
            </a:r>
            <a:endParaRPr lang="fr-FR" sz="1600" b="0" u="none" strike="noStrike">
              <a:solidFill>
                <a:srgbClr val="000000"/>
              </a:solidFill>
              <a:effectLst/>
              <a:uFillTx/>
              <a:latin typeface="Arial"/>
            </a:endParaRPr>
          </a:p>
        </p:txBody>
      </p:sp>
      <p:sp>
        <p:nvSpPr>
          <p:cNvPr id="198" name="Shape 5"/>
          <p:cNvSpPr/>
          <p:nvPr/>
        </p:nvSpPr>
        <p:spPr>
          <a:xfrm>
            <a:off x="457200" y="2057400"/>
            <a:ext cx="4016160" cy="25531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9" name="Text 6"/>
          <p:cNvSpPr/>
          <p:nvPr/>
        </p:nvSpPr>
        <p:spPr>
          <a:xfrm>
            <a:off x="640080" y="219456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CIBLE PRIMAIRE</a:t>
            </a:r>
            <a:endParaRPr lang="fr-FR" sz="1000" b="0" u="none" strike="noStrike">
              <a:solidFill>
                <a:srgbClr val="000000"/>
              </a:solidFill>
              <a:effectLst/>
              <a:uFillTx/>
              <a:latin typeface="Arial"/>
            </a:endParaRPr>
          </a:p>
        </p:txBody>
      </p:sp>
      <p:sp>
        <p:nvSpPr>
          <p:cNvPr id="200" name="Text 7"/>
          <p:cNvSpPr/>
          <p:nvPr/>
        </p:nvSpPr>
        <p:spPr>
          <a:xfrm>
            <a:off x="640080" y="2514600"/>
            <a:ext cx="365040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4EFE6"/>
                </a:solidFill>
                <a:effectLst/>
                <a:uFillTx/>
                <a:latin typeface="Arelv"/>
                <a:ea typeface="Arelv"/>
              </a:rPr>
              <a:t>Recruteurs &amp;</a:t>
            </a:r>
            <a:endParaRPr lang="fr-FR" sz="2400" b="0" u="none" strike="noStrike">
              <a:solidFill>
                <a:srgbClr val="000000"/>
              </a:solidFill>
              <a:effectLst/>
              <a:uFillTx/>
              <a:latin typeface="Arial"/>
            </a:endParaRPr>
          </a:p>
        </p:txBody>
      </p:sp>
      <p:sp>
        <p:nvSpPr>
          <p:cNvPr id="201" name="Text 8"/>
          <p:cNvSpPr/>
          <p:nvPr/>
        </p:nvSpPr>
        <p:spPr>
          <a:xfrm>
            <a:off x="640080" y="2880360"/>
            <a:ext cx="365040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4EFE6"/>
                </a:solidFill>
                <a:effectLst/>
                <a:uFillTx/>
                <a:latin typeface="Arelv"/>
                <a:ea typeface="Arelv"/>
              </a:rPr>
              <a:t>responsables RH</a:t>
            </a:r>
            <a:endParaRPr lang="fr-FR" sz="2400" b="0" u="none" strike="noStrike">
              <a:solidFill>
                <a:srgbClr val="000000"/>
              </a:solidFill>
              <a:effectLst/>
              <a:uFillTx/>
              <a:latin typeface="Arial"/>
            </a:endParaRPr>
          </a:p>
        </p:txBody>
      </p:sp>
      <p:sp>
        <p:nvSpPr>
          <p:cNvPr id="202" name="Text 9"/>
          <p:cNvSpPr/>
          <p:nvPr/>
        </p:nvSpPr>
        <p:spPr>
          <a:xfrm>
            <a:off x="640080" y="3520440"/>
            <a:ext cx="3650400" cy="998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Décideurs en quête d'un profil de Chef de projet digital, sensibles à la rigueur méthodologique et capables d'apprécier un parcours atypique. Évaluent la cohérence du dossier en moins de 90 secondes.</a:t>
            </a:r>
            <a:endParaRPr lang="fr-FR" sz="1000" b="0" u="none" strike="noStrike">
              <a:solidFill>
                <a:srgbClr val="000000"/>
              </a:solidFill>
              <a:effectLst/>
              <a:uFillTx/>
              <a:latin typeface="Arial"/>
            </a:endParaRPr>
          </a:p>
        </p:txBody>
      </p:sp>
      <p:sp>
        <p:nvSpPr>
          <p:cNvPr id="203" name="Text 10"/>
          <p:cNvSpPr/>
          <p:nvPr/>
        </p:nvSpPr>
        <p:spPr>
          <a:xfrm>
            <a:off x="4754880" y="214884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BF360C"/>
                </a:solidFill>
                <a:effectLst/>
                <a:uFillTx/>
                <a:latin typeface="Satoshi"/>
                <a:ea typeface="Satoshi"/>
              </a:rPr>
              <a:t>CIBLES SECONDAIRES</a:t>
            </a:r>
            <a:endParaRPr lang="fr-FR" sz="1000" b="0" u="none" strike="noStrike">
              <a:solidFill>
                <a:srgbClr val="000000"/>
              </a:solidFill>
              <a:effectLst/>
              <a:uFillTx/>
              <a:latin typeface="Arial"/>
            </a:endParaRPr>
          </a:p>
        </p:txBody>
      </p:sp>
      <p:sp>
        <p:nvSpPr>
          <p:cNvPr id="204" name="Text 11"/>
          <p:cNvSpPr/>
          <p:nvPr/>
        </p:nvSpPr>
        <p:spPr>
          <a:xfrm>
            <a:off x="4754880" y="246888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Satoshi"/>
                <a:ea typeface="Satoshi"/>
              </a:rPr>
              <a:t>Clients free-lance</a:t>
            </a:r>
            <a:endParaRPr lang="fr-FR" sz="1300" b="0" u="none" strike="noStrike">
              <a:solidFill>
                <a:srgbClr val="000000"/>
              </a:solidFill>
              <a:effectLst/>
              <a:uFillTx/>
              <a:latin typeface="Arial"/>
            </a:endParaRPr>
          </a:p>
        </p:txBody>
      </p:sp>
      <p:sp>
        <p:nvSpPr>
          <p:cNvPr id="205" name="Text 12"/>
          <p:cNvSpPr/>
          <p:nvPr/>
        </p:nvSpPr>
        <p:spPr>
          <a:xfrm>
            <a:off x="4754880" y="266148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TPE/PME cherchant un développeur web pour création ou refonte de site.</a:t>
            </a:r>
            <a:endParaRPr lang="fr-FR" sz="1000" b="0" u="none" strike="noStrike">
              <a:solidFill>
                <a:srgbClr val="000000"/>
              </a:solidFill>
              <a:effectLst/>
              <a:uFillTx/>
              <a:latin typeface="Arial"/>
            </a:endParaRPr>
          </a:p>
        </p:txBody>
      </p:sp>
      <p:sp>
        <p:nvSpPr>
          <p:cNvPr id="206" name="Text 13"/>
          <p:cNvSpPr/>
          <p:nvPr/>
        </p:nvSpPr>
        <p:spPr>
          <a:xfrm>
            <a:off x="4754880" y="296316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Satoshi"/>
                <a:ea typeface="Satoshi"/>
              </a:rPr>
              <a:t>Pairs &amp; collaborateurs</a:t>
            </a:r>
            <a:endParaRPr lang="fr-FR" sz="1300" b="0" u="none" strike="noStrike">
              <a:solidFill>
                <a:srgbClr val="000000"/>
              </a:solidFill>
              <a:effectLst/>
              <a:uFillTx/>
              <a:latin typeface="Arial"/>
            </a:endParaRPr>
          </a:p>
        </p:txBody>
      </p:sp>
      <p:sp>
        <p:nvSpPr>
          <p:cNvPr id="207" name="Text 14"/>
          <p:cNvSpPr/>
          <p:nvPr/>
        </p:nvSpPr>
        <p:spPr>
          <a:xfrm>
            <a:off x="4754880" y="319176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Développeurs et chefs de projet pour partage de pratiques et opportunités.</a:t>
            </a:r>
            <a:endParaRPr lang="fr-FR" sz="1000" b="0" u="none" strike="noStrike">
              <a:solidFill>
                <a:srgbClr val="000000"/>
              </a:solidFill>
              <a:effectLst/>
              <a:uFillTx/>
              <a:latin typeface="Arial"/>
            </a:endParaRPr>
          </a:p>
        </p:txBody>
      </p:sp>
      <p:sp>
        <p:nvSpPr>
          <p:cNvPr id="208" name="Text 15"/>
          <p:cNvSpPr/>
          <p:nvPr/>
        </p:nvSpPr>
        <p:spPr>
          <a:xfrm>
            <a:off x="4754880" y="360144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Satoshi"/>
                <a:ea typeface="Satoshi"/>
              </a:rPr>
              <a:t>Écoles &amp; organismes</a:t>
            </a:r>
            <a:endParaRPr lang="fr-FR" sz="1300" b="0" u="none" strike="noStrike">
              <a:solidFill>
                <a:srgbClr val="000000"/>
              </a:solidFill>
              <a:effectLst/>
              <a:uFillTx/>
              <a:latin typeface="Arial"/>
            </a:endParaRPr>
          </a:p>
        </p:txBody>
      </p:sp>
      <p:sp>
        <p:nvSpPr>
          <p:cNvPr id="209" name="Text 16"/>
          <p:cNvSpPr/>
          <p:nvPr/>
        </p:nvSpPr>
        <p:spPr>
          <a:xfrm>
            <a:off x="4754880" y="375804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Partenaires pédagogiques, candidatures complémentaires, alternance.</a:t>
            </a:r>
            <a:endParaRPr lang="fr-FR" sz="1000" b="0" u="none" strike="noStrike">
              <a:solidFill>
                <a:srgbClr val="000000"/>
              </a:solidFill>
              <a:effectLst/>
              <a:uFillTx/>
              <a:latin typeface="Arial"/>
            </a:endParaRPr>
          </a:p>
        </p:txBody>
      </p:sp>
      <p:sp>
        <p:nvSpPr>
          <p:cNvPr id="210" name="Text 17"/>
          <p:cNvSpPr/>
          <p:nvPr/>
        </p:nvSpPr>
        <p:spPr>
          <a:xfrm>
            <a:off x="4754880" y="406008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Satoshi"/>
                <a:ea typeface="Satoshi"/>
              </a:rPr>
              <a:t>Communauté académique</a:t>
            </a:r>
            <a:endParaRPr lang="fr-FR" sz="1300" b="0" u="none" strike="noStrike">
              <a:solidFill>
                <a:srgbClr val="000000"/>
              </a:solidFill>
              <a:effectLst/>
              <a:uFillTx/>
              <a:latin typeface="Arial"/>
            </a:endParaRPr>
          </a:p>
        </p:txBody>
      </p:sp>
      <p:sp>
        <p:nvSpPr>
          <p:cNvPr id="211" name="Text 18"/>
          <p:cNvSpPr/>
          <p:nvPr/>
        </p:nvSpPr>
        <p:spPr>
          <a:xfrm>
            <a:off x="4754880" y="421668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Réseau anthropologique, passerelles recherche/digital.</a:t>
            </a:r>
            <a:endParaRPr lang="fr-FR" sz="1000" b="0" u="none" strike="noStrike">
              <a:solidFill>
                <a:srgbClr val="000000"/>
              </a:solidFill>
              <a:effectLst/>
              <a:uFillTx/>
              <a:latin typeface="Arial"/>
            </a:endParaRPr>
          </a:p>
        </p:txBody>
      </p:sp>
      <p:sp>
        <p:nvSpPr>
          <p:cNvPr id="212" name="Shape 1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3" name="Text 2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4" name="Text 2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MÉTHODOLOGIE</a:t>
            </a:r>
            <a:endParaRPr lang="fr-FR" sz="5000" b="0" u="none" strike="noStrike">
              <a:solidFill>
                <a:srgbClr val="000000"/>
              </a:solidFill>
              <a:effectLst/>
              <a:uFillTx/>
              <a:latin typeface="Arial"/>
            </a:endParaRPr>
          </a:p>
        </p:txBody>
      </p:sp>
      <p:sp>
        <p:nvSpPr>
          <p:cNvPr id="21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1600" b="0" i="1" u="none" strike="noStrike">
                <a:solidFill>
                  <a:srgbClr val="37474F"/>
                </a:solidFill>
                <a:effectLst/>
                <a:uFillTx/>
                <a:latin typeface="Satoshi"/>
                <a:ea typeface="Satoshi"/>
              </a:rPr>
              <a:t>Approche Cascade (Waterfall) adaptée à un projet individuel</a:t>
            </a:r>
            <a:endParaRPr lang="fr-FR" sz="1600" b="0" u="none" strike="noStrike">
              <a:solidFill>
                <a:srgbClr val="000000"/>
              </a:solidFill>
              <a:effectLst/>
              <a:uFillTx/>
              <a:latin typeface="Arial"/>
            </a:endParaRPr>
          </a:p>
        </p:txBody>
      </p:sp>
      <p:sp>
        <p:nvSpPr>
          <p:cNvPr id="220" name="Text 5"/>
          <p:cNvSpPr/>
          <p:nvPr/>
        </p:nvSpPr>
        <p:spPr>
          <a:xfrm>
            <a:off x="457200" y="2011680"/>
            <a:ext cx="822240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200" b="0" u="none" strike="noStrike">
                <a:solidFill>
                  <a:srgbClr val="0A0A0A"/>
                </a:solidFill>
                <a:effectLst/>
                <a:uFillTx/>
                <a:latin typeface="Satoshi"/>
                <a:ea typeface="Satoshi"/>
              </a:rPr>
              <a:t>La conduite du projet technique suit une planification rigoureuse par jalons successifs, où chaque étape clé fait l'objet d'une livraison et d'une validation formelle par le référent pédagogique.</a:t>
            </a:r>
            <a:endParaRPr lang="fr-FR" sz="1200" b="0" u="none" strike="noStrike">
              <a:solidFill>
                <a:srgbClr val="000000"/>
              </a:solidFill>
              <a:effectLst/>
              <a:uFillTx/>
              <a:latin typeface="Arial"/>
            </a:endParaRPr>
          </a:p>
        </p:txBody>
      </p:sp>
      <p:sp>
        <p:nvSpPr>
          <p:cNvPr id="221" name="Shape 6"/>
          <p:cNvSpPr/>
          <p:nvPr/>
        </p:nvSpPr>
        <p:spPr>
          <a:xfrm>
            <a:off x="457200" y="274320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2" name="Text 7"/>
          <p:cNvSpPr/>
          <p:nvPr/>
        </p:nvSpPr>
        <p:spPr>
          <a:xfrm>
            <a:off x="594360" y="276264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01</a:t>
            </a:r>
            <a:endParaRPr lang="fr-FR" sz="1400" b="0" u="none" strike="noStrike">
              <a:solidFill>
                <a:srgbClr val="000000"/>
              </a:solidFill>
              <a:effectLst/>
              <a:uFillTx/>
              <a:latin typeface="Arial"/>
            </a:endParaRPr>
          </a:p>
        </p:txBody>
      </p:sp>
      <p:sp>
        <p:nvSpPr>
          <p:cNvPr id="223" name="Text 8"/>
          <p:cNvSpPr/>
          <p:nvPr/>
        </p:nvSpPr>
        <p:spPr>
          <a:xfrm>
            <a:off x="594360" y="303696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1400" b="1" u="none" spc="99" strike="noStrike">
                <a:solidFill>
                  <a:srgbClr val="0A0A0A"/>
                </a:solidFill>
                <a:effectLst/>
                <a:uFillTx/>
                <a:latin typeface="Arelv"/>
                <a:ea typeface="Arelv"/>
              </a:rPr>
              <a:t>PLANIFICATION </a:t>
            </a:r>
            <a:endParaRPr lang="fr-FR" sz="1400" b="0" u="none" strike="noStrike">
              <a:solidFill>
                <a:srgbClr val="000000"/>
              </a:solidFill>
              <a:effectLst/>
              <a:uFillTx/>
              <a:latin typeface="Arial"/>
            </a:endParaRPr>
          </a:p>
        </p:txBody>
      </p:sp>
      <p:sp>
        <p:nvSpPr>
          <p:cNvPr id="224" name="Text 9"/>
          <p:cNvSpPr/>
          <p:nvPr/>
        </p:nvSpPr>
        <p:spPr>
          <a:xfrm>
            <a:off x="594360" y="338436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Structuration du projet en 4 grandes phases chronologiques, définies dès le début de l'année. Chaque étape dispose d'une date butoir stricte pour garantir la livraison finale en juin. </a:t>
            </a:r>
            <a:endParaRPr lang="fr-FR" sz="950" b="0" u="none" strike="noStrike">
              <a:solidFill>
                <a:srgbClr val="000000"/>
              </a:solidFill>
              <a:effectLst/>
              <a:uFillTx/>
              <a:latin typeface="Arial"/>
            </a:endParaRPr>
          </a:p>
        </p:txBody>
      </p:sp>
      <p:sp>
        <p:nvSpPr>
          <p:cNvPr id="225" name="Shape 10"/>
          <p:cNvSpPr/>
          <p:nvPr/>
        </p:nvSpPr>
        <p:spPr>
          <a:xfrm>
            <a:off x="2541960" y="274320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6" name="Text 11"/>
          <p:cNvSpPr/>
          <p:nvPr/>
        </p:nvSpPr>
        <p:spPr>
          <a:xfrm>
            <a:off x="2679120" y="276264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02</a:t>
            </a:r>
            <a:endParaRPr lang="fr-FR" sz="1400" b="0" u="none" strike="noStrike">
              <a:solidFill>
                <a:srgbClr val="000000"/>
              </a:solidFill>
              <a:effectLst/>
              <a:uFillTx/>
              <a:latin typeface="Arial"/>
            </a:endParaRPr>
          </a:p>
        </p:txBody>
      </p:sp>
      <p:sp>
        <p:nvSpPr>
          <p:cNvPr id="227" name="Text 12"/>
          <p:cNvSpPr/>
          <p:nvPr/>
        </p:nvSpPr>
        <p:spPr>
          <a:xfrm>
            <a:off x="2679120" y="303696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JALONS</a:t>
            </a:r>
            <a:endParaRPr lang="fr-FR" sz="1400" b="0" u="none" strike="noStrike">
              <a:solidFill>
                <a:srgbClr val="000000"/>
              </a:solidFill>
              <a:effectLst/>
              <a:uFillTx/>
              <a:latin typeface="Arial"/>
            </a:endParaRPr>
          </a:p>
        </p:txBody>
      </p:sp>
      <p:sp>
        <p:nvSpPr>
          <p:cNvPr id="228" name="Text 13"/>
          <p:cNvSpPr/>
          <p:nvPr/>
        </p:nvSpPr>
        <p:spPr>
          <a:xfrm>
            <a:off x="2679120" y="338436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Points de contrôle et validations formelles à chaque échéance clé avec le référent pédagogique. La validation d'un jalon permet de sécuriser le passage à la phase suivante. </a:t>
            </a:r>
            <a:endParaRPr lang="fr-FR" sz="950" b="0" u="none" strike="noStrike">
              <a:solidFill>
                <a:srgbClr val="000000"/>
              </a:solidFill>
              <a:effectLst/>
              <a:uFillTx/>
              <a:latin typeface="Arial"/>
            </a:endParaRPr>
          </a:p>
        </p:txBody>
      </p:sp>
      <p:sp>
        <p:nvSpPr>
          <p:cNvPr id="229" name="Shape 14"/>
          <p:cNvSpPr/>
          <p:nvPr/>
        </p:nvSpPr>
        <p:spPr>
          <a:xfrm>
            <a:off x="4626720" y="274320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0" name="Text 15"/>
          <p:cNvSpPr/>
          <p:nvPr/>
        </p:nvSpPr>
        <p:spPr>
          <a:xfrm>
            <a:off x="4763880" y="276264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03</a:t>
            </a:r>
            <a:endParaRPr lang="fr-FR" sz="1400" b="0" u="none" strike="noStrike">
              <a:solidFill>
                <a:srgbClr val="000000"/>
              </a:solidFill>
              <a:effectLst/>
              <a:uFillTx/>
              <a:latin typeface="Arial"/>
            </a:endParaRPr>
          </a:p>
        </p:txBody>
      </p:sp>
      <p:sp>
        <p:nvSpPr>
          <p:cNvPr id="231" name="Text 16"/>
          <p:cNvSpPr/>
          <p:nvPr/>
        </p:nvSpPr>
        <p:spPr>
          <a:xfrm>
            <a:off x="4763880" y="303696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1400" b="1" u="none" spc="99" strike="noStrike">
                <a:solidFill>
                  <a:srgbClr val="0A0A0A"/>
                </a:solidFill>
                <a:effectLst/>
                <a:uFillTx/>
                <a:latin typeface="Arelv"/>
                <a:ea typeface="Arelv"/>
              </a:rPr>
              <a:t>CONFORMITÉ </a:t>
            </a:r>
            <a:endParaRPr lang="fr-FR" sz="1400" b="0" u="none" strike="noStrike">
              <a:solidFill>
                <a:srgbClr val="000000"/>
              </a:solidFill>
              <a:effectLst/>
              <a:uFillTx/>
              <a:latin typeface="Arial"/>
            </a:endParaRPr>
          </a:p>
        </p:txBody>
      </p:sp>
      <p:sp>
        <p:nvSpPr>
          <p:cNvPr id="232" name="Text 17"/>
          <p:cNvSpPr/>
          <p:nvPr/>
        </p:nvSpPr>
        <p:spPr>
          <a:xfrm>
            <a:off x="4763880" y="338436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Alignement rigoureux du travail sur la grille d'évaluation officielle du diplôme : de la stratégie initiale (personas) à l'intégration technique finale sur WordPress.</a:t>
            </a:r>
            <a:endParaRPr lang="fr-FR" sz="950" b="0" u="none" strike="noStrike">
              <a:solidFill>
                <a:srgbClr val="000000"/>
              </a:solidFill>
              <a:effectLst/>
              <a:uFillTx/>
              <a:latin typeface="Arial"/>
            </a:endParaRPr>
          </a:p>
        </p:txBody>
      </p:sp>
      <p:sp>
        <p:nvSpPr>
          <p:cNvPr id="233" name="Shape 18"/>
          <p:cNvSpPr/>
          <p:nvPr/>
        </p:nvSpPr>
        <p:spPr>
          <a:xfrm>
            <a:off x="6711840" y="274320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4" name="Text 19"/>
          <p:cNvSpPr/>
          <p:nvPr/>
        </p:nvSpPr>
        <p:spPr>
          <a:xfrm>
            <a:off x="6849000" y="276264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04</a:t>
            </a:r>
            <a:endParaRPr lang="fr-FR" sz="1400" b="0" u="none" strike="noStrike">
              <a:solidFill>
                <a:srgbClr val="000000"/>
              </a:solidFill>
              <a:effectLst/>
              <a:uFillTx/>
              <a:latin typeface="Arial"/>
            </a:endParaRPr>
          </a:p>
        </p:txBody>
      </p:sp>
      <p:sp>
        <p:nvSpPr>
          <p:cNvPr id="235" name="Text 20"/>
          <p:cNvSpPr/>
          <p:nvPr/>
        </p:nvSpPr>
        <p:spPr>
          <a:xfrm>
            <a:off x="6849000" y="303696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TRAÇABILITÉ</a:t>
            </a:r>
            <a:endParaRPr lang="fr-FR" sz="1400" b="0" u="none" strike="noStrike">
              <a:solidFill>
                <a:srgbClr val="000000"/>
              </a:solidFill>
              <a:effectLst/>
              <a:uFillTx/>
              <a:latin typeface="Arial"/>
            </a:endParaRPr>
          </a:p>
        </p:txBody>
      </p:sp>
      <p:sp>
        <p:nvSpPr>
          <p:cNvPr id="236" name="Text 21"/>
          <p:cNvSpPr/>
          <p:nvPr/>
        </p:nvSpPr>
        <p:spPr>
          <a:xfrm>
            <a:off x="6849000" y="338436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Production de documents professionnels maîtres à chaque étape clé du projet : cadrage, charte graphique, et le Cahier des Charges intégrant les spécifications fonctionnelles &amp; techniques. </a:t>
            </a:r>
            <a:endParaRPr lang="fr-FR" sz="950" b="0" u="none" strike="noStrike">
              <a:solidFill>
                <a:srgbClr val="000000"/>
              </a:solidFill>
              <a:effectLst/>
              <a:uFillTx/>
              <a:latin typeface="Arial"/>
            </a:endParaRPr>
          </a:p>
        </p:txBody>
      </p:sp>
      <p:sp>
        <p:nvSpPr>
          <p:cNvPr id="237"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38"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39"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240"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02</a:t>
            </a:r>
            <a:endParaRPr lang="fr-FR" sz="28000" b="0" u="none" strike="noStrike">
              <a:solidFill>
                <a:srgbClr val="FFFFFF"/>
              </a:solidFill>
              <a:effectLst/>
              <a:uFillTx/>
              <a:latin typeface="Arial"/>
            </a:endParaRPr>
          </a:p>
        </p:txBody>
      </p:sp>
      <p:sp>
        <p:nvSpPr>
          <p:cNvPr id="241"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ANALYSE</a:t>
            </a:r>
            <a:endParaRPr lang="fr-FR" sz="3200" b="0" u="none" strike="noStrike">
              <a:solidFill>
                <a:srgbClr val="FFFFFF"/>
              </a:solidFill>
              <a:effectLst/>
              <a:uFillTx/>
              <a:latin typeface="Arial"/>
            </a:endParaRPr>
          </a:p>
        </p:txBody>
      </p:sp>
      <p:sp>
        <p:nvSpPr>
          <p:cNvPr id="242"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STRATÉGIQUE</a:t>
            </a:r>
            <a:endParaRPr lang="fr-FR" sz="3200" b="0" u="none" strike="noStrike">
              <a:solidFill>
                <a:srgbClr val="FFFFFF"/>
              </a:solidFill>
              <a:effectLst/>
              <a:uFillTx/>
              <a:latin typeface="Arial"/>
            </a:endParaRPr>
          </a:p>
        </p:txBody>
      </p:sp>
      <p:sp>
        <p:nvSpPr>
          <p:cNvPr id="243"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Seconde partie · pages 13 → 22</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44"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45"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46"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47"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ÉTAT DES LIEUX</a:t>
            </a:r>
            <a:endParaRPr lang="fr-FR" sz="4800" b="0" u="none" strike="noStrike">
              <a:solidFill>
                <a:srgbClr val="000000"/>
              </a:solidFill>
              <a:effectLst/>
              <a:uFillTx/>
              <a:latin typeface="Arial"/>
            </a:endParaRPr>
          </a:p>
        </p:txBody>
      </p:sp>
      <p:sp>
        <p:nvSpPr>
          <p:cNvPr id="248"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Le portfolio en 2026 : un standard devenu attendu</a:t>
            </a:r>
            <a:endParaRPr lang="fr-FR" sz="1500" b="0" u="none" strike="noStrike">
              <a:solidFill>
                <a:srgbClr val="000000"/>
              </a:solidFill>
              <a:effectLst/>
              <a:uFillTx/>
              <a:latin typeface="Arial"/>
            </a:endParaRPr>
          </a:p>
        </p:txBody>
      </p:sp>
      <p:sp>
        <p:nvSpPr>
          <p:cNvPr id="249" name="Text 5"/>
          <p:cNvSpPr/>
          <p:nvPr/>
        </p:nvSpPr>
        <p:spPr>
          <a:xfrm>
            <a:off x="457200" y="2011680"/>
            <a:ext cx="822240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200" b="0" u="none" strike="noStrike">
                <a:solidFill>
                  <a:srgbClr val="0A0A0A"/>
                </a:solidFill>
                <a:effectLst/>
                <a:uFillTx/>
                <a:latin typeface="Satoshi"/>
                <a:ea typeface="Satoshi"/>
              </a:rPr>
              <a:t>Dans les métiers du digital, le portfolio s'est imposé comme un livrable de candidature au même titre que le CV. Pour les profils mixtes — chef de projet, développeur, designer —, il est devenu l'instrument principal de démonstration de compétences réelles, par opposition aux compétences déclaratives du CV.</a:t>
            </a:r>
            <a:endParaRPr lang="fr-FR" sz="1200" b="0" u="none" strike="noStrike">
              <a:solidFill>
                <a:srgbClr val="000000"/>
              </a:solidFill>
              <a:effectLst/>
              <a:uFillTx/>
              <a:latin typeface="Arial"/>
            </a:endParaRPr>
          </a:p>
        </p:txBody>
      </p:sp>
      <p:sp>
        <p:nvSpPr>
          <p:cNvPr id="250" name="Shape 6"/>
          <p:cNvSpPr/>
          <p:nvPr/>
        </p:nvSpPr>
        <p:spPr>
          <a:xfrm>
            <a:off x="457200" y="2880360"/>
            <a:ext cx="267192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51" name="Text 7"/>
          <p:cNvSpPr/>
          <p:nvPr/>
        </p:nvSpPr>
        <p:spPr>
          <a:xfrm>
            <a:off x="594360" y="2971800"/>
            <a:ext cx="239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BF360C"/>
                </a:solidFill>
                <a:effectLst/>
                <a:uFillTx/>
                <a:latin typeface="Arelv"/>
                <a:ea typeface="Arelv"/>
              </a:rPr>
              <a:t>86 %</a:t>
            </a:r>
            <a:endParaRPr lang="fr-FR" sz="3600" b="0" u="none" strike="noStrike">
              <a:solidFill>
                <a:srgbClr val="000000"/>
              </a:solidFill>
              <a:effectLst/>
              <a:uFillTx/>
              <a:latin typeface="Arial"/>
            </a:endParaRPr>
          </a:p>
        </p:txBody>
      </p:sp>
      <p:sp>
        <p:nvSpPr>
          <p:cNvPr id="252" name="Text 8"/>
          <p:cNvSpPr/>
          <p:nvPr/>
        </p:nvSpPr>
        <p:spPr>
          <a:xfrm>
            <a:off x="594360" y="3657600"/>
            <a:ext cx="239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Satoshi"/>
                <a:ea typeface="Satoshi"/>
              </a:rPr>
              <a:t>des recruteurs IT</a:t>
            </a:r>
            <a:endParaRPr lang="fr-FR" sz="1200" b="0" u="none" strike="noStrike">
              <a:solidFill>
                <a:srgbClr val="000000"/>
              </a:solidFill>
              <a:effectLst/>
              <a:uFillTx/>
              <a:latin typeface="Arial"/>
            </a:endParaRPr>
          </a:p>
        </p:txBody>
      </p:sp>
      <p:sp>
        <p:nvSpPr>
          <p:cNvPr id="253" name="Text 9"/>
          <p:cNvSpPr/>
          <p:nvPr/>
        </p:nvSpPr>
        <p:spPr>
          <a:xfrm>
            <a:off x="594360" y="3931920"/>
            <a:ext cx="23976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consultent le portfolio avant un entretien selon Stack Overflow Developer Survey 2025.</a:t>
            </a:r>
            <a:endParaRPr lang="fr-FR" sz="950" b="0" u="none" strike="noStrike">
              <a:solidFill>
                <a:srgbClr val="000000"/>
              </a:solidFill>
              <a:effectLst/>
              <a:uFillTx/>
              <a:latin typeface="Arial"/>
            </a:endParaRPr>
          </a:p>
        </p:txBody>
      </p:sp>
      <p:sp>
        <p:nvSpPr>
          <p:cNvPr id="254" name="Shape 10"/>
          <p:cNvSpPr/>
          <p:nvPr/>
        </p:nvSpPr>
        <p:spPr>
          <a:xfrm>
            <a:off x="3255120" y="2880360"/>
            <a:ext cx="267192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55" name="Text 11"/>
          <p:cNvSpPr/>
          <p:nvPr/>
        </p:nvSpPr>
        <p:spPr>
          <a:xfrm>
            <a:off x="3392280" y="2971800"/>
            <a:ext cx="239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BF360C"/>
                </a:solidFill>
                <a:effectLst/>
                <a:uFillTx/>
                <a:latin typeface="Arelv"/>
                <a:ea typeface="Arelv"/>
              </a:rPr>
              <a:t>92 s</a:t>
            </a:r>
            <a:endParaRPr lang="fr-FR" sz="3600" b="0" u="none" strike="noStrike">
              <a:solidFill>
                <a:srgbClr val="000000"/>
              </a:solidFill>
              <a:effectLst/>
              <a:uFillTx/>
              <a:latin typeface="Arial"/>
            </a:endParaRPr>
          </a:p>
        </p:txBody>
      </p:sp>
      <p:sp>
        <p:nvSpPr>
          <p:cNvPr id="256" name="Text 12"/>
          <p:cNvSpPr/>
          <p:nvPr/>
        </p:nvSpPr>
        <p:spPr>
          <a:xfrm>
            <a:off x="3392280" y="3657600"/>
            <a:ext cx="239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Satoshi"/>
                <a:ea typeface="Satoshi"/>
              </a:rPr>
              <a:t>temps moyen</a:t>
            </a:r>
            <a:endParaRPr lang="fr-FR" sz="1200" b="0" u="none" strike="noStrike">
              <a:solidFill>
                <a:srgbClr val="000000"/>
              </a:solidFill>
              <a:effectLst/>
              <a:uFillTx/>
              <a:latin typeface="Arial"/>
            </a:endParaRPr>
          </a:p>
        </p:txBody>
      </p:sp>
      <p:sp>
        <p:nvSpPr>
          <p:cNvPr id="257" name="Text 13"/>
          <p:cNvSpPr/>
          <p:nvPr/>
        </p:nvSpPr>
        <p:spPr>
          <a:xfrm>
            <a:off x="3392280" y="3931920"/>
            <a:ext cx="23976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consacré à un portfolio en première visite. Au-delà, l'attention décroche (études d'eye-tracking 2025).</a:t>
            </a:r>
            <a:endParaRPr lang="fr-FR" sz="950" b="0" u="none" strike="noStrike">
              <a:solidFill>
                <a:srgbClr val="000000"/>
              </a:solidFill>
              <a:effectLst/>
              <a:uFillTx/>
              <a:latin typeface="Arial"/>
            </a:endParaRPr>
          </a:p>
        </p:txBody>
      </p:sp>
      <p:sp>
        <p:nvSpPr>
          <p:cNvPr id="258" name="Shape 14"/>
          <p:cNvSpPr/>
          <p:nvPr/>
        </p:nvSpPr>
        <p:spPr>
          <a:xfrm>
            <a:off x="6053400" y="2880360"/>
            <a:ext cx="267192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59" name="Text 15"/>
          <p:cNvSpPr/>
          <p:nvPr/>
        </p:nvSpPr>
        <p:spPr>
          <a:xfrm>
            <a:off x="6190560" y="2971800"/>
            <a:ext cx="239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BF360C"/>
                </a:solidFill>
                <a:effectLst/>
                <a:uFillTx/>
                <a:latin typeface="Arelv"/>
                <a:ea typeface="Arelv"/>
              </a:rPr>
              <a:t>+47 %</a:t>
            </a:r>
            <a:endParaRPr lang="fr-FR" sz="3600" b="0" u="none" strike="noStrike">
              <a:solidFill>
                <a:srgbClr val="000000"/>
              </a:solidFill>
              <a:effectLst/>
              <a:uFillTx/>
              <a:latin typeface="Arial"/>
            </a:endParaRPr>
          </a:p>
        </p:txBody>
      </p:sp>
      <p:sp>
        <p:nvSpPr>
          <p:cNvPr id="260" name="Text 16"/>
          <p:cNvSpPr/>
          <p:nvPr/>
        </p:nvSpPr>
        <p:spPr>
          <a:xfrm>
            <a:off x="6190560" y="3657600"/>
            <a:ext cx="239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Satoshi"/>
                <a:ea typeface="Satoshi"/>
              </a:rPr>
              <a:t>taux de réponse</a:t>
            </a:r>
            <a:endParaRPr lang="fr-FR" sz="1200" b="0" u="none" strike="noStrike">
              <a:solidFill>
                <a:srgbClr val="000000"/>
              </a:solidFill>
              <a:effectLst/>
              <a:uFillTx/>
              <a:latin typeface="Arial"/>
            </a:endParaRPr>
          </a:p>
        </p:txBody>
      </p:sp>
      <p:sp>
        <p:nvSpPr>
          <p:cNvPr id="261" name="Text 17"/>
          <p:cNvSpPr/>
          <p:nvPr/>
        </p:nvSpPr>
        <p:spPr>
          <a:xfrm>
            <a:off x="6190560" y="3931920"/>
            <a:ext cx="23976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pour les candidatures accompagnées d'un portfolio personnalisé vs CV seul (LinkedIn 2024).</a:t>
            </a:r>
            <a:endParaRPr lang="fr-FR" sz="950" b="0" u="none" strike="noStrike">
              <a:solidFill>
                <a:srgbClr val="000000"/>
              </a:solidFill>
              <a:effectLst/>
              <a:uFillTx/>
              <a:latin typeface="Arial"/>
            </a:endParaRPr>
          </a:p>
        </p:txBody>
      </p:sp>
      <p:sp>
        <p:nvSpPr>
          <p:cNvPr id="262" name="Shape 1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63" name="Text 1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64" name="Text 2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6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6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6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6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TENDANCES 2026</a:t>
            </a:r>
            <a:endParaRPr lang="fr-FR" sz="4800" b="0" u="none" strike="noStrike">
              <a:solidFill>
                <a:srgbClr val="000000"/>
              </a:solidFill>
              <a:effectLst/>
              <a:uFillTx/>
              <a:latin typeface="Arial"/>
            </a:endParaRPr>
          </a:p>
        </p:txBody>
      </p:sp>
      <p:sp>
        <p:nvSpPr>
          <p:cNvPr id="26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Directions prises par le design web cette année</a:t>
            </a:r>
            <a:endParaRPr lang="fr-FR" sz="1500" b="0" u="none" strike="noStrike">
              <a:solidFill>
                <a:srgbClr val="000000"/>
              </a:solidFill>
              <a:effectLst/>
              <a:uFillTx/>
              <a:latin typeface="Arial"/>
            </a:endParaRPr>
          </a:p>
        </p:txBody>
      </p:sp>
      <p:sp>
        <p:nvSpPr>
          <p:cNvPr id="270" name="Shape 5"/>
          <p:cNvSpPr/>
          <p:nvPr/>
        </p:nvSpPr>
        <p:spPr>
          <a:xfrm>
            <a:off x="457200" y="21031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71" name="Text 6"/>
          <p:cNvSpPr/>
          <p:nvPr/>
        </p:nvSpPr>
        <p:spPr>
          <a:xfrm>
            <a:off x="640080" y="205740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Néo-brutalisme contrôlé</a:t>
            </a:r>
            <a:endParaRPr lang="fr-FR" sz="1300" b="0" u="none" strike="noStrike">
              <a:solidFill>
                <a:srgbClr val="000000"/>
              </a:solidFill>
              <a:effectLst/>
              <a:uFillTx/>
              <a:latin typeface="Arial"/>
            </a:endParaRPr>
          </a:p>
        </p:txBody>
      </p:sp>
      <p:sp>
        <p:nvSpPr>
          <p:cNvPr id="272" name="Text 7"/>
          <p:cNvSpPr/>
          <p:nvPr/>
        </p:nvSpPr>
        <p:spPr>
          <a:xfrm>
            <a:off x="457200" y="251460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Typographies massives, contrastes forts, mises en page assumées. Le minimalisme aseptisé recule au profit d'identités plus tranchées.</a:t>
            </a:r>
            <a:endParaRPr lang="fr-FR" sz="1000" b="0" u="none" strike="noStrike">
              <a:solidFill>
                <a:srgbClr val="000000"/>
              </a:solidFill>
              <a:effectLst/>
              <a:uFillTx/>
              <a:latin typeface="Arial"/>
            </a:endParaRPr>
          </a:p>
        </p:txBody>
      </p:sp>
      <p:sp>
        <p:nvSpPr>
          <p:cNvPr id="273" name="Shape 8"/>
          <p:cNvSpPr/>
          <p:nvPr/>
        </p:nvSpPr>
        <p:spPr>
          <a:xfrm>
            <a:off x="3255120" y="21031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74" name="Text 9"/>
          <p:cNvSpPr/>
          <p:nvPr/>
        </p:nvSpPr>
        <p:spPr>
          <a:xfrm>
            <a:off x="3438000" y="205740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Dark &amp; dual mode</a:t>
            </a:r>
            <a:endParaRPr lang="fr-FR" sz="1300" b="0" u="none" strike="noStrike">
              <a:solidFill>
                <a:srgbClr val="000000"/>
              </a:solidFill>
              <a:effectLst/>
              <a:uFillTx/>
              <a:latin typeface="Arial"/>
            </a:endParaRPr>
          </a:p>
        </p:txBody>
      </p:sp>
      <p:sp>
        <p:nvSpPr>
          <p:cNvPr id="275" name="Text 10"/>
          <p:cNvSpPr/>
          <p:nvPr/>
        </p:nvSpPr>
        <p:spPr>
          <a:xfrm>
            <a:off x="3255120" y="251460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Le mode sombre devient un standard, plus seulement une option. Les sites natifs sombres dominent sur les profils tech.</a:t>
            </a:r>
            <a:endParaRPr lang="fr-FR" sz="1000" b="0" u="none" strike="noStrike">
              <a:solidFill>
                <a:srgbClr val="000000"/>
              </a:solidFill>
              <a:effectLst/>
              <a:uFillTx/>
              <a:latin typeface="Arial"/>
            </a:endParaRPr>
          </a:p>
        </p:txBody>
      </p:sp>
      <p:sp>
        <p:nvSpPr>
          <p:cNvPr id="276" name="Shape 11"/>
          <p:cNvSpPr/>
          <p:nvPr/>
        </p:nvSpPr>
        <p:spPr>
          <a:xfrm>
            <a:off x="6053400" y="21031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77" name="Text 12"/>
          <p:cNvSpPr/>
          <p:nvPr/>
        </p:nvSpPr>
        <p:spPr>
          <a:xfrm>
            <a:off x="6236280" y="205740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Motion intentionnel</a:t>
            </a:r>
            <a:endParaRPr lang="fr-FR" sz="1300" b="0" u="none" strike="noStrike">
              <a:solidFill>
                <a:srgbClr val="000000"/>
              </a:solidFill>
              <a:effectLst/>
              <a:uFillTx/>
              <a:latin typeface="Arial"/>
            </a:endParaRPr>
          </a:p>
        </p:txBody>
      </p:sp>
      <p:sp>
        <p:nvSpPr>
          <p:cNvPr id="278" name="Text 13"/>
          <p:cNvSpPr/>
          <p:nvPr/>
        </p:nvSpPr>
        <p:spPr>
          <a:xfrm>
            <a:off x="6053400" y="251460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Les micro-animations remplacent les transitions clinquantes. Le mouvement sert le sens, jamais l'esbroufe.</a:t>
            </a:r>
            <a:endParaRPr lang="fr-FR" sz="1000" b="0" u="none" strike="noStrike">
              <a:solidFill>
                <a:srgbClr val="000000"/>
              </a:solidFill>
              <a:effectLst/>
              <a:uFillTx/>
              <a:latin typeface="Arial"/>
            </a:endParaRPr>
          </a:p>
        </p:txBody>
      </p:sp>
      <p:sp>
        <p:nvSpPr>
          <p:cNvPr id="279" name="Shape 14"/>
          <p:cNvSpPr/>
          <p:nvPr/>
        </p:nvSpPr>
        <p:spPr>
          <a:xfrm>
            <a:off x="457200" y="342900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80" name="Text 15"/>
          <p:cNvSpPr/>
          <p:nvPr/>
        </p:nvSpPr>
        <p:spPr>
          <a:xfrm>
            <a:off x="640080" y="338328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Accessibilité native</a:t>
            </a:r>
            <a:endParaRPr lang="fr-FR" sz="1300" b="0" u="none" strike="noStrike">
              <a:solidFill>
                <a:srgbClr val="000000"/>
              </a:solidFill>
              <a:effectLst/>
              <a:uFillTx/>
              <a:latin typeface="Arial"/>
            </a:endParaRPr>
          </a:p>
        </p:txBody>
      </p:sp>
      <p:sp>
        <p:nvSpPr>
          <p:cNvPr id="281" name="Text 16"/>
          <p:cNvSpPr/>
          <p:nvPr/>
        </p:nvSpPr>
        <p:spPr>
          <a:xfrm>
            <a:off x="457200" y="384048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000" b="0" u="none" strike="noStrike">
                <a:solidFill>
                  <a:srgbClr val="37474F"/>
                </a:solidFill>
                <a:effectLst/>
                <a:uFillTx/>
                <a:latin typeface="Satoshi"/>
                <a:ea typeface="Satoshi"/>
              </a:rPr>
              <a:t>Confort visuel, structure sémantique et navigation clavier. Plus une option mais un critère de qualité.</a:t>
            </a:r>
            <a:endParaRPr lang="fr-FR" sz="1000" b="0" u="none" strike="noStrike">
              <a:solidFill>
                <a:srgbClr val="000000"/>
              </a:solidFill>
              <a:effectLst/>
              <a:uFillTx/>
              <a:latin typeface="Arial"/>
            </a:endParaRPr>
          </a:p>
        </p:txBody>
      </p:sp>
      <p:sp>
        <p:nvSpPr>
          <p:cNvPr id="282" name="Shape 17"/>
          <p:cNvSpPr/>
          <p:nvPr/>
        </p:nvSpPr>
        <p:spPr>
          <a:xfrm>
            <a:off x="3255120" y="342900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83" name="Text 18"/>
          <p:cNvSpPr/>
          <p:nvPr/>
        </p:nvSpPr>
        <p:spPr>
          <a:xfrm>
            <a:off x="3438000" y="338328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Performance d'abord</a:t>
            </a:r>
            <a:endParaRPr lang="fr-FR" sz="1300" b="0" u="none" strike="noStrike">
              <a:solidFill>
                <a:srgbClr val="000000"/>
              </a:solidFill>
              <a:effectLst/>
              <a:uFillTx/>
              <a:latin typeface="Arial"/>
            </a:endParaRPr>
          </a:p>
        </p:txBody>
      </p:sp>
      <p:sp>
        <p:nvSpPr>
          <p:cNvPr id="284" name="Text 19"/>
          <p:cNvSpPr/>
          <p:nvPr/>
        </p:nvSpPr>
        <p:spPr>
          <a:xfrm>
            <a:off x="3255120" y="384048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000" b="0" u="none" strike="noStrike">
                <a:solidFill>
                  <a:srgbClr val="37474F"/>
                </a:solidFill>
                <a:effectLst/>
                <a:uFillTx/>
                <a:latin typeface="Satoshi"/>
                <a:ea typeface="Satoshi"/>
              </a:rPr>
              <a:t>Vitesse de chargement et optimisation des ressources au cœur de l'expérience utilisateur. Les portfolios lents perdent leur audience avant même la première interaction.</a:t>
            </a:r>
            <a:endParaRPr lang="fr-FR" sz="1000" b="0" u="none" strike="noStrike">
              <a:solidFill>
                <a:srgbClr val="000000"/>
              </a:solidFill>
              <a:effectLst/>
              <a:uFillTx/>
              <a:latin typeface="Arial"/>
            </a:endParaRPr>
          </a:p>
        </p:txBody>
      </p:sp>
      <p:sp>
        <p:nvSpPr>
          <p:cNvPr id="285" name="Shape 20"/>
          <p:cNvSpPr/>
          <p:nvPr/>
        </p:nvSpPr>
        <p:spPr>
          <a:xfrm>
            <a:off x="6053400" y="342900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86" name="Text 21"/>
          <p:cNvSpPr/>
          <p:nvPr/>
        </p:nvSpPr>
        <p:spPr>
          <a:xfrm>
            <a:off x="6236280" y="3383280"/>
            <a:ext cx="2489040" cy="40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0A0A0A"/>
                </a:solidFill>
                <a:effectLst/>
                <a:uFillTx/>
                <a:latin typeface="Arelv"/>
                <a:ea typeface="Arelv"/>
              </a:rPr>
              <a:t>Multilingue assumé</a:t>
            </a:r>
            <a:endParaRPr lang="fr-FR" sz="1300" b="0" u="none" strike="noStrike">
              <a:solidFill>
                <a:srgbClr val="000000"/>
              </a:solidFill>
              <a:effectLst/>
              <a:uFillTx/>
              <a:latin typeface="Arial"/>
            </a:endParaRPr>
          </a:p>
        </p:txBody>
      </p:sp>
      <p:sp>
        <p:nvSpPr>
          <p:cNvPr id="287" name="Text 22"/>
          <p:cNvSpPr/>
          <p:nvPr/>
        </p:nvSpPr>
        <p:spPr>
          <a:xfrm>
            <a:off x="6053400" y="3840480"/>
            <a:ext cx="267192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Les marchés européens et internationaux exigent une expérience native dans la langue de l'utilisateur, RTL compris.</a:t>
            </a:r>
            <a:endParaRPr lang="fr-FR" sz="1000" b="0" u="none" strike="noStrike">
              <a:solidFill>
                <a:srgbClr val="000000"/>
              </a:solidFill>
              <a:effectLst/>
              <a:uFillTx/>
              <a:latin typeface="Arial"/>
            </a:endParaRPr>
          </a:p>
        </p:txBody>
      </p:sp>
      <p:sp>
        <p:nvSpPr>
          <p:cNvPr id="288"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89"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90"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9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9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9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9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BENCHMARKING</a:t>
            </a:r>
            <a:endParaRPr lang="fr-FR" sz="4800" b="0" u="none" strike="noStrike">
              <a:solidFill>
                <a:srgbClr val="000000"/>
              </a:solidFill>
              <a:effectLst/>
              <a:uFillTx/>
              <a:latin typeface="Arial"/>
            </a:endParaRPr>
          </a:p>
        </p:txBody>
      </p:sp>
      <p:sp>
        <p:nvSpPr>
          <p:cNvPr id="29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Méthodologie d'analyse concurrentielle</a:t>
            </a:r>
            <a:endParaRPr lang="fr-FR" sz="1500" b="0" u="none" strike="noStrike">
              <a:solidFill>
                <a:srgbClr val="000000"/>
              </a:solidFill>
              <a:effectLst/>
              <a:uFillTx/>
              <a:latin typeface="Arial"/>
            </a:endParaRPr>
          </a:p>
        </p:txBody>
      </p:sp>
      <p:sp>
        <p:nvSpPr>
          <p:cNvPr id="296" name="Text 5"/>
          <p:cNvSpPr/>
          <p:nvPr/>
        </p:nvSpPr>
        <p:spPr>
          <a:xfrm>
            <a:off x="457200" y="2011680"/>
            <a:ext cx="822240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200" b="0" u="none" strike="noStrike">
                <a:solidFill>
                  <a:srgbClr val="0A0A0A"/>
                </a:solidFill>
                <a:effectLst/>
                <a:uFillTx/>
                <a:latin typeface="Satoshi"/>
                <a:ea typeface="Satoshi"/>
              </a:rPr>
              <a:t>Trois portfolios de référence — internationalement reconnus dans le milieu du design et du développement créatif — ont été retenus pour l'analyse. Ils incarnent trois approches stratégiques distinctes du portfolio personnel : l'épure minimaliste, l'identité chaleureuse et la démonstration technique immersive.</a:t>
            </a:r>
            <a:endParaRPr lang="fr-FR" sz="1200" b="0" u="none" strike="noStrike">
              <a:solidFill>
                <a:srgbClr val="000000"/>
              </a:solidFill>
              <a:effectLst/>
              <a:uFillTx/>
              <a:latin typeface="Arial"/>
            </a:endParaRPr>
          </a:p>
        </p:txBody>
      </p:sp>
      <p:sp>
        <p:nvSpPr>
          <p:cNvPr id="297" name="Text 6"/>
          <p:cNvSpPr/>
          <p:nvPr/>
        </p:nvSpPr>
        <p:spPr>
          <a:xfrm>
            <a:off x="457200" y="280836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CRITÈRES D'ANALYSE RETENUS</a:t>
            </a:r>
            <a:endParaRPr lang="fr-FR" sz="1100" b="0" u="none" strike="noStrike">
              <a:solidFill>
                <a:srgbClr val="000000"/>
              </a:solidFill>
              <a:effectLst/>
              <a:uFillTx/>
              <a:latin typeface="Arial"/>
            </a:endParaRPr>
          </a:p>
        </p:txBody>
      </p:sp>
      <p:sp>
        <p:nvSpPr>
          <p:cNvPr id="298" name="Text 7"/>
          <p:cNvSpPr/>
          <p:nvPr/>
        </p:nvSpPr>
        <p:spPr>
          <a:xfrm>
            <a:off x="457200" y="3174120"/>
            <a:ext cx="39247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Univers visuel</a:t>
            </a:r>
            <a:endParaRPr lang="fr-FR" sz="1200" b="0" u="none" strike="noStrike">
              <a:solidFill>
                <a:srgbClr val="000000"/>
              </a:solidFill>
              <a:effectLst/>
              <a:uFillTx/>
              <a:latin typeface="Arial"/>
            </a:endParaRPr>
          </a:p>
        </p:txBody>
      </p:sp>
      <p:sp>
        <p:nvSpPr>
          <p:cNvPr id="299" name="Text 8"/>
          <p:cNvSpPr/>
          <p:nvPr/>
        </p:nvSpPr>
        <p:spPr>
          <a:xfrm>
            <a:off x="457200" y="3484440"/>
            <a:ext cx="39247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Cohérence graphique, choix typographiques et chromatiques, signature reconnaissable.</a:t>
            </a:r>
            <a:endParaRPr lang="fr-FR" sz="1000" b="0" u="none" strike="noStrike">
              <a:solidFill>
                <a:srgbClr val="000000"/>
              </a:solidFill>
              <a:effectLst/>
              <a:uFillTx/>
              <a:latin typeface="Arial"/>
            </a:endParaRPr>
          </a:p>
        </p:txBody>
      </p:sp>
      <p:sp>
        <p:nvSpPr>
          <p:cNvPr id="300" name="Text 9"/>
          <p:cNvSpPr/>
          <p:nvPr/>
        </p:nvSpPr>
        <p:spPr>
          <a:xfrm>
            <a:off x="4689720" y="3174120"/>
            <a:ext cx="39247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Navigation</a:t>
            </a:r>
            <a:endParaRPr lang="fr-FR" sz="1200" b="0" u="none" strike="noStrike">
              <a:solidFill>
                <a:srgbClr val="000000"/>
              </a:solidFill>
              <a:effectLst/>
              <a:uFillTx/>
              <a:latin typeface="Arial"/>
            </a:endParaRPr>
          </a:p>
        </p:txBody>
      </p:sp>
      <p:sp>
        <p:nvSpPr>
          <p:cNvPr id="301" name="Text 10"/>
          <p:cNvSpPr/>
          <p:nvPr/>
        </p:nvSpPr>
        <p:spPr>
          <a:xfrm>
            <a:off x="4689720" y="3484440"/>
            <a:ext cx="39247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Architecture de l'information, fluidité du parcours, accessibilité des contenus clés.</a:t>
            </a:r>
            <a:endParaRPr lang="fr-FR" sz="1000" b="0" u="none" strike="noStrike">
              <a:solidFill>
                <a:srgbClr val="000000"/>
              </a:solidFill>
              <a:effectLst/>
              <a:uFillTx/>
              <a:latin typeface="Arial"/>
            </a:endParaRPr>
          </a:p>
        </p:txBody>
      </p:sp>
      <p:sp>
        <p:nvSpPr>
          <p:cNvPr id="302" name="Text 11"/>
          <p:cNvSpPr/>
          <p:nvPr/>
        </p:nvSpPr>
        <p:spPr>
          <a:xfrm>
            <a:off x="457200" y="3886200"/>
            <a:ext cx="39247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Démonstration</a:t>
            </a:r>
            <a:endParaRPr lang="fr-FR" sz="1200" b="0" u="none" strike="noStrike">
              <a:solidFill>
                <a:srgbClr val="000000"/>
              </a:solidFill>
              <a:effectLst/>
              <a:uFillTx/>
              <a:latin typeface="Arial"/>
            </a:endParaRPr>
          </a:p>
        </p:txBody>
      </p:sp>
      <p:sp>
        <p:nvSpPr>
          <p:cNvPr id="303" name="Text 12"/>
          <p:cNvSpPr/>
          <p:nvPr/>
        </p:nvSpPr>
        <p:spPr>
          <a:xfrm>
            <a:off x="457200" y="4160520"/>
            <a:ext cx="39247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1000" b="0" u="none" strike="noStrike">
                <a:solidFill>
                  <a:srgbClr val="37474F"/>
                </a:solidFill>
                <a:effectLst/>
                <a:uFillTx/>
                <a:latin typeface="Satoshi"/>
                <a:ea typeface="Satoshi"/>
              </a:rPr>
              <a:t>Valorisation des réalisations : pertinence des visuels, clarté des descriptifs et mise en avant des technologies utilisées. </a:t>
            </a:r>
            <a:endParaRPr lang="fr-FR" sz="1000" b="0" u="none" strike="noStrike">
              <a:solidFill>
                <a:srgbClr val="000000"/>
              </a:solidFill>
              <a:effectLst/>
              <a:uFillTx/>
              <a:latin typeface="Arial"/>
            </a:endParaRPr>
          </a:p>
        </p:txBody>
      </p:sp>
      <p:sp>
        <p:nvSpPr>
          <p:cNvPr id="304" name="Text 13"/>
          <p:cNvSpPr/>
          <p:nvPr/>
        </p:nvSpPr>
        <p:spPr>
          <a:xfrm>
            <a:off x="4689720" y="3886200"/>
            <a:ext cx="39247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Performance</a:t>
            </a:r>
            <a:endParaRPr lang="fr-FR" sz="1200" b="0" u="none" strike="noStrike">
              <a:solidFill>
                <a:srgbClr val="000000"/>
              </a:solidFill>
              <a:effectLst/>
              <a:uFillTx/>
              <a:latin typeface="Arial"/>
            </a:endParaRPr>
          </a:p>
        </p:txBody>
      </p:sp>
      <p:sp>
        <p:nvSpPr>
          <p:cNvPr id="305" name="Text 14"/>
          <p:cNvSpPr/>
          <p:nvPr/>
        </p:nvSpPr>
        <p:spPr>
          <a:xfrm>
            <a:off x="4689720" y="4088520"/>
            <a:ext cx="39247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Temps de chargement, comportement mobile, accessibilité technique.</a:t>
            </a:r>
            <a:endParaRPr lang="fr-FR" sz="1000" b="0" u="none" strike="noStrike">
              <a:solidFill>
                <a:srgbClr val="000000"/>
              </a:solidFill>
              <a:effectLst/>
              <a:uFillTx/>
              <a:latin typeface="Arial"/>
            </a:endParaRPr>
          </a:p>
        </p:txBody>
      </p:sp>
      <p:sp>
        <p:nvSpPr>
          <p:cNvPr id="306" name="Shape 1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07" name="Text 1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08" name="Text 1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0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1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1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12"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BENCHMARK · 01</a:t>
            </a:r>
            <a:endParaRPr lang="fr-FR" sz="1300" b="0" u="none" strike="noStrike">
              <a:solidFill>
                <a:srgbClr val="000000"/>
              </a:solidFill>
              <a:effectLst/>
              <a:uFillTx/>
              <a:latin typeface="Arial"/>
            </a:endParaRPr>
          </a:p>
        </p:txBody>
      </p:sp>
      <p:sp>
        <p:nvSpPr>
          <p:cNvPr id="313"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Keita YAMADA</a:t>
            </a:r>
            <a:endParaRPr lang="fr-FR" sz="3800" b="0" u="none" strike="noStrike">
              <a:solidFill>
                <a:srgbClr val="000000"/>
              </a:solidFill>
              <a:effectLst/>
              <a:uFillTx/>
              <a:latin typeface="Arial"/>
            </a:endParaRPr>
          </a:p>
        </p:txBody>
      </p:sp>
      <p:sp>
        <p:nvSpPr>
          <p:cNvPr id="314"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p5aholic.me · Tokyo · Webdesigner &amp; Developer</a:t>
            </a:r>
            <a:endParaRPr lang="fr-FR" sz="1300" b="0" u="none" strike="noStrike">
              <a:solidFill>
                <a:srgbClr val="000000"/>
              </a:solidFill>
              <a:effectLst/>
              <a:uFillTx/>
              <a:latin typeface="Arial"/>
            </a:endParaRPr>
          </a:p>
        </p:txBody>
      </p:sp>
      <p:sp>
        <p:nvSpPr>
          <p:cNvPr id="315" name="Text 8"/>
          <p:cNvSpPr/>
          <p:nvPr/>
        </p:nvSpPr>
        <p:spPr>
          <a:xfrm>
            <a:off x="4389120" y="2148840"/>
            <a:ext cx="4381920" cy="2415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APPROCHE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Minimalisme extrême. Fond noir intégral, typographie monumentale, animations subtiles. Aucune image de présentation : seul le travail parle.</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POINTS FORTS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Rapidité de chargement, clarté absolue, identité technique forte. Cible parfaitement les recruteurs du secteur numérique avertis.</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LIMITES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Pas de mise en contexte humaine du développeur. Difficile à reproduire sans expertise pointue.</a:t>
            </a:r>
            <a:endParaRPr lang="fr-FR" sz="1100" b="0" u="none" strike="noStrike">
              <a:solidFill>
                <a:srgbClr val="000000"/>
              </a:solidFill>
              <a:effectLst/>
              <a:uFillTx/>
              <a:latin typeface="Arial"/>
            </a:endParaRPr>
          </a:p>
        </p:txBody>
      </p:sp>
      <p:sp>
        <p:nvSpPr>
          <p:cNvPr id="316" name="Shape 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17" name="Text 1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18" name="Text 1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17</a:t>
            </a:r>
            <a:endParaRPr lang="fr-FR" sz="900" b="0" u="none" strike="noStrike">
              <a:solidFill>
                <a:srgbClr val="000000"/>
              </a:solidFill>
              <a:effectLst/>
              <a:uFillTx/>
              <a:latin typeface="Arial"/>
            </a:endParaRPr>
          </a:p>
        </p:txBody>
      </p:sp>
      <p:pic>
        <p:nvPicPr>
          <p:cNvPr id="319" name=""/>
          <p:cNvPicPr/>
          <p:nvPr/>
        </p:nvPicPr>
        <p:blipFill>
          <a:blip r:embed="rId1"/>
          <a:stretch/>
        </p:blipFill>
        <p:spPr>
          <a:xfrm>
            <a:off x="457200" y="2148840"/>
            <a:ext cx="3675960" cy="21643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2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2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2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23"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BENCHMARK · 02</a:t>
            </a:r>
            <a:endParaRPr lang="fr-FR" sz="1300" b="0" u="none" strike="noStrike">
              <a:solidFill>
                <a:srgbClr val="000000"/>
              </a:solidFill>
              <a:effectLst/>
              <a:uFillTx/>
              <a:latin typeface="Arial"/>
            </a:endParaRPr>
          </a:p>
        </p:txBody>
      </p:sp>
      <p:sp>
        <p:nvSpPr>
          <p:cNvPr id="324"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Lauren WALLER</a:t>
            </a:r>
            <a:endParaRPr lang="fr-FR" sz="3800" b="0" u="none" strike="noStrike">
              <a:solidFill>
                <a:srgbClr val="000000"/>
              </a:solidFill>
              <a:effectLst/>
              <a:uFillTx/>
              <a:latin typeface="Arial"/>
            </a:endParaRPr>
          </a:p>
        </p:txBody>
      </p:sp>
      <p:sp>
        <p:nvSpPr>
          <p:cNvPr id="325"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lauren-waller.com · Product Designer &amp; Webflow Developer</a:t>
            </a:r>
            <a:endParaRPr lang="fr-FR" sz="1300" b="0" u="none" strike="noStrike">
              <a:solidFill>
                <a:srgbClr val="000000"/>
              </a:solidFill>
              <a:effectLst/>
              <a:uFillTx/>
              <a:latin typeface="Arial"/>
            </a:endParaRPr>
          </a:p>
        </p:txBody>
      </p:sp>
      <p:sp>
        <p:nvSpPr>
          <p:cNvPr id="326" name="Text 8"/>
          <p:cNvSpPr/>
          <p:nvPr/>
        </p:nvSpPr>
        <p:spPr>
          <a:xfrm>
            <a:off x="4389120" y="2148840"/>
            <a:ext cx="4381920" cy="2415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APPROCHE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Identité chaleureuse, palette colorée, formes organiques. Le portfolio comme expérience accueillante, structuré en études de cas narrées.</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POINTS FORTS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Forte personnalité visuelle, lisibilité immédiate. Excellente mise en valeur des études de cas avec démarche méthodologique exposée.</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LIMITES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Dépendance forte aux visuels des projets clients. Style fortement associé à l'écosystème Webflow, pouvant suggérer une zone de compétences techniques restreinte. </a:t>
            </a:r>
            <a:endParaRPr lang="fr-FR" sz="1100" b="0" u="none" strike="noStrike">
              <a:solidFill>
                <a:srgbClr val="000000"/>
              </a:solidFill>
              <a:effectLst/>
              <a:uFillTx/>
              <a:latin typeface="Arial"/>
            </a:endParaRPr>
          </a:p>
        </p:txBody>
      </p:sp>
      <p:sp>
        <p:nvSpPr>
          <p:cNvPr id="327" name="Shape 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28" name="Text 1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29" name="Text 1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18</a:t>
            </a:r>
            <a:endParaRPr lang="fr-FR" sz="900" b="0" u="none" strike="noStrike">
              <a:solidFill>
                <a:srgbClr val="000000"/>
              </a:solidFill>
              <a:effectLst/>
              <a:uFillTx/>
              <a:latin typeface="Arial"/>
            </a:endParaRPr>
          </a:p>
        </p:txBody>
      </p:sp>
      <p:pic>
        <p:nvPicPr>
          <p:cNvPr id="330" name=""/>
          <p:cNvPicPr/>
          <p:nvPr/>
        </p:nvPicPr>
        <p:blipFill>
          <a:blip r:embed="rId1"/>
          <a:stretch/>
        </p:blipFill>
        <p:spPr>
          <a:xfrm>
            <a:off x="457200" y="2148840"/>
            <a:ext cx="3675960" cy="21643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3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3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3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34"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BENCHMARK · 03</a:t>
            </a:r>
            <a:endParaRPr lang="fr-FR" sz="1300" b="0" u="none" strike="noStrike">
              <a:solidFill>
                <a:srgbClr val="000000"/>
              </a:solidFill>
              <a:effectLst/>
              <a:uFillTx/>
              <a:latin typeface="Arial"/>
            </a:endParaRPr>
          </a:p>
        </p:txBody>
      </p:sp>
      <p:sp>
        <p:nvSpPr>
          <p:cNvPr id="335"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Raoul GAILLARD</a:t>
            </a:r>
            <a:endParaRPr lang="fr-FR" sz="3800" b="0" u="none" strike="noStrike">
              <a:solidFill>
                <a:srgbClr val="000000"/>
              </a:solidFill>
              <a:effectLst/>
              <a:uFillTx/>
              <a:latin typeface="Arial"/>
            </a:endParaRPr>
          </a:p>
        </p:txBody>
      </p:sp>
      <p:sp>
        <p:nvSpPr>
          <p:cNvPr id="336"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raoul-gaillard.com · Creative Developer &amp; Interactive Designer</a:t>
            </a:r>
            <a:endParaRPr lang="fr-FR" sz="1300" b="0" u="none" strike="noStrike">
              <a:solidFill>
                <a:srgbClr val="000000"/>
              </a:solidFill>
              <a:effectLst/>
              <a:uFillTx/>
              <a:latin typeface="Arial"/>
            </a:endParaRPr>
          </a:p>
        </p:txBody>
      </p:sp>
      <p:sp>
        <p:nvSpPr>
          <p:cNvPr id="337" name="Text 8"/>
          <p:cNvSpPr/>
          <p:nvPr/>
        </p:nvSpPr>
        <p:spPr>
          <a:xfrm>
            <a:off x="4389120" y="2148840"/>
            <a:ext cx="4381920" cy="2415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APPROCHE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Démonstration technique immersive. WebGL(Graphics Library), 3D temps réel, interactions complexes. Le portfolio est lui-même la pièce maîtresse à examiner.</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POINTS FORTS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Démonstration technique impressionnante. Différenciation maximale dans un marché saturé. Mémorabilité élevée auprès des recruteurs créatifs.</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500" b="0" u="none" strike="noStrike">
                <a:solidFill>
                  <a:srgbClr val="0A0A0A"/>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150" strike="noStrike">
                <a:solidFill>
                  <a:srgbClr val="BF360C"/>
                </a:solidFill>
                <a:effectLst/>
                <a:uFillTx/>
                <a:latin typeface="Satoshi"/>
                <a:ea typeface="Satoshi"/>
              </a:rPr>
              <a:t>LIMITES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Temps de chargement élevé (&gt;3s), accessibilité mobile dégradée, ergonomie déroutante pour les profils non-techniques. Audience ciblée ou restreinte aux initiés du design interactif.</a:t>
            </a:r>
            <a:endParaRPr lang="fr-FR" sz="1100" b="0" u="none" strike="noStrike">
              <a:solidFill>
                <a:srgbClr val="000000"/>
              </a:solidFill>
              <a:effectLst/>
              <a:uFillTx/>
              <a:latin typeface="Arial"/>
            </a:endParaRPr>
          </a:p>
        </p:txBody>
      </p:sp>
      <p:sp>
        <p:nvSpPr>
          <p:cNvPr id="338" name="Shape 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39" name="Text 1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40" name="Text 1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19</a:t>
            </a:r>
            <a:endParaRPr lang="fr-FR" sz="900" b="0" u="none" strike="noStrike">
              <a:solidFill>
                <a:srgbClr val="000000"/>
              </a:solidFill>
              <a:effectLst/>
              <a:uFillTx/>
              <a:latin typeface="Arial"/>
            </a:endParaRPr>
          </a:p>
        </p:txBody>
      </p:sp>
      <p:pic>
        <p:nvPicPr>
          <p:cNvPr id="341" name=""/>
          <p:cNvPicPr/>
          <p:nvPr/>
        </p:nvPicPr>
        <p:blipFill>
          <a:blip r:embed="rId1"/>
          <a:stretch/>
        </p:blipFill>
        <p:spPr>
          <a:xfrm>
            <a:off x="457200" y="2148840"/>
            <a:ext cx="3675960" cy="216432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4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4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4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4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COMPARATIF</a:t>
            </a:r>
            <a:endParaRPr lang="fr-FR" sz="4800" b="0" u="none" strike="noStrike">
              <a:solidFill>
                <a:srgbClr val="000000"/>
              </a:solidFill>
              <a:effectLst/>
              <a:uFillTx/>
              <a:latin typeface="Arial"/>
            </a:endParaRPr>
          </a:p>
        </p:txBody>
      </p:sp>
      <p:sp>
        <p:nvSpPr>
          <p:cNvPr id="34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Synthèse de l'analyse de benchmark</a:t>
            </a:r>
            <a:endParaRPr lang="fr-FR" sz="1500" b="0" u="none" strike="noStrike">
              <a:solidFill>
                <a:srgbClr val="000000"/>
              </a:solidFill>
              <a:effectLst/>
              <a:uFillTx/>
              <a:latin typeface="Arial"/>
            </a:endParaRPr>
          </a:p>
        </p:txBody>
      </p:sp>
      <p:graphicFrame>
        <p:nvGraphicFramePr>
          <p:cNvPr id="347" name="Table 0"/>
          <p:cNvGraphicFramePr/>
          <p:nvPr/>
        </p:nvGraphicFramePr>
        <p:xfrm>
          <a:off x="457200" y="2057400"/>
          <a:ext cx="8362440" cy="2560320"/>
        </p:xfrm>
        <a:graphic>
          <a:graphicData uri="http://schemas.openxmlformats.org/drawingml/2006/table">
            <a:tbl>
              <a:tblPr/>
              <a:tblGrid>
                <a:gridCol w="1532520"/>
                <a:gridCol w="1636920"/>
                <a:gridCol w="1748160"/>
                <a:gridCol w="1726200"/>
                <a:gridCol w="1719000"/>
              </a:tblGrid>
              <a:tr h="365760">
                <a:tc>
                  <a:txBody>
                    <a:bodyPr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CRITÈRE</a:t>
                      </a:r>
                      <a:endParaRPr lang="fr-FR" sz="1100" b="0" u="none" strike="noStrike">
                        <a:solidFill>
                          <a:srgbClr val="FFFFFF"/>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0A0A0A"/>
                    </a:solidFill>
                  </a:tcPr>
                </a:tc>
                <a:tc>
                  <a:txBody>
                    <a:bodyPr anchor="ctr">
                      <a:noAutofit/>
                    </a:bodyPr>
                    <a:p>
                      <a:pPr algn="ctr" defTabSz="914400">
                        <a:lnSpc>
                          <a:spcPct val="100000"/>
                        </a:lnSpc>
                        <a:tabLst>
                          <a:tab pos="0" algn="l"/>
                        </a:tabLst>
                      </a:pPr>
                      <a:r>
                        <a:rPr lang="en-US" sz="1100" b="1" u="none" strike="noStrike">
                          <a:solidFill>
                            <a:srgbClr val="F4EFE6"/>
                          </a:solidFill>
                          <a:effectLst/>
                          <a:uFillTx/>
                          <a:latin typeface="Satoshi"/>
                          <a:ea typeface="Satoshi"/>
                        </a:rPr>
                        <a:t>K. YAMADA</a:t>
                      </a:r>
                      <a:endParaRPr lang="fr-FR" sz="1100" b="0" u="none" strike="noStrike">
                        <a:solidFill>
                          <a:srgbClr val="FFFFFF"/>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0A0A0A"/>
                    </a:solidFill>
                  </a:tcPr>
                </a:tc>
                <a:tc>
                  <a:txBody>
                    <a:bodyPr anchor="ctr">
                      <a:noAutofit/>
                    </a:bodyPr>
                    <a:p>
                      <a:pPr algn="ctr" defTabSz="914400">
                        <a:lnSpc>
                          <a:spcPct val="100000"/>
                        </a:lnSpc>
                        <a:tabLst>
                          <a:tab pos="0" algn="l"/>
                        </a:tabLst>
                      </a:pPr>
                      <a:r>
                        <a:rPr lang="en-US" sz="1100" b="1" u="none" strike="noStrike">
                          <a:solidFill>
                            <a:srgbClr val="F4EFE6"/>
                          </a:solidFill>
                          <a:effectLst/>
                          <a:uFillTx/>
                          <a:latin typeface="Satoshi"/>
                          <a:ea typeface="Satoshi"/>
                        </a:rPr>
                        <a:t>L. WALLER</a:t>
                      </a:r>
                      <a:endParaRPr lang="fr-FR" sz="1100" b="0" u="none" strike="noStrike">
                        <a:solidFill>
                          <a:srgbClr val="FFFFFF"/>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0A0A0A"/>
                    </a:solidFill>
                  </a:tcPr>
                </a:tc>
                <a:tc>
                  <a:txBody>
                    <a:bodyPr anchor="ctr">
                      <a:noAutofit/>
                    </a:bodyPr>
                    <a:p>
                      <a:pPr algn="ctr" defTabSz="914400">
                        <a:lnSpc>
                          <a:spcPct val="100000"/>
                        </a:lnSpc>
                        <a:tabLst>
                          <a:tab pos="0" algn="l"/>
                        </a:tabLst>
                      </a:pPr>
                      <a:r>
                        <a:rPr lang="en-US" sz="1100" b="1" u="none" strike="noStrike">
                          <a:solidFill>
                            <a:srgbClr val="F4EFE6"/>
                          </a:solidFill>
                          <a:effectLst/>
                          <a:uFillTx/>
                          <a:latin typeface="Satoshi"/>
                          <a:ea typeface="Satoshi"/>
                        </a:rPr>
                        <a:t>R. GAILLARD</a:t>
                      </a:r>
                      <a:endParaRPr lang="fr-FR" sz="1100" b="0" u="none" strike="noStrike">
                        <a:solidFill>
                          <a:srgbClr val="FFFFFF"/>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0A0A0A"/>
                    </a:solidFill>
                  </a:tcPr>
                </a:tc>
                <a:tc>
                  <a:txBody>
                    <a:bodyPr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MON PROJET</a:t>
                      </a:r>
                      <a:endParaRPr lang="fr-FR" sz="1100" b="0" u="none" strike="noStrike">
                        <a:solidFill>
                          <a:srgbClr val="FFFFFF"/>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0A0A0A"/>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Univers visuel</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Minimaliste, noir &amp; blanc</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Coloré, organique</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Immersif, 3D temps réel</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spcBef>
                          <a:spcPts val="1191"/>
                        </a:spcBef>
                        <a:spcAft>
                          <a:spcPts val="992"/>
                        </a:spcAft>
                        <a:tabLst>
                          <a:tab pos="0" algn="l"/>
                        </a:tabLst>
                      </a:pPr>
                      <a:r>
                        <a:rPr lang="fr-FR" sz="1000" b="0" u="none" strike="noStrike">
                          <a:solidFill>
                            <a:srgbClr val="0A0A0A"/>
                          </a:solidFill>
                          <a:effectLst/>
                          <a:uFillTx/>
                          <a:latin typeface="Satoshi"/>
                          <a:ea typeface="Satoshi"/>
                        </a:rPr>
                        <a:t>Approche minérale</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Navigation</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Très fluide, menu simple</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Classique, structurée</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Expérience non-linéaire</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spcBef>
                          <a:spcPts val="1191"/>
                        </a:spcBef>
                        <a:spcAft>
                          <a:spcPts val="992"/>
                        </a:spcAft>
                        <a:tabLst>
                          <a:tab pos="0" algn="l"/>
                        </a:tabLst>
                      </a:pPr>
                      <a:r>
                        <a:rPr lang="fr-FR" sz="1000" b="0" u="none" strike="noStrike">
                          <a:solidFill>
                            <a:srgbClr val="0A0A0A"/>
                          </a:solidFill>
                          <a:effectLst/>
                          <a:uFillTx/>
                          <a:latin typeface="Satoshi"/>
                          <a:ea typeface="Satoshi"/>
                        </a:rPr>
                        <a:t>Fluide et accessible </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Lisibilité</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Performance</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Mobile</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r h="365760">
                <a:tc>
                  <a:txBody>
                    <a:bodyPr anchor="ctr">
                      <a:noAutofit/>
                    </a:bodyPr>
                    <a:p>
                      <a:pPr defTabSz="914400">
                        <a:lnSpc>
                          <a:spcPct val="100000"/>
                        </a:lnSpc>
                        <a:tabLst>
                          <a:tab pos="0" algn="l"/>
                        </a:tabLst>
                      </a:pPr>
                      <a:r>
                        <a:rPr lang="en-US" sz="1000" b="1" u="none" strike="noStrike">
                          <a:solidFill>
                            <a:srgbClr val="0A0A0A"/>
                          </a:solidFill>
                          <a:effectLst/>
                          <a:uFillTx/>
                          <a:latin typeface="Satoshi"/>
                          <a:ea typeface="Satoshi"/>
                        </a:rPr>
                        <a:t>Différenciation</a:t>
                      </a:r>
                      <a:endParaRPr lang="fr-FR" sz="100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EBE4D5"/>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8CFC0"/>
                      </a:solidFill>
                      <a:prstDash val="solid"/>
                    </a:lnL>
                    <a:lnR w="6480">
                      <a:solidFill>
                        <a:srgbClr val="D8CFC0"/>
                      </a:solidFill>
                      <a:prstDash val="solid"/>
                    </a:lnR>
                    <a:lnT w="6480">
                      <a:solidFill>
                        <a:srgbClr val="D8CFC0"/>
                      </a:solidFill>
                      <a:prstDash val="solid"/>
                    </a:lnT>
                    <a:lnB w="6480">
                      <a:solidFill>
                        <a:srgbClr val="D8CFC0"/>
                      </a:solidFill>
                      <a:prstDash val="solid"/>
                    </a:lnB>
                    <a:solidFill>
                      <a:srgbClr val="F4EFE6"/>
                    </a:solidFill>
                  </a:tcPr>
                </a:tc>
              </a:tr>
            </a:tbl>
          </a:graphicData>
        </a:graphic>
      </p:graphicFrame>
      <p:sp>
        <p:nvSpPr>
          <p:cNvPr id="348" name="Shape 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49" name="Text 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50" name="Text 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5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5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5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5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POSITIONNEMENT</a:t>
            </a:r>
            <a:endParaRPr lang="fr-FR" sz="4800" b="0" u="none" strike="noStrike">
              <a:solidFill>
                <a:srgbClr val="000000"/>
              </a:solidFill>
              <a:effectLst/>
              <a:uFillTx/>
              <a:latin typeface="Arial"/>
            </a:endParaRPr>
          </a:p>
        </p:txBody>
      </p:sp>
      <p:sp>
        <p:nvSpPr>
          <p:cNvPr id="35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Carte concurrentielle sur deux axes structurants</a:t>
            </a:r>
            <a:endParaRPr lang="fr-FR" sz="1500" b="0" u="none" strike="noStrike">
              <a:solidFill>
                <a:srgbClr val="000000"/>
              </a:solidFill>
              <a:effectLst/>
              <a:uFillTx/>
              <a:latin typeface="Arial"/>
            </a:endParaRPr>
          </a:p>
        </p:txBody>
      </p:sp>
      <p:sp>
        <p:nvSpPr>
          <p:cNvPr id="356" name="Shape 5"/>
          <p:cNvSpPr/>
          <p:nvPr/>
        </p:nvSpPr>
        <p:spPr>
          <a:xfrm>
            <a:off x="950400" y="2256840"/>
            <a:ext cx="5022000" cy="2370240"/>
          </a:xfrm>
          <a:prstGeom prst="rect">
            <a:avLst/>
          </a:prstGeom>
          <a:solidFill>
            <a:srgbClr val="F4EFE6"/>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57" name="Shape 6"/>
          <p:cNvSpPr/>
          <p:nvPr/>
        </p:nvSpPr>
        <p:spPr>
          <a:xfrm>
            <a:off x="950400" y="3445560"/>
            <a:ext cx="5029200" cy="360"/>
          </a:xfrm>
          <a:prstGeom prst="line">
            <a:avLst/>
          </a:prstGeom>
          <a:ln w="12700">
            <a:solidFill>
              <a:srgbClr val="37474F"/>
            </a:solidFill>
            <a:prstDash val="dash"/>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58" name="Shape 7"/>
          <p:cNvSpPr/>
          <p:nvPr/>
        </p:nvSpPr>
        <p:spPr>
          <a:xfrm>
            <a:off x="3429000" y="2256840"/>
            <a:ext cx="360" cy="2377440"/>
          </a:xfrm>
          <a:prstGeom prst="line">
            <a:avLst/>
          </a:prstGeom>
          <a:ln w="12700">
            <a:solidFill>
              <a:srgbClr val="37474F"/>
            </a:solidFill>
            <a:prstDash val="dash"/>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359" name="Text 8"/>
          <p:cNvSpPr/>
          <p:nvPr/>
        </p:nvSpPr>
        <p:spPr>
          <a:xfrm>
            <a:off x="914400" y="2028240"/>
            <a:ext cx="502200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99" strike="noStrike">
                <a:solidFill>
                  <a:srgbClr val="37474F"/>
                </a:solidFill>
                <a:effectLst/>
                <a:uFillTx/>
                <a:latin typeface="Satoshi"/>
                <a:ea typeface="Satoshi"/>
              </a:rPr>
              <a:t>EXPRESSIF →</a:t>
            </a:r>
            <a:endParaRPr lang="fr-FR" sz="900" b="0" u="none" strike="noStrike">
              <a:solidFill>
                <a:srgbClr val="000000"/>
              </a:solidFill>
              <a:effectLst/>
              <a:uFillTx/>
              <a:latin typeface="Arial"/>
            </a:endParaRPr>
          </a:p>
        </p:txBody>
      </p:sp>
      <p:sp>
        <p:nvSpPr>
          <p:cNvPr id="360" name="Text 9"/>
          <p:cNvSpPr/>
          <p:nvPr/>
        </p:nvSpPr>
        <p:spPr>
          <a:xfrm>
            <a:off x="986400" y="2028240"/>
            <a:ext cx="5022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 MINIMALISTE</a:t>
            </a:r>
            <a:endParaRPr lang="fr-FR" sz="900" b="0" u="none" strike="noStrike">
              <a:solidFill>
                <a:srgbClr val="000000"/>
              </a:solidFill>
              <a:effectLst/>
              <a:uFillTx/>
              <a:latin typeface="Arial"/>
            </a:endParaRPr>
          </a:p>
        </p:txBody>
      </p:sp>
      <p:sp>
        <p:nvSpPr>
          <p:cNvPr id="361" name="Text 10"/>
          <p:cNvSpPr/>
          <p:nvPr/>
        </p:nvSpPr>
        <p:spPr>
          <a:xfrm>
            <a:off x="-55440" y="2400840"/>
            <a:ext cx="9529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99" strike="noStrike">
                <a:solidFill>
                  <a:srgbClr val="37474F"/>
                </a:solidFill>
                <a:effectLst/>
                <a:uFillTx/>
                <a:latin typeface="Satoshi"/>
                <a:ea typeface="Satoshi"/>
              </a:rPr>
              <a:t>↑ STATIQUE</a:t>
            </a:r>
            <a:endParaRPr lang="fr-FR" sz="900" b="0" u="none" strike="noStrike">
              <a:solidFill>
                <a:srgbClr val="000000"/>
              </a:solidFill>
              <a:effectLst/>
              <a:uFillTx/>
              <a:latin typeface="Arial"/>
            </a:endParaRPr>
          </a:p>
        </p:txBody>
      </p:sp>
      <p:sp>
        <p:nvSpPr>
          <p:cNvPr id="362" name="Text 11"/>
          <p:cNvSpPr/>
          <p:nvPr/>
        </p:nvSpPr>
        <p:spPr>
          <a:xfrm>
            <a:off x="-19440" y="4343400"/>
            <a:ext cx="9529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99" strike="noStrike">
                <a:solidFill>
                  <a:srgbClr val="37474F"/>
                </a:solidFill>
                <a:effectLst/>
                <a:uFillTx/>
                <a:latin typeface="Satoshi"/>
                <a:ea typeface="Satoshi"/>
              </a:rPr>
              <a:t>↓ INTERACTIF</a:t>
            </a:r>
            <a:endParaRPr lang="fr-FR" sz="900" b="0" u="none" strike="noStrike">
              <a:solidFill>
                <a:srgbClr val="000000"/>
              </a:solidFill>
              <a:effectLst/>
              <a:uFillTx/>
              <a:latin typeface="Arial"/>
            </a:endParaRPr>
          </a:p>
        </p:txBody>
      </p:sp>
      <p:sp>
        <p:nvSpPr>
          <p:cNvPr id="363" name="Shape 12"/>
          <p:cNvSpPr/>
          <p:nvPr/>
        </p:nvSpPr>
        <p:spPr>
          <a:xfrm>
            <a:off x="1682640" y="2750760"/>
            <a:ext cx="102600" cy="102600"/>
          </a:xfrm>
          <a:prstGeom prst="ellipse">
            <a:avLst/>
          </a:prstGeom>
          <a:solidFill>
            <a:srgbClr val="37474F"/>
          </a:solidFill>
          <a:ln w="12700">
            <a:solidFill>
              <a:srgbClr val="37474F"/>
            </a:solidFill>
            <a:round/>
          </a:ln>
        </p:spPr>
        <p:style>
          <a:lnRef idx="0"/>
          <a:fillRef idx="0"/>
          <a:effectRef idx="0"/>
          <a:fontRef idx="minor"/>
        </p:style>
        <p:txBody>
          <a:bodyPr lIns="90000" tIns="32760" rIns="90000" bIns="32760" anchor="t">
            <a:noAutofit/>
          </a:bodyPr>
          <a:p>
            <a:endParaRPr lang="fr-FR" sz="1800" b="0" u="none" strike="noStrike">
              <a:solidFill>
                <a:srgbClr val="FFFFFF"/>
              </a:solidFill>
              <a:effectLst/>
              <a:uFillTx/>
              <a:latin typeface="Arial"/>
            </a:endParaRPr>
          </a:p>
        </p:txBody>
      </p:sp>
      <p:sp>
        <p:nvSpPr>
          <p:cNvPr id="364" name="Text 13"/>
          <p:cNvSpPr/>
          <p:nvPr/>
        </p:nvSpPr>
        <p:spPr>
          <a:xfrm>
            <a:off x="1874520" y="2695680"/>
            <a:ext cx="10900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Yamada</a:t>
            </a:r>
            <a:endParaRPr lang="fr-FR" sz="900" b="0" u="none" strike="noStrike">
              <a:solidFill>
                <a:srgbClr val="000000"/>
              </a:solidFill>
              <a:effectLst/>
              <a:uFillTx/>
              <a:latin typeface="Arial"/>
            </a:endParaRPr>
          </a:p>
        </p:txBody>
      </p:sp>
      <p:sp>
        <p:nvSpPr>
          <p:cNvPr id="365" name="Shape 14"/>
          <p:cNvSpPr/>
          <p:nvPr/>
        </p:nvSpPr>
        <p:spPr>
          <a:xfrm>
            <a:off x="4242960" y="3025080"/>
            <a:ext cx="102600" cy="102600"/>
          </a:xfrm>
          <a:prstGeom prst="ellipse">
            <a:avLst/>
          </a:prstGeom>
          <a:solidFill>
            <a:srgbClr val="37474F"/>
          </a:solidFill>
          <a:ln w="12700">
            <a:solidFill>
              <a:srgbClr val="37474F"/>
            </a:solidFill>
            <a:round/>
          </a:ln>
        </p:spPr>
        <p:style>
          <a:lnRef idx="0"/>
          <a:fillRef idx="0"/>
          <a:effectRef idx="0"/>
          <a:fontRef idx="minor"/>
        </p:style>
        <p:txBody>
          <a:bodyPr lIns="90000" tIns="32760" rIns="90000" bIns="32760" anchor="t">
            <a:noAutofit/>
          </a:bodyPr>
          <a:p>
            <a:endParaRPr lang="fr-FR" sz="1800" b="0" u="none" strike="noStrike">
              <a:solidFill>
                <a:srgbClr val="FFFFFF"/>
              </a:solidFill>
              <a:effectLst/>
              <a:uFillTx/>
              <a:latin typeface="Arial"/>
            </a:endParaRPr>
          </a:p>
        </p:txBody>
      </p:sp>
      <p:sp>
        <p:nvSpPr>
          <p:cNvPr id="366" name="Text 15"/>
          <p:cNvSpPr/>
          <p:nvPr/>
        </p:nvSpPr>
        <p:spPr>
          <a:xfrm>
            <a:off x="4434840" y="2970000"/>
            <a:ext cx="10900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Waller</a:t>
            </a:r>
            <a:endParaRPr lang="fr-FR" sz="900" b="0" u="none" strike="noStrike">
              <a:solidFill>
                <a:srgbClr val="000000"/>
              </a:solidFill>
              <a:effectLst/>
              <a:uFillTx/>
              <a:latin typeface="Arial"/>
            </a:endParaRPr>
          </a:p>
        </p:txBody>
      </p:sp>
      <p:sp>
        <p:nvSpPr>
          <p:cNvPr id="367" name="Shape 16"/>
          <p:cNvSpPr/>
          <p:nvPr/>
        </p:nvSpPr>
        <p:spPr>
          <a:xfrm>
            <a:off x="5065920" y="4122360"/>
            <a:ext cx="102600" cy="102600"/>
          </a:xfrm>
          <a:prstGeom prst="ellipse">
            <a:avLst/>
          </a:prstGeom>
          <a:solidFill>
            <a:srgbClr val="37474F"/>
          </a:solidFill>
          <a:ln w="12700">
            <a:solidFill>
              <a:srgbClr val="37474F"/>
            </a:solidFill>
            <a:round/>
          </a:ln>
        </p:spPr>
        <p:style>
          <a:lnRef idx="0"/>
          <a:fillRef idx="0"/>
          <a:effectRef idx="0"/>
          <a:fontRef idx="minor"/>
        </p:style>
        <p:txBody>
          <a:bodyPr lIns="90000" tIns="32760" rIns="90000" bIns="32760" anchor="t">
            <a:noAutofit/>
          </a:bodyPr>
          <a:p>
            <a:endParaRPr lang="fr-FR" sz="1800" b="0" u="none" strike="noStrike">
              <a:solidFill>
                <a:srgbClr val="FFFFFF"/>
              </a:solidFill>
              <a:effectLst/>
              <a:uFillTx/>
              <a:latin typeface="Arial"/>
            </a:endParaRPr>
          </a:p>
        </p:txBody>
      </p:sp>
      <p:sp>
        <p:nvSpPr>
          <p:cNvPr id="368" name="Text 17"/>
          <p:cNvSpPr/>
          <p:nvPr/>
        </p:nvSpPr>
        <p:spPr>
          <a:xfrm>
            <a:off x="5257800" y="4067280"/>
            <a:ext cx="10900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Gaillard</a:t>
            </a:r>
            <a:endParaRPr lang="fr-FR" sz="900" b="0" u="none" strike="noStrike">
              <a:solidFill>
                <a:srgbClr val="000000"/>
              </a:solidFill>
              <a:effectLst/>
              <a:uFillTx/>
              <a:latin typeface="Arial"/>
            </a:endParaRPr>
          </a:p>
        </p:txBody>
      </p:sp>
      <p:sp>
        <p:nvSpPr>
          <p:cNvPr id="369" name="Shape 18"/>
          <p:cNvSpPr/>
          <p:nvPr/>
        </p:nvSpPr>
        <p:spPr>
          <a:xfrm>
            <a:off x="3079080" y="3548880"/>
            <a:ext cx="157320" cy="157320"/>
          </a:xfrm>
          <a:prstGeom prst="ellipse">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70" name="Text 19"/>
          <p:cNvSpPr/>
          <p:nvPr/>
        </p:nvSpPr>
        <p:spPr>
          <a:xfrm>
            <a:off x="3334680" y="3521520"/>
            <a:ext cx="10900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BF360C"/>
                </a:solidFill>
                <a:effectLst/>
                <a:uFillTx/>
                <a:latin typeface="Satoshi"/>
                <a:ea typeface="Satoshi"/>
              </a:rPr>
              <a:t>AYMEN</a:t>
            </a:r>
            <a:endParaRPr lang="fr-FR" sz="1100" b="0" u="none" strike="noStrike">
              <a:solidFill>
                <a:srgbClr val="000000"/>
              </a:solidFill>
              <a:effectLst/>
              <a:uFillTx/>
              <a:latin typeface="Arial"/>
            </a:endParaRPr>
          </a:p>
        </p:txBody>
      </p:sp>
      <p:sp>
        <p:nvSpPr>
          <p:cNvPr id="371" name="Text 20"/>
          <p:cNvSpPr/>
          <p:nvPr/>
        </p:nvSpPr>
        <p:spPr>
          <a:xfrm>
            <a:off x="6345360" y="2364840"/>
            <a:ext cx="24616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LECTURE</a:t>
            </a:r>
            <a:endParaRPr lang="fr-FR" sz="1000" b="0" u="none" strike="noStrike">
              <a:solidFill>
                <a:srgbClr val="000000"/>
              </a:solidFill>
              <a:effectLst/>
              <a:uFillTx/>
              <a:latin typeface="Arial"/>
            </a:endParaRPr>
          </a:p>
        </p:txBody>
      </p:sp>
      <p:sp>
        <p:nvSpPr>
          <p:cNvPr id="372" name="Text 21"/>
          <p:cNvSpPr/>
          <p:nvPr/>
        </p:nvSpPr>
        <p:spPr>
          <a:xfrm>
            <a:off x="6345360" y="2684880"/>
            <a:ext cx="246168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100" b="1" i="1" u="none" strike="noStrike">
                <a:solidFill>
                  <a:srgbClr val="0A0A0A"/>
                </a:solidFill>
                <a:effectLst/>
                <a:uFillTx/>
                <a:latin typeface="Satoshi"/>
                <a:ea typeface="Satoshi"/>
              </a:rPr>
              <a:t>Le positionnement retenu crée un équilibre stratégique entre la clarté minimaliste et l'engagement interactif, empruntant le meilleur de chaque approche.</a:t>
            </a:r>
            <a:endParaRPr lang="fr-FR" sz="1100" b="0" u="none" strike="noStrike">
              <a:solidFill>
                <a:srgbClr val="000000"/>
              </a:solidFill>
              <a:effectLst/>
              <a:uFillTx/>
              <a:latin typeface="Arial"/>
            </a:endParaRPr>
          </a:p>
        </p:txBody>
      </p:sp>
      <p:sp>
        <p:nvSpPr>
          <p:cNvPr id="373" name="Text 22"/>
          <p:cNvSpPr/>
          <p:nvPr/>
        </p:nvSpPr>
        <p:spPr>
          <a:xfrm>
            <a:off x="6345360" y="3828960"/>
            <a:ext cx="2461680" cy="1364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Un univers visuel signé, avec des interactions mesurées, sans céder ni au bruit graphique ni à la prouesse gratuite.</a:t>
            </a:r>
            <a:endParaRPr lang="fr-FR" sz="1000" b="0" u="none" strike="noStrike">
              <a:solidFill>
                <a:srgbClr val="000000"/>
              </a:solidFill>
              <a:effectLst/>
              <a:uFillTx/>
              <a:latin typeface="Arial"/>
            </a:endParaRPr>
          </a:p>
        </p:txBody>
      </p:sp>
      <p:sp>
        <p:nvSpPr>
          <p:cNvPr id="374"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75"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76"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37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37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37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8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STRATÉGIE</a:t>
            </a:r>
            <a:endParaRPr lang="fr-FR" sz="4800" b="0" u="none" strike="noStrike">
              <a:solidFill>
                <a:srgbClr val="000000"/>
              </a:solidFill>
              <a:effectLst/>
              <a:uFillTx/>
              <a:latin typeface="Arial"/>
            </a:endParaRPr>
          </a:p>
        </p:txBody>
      </p:sp>
      <p:sp>
        <p:nvSpPr>
          <p:cNvPr id="38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Approche hybride retenue — synthèse des enseignements</a:t>
            </a:r>
            <a:endParaRPr lang="fr-FR" sz="1500" b="0" u="none" strike="noStrike">
              <a:solidFill>
                <a:srgbClr val="000000"/>
              </a:solidFill>
              <a:effectLst/>
              <a:uFillTx/>
              <a:latin typeface="Arial"/>
            </a:endParaRPr>
          </a:p>
        </p:txBody>
      </p:sp>
      <p:sp>
        <p:nvSpPr>
          <p:cNvPr id="382" name="Text 5"/>
          <p:cNvSpPr/>
          <p:nvPr/>
        </p:nvSpPr>
        <p:spPr>
          <a:xfrm>
            <a:off x="457200" y="1965960"/>
            <a:ext cx="822240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Ce portfolio s'inscrit dans une approche hybride, construite par emprunts choisis aux trois références analysées. Chaque dimension répond à un objectif précis de ma cible primaire — les recruteurs et responsables RH — sans sacrifier la singularité de ma signature.</a:t>
            </a:r>
            <a:endParaRPr lang="fr-FR" sz="1100" b="0" u="none" strike="noStrike">
              <a:solidFill>
                <a:srgbClr val="000000"/>
              </a:solidFill>
              <a:effectLst/>
              <a:uFillTx/>
              <a:latin typeface="Arial"/>
            </a:endParaRPr>
          </a:p>
        </p:txBody>
      </p:sp>
      <p:sp>
        <p:nvSpPr>
          <p:cNvPr id="383" name="Shape 6"/>
          <p:cNvSpPr/>
          <p:nvPr/>
        </p:nvSpPr>
        <p:spPr>
          <a:xfrm>
            <a:off x="457200" y="2743200"/>
            <a:ext cx="2671920" cy="18673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84" name="Text 7"/>
          <p:cNvSpPr/>
          <p:nvPr/>
        </p:nvSpPr>
        <p:spPr>
          <a:xfrm>
            <a:off x="640080" y="2880360"/>
            <a:ext cx="230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FFB300"/>
                </a:solidFill>
                <a:effectLst/>
                <a:uFillTx/>
                <a:latin typeface="Satoshi"/>
                <a:ea typeface="Satoshi"/>
              </a:rPr>
              <a:t>DE YAMADA</a:t>
            </a:r>
            <a:endParaRPr lang="fr-FR" sz="1000" b="0" u="none" strike="noStrike">
              <a:solidFill>
                <a:srgbClr val="000000"/>
              </a:solidFill>
              <a:effectLst/>
              <a:uFillTx/>
              <a:latin typeface="Arial"/>
            </a:endParaRPr>
          </a:p>
        </p:txBody>
      </p:sp>
      <p:sp>
        <p:nvSpPr>
          <p:cNvPr id="385" name="Text 8"/>
          <p:cNvSpPr/>
          <p:nvPr/>
        </p:nvSpPr>
        <p:spPr>
          <a:xfrm>
            <a:off x="640080" y="3154680"/>
            <a:ext cx="23061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4EFE6"/>
                </a:solidFill>
                <a:effectLst/>
                <a:uFillTx/>
                <a:latin typeface="Arelv"/>
                <a:ea typeface="Arelv"/>
              </a:rPr>
              <a:t>La rigueur</a:t>
            </a:r>
            <a:endParaRPr lang="fr-FR" sz="2400" b="0" u="none" strike="noStrike">
              <a:solidFill>
                <a:srgbClr val="000000"/>
              </a:solidFill>
              <a:effectLst/>
              <a:uFillTx/>
              <a:latin typeface="Arial"/>
            </a:endParaRPr>
          </a:p>
        </p:txBody>
      </p:sp>
      <p:sp>
        <p:nvSpPr>
          <p:cNvPr id="386" name="Text 9"/>
          <p:cNvSpPr/>
          <p:nvPr/>
        </p:nvSpPr>
        <p:spPr>
          <a:xfrm>
            <a:off x="640080" y="3657600"/>
            <a:ext cx="230616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Clarté de la navigation, hiérarchie typographique forte, performance technique. Pour servir l'attention courte de la cible primaire — moins d’une minute et demi par visite.</a:t>
            </a:r>
            <a:endParaRPr lang="fr-FR" sz="1000" b="0" u="none" strike="noStrike">
              <a:solidFill>
                <a:srgbClr val="000000"/>
              </a:solidFill>
              <a:effectLst/>
              <a:uFillTx/>
              <a:latin typeface="Arial"/>
            </a:endParaRPr>
          </a:p>
        </p:txBody>
      </p:sp>
      <p:sp>
        <p:nvSpPr>
          <p:cNvPr id="387" name="Shape 10"/>
          <p:cNvSpPr/>
          <p:nvPr/>
        </p:nvSpPr>
        <p:spPr>
          <a:xfrm>
            <a:off x="3255120" y="2743200"/>
            <a:ext cx="2671920" cy="18673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88" name="Text 11"/>
          <p:cNvSpPr/>
          <p:nvPr/>
        </p:nvSpPr>
        <p:spPr>
          <a:xfrm>
            <a:off x="3438000" y="2880360"/>
            <a:ext cx="230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FFB300"/>
                </a:solidFill>
                <a:effectLst/>
                <a:uFillTx/>
                <a:latin typeface="Satoshi"/>
                <a:ea typeface="Satoshi"/>
              </a:rPr>
              <a:t>DE WALLER</a:t>
            </a:r>
            <a:endParaRPr lang="fr-FR" sz="1000" b="0" u="none" strike="noStrike">
              <a:solidFill>
                <a:srgbClr val="000000"/>
              </a:solidFill>
              <a:effectLst/>
              <a:uFillTx/>
              <a:latin typeface="Arial"/>
            </a:endParaRPr>
          </a:p>
        </p:txBody>
      </p:sp>
      <p:sp>
        <p:nvSpPr>
          <p:cNvPr id="389" name="Text 12"/>
          <p:cNvSpPr/>
          <p:nvPr/>
        </p:nvSpPr>
        <p:spPr>
          <a:xfrm>
            <a:off x="3438000" y="3154680"/>
            <a:ext cx="23061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4EFE6"/>
                </a:solidFill>
                <a:effectLst/>
                <a:uFillTx/>
                <a:latin typeface="Arelv"/>
                <a:ea typeface="Arelv"/>
              </a:rPr>
              <a:t>L'identité</a:t>
            </a:r>
            <a:endParaRPr lang="fr-FR" sz="2400" b="0" u="none" strike="noStrike">
              <a:solidFill>
                <a:srgbClr val="000000"/>
              </a:solidFill>
              <a:effectLst/>
              <a:uFillTx/>
              <a:latin typeface="Arial"/>
            </a:endParaRPr>
          </a:p>
        </p:txBody>
      </p:sp>
      <p:sp>
        <p:nvSpPr>
          <p:cNvPr id="390" name="Text 13"/>
          <p:cNvSpPr/>
          <p:nvPr/>
        </p:nvSpPr>
        <p:spPr>
          <a:xfrm>
            <a:off x="3438000" y="3657600"/>
            <a:ext cx="230616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Une charte graphique soignée et personnelle, qui assume sa différence — palette désertique, calligraphie arabe, double héritage culturel. Pour signifier d'emblée la singularité du profil.</a:t>
            </a:r>
            <a:endParaRPr lang="fr-FR" sz="1000" b="0" u="none" strike="noStrike">
              <a:solidFill>
                <a:srgbClr val="000000"/>
              </a:solidFill>
              <a:effectLst/>
              <a:uFillTx/>
              <a:latin typeface="Arial"/>
            </a:endParaRPr>
          </a:p>
        </p:txBody>
      </p:sp>
      <p:sp>
        <p:nvSpPr>
          <p:cNvPr id="391" name="Shape 14"/>
          <p:cNvSpPr/>
          <p:nvPr/>
        </p:nvSpPr>
        <p:spPr>
          <a:xfrm>
            <a:off x="6053400" y="2743200"/>
            <a:ext cx="2671920" cy="18673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92" name="Text 15"/>
          <p:cNvSpPr/>
          <p:nvPr/>
        </p:nvSpPr>
        <p:spPr>
          <a:xfrm>
            <a:off x="6236280" y="2880360"/>
            <a:ext cx="230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FFB300"/>
                </a:solidFill>
                <a:effectLst/>
                <a:uFillTx/>
                <a:latin typeface="Satoshi"/>
                <a:ea typeface="Satoshi"/>
              </a:rPr>
              <a:t>DE GAILLARD</a:t>
            </a:r>
            <a:endParaRPr lang="fr-FR" sz="1000" b="0" u="none" strike="noStrike">
              <a:solidFill>
                <a:srgbClr val="000000"/>
              </a:solidFill>
              <a:effectLst/>
              <a:uFillTx/>
              <a:latin typeface="Arial"/>
            </a:endParaRPr>
          </a:p>
        </p:txBody>
      </p:sp>
      <p:sp>
        <p:nvSpPr>
          <p:cNvPr id="393" name="Text 16"/>
          <p:cNvSpPr/>
          <p:nvPr/>
        </p:nvSpPr>
        <p:spPr>
          <a:xfrm>
            <a:off x="6236280" y="3154680"/>
            <a:ext cx="23061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4EFE6"/>
                </a:solidFill>
                <a:effectLst/>
                <a:uFillTx/>
                <a:latin typeface="Arelv"/>
                <a:ea typeface="Arelv"/>
              </a:rPr>
              <a:t>Le geste</a:t>
            </a:r>
            <a:endParaRPr lang="fr-FR" sz="2400" b="0" u="none" strike="noStrike">
              <a:solidFill>
                <a:srgbClr val="000000"/>
              </a:solidFill>
              <a:effectLst/>
              <a:uFillTx/>
              <a:latin typeface="Arial"/>
            </a:endParaRPr>
          </a:p>
        </p:txBody>
      </p:sp>
      <p:sp>
        <p:nvSpPr>
          <p:cNvPr id="394" name="Text 17"/>
          <p:cNvSpPr/>
          <p:nvPr/>
        </p:nvSpPr>
        <p:spPr>
          <a:xfrm>
            <a:off x="6236280" y="3657600"/>
            <a:ext cx="230616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Des micro-interactions discrètes mais subtiles (hover, scroll, transitions) qui démontrent une maîtrise technique sans dégrader l'accessibilité.</a:t>
            </a:r>
            <a:endParaRPr lang="fr-FR" sz="1000" b="0" u="none" strike="noStrike">
              <a:solidFill>
                <a:srgbClr val="000000"/>
              </a:solidFill>
              <a:effectLst/>
              <a:uFillTx/>
              <a:latin typeface="Arial"/>
            </a:endParaRPr>
          </a:p>
        </p:txBody>
      </p:sp>
      <p:sp>
        <p:nvSpPr>
          <p:cNvPr id="395" name="Shape 1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396" name="Text 1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397" name="Text 2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398"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03</a:t>
            </a:r>
            <a:endParaRPr lang="fr-FR" sz="28000" b="0" u="none" strike="noStrike">
              <a:solidFill>
                <a:srgbClr val="FFFFFF"/>
              </a:solidFill>
              <a:effectLst/>
              <a:uFillTx/>
              <a:latin typeface="Arial"/>
            </a:endParaRPr>
          </a:p>
        </p:txBody>
      </p:sp>
      <p:sp>
        <p:nvSpPr>
          <p:cNvPr id="399"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CIBLES &amp;</a:t>
            </a:r>
            <a:endParaRPr lang="fr-FR" sz="3200" b="0" u="none" strike="noStrike">
              <a:solidFill>
                <a:srgbClr val="FFFFFF"/>
              </a:solidFill>
              <a:effectLst/>
              <a:uFillTx/>
              <a:latin typeface="Arial"/>
            </a:endParaRPr>
          </a:p>
        </p:txBody>
      </p:sp>
      <p:sp>
        <p:nvSpPr>
          <p:cNvPr id="400"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PERSONAS</a:t>
            </a:r>
            <a:endParaRPr lang="fr-FR" sz="3200" b="0" u="none" strike="noStrike">
              <a:solidFill>
                <a:srgbClr val="FFFFFF"/>
              </a:solidFill>
              <a:effectLst/>
              <a:uFillTx/>
              <a:latin typeface="Arial"/>
            </a:endParaRPr>
          </a:p>
        </p:txBody>
      </p:sp>
      <p:sp>
        <p:nvSpPr>
          <p:cNvPr id="401"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Troisième partie · pages 23 → 30</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40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40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40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0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SEGMENTATION</a:t>
            </a:r>
            <a:endParaRPr lang="fr-FR" sz="4800" b="0" u="none" strike="noStrike">
              <a:solidFill>
                <a:srgbClr val="000000"/>
              </a:solidFill>
              <a:effectLst/>
              <a:uFillTx/>
              <a:latin typeface="Arial"/>
            </a:endParaRPr>
          </a:p>
        </p:txBody>
      </p:sp>
      <p:sp>
        <p:nvSpPr>
          <p:cNvPr id="40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Découpage de l'audience selon trois axes</a:t>
            </a:r>
            <a:endParaRPr lang="fr-FR" sz="1500" b="0" u="none" strike="noStrike">
              <a:solidFill>
                <a:srgbClr val="000000"/>
              </a:solidFill>
              <a:effectLst/>
              <a:uFillTx/>
              <a:latin typeface="Arial"/>
            </a:endParaRPr>
          </a:p>
        </p:txBody>
      </p:sp>
      <p:sp>
        <p:nvSpPr>
          <p:cNvPr id="407" name="Text 5"/>
          <p:cNvSpPr/>
          <p:nvPr/>
        </p:nvSpPr>
        <p:spPr>
          <a:xfrm>
            <a:off x="457200" y="2057400"/>
            <a:ext cx="8157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BF360C"/>
                </a:solidFill>
                <a:effectLst/>
                <a:uFillTx/>
                <a:latin typeface="Arelv"/>
                <a:ea typeface="Arelv"/>
              </a:rPr>
              <a:t>01</a:t>
            </a:r>
            <a:endParaRPr lang="fr-FR" sz="3200" b="0" u="none" strike="noStrike">
              <a:solidFill>
                <a:srgbClr val="000000"/>
              </a:solidFill>
              <a:effectLst/>
              <a:uFillTx/>
              <a:latin typeface="Arial"/>
            </a:endParaRPr>
          </a:p>
        </p:txBody>
      </p:sp>
      <p:sp>
        <p:nvSpPr>
          <p:cNvPr id="408" name="Text 6"/>
          <p:cNvSpPr/>
          <p:nvPr/>
        </p:nvSpPr>
        <p:spPr>
          <a:xfrm>
            <a:off x="1371600" y="2103120"/>
            <a:ext cx="2736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DÉMOGRAPHIQUE</a:t>
            </a:r>
            <a:endParaRPr lang="fr-FR" sz="1400" b="0" u="none" strike="noStrike">
              <a:solidFill>
                <a:srgbClr val="000000"/>
              </a:solidFill>
              <a:effectLst/>
              <a:uFillTx/>
              <a:latin typeface="Arial"/>
            </a:endParaRPr>
          </a:p>
        </p:txBody>
      </p:sp>
      <p:sp>
        <p:nvSpPr>
          <p:cNvPr id="409" name="Text 7"/>
          <p:cNvSpPr/>
          <p:nvPr/>
        </p:nvSpPr>
        <p:spPr>
          <a:xfrm>
            <a:off x="1371600" y="2468880"/>
            <a:ext cx="739944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37474F"/>
                </a:solidFill>
                <a:effectLst/>
                <a:uFillTx/>
                <a:latin typeface="Satoshi"/>
                <a:ea typeface="Satoshi"/>
              </a:rPr>
              <a:t>25 — 55 ans. Profils en activité dans les métiers du recrutement digital, du free-lance ou du développement web. Niveau de formation Bac+3 minimum.</a:t>
            </a:r>
            <a:endParaRPr lang="fr-FR" sz="1100" b="0" u="none" strike="noStrike">
              <a:solidFill>
                <a:srgbClr val="000000"/>
              </a:solidFill>
              <a:effectLst/>
              <a:uFillTx/>
              <a:latin typeface="Arial"/>
            </a:endParaRPr>
          </a:p>
        </p:txBody>
      </p:sp>
      <p:sp>
        <p:nvSpPr>
          <p:cNvPr id="410" name="Shape 8"/>
          <p:cNvSpPr/>
          <p:nvPr/>
        </p:nvSpPr>
        <p:spPr>
          <a:xfrm>
            <a:off x="1371600" y="2926080"/>
            <a:ext cx="740664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11" name="Text 9"/>
          <p:cNvSpPr/>
          <p:nvPr/>
        </p:nvSpPr>
        <p:spPr>
          <a:xfrm>
            <a:off x="457200" y="2926080"/>
            <a:ext cx="8157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BF360C"/>
                </a:solidFill>
                <a:effectLst/>
                <a:uFillTx/>
                <a:latin typeface="Arelv"/>
                <a:ea typeface="Arelv"/>
              </a:rPr>
              <a:t>02</a:t>
            </a:r>
            <a:endParaRPr lang="fr-FR" sz="3200" b="0" u="none" strike="noStrike">
              <a:solidFill>
                <a:srgbClr val="000000"/>
              </a:solidFill>
              <a:effectLst/>
              <a:uFillTx/>
              <a:latin typeface="Arial"/>
            </a:endParaRPr>
          </a:p>
        </p:txBody>
      </p:sp>
      <p:sp>
        <p:nvSpPr>
          <p:cNvPr id="412" name="Text 10"/>
          <p:cNvSpPr/>
          <p:nvPr/>
        </p:nvSpPr>
        <p:spPr>
          <a:xfrm>
            <a:off x="1371600" y="2971800"/>
            <a:ext cx="2736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GÉOGRAPHIQUE</a:t>
            </a:r>
            <a:endParaRPr lang="fr-FR" sz="1400" b="0" u="none" strike="noStrike">
              <a:solidFill>
                <a:srgbClr val="000000"/>
              </a:solidFill>
              <a:effectLst/>
              <a:uFillTx/>
              <a:latin typeface="Arial"/>
            </a:endParaRPr>
          </a:p>
        </p:txBody>
      </p:sp>
      <p:sp>
        <p:nvSpPr>
          <p:cNvPr id="413" name="Text 11"/>
          <p:cNvSpPr/>
          <p:nvPr/>
        </p:nvSpPr>
        <p:spPr>
          <a:xfrm>
            <a:off x="1371600" y="3337560"/>
            <a:ext cx="739944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37474F"/>
                </a:solidFill>
                <a:effectLst/>
                <a:uFillTx/>
                <a:latin typeface="Satoshi"/>
                <a:ea typeface="Satoshi"/>
              </a:rPr>
              <a:t>France métropolitaine en priorité, avec focus sur les pôles digitaux (Paris, Rennes, Nantes, Lyon, Bordeaux). Élargissement Europe francophone (Belgique, Suisse). Cibles internationales via versions EN/JA/AR.</a:t>
            </a:r>
            <a:endParaRPr lang="fr-FR" sz="1100" b="0" u="none" strike="noStrike">
              <a:solidFill>
                <a:srgbClr val="000000"/>
              </a:solidFill>
              <a:effectLst/>
              <a:uFillTx/>
              <a:latin typeface="Arial"/>
            </a:endParaRPr>
          </a:p>
        </p:txBody>
      </p:sp>
      <p:sp>
        <p:nvSpPr>
          <p:cNvPr id="414" name="Shape 12"/>
          <p:cNvSpPr/>
          <p:nvPr/>
        </p:nvSpPr>
        <p:spPr>
          <a:xfrm>
            <a:off x="1371600" y="3794760"/>
            <a:ext cx="740664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15" name="Text 13"/>
          <p:cNvSpPr/>
          <p:nvPr/>
        </p:nvSpPr>
        <p:spPr>
          <a:xfrm>
            <a:off x="457200" y="3794760"/>
            <a:ext cx="81576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BF360C"/>
                </a:solidFill>
                <a:effectLst/>
                <a:uFillTx/>
                <a:latin typeface="Arelv"/>
                <a:ea typeface="Arelv"/>
              </a:rPr>
              <a:t>03</a:t>
            </a:r>
            <a:endParaRPr lang="fr-FR" sz="3200" b="0" u="none" strike="noStrike">
              <a:solidFill>
                <a:srgbClr val="000000"/>
              </a:solidFill>
              <a:effectLst/>
              <a:uFillTx/>
              <a:latin typeface="Arial"/>
            </a:endParaRPr>
          </a:p>
        </p:txBody>
      </p:sp>
      <p:sp>
        <p:nvSpPr>
          <p:cNvPr id="416" name="Text 14"/>
          <p:cNvSpPr/>
          <p:nvPr/>
        </p:nvSpPr>
        <p:spPr>
          <a:xfrm>
            <a:off x="1371600" y="3840480"/>
            <a:ext cx="2736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COMPORTEMENTALE</a:t>
            </a:r>
            <a:endParaRPr lang="fr-FR" sz="1400" b="0" u="none" strike="noStrike">
              <a:solidFill>
                <a:srgbClr val="000000"/>
              </a:solidFill>
              <a:effectLst/>
              <a:uFillTx/>
              <a:latin typeface="Arial"/>
            </a:endParaRPr>
          </a:p>
        </p:txBody>
      </p:sp>
      <p:sp>
        <p:nvSpPr>
          <p:cNvPr id="417" name="Text 15"/>
          <p:cNvSpPr/>
          <p:nvPr/>
        </p:nvSpPr>
        <p:spPr>
          <a:xfrm>
            <a:off x="1371600" y="4206240"/>
            <a:ext cx="739944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100" b="0" u="none" strike="noStrike">
                <a:solidFill>
                  <a:srgbClr val="37474F"/>
                </a:solidFill>
                <a:effectLst/>
                <a:uFillTx/>
                <a:latin typeface="Satoshi"/>
                <a:ea typeface="Satoshi"/>
              </a:rPr>
              <a:t>Consultation des portfolios majoritairement sur desktop en contexte professionnel (75% des sessions) et sur mobile en consultation rapide (25%). Navigation rapide (&lt; 92s en moyenne) et retour sur le site si intérêt pour télécharger le CV. </a:t>
            </a:r>
            <a:endParaRPr lang="fr-FR" sz="1100" b="0" u="none" strike="noStrike">
              <a:solidFill>
                <a:srgbClr val="000000"/>
              </a:solidFill>
              <a:effectLst/>
              <a:uFillTx/>
              <a:latin typeface="Arial"/>
            </a:endParaRPr>
          </a:p>
        </p:txBody>
      </p:sp>
      <p:sp>
        <p:nvSpPr>
          <p:cNvPr id="418" name="Shape 1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19" name="Text 1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420" name="Text 1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42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42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42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24"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PRINCIPALE · 01</a:t>
            </a:r>
            <a:endParaRPr lang="fr-FR" sz="1300" b="0" u="none" strike="noStrike">
              <a:solidFill>
                <a:srgbClr val="000000"/>
              </a:solidFill>
              <a:effectLst/>
              <a:uFillTx/>
              <a:latin typeface="Arial"/>
            </a:endParaRPr>
          </a:p>
        </p:txBody>
      </p:sp>
      <p:sp>
        <p:nvSpPr>
          <p:cNvPr id="425"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Claire MARTIN</a:t>
            </a:r>
            <a:endParaRPr lang="fr-FR" sz="3800" b="0" u="none" strike="noStrike">
              <a:solidFill>
                <a:srgbClr val="000000"/>
              </a:solidFill>
              <a:effectLst/>
              <a:uFillTx/>
              <a:latin typeface="Arial"/>
            </a:endParaRPr>
          </a:p>
        </p:txBody>
      </p:sp>
      <p:sp>
        <p:nvSpPr>
          <p:cNvPr id="426"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Responsable RH — Agence digitale</a:t>
            </a:r>
            <a:endParaRPr lang="fr-FR" sz="1300" b="0" u="none" strike="noStrike">
              <a:solidFill>
                <a:srgbClr val="000000"/>
              </a:solidFill>
              <a:effectLst/>
              <a:uFillTx/>
              <a:latin typeface="Arial"/>
            </a:endParaRPr>
          </a:p>
        </p:txBody>
      </p:sp>
      <p:sp>
        <p:nvSpPr>
          <p:cNvPr id="427" name="Shape 6"/>
          <p:cNvSpPr/>
          <p:nvPr/>
        </p:nvSpPr>
        <p:spPr>
          <a:xfrm>
            <a:off x="457200" y="2148840"/>
            <a:ext cx="3101760" cy="241596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28" name="Text 7"/>
          <p:cNvSpPr/>
          <p:nvPr/>
        </p:nvSpPr>
        <p:spPr>
          <a:xfrm>
            <a:off x="640080" y="228600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IDENTITÉ</a:t>
            </a:r>
            <a:endParaRPr lang="fr-FR" sz="1000" b="0" u="none" strike="noStrike">
              <a:solidFill>
                <a:srgbClr val="000000"/>
              </a:solidFill>
              <a:effectLst/>
              <a:uFillTx/>
              <a:latin typeface="Arial"/>
            </a:endParaRPr>
          </a:p>
        </p:txBody>
      </p:sp>
      <p:sp>
        <p:nvSpPr>
          <p:cNvPr id="429" name="Text 8"/>
          <p:cNvSpPr/>
          <p:nvPr/>
        </p:nvSpPr>
        <p:spPr>
          <a:xfrm>
            <a:off x="640080" y="265176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ÂGE</a:t>
            </a:r>
            <a:endParaRPr lang="fr-FR" sz="900" b="0" u="none" strike="noStrike">
              <a:solidFill>
                <a:srgbClr val="000000"/>
              </a:solidFill>
              <a:effectLst/>
              <a:uFillTx/>
              <a:latin typeface="Arial"/>
            </a:endParaRPr>
          </a:p>
        </p:txBody>
      </p:sp>
      <p:sp>
        <p:nvSpPr>
          <p:cNvPr id="430" name="Text 9"/>
          <p:cNvSpPr/>
          <p:nvPr/>
        </p:nvSpPr>
        <p:spPr>
          <a:xfrm>
            <a:off x="1554480" y="265176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39 ans</a:t>
            </a:r>
            <a:endParaRPr lang="fr-FR" sz="1000" b="0" u="none" strike="noStrike">
              <a:solidFill>
                <a:srgbClr val="000000"/>
              </a:solidFill>
              <a:effectLst/>
              <a:uFillTx/>
              <a:latin typeface="Arial"/>
            </a:endParaRPr>
          </a:p>
        </p:txBody>
      </p:sp>
      <p:sp>
        <p:nvSpPr>
          <p:cNvPr id="431" name="Text 10"/>
          <p:cNvSpPr/>
          <p:nvPr/>
        </p:nvSpPr>
        <p:spPr>
          <a:xfrm>
            <a:off x="640080" y="301752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POSTE</a:t>
            </a:r>
            <a:endParaRPr lang="fr-FR" sz="900" b="0" u="none" strike="noStrike">
              <a:solidFill>
                <a:srgbClr val="000000"/>
              </a:solidFill>
              <a:effectLst/>
              <a:uFillTx/>
              <a:latin typeface="Arial"/>
            </a:endParaRPr>
          </a:p>
        </p:txBody>
      </p:sp>
      <p:sp>
        <p:nvSpPr>
          <p:cNvPr id="432" name="Text 11"/>
          <p:cNvSpPr/>
          <p:nvPr/>
        </p:nvSpPr>
        <p:spPr>
          <a:xfrm>
            <a:off x="1554480" y="301752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Responsable RH</a:t>
            </a:r>
            <a:endParaRPr lang="fr-FR" sz="1000" b="0" u="none" strike="noStrike">
              <a:solidFill>
                <a:srgbClr val="000000"/>
              </a:solidFill>
              <a:effectLst/>
              <a:uFillTx/>
              <a:latin typeface="Arial"/>
            </a:endParaRPr>
          </a:p>
        </p:txBody>
      </p:sp>
      <p:sp>
        <p:nvSpPr>
          <p:cNvPr id="433" name="Text 12"/>
          <p:cNvSpPr/>
          <p:nvPr/>
        </p:nvSpPr>
        <p:spPr>
          <a:xfrm>
            <a:off x="640080" y="338328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LIEU</a:t>
            </a:r>
            <a:endParaRPr lang="fr-FR" sz="900" b="0" u="none" strike="noStrike">
              <a:solidFill>
                <a:srgbClr val="000000"/>
              </a:solidFill>
              <a:effectLst/>
              <a:uFillTx/>
              <a:latin typeface="Arial"/>
            </a:endParaRPr>
          </a:p>
        </p:txBody>
      </p:sp>
      <p:sp>
        <p:nvSpPr>
          <p:cNvPr id="434" name="Text 13"/>
          <p:cNvSpPr/>
          <p:nvPr/>
        </p:nvSpPr>
        <p:spPr>
          <a:xfrm>
            <a:off x="1554480" y="338328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Rennes (35)</a:t>
            </a:r>
            <a:endParaRPr lang="fr-FR" sz="1000" b="0" u="none" strike="noStrike">
              <a:solidFill>
                <a:srgbClr val="000000"/>
              </a:solidFill>
              <a:effectLst/>
              <a:uFillTx/>
              <a:latin typeface="Arial"/>
            </a:endParaRPr>
          </a:p>
        </p:txBody>
      </p:sp>
      <p:sp>
        <p:nvSpPr>
          <p:cNvPr id="435" name="Text 14"/>
          <p:cNvSpPr/>
          <p:nvPr/>
        </p:nvSpPr>
        <p:spPr>
          <a:xfrm>
            <a:off x="640080" y="374904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STATUT</a:t>
            </a:r>
            <a:endParaRPr lang="fr-FR" sz="900" b="0" u="none" strike="noStrike">
              <a:solidFill>
                <a:srgbClr val="000000"/>
              </a:solidFill>
              <a:effectLst/>
              <a:uFillTx/>
              <a:latin typeface="Arial"/>
            </a:endParaRPr>
          </a:p>
        </p:txBody>
      </p:sp>
      <p:sp>
        <p:nvSpPr>
          <p:cNvPr id="436" name="Text 15"/>
          <p:cNvSpPr/>
          <p:nvPr/>
        </p:nvSpPr>
        <p:spPr>
          <a:xfrm>
            <a:off x="1554480" y="374904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Salariée CDI</a:t>
            </a:r>
            <a:endParaRPr lang="fr-FR" sz="1000" b="0" u="none" strike="noStrike">
              <a:solidFill>
                <a:srgbClr val="000000"/>
              </a:solidFill>
              <a:effectLst/>
              <a:uFillTx/>
              <a:latin typeface="Arial"/>
            </a:endParaRPr>
          </a:p>
        </p:txBody>
      </p:sp>
      <p:sp>
        <p:nvSpPr>
          <p:cNvPr id="437" name="Text 16"/>
          <p:cNvSpPr/>
          <p:nvPr/>
        </p:nvSpPr>
        <p:spPr>
          <a:xfrm>
            <a:off x="640080" y="411480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TECH</a:t>
            </a:r>
            <a:endParaRPr lang="fr-FR" sz="900" b="0" u="none" strike="noStrike">
              <a:solidFill>
                <a:srgbClr val="000000"/>
              </a:solidFill>
              <a:effectLst/>
              <a:uFillTx/>
              <a:latin typeface="Arial"/>
            </a:endParaRPr>
          </a:p>
        </p:txBody>
      </p:sp>
      <p:sp>
        <p:nvSpPr>
          <p:cNvPr id="438" name="Text 17"/>
          <p:cNvSpPr/>
          <p:nvPr/>
        </p:nvSpPr>
        <p:spPr>
          <a:xfrm>
            <a:off x="1554480" y="411480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Maîtrise numérique élevé</a:t>
            </a:r>
            <a:endParaRPr lang="fr-FR" sz="1000" b="0" u="none" strike="noStrike">
              <a:solidFill>
                <a:srgbClr val="000000"/>
              </a:solidFill>
              <a:effectLst/>
              <a:uFillTx/>
              <a:latin typeface="Arial"/>
            </a:endParaRPr>
          </a:p>
        </p:txBody>
      </p:sp>
      <p:sp>
        <p:nvSpPr>
          <p:cNvPr id="439" name="Text 18"/>
          <p:cNvSpPr/>
          <p:nvPr/>
        </p:nvSpPr>
        <p:spPr>
          <a:xfrm>
            <a:off x="3749040" y="214884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OBJECTIFS</a:t>
            </a:r>
            <a:endParaRPr lang="fr-FR" sz="1000" b="0" u="none" strike="noStrike">
              <a:solidFill>
                <a:srgbClr val="000000"/>
              </a:solidFill>
              <a:effectLst/>
              <a:uFillTx/>
              <a:latin typeface="Arial"/>
            </a:endParaRPr>
          </a:p>
        </p:txBody>
      </p:sp>
      <p:sp>
        <p:nvSpPr>
          <p:cNvPr id="440" name="Text 19"/>
          <p:cNvSpPr/>
          <p:nvPr/>
        </p:nvSpPr>
        <p:spPr>
          <a:xfrm>
            <a:off x="3749040" y="2468880"/>
            <a:ext cx="5022000" cy="9072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Identifier rapidement les compétences techniques et transversales.</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Vérifier la cohérence du parcours et des projets réalisés.</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Télécharger le CV au format PDF pour intégration dans les outils de suivi et partage au manager.</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Évaluer la maturité professionnelle au-delà de la formation.</a:t>
            </a:r>
            <a:endParaRPr lang="fr-FR" sz="1050" b="0" u="none" strike="noStrike">
              <a:solidFill>
                <a:srgbClr val="000000"/>
              </a:solidFill>
              <a:effectLst/>
              <a:uFillTx/>
              <a:latin typeface="Arial"/>
            </a:endParaRPr>
          </a:p>
        </p:txBody>
      </p:sp>
      <p:sp>
        <p:nvSpPr>
          <p:cNvPr id="441" name="Text 20"/>
          <p:cNvSpPr/>
          <p:nvPr/>
        </p:nvSpPr>
        <p:spPr>
          <a:xfrm>
            <a:off x="3749040" y="357300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FRUSTRATIONS</a:t>
            </a:r>
            <a:endParaRPr lang="fr-FR" sz="1000" b="0" u="none" strike="noStrike">
              <a:solidFill>
                <a:srgbClr val="000000"/>
              </a:solidFill>
              <a:effectLst/>
              <a:uFillTx/>
              <a:latin typeface="Arial"/>
            </a:endParaRPr>
          </a:p>
        </p:txBody>
      </p:sp>
      <p:sp>
        <p:nvSpPr>
          <p:cNvPr id="442" name="Text 21"/>
          <p:cNvSpPr/>
          <p:nvPr/>
        </p:nvSpPr>
        <p:spPr>
          <a:xfrm>
            <a:off x="3749040" y="3857040"/>
            <a:ext cx="5022000" cy="8614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Portfolios surchargés qui noient l'information clé.</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Temps de chargement excessif ou expérience mobile dégradée.</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Absence de mention claire des disponibilités et du contact.</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Profils peu différenciés, difficiles à présenter à un manager.</a:t>
            </a:r>
            <a:endParaRPr lang="fr-FR" sz="1050" b="0" u="none" strike="noStrike">
              <a:solidFill>
                <a:srgbClr val="000000"/>
              </a:solidFill>
              <a:effectLst/>
              <a:uFillTx/>
              <a:latin typeface="Arial"/>
            </a:endParaRPr>
          </a:p>
        </p:txBody>
      </p:sp>
      <p:sp>
        <p:nvSpPr>
          <p:cNvPr id="443"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44"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445"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44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44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44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49"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PRINCIPALE · 01 · PARCOURS</a:t>
            </a:r>
            <a:endParaRPr lang="fr-FR" sz="1300" b="0" u="none" strike="noStrike">
              <a:solidFill>
                <a:srgbClr val="000000"/>
              </a:solidFill>
              <a:effectLst/>
              <a:uFillTx/>
              <a:latin typeface="Arial"/>
            </a:endParaRPr>
          </a:p>
        </p:txBody>
      </p:sp>
      <p:sp>
        <p:nvSpPr>
          <p:cNvPr id="450" name="Text 4"/>
          <p:cNvSpPr/>
          <p:nvPr/>
        </p:nvSpPr>
        <p:spPr>
          <a:xfrm>
            <a:off x="457200" y="1097280"/>
            <a:ext cx="82224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0A0A0A"/>
                </a:solidFill>
                <a:effectLst/>
                <a:uFillTx/>
                <a:latin typeface="Arelv"/>
                <a:ea typeface="Arelv"/>
              </a:rPr>
              <a:t>Claire MARTIN sur le portfolio</a:t>
            </a:r>
            <a:endParaRPr lang="fr-FR" sz="2800" b="0" u="none" strike="noStrike">
              <a:solidFill>
                <a:srgbClr val="000000"/>
              </a:solidFill>
              <a:effectLst/>
              <a:uFillTx/>
              <a:latin typeface="Arial"/>
            </a:endParaRPr>
          </a:p>
        </p:txBody>
      </p:sp>
      <p:sp>
        <p:nvSpPr>
          <p:cNvPr id="451" name="Text 5"/>
          <p:cNvSpPr/>
          <p:nvPr/>
        </p:nvSpPr>
        <p:spPr>
          <a:xfrm>
            <a:off x="457200" y="187452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PARCOURS TYPE</a:t>
            </a:r>
            <a:endParaRPr lang="fr-FR" sz="1000" b="0" u="none" strike="noStrike">
              <a:solidFill>
                <a:srgbClr val="000000"/>
              </a:solidFill>
              <a:effectLst/>
              <a:uFillTx/>
              <a:latin typeface="Arial"/>
            </a:endParaRPr>
          </a:p>
        </p:txBody>
      </p:sp>
      <p:sp>
        <p:nvSpPr>
          <p:cNvPr id="452" name="Shape 6"/>
          <p:cNvSpPr/>
          <p:nvPr/>
        </p:nvSpPr>
        <p:spPr>
          <a:xfrm>
            <a:off x="10972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53" name="Text 7"/>
          <p:cNvSpPr/>
          <p:nvPr/>
        </p:nvSpPr>
        <p:spPr>
          <a:xfrm>
            <a:off x="10972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1</a:t>
            </a:r>
            <a:endParaRPr lang="fr-FR" sz="1100" b="0" u="none" strike="noStrike">
              <a:solidFill>
                <a:srgbClr val="000000"/>
              </a:solidFill>
              <a:effectLst/>
              <a:uFillTx/>
              <a:latin typeface="Arial"/>
            </a:endParaRPr>
          </a:p>
        </p:txBody>
      </p:sp>
      <p:sp>
        <p:nvSpPr>
          <p:cNvPr id="454" name="Text 8"/>
          <p:cNvSpPr/>
          <p:nvPr/>
        </p:nvSpPr>
        <p:spPr>
          <a:xfrm>
            <a:off x="4572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Arrivée</a:t>
            </a:r>
            <a:endParaRPr lang="fr-FR" sz="1100" b="0" u="none" strike="noStrike">
              <a:solidFill>
                <a:srgbClr val="000000"/>
              </a:solidFill>
              <a:effectLst/>
              <a:uFillTx/>
              <a:latin typeface="Arial"/>
            </a:endParaRPr>
          </a:p>
        </p:txBody>
      </p:sp>
      <p:sp>
        <p:nvSpPr>
          <p:cNvPr id="455" name="Text 9"/>
          <p:cNvSpPr/>
          <p:nvPr/>
        </p:nvSpPr>
        <p:spPr>
          <a:xfrm>
            <a:off x="4572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37474F"/>
                </a:solidFill>
                <a:effectLst/>
                <a:uFillTx/>
                <a:latin typeface="Satoshi"/>
                <a:ea typeface="Satoshi"/>
              </a:rPr>
              <a:t>Sur la Hero Banner (section d’accueil) via LinkedIn ou recherche Google ciblée</a:t>
            </a:r>
            <a:endParaRPr lang="fr-FR" sz="900" b="0" u="none" strike="noStrike">
              <a:solidFill>
                <a:srgbClr val="000000"/>
              </a:solidFill>
              <a:effectLst/>
              <a:uFillTx/>
              <a:latin typeface="Arial"/>
            </a:endParaRPr>
          </a:p>
        </p:txBody>
      </p:sp>
      <p:sp>
        <p:nvSpPr>
          <p:cNvPr id="456" name="Text 10"/>
          <p:cNvSpPr/>
          <p:nvPr/>
        </p:nvSpPr>
        <p:spPr>
          <a:xfrm>
            <a:off x="20116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457" name="Shape 11"/>
          <p:cNvSpPr/>
          <p:nvPr/>
        </p:nvSpPr>
        <p:spPr>
          <a:xfrm>
            <a:off x="27705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58" name="Text 12"/>
          <p:cNvSpPr/>
          <p:nvPr/>
        </p:nvSpPr>
        <p:spPr>
          <a:xfrm>
            <a:off x="27705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2</a:t>
            </a:r>
            <a:endParaRPr lang="fr-FR" sz="1100" b="0" u="none" strike="noStrike">
              <a:solidFill>
                <a:srgbClr val="000000"/>
              </a:solidFill>
              <a:effectLst/>
              <a:uFillTx/>
              <a:latin typeface="Arial"/>
            </a:endParaRPr>
          </a:p>
        </p:txBody>
      </p:sp>
      <p:sp>
        <p:nvSpPr>
          <p:cNvPr id="459" name="Text 13"/>
          <p:cNvSpPr/>
          <p:nvPr/>
        </p:nvSpPr>
        <p:spPr>
          <a:xfrm>
            <a:off x="21304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Survol</a:t>
            </a:r>
            <a:endParaRPr lang="fr-FR" sz="1100" b="0" u="none" strike="noStrike">
              <a:solidFill>
                <a:srgbClr val="000000"/>
              </a:solidFill>
              <a:effectLst/>
              <a:uFillTx/>
              <a:latin typeface="Arial"/>
            </a:endParaRPr>
          </a:p>
        </p:txBody>
      </p:sp>
      <p:sp>
        <p:nvSpPr>
          <p:cNvPr id="460" name="Text 14"/>
          <p:cNvSpPr/>
          <p:nvPr/>
        </p:nvSpPr>
        <p:spPr>
          <a:xfrm>
            <a:off x="21304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Lecture rapide, effectue un Scroll + à propos (30s)</a:t>
            </a:r>
            <a:endParaRPr lang="fr-FR" sz="900" b="0" u="none" strike="noStrike">
              <a:solidFill>
                <a:srgbClr val="000000"/>
              </a:solidFill>
              <a:effectLst/>
              <a:uFillTx/>
              <a:latin typeface="Arial"/>
            </a:endParaRPr>
          </a:p>
        </p:txBody>
      </p:sp>
      <p:sp>
        <p:nvSpPr>
          <p:cNvPr id="461" name="Text 15"/>
          <p:cNvSpPr/>
          <p:nvPr/>
        </p:nvSpPr>
        <p:spPr>
          <a:xfrm>
            <a:off x="368496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462" name="Shape 16"/>
          <p:cNvSpPr/>
          <p:nvPr/>
        </p:nvSpPr>
        <p:spPr>
          <a:xfrm>
            <a:off x="444384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63" name="Text 17"/>
          <p:cNvSpPr/>
          <p:nvPr/>
        </p:nvSpPr>
        <p:spPr>
          <a:xfrm>
            <a:off x="444384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3</a:t>
            </a:r>
            <a:endParaRPr lang="fr-FR" sz="1100" b="0" u="none" strike="noStrike">
              <a:solidFill>
                <a:srgbClr val="000000"/>
              </a:solidFill>
              <a:effectLst/>
              <a:uFillTx/>
              <a:latin typeface="Arial"/>
            </a:endParaRPr>
          </a:p>
        </p:txBody>
      </p:sp>
      <p:sp>
        <p:nvSpPr>
          <p:cNvPr id="464" name="Text 18"/>
          <p:cNvSpPr/>
          <p:nvPr/>
        </p:nvSpPr>
        <p:spPr>
          <a:xfrm>
            <a:off x="380376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Projets</a:t>
            </a:r>
            <a:endParaRPr lang="fr-FR" sz="1100" b="0" u="none" strike="noStrike">
              <a:solidFill>
                <a:srgbClr val="000000"/>
              </a:solidFill>
              <a:effectLst/>
              <a:uFillTx/>
              <a:latin typeface="Arial"/>
            </a:endParaRPr>
          </a:p>
        </p:txBody>
      </p:sp>
      <p:sp>
        <p:nvSpPr>
          <p:cNvPr id="465" name="Text 19"/>
          <p:cNvSpPr/>
          <p:nvPr/>
        </p:nvSpPr>
        <p:spPr>
          <a:xfrm>
            <a:off x="380376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Elle interagit avec les filtres de compétences et consulte la fiche détaillée d'un projet </a:t>
            </a:r>
            <a:endParaRPr lang="fr-FR" sz="900" b="0" u="none" strike="noStrike">
              <a:solidFill>
                <a:srgbClr val="000000"/>
              </a:solidFill>
              <a:effectLst/>
              <a:uFillTx/>
              <a:latin typeface="Arial"/>
            </a:endParaRPr>
          </a:p>
        </p:txBody>
      </p:sp>
      <p:sp>
        <p:nvSpPr>
          <p:cNvPr id="466" name="Text 20"/>
          <p:cNvSpPr/>
          <p:nvPr/>
        </p:nvSpPr>
        <p:spPr>
          <a:xfrm>
            <a:off x="535824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467" name="Shape 21"/>
          <p:cNvSpPr/>
          <p:nvPr/>
        </p:nvSpPr>
        <p:spPr>
          <a:xfrm>
            <a:off x="61174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68" name="Text 22"/>
          <p:cNvSpPr/>
          <p:nvPr/>
        </p:nvSpPr>
        <p:spPr>
          <a:xfrm>
            <a:off x="61174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4</a:t>
            </a:r>
            <a:endParaRPr lang="fr-FR" sz="1100" b="0" u="none" strike="noStrike">
              <a:solidFill>
                <a:srgbClr val="000000"/>
              </a:solidFill>
              <a:effectLst/>
              <a:uFillTx/>
              <a:latin typeface="Arial"/>
            </a:endParaRPr>
          </a:p>
        </p:txBody>
      </p:sp>
      <p:sp>
        <p:nvSpPr>
          <p:cNvPr id="469" name="Text 23"/>
          <p:cNvSpPr/>
          <p:nvPr/>
        </p:nvSpPr>
        <p:spPr>
          <a:xfrm>
            <a:off x="54774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CV</a:t>
            </a:r>
            <a:endParaRPr lang="fr-FR" sz="1100" b="0" u="none" strike="noStrike">
              <a:solidFill>
                <a:srgbClr val="000000"/>
              </a:solidFill>
              <a:effectLst/>
              <a:uFillTx/>
              <a:latin typeface="Arial"/>
            </a:endParaRPr>
          </a:p>
        </p:txBody>
      </p:sp>
      <p:sp>
        <p:nvSpPr>
          <p:cNvPr id="470" name="Text 24"/>
          <p:cNvSpPr/>
          <p:nvPr/>
        </p:nvSpPr>
        <p:spPr>
          <a:xfrm>
            <a:off x="54774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Le clic sur le CTA déclenche l’ouverture d’un CV dans un nouvel onglet ou sans rupture de navigation </a:t>
            </a:r>
            <a:endParaRPr lang="fr-FR" sz="900" b="0" u="none" strike="noStrike">
              <a:solidFill>
                <a:srgbClr val="000000"/>
              </a:solidFill>
              <a:effectLst/>
              <a:uFillTx/>
              <a:latin typeface="Arial"/>
            </a:endParaRPr>
          </a:p>
        </p:txBody>
      </p:sp>
      <p:sp>
        <p:nvSpPr>
          <p:cNvPr id="471" name="Text 25"/>
          <p:cNvSpPr/>
          <p:nvPr/>
        </p:nvSpPr>
        <p:spPr>
          <a:xfrm>
            <a:off x="70318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472" name="Shape 26"/>
          <p:cNvSpPr/>
          <p:nvPr/>
        </p:nvSpPr>
        <p:spPr>
          <a:xfrm>
            <a:off x="77907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73" name="Text 27"/>
          <p:cNvSpPr/>
          <p:nvPr/>
        </p:nvSpPr>
        <p:spPr>
          <a:xfrm>
            <a:off x="77907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5</a:t>
            </a:r>
            <a:endParaRPr lang="fr-FR" sz="1100" b="0" u="none" strike="noStrike">
              <a:solidFill>
                <a:srgbClr val="000000"/>
              </a:solidFill>
              <a:effectLst/>
              <a:uFillTx/>
              <a:latin typeface="Arial"/>
            </a:endParaRPr>
          </a:p>
        </p:txBody>
      </p:sp>
      <p:sp>
        <p:nvSpPr>
          <p:cNvPr id="474" name="Text 28"/>
          <p:cNvSpPr/>
          <p:nvPr/>
        </p:nvSpPr>
        <p:spPr>
          <a:xfrm>
            <a:off x="71506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Contact</a:t>
            </a:r>
            <a:endParaRPr lang="fr-FR" sz="1100" b="0" u="none" strike="noStrike">
              <a:solidFill>
                <a:srgbClr val="000000"/>
              </a:solidFill>
              <a:effectLst/>
              <a:uFillTx/>
              <a:latin typeface="Arial"/>
            </a:endParaRPr>
          </a:p>
        </p:txBody>
      </p:sp>
      <p:sp>
        <p:nvSpPr>
          <p:cNvPr id="475" name="Text 29"/>
          <p:cNvSpPr/>
          <p:nvPr/>
        </p:nvSpPr>
        <p:spPr>
          <a:xfrm>
            <a:off x="71506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  Nom/Entreprise, Objet, E-mail, Message pour entretien</a:t>
            </a:r>
            <a:endParaRPr lang="fr-FR" sz="900" b="0" u="none" strike="noStrike">
              <a:solidFill>
                <a:srgbClr val="000000"/>
              </a:solidFill>
              <a:effectLst/>
              <a:uFillTx/>
              <a:latin typeface="Arial"/>
            </a:endParaRPr>
          </a:p>
        </p:txBody>
      </p:sp>
      <p:sp>
        <p:nvSpPr>
          <p:cNvPr id="476" name="Text 30"/>
          <p:cNvSpPr/>
          <p:nvPr/>
        </p:nvSpPr>
        <p:spPr>
          <a:xfrm>
            <a:off x="457200" y="374904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ATTENTES &amp; BESOINS CLÉS</a:t>
            </a:r>
            <a:endParaRPr lang="fr-FR" sz="1000" b="0" u="none" strike="noStrike">
              <a:solidFill>
                <a:srgbClr val="000000"/>
              </a:solidFill>
              <a:effectLst/>
              <a:uFillTx/>
              <a:latin typeface="Arial"/>
            </a:endParaRPr>
          </a:p>
        </p:txBody>
      </p:sp>
      <p:sp>
        <p:nvSpPr>
          <p:cNvPr id="477" name="Text 31"/>
          <p:cNvSpPr/>
          <p:nvPr/>
        </p:nvSpPr>
        <p:spPr>
          <a:xfrm>
            <a:off x="457200" y="40690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Un site clair, professionnel, rapide. Informations structurées et hiérarchisées. Design sobre, palette minérale qui inspire confiance. Présence d'un CTA principal « Télécharger le CV » (pdf) et d'un contact évident. Cohérence entre la formation, le parcours antérieur et les projets exposés.</a:t>
            </a:r>
            <a:endParaRPr lang="fr-FR" sz="1100" b="0" u="none" strike="noStrike">
              <a:solidFill>
                <a:srgbClr val="000000"/>
              </a:solidFill>
              <a:effectLst/>
              <a:uFillTx/>
              <a:latin typeface="Arial"/>
            </a:endParaRPr>
          </a:p>
        </p:txBody>
      </p:sp>
      <p:sp>
        <p:nvSpPr>
          <p:cNvPr id="478" name="Shape 3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79" name="Text 3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480" name="Text 3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48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48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48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484"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SECONDAIRE · 02</a:t>
            </a:r>
            <a:endParaRPr lang="fr-FR" sz="1300" b="0" u="none" strike="noStrike">
              <a:solidFill>
                <a:srgbClr val="000000"/>
              </a:solidFill>
              <a:effectLst/>
              <a:uFillTx/>
              <a:latin typeface="Arial"/>
            </a:endParaRPr>
          </a:p>
        </p:txBody>
      </p:sp>
      <p:sp>
        <p:nvSpPr>
          <p:cNvPr id="485"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Julien LEFEVRE</a:t>
            </a:r>
            <a:endParaRPr lang="fr-FR" sz="3800" b="0" u="none" strike="noStrike">
              <a:solidFill>
                <a:srgbClr val="000000"/>
              </a:solidFill>
              <a:effectLst/>
              <a:uFillTx/>
              <a:latin typeface="Arial"/>
            </a:endParaRPr>
          </a:p>
        </p:txBody>
      </p:sp>
      <p:sp>
        <p:nvSpPr>
          <p:cNvPr id="486"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Entrepreneur e-commerce — Client free-lance</a:t>
            </a:r>
            <a:endParaRPr lang="fr-FR" sz="1300" b="0" u="none" strike="noStrike">
              <a:solidFill>
                <a:srgbClr val="000000"/>
              </a:solidFill>
              <a:effectLst/>
              <a:uFillTx/>
              <a:latin typeface="Arial"/>
            </a:endParaRPr>
          </a:p>
        </p:txBody>
      </p:sp>
      <p:sp>
        <p:nvSpPr>
          <p:cNvPr id="487" name="Shape 6"/>
          <p:cNvSpPr/>
          <p:nvPr/>
        </p:nvSpPr>
        <p:spPr>
          <a:xfrm>
            <a:off x="457200" y="2148840"/>
            <a:ext cx="3101760" cy="241596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88" name="Text 7"/>
          <p:cNvSpPr/>
          <p:nvPr/>
        </p:nvSpPr>
        <p:spPr>
          <a:xfrm>
            <a:off x="640080" y="228600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IDENTITÉ</a:t>
            </a:r>
            <a:endParaRPr lang="fr-FR" sz="1000" b="0" u="none" strike="noStrike">
              <a:solidFill>
                <a:srgbClr val="000000"/>
              </a:solidFill>
              <a:effectLst/>
              <a:uFillTx/>
              <a:latin typeface="Arial"/>
            </a:endParaRPr>
          </a:p>
        </p:txBody>
      </p:sp>
      <p:sp>
        <p:nvSpPr>
          <p:cNvPr id="489" name="Text 8"/>
          <p:cNvSpPr/>
          <p:nvPr/>
        </p:nvSpPr>
        <p:spPr>
          <a:xfrm>
            <a:off x="640080" y="265176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ÂGE</a:t>
            </a:r>
            <a:endParaRPr lang="fr-FR" sz="900" b="0" u="none" strike="noStrike">
              <a:solidFill>
                <a:srgbClr val="000000"/>
              </a:solidFill>
              <a:effectLst/>
              <a:uFillTx/>
              <a:latin typeface="Arial"/>
            </a:endParaRPr>
          </a:p>
        </p:txBody>
      </p:sp>
      <p:sp>
        <p:nvSpPr>
          <p:cNvPr id="490" name="Text 9"/>
          <p:cNvSpPr/>
          <p:nvPr/>
        </p:nvSpPr>
        <p:spPr>
          <a:xfrm>
            <a:off x="1554480" y="265176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43 ans</a:t>
            </a:r>
            <a:endParaRPr lang="fr-FR" sz="1000" b="0" u="none" strike="noStrike">
              <a:solidFill>
                <a:srgbClr val="000000"/>
              </a:solidFill>
              <a:effectLst/>
              <a:uFillTx/>
              <a:latin typeface="Arial"/>
            </a:endParaRPr>
          </a:p>
        </p:txBody>
      </p:sp>
      <p:sp>
        <p:nvSpPr>
          <p:cNvPr id="491" name="Text 10"/>
          <p:cNvSpPr/>
          <p:nvPr/>
        </p:nvSpPr>
        <p:spPr>
          <a:xfrm>
            <a:off x="640080" y="301752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POSTE</a:t>
            </a:r>
            <a:endParaRPr lang="fr-FR" sz="900" b="0" u="none" strike="noStrike">
              <a:solidFill>
                <a:srgbClr val="000000"/>
              </a:solidFill>
              <a:effectLst/>
              <a:uFillTx/>
              <a:latin typeface="Arial"/>
            </a:endParaRPr>
          </a:p>
        </p:txBody>
      </p:sp>
      <p:sp>
        <p:nvSpPr>
          <p:cNvPr id="492" name="Text 11"/>
          <p:cNvSpPr/>
          <p:nvPr/>
        </p:nvSpPr>
        <p:spPr>
          <a:xfrm>
            <a:off x="1554480" y="301752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Dirigeant TPE</a:t>
            </a:r>
            <a:endParaRPr lang="fr-FR" sz="1000" b="0" u="none" strike="noStrike">
              <a:solidFill>
                <a:srgbClr val="000000"/>
              </a:solidFill>
              <a:effectLst/>
              <a:uFillTx/>
              <a:latin typeface="Arial"/>
            </a:endParaRPr>
          </a:p>
        </p:txBody>
      </p:sp>
      <p:sp>
        <p:nvSpPr>
          <p:cNvPr id="493" name="Text 12"/>
          <p:cNvSpPr/>
          <p:nvPr/>
        </p:nvSpPr>
        <p:spPr>
          <a:xfrm>
            <a:off x="640080" y="338328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LIEU</a:t>
            </a:r>
            <a:endParaRPr lang="fr-FR" sz="900" b="0" u="none" strike="noStrike">
              <a:solidFill>
                <a:srgbClr val="000000"/>
              </a:solidFill>
              <a:effectLst/>
              <a:uFillTx/>
              <a:latin typeface="Arial"/>
            </a:endParaRPr>
          </a:p>
        </p:txBody>
      </p:sp>
      <p:sp>
        <p:nvSpPr>
          <p:cNvPr id="494" name="Text 13"/>
          <p:cNvSpPr/>
          <p:nvPr/>
        </p:nvSpPr>
        <p:spPr>
          <a:xfrm>
            <a:off x="1554480" y="338328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Caen (14)</a:t>
            </a:r>
            <a:endParaRPr lang="fr-FR" sz="1000" b="0" u="none" strike="noStrike">
              <a:solidFill>
                <a:srgbClr val="000000"/>
              </a:solidFill>
              <a:effectLst/>
              <a:uFillTx/>
              <a:latin typeface="Arial"/>
            </a:endParaRPr>
          </a:p>
        </p:txBody>
      </p:sp>
      <p:sp>
        <p:nvSpPr>
          <p:cNvPr id="495" name="Text 14"/>
          <p:cNvSpPr/>
          <p:nvPr/>
        </p:nvSpPr>
        <p:spPr>
          <a:xfrm>
            <a:off x="640080" y="374904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STATUT</a:t>
            </a:r>
            <a:endParaRPr lang="fr-FR" sz="900" b="0" u="none" strike="noStrike">
              <a:solidFill>
                <a:srgbClr val="000000"/>
              </a:solidFill>
              <a:effectLst/>
              <a:uFillTx/>
              <a:latin typeface="Arial"/>
            </a:endParaRPr>
          </a:p>
        </p:txBody>
      </p:sp>
      <p:sp>
        <p:nvSpPr>
          <p:cNvPr id="496" name="Text 15"/>
          <p:cNvSpPr/>
          <p:nvPr/>
        </p:nvSpPr>
        <p:spPr>
          <a:xfrm>
            <a:off x="1554480" y="374904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Indépendant</a:t>
            </a:r>
            <a:endParaRPr lang="fr-FR" sz="1000" b="0" u="none" strike="noStrike">
              <a:solidFill>
                <a:srgbClr val="000000"/>
              </a:solidFill>
              <a:effectLst/>
              <a:uFillTx/>
              <a:latin typeface="Arial"/>
            </a:endParaRPr>
          </a:p>
        </p:txBody>
      </p:sp>
      <p:sp>
        <p:nvSpPr>
          <p:cNvPr id="497" name="Text 16"/>
          <p:cNvSpPr/>
          <p:nvPr/>
        </p:nvSpPr>
        <p:spPr>
          <a:xfrm>
            <a:off x="640080" y="411480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TECH</a:t>
            </a:r>
            <a:endParaRPr lang="fr-FR" sz="900" b="0" u="none" strike="noStrike">
              <a:solidFill>
                <a:srgbClr val="000000"/>
              </a:solidFill>
              <a:effectLst/>
              <a:uFillTx/>
              <a:latin typeface="Arial"/>
            </a:endParaRPr>
          </a:p>
        </p:txBody>
      </p:sp>
      <p:sp>
        <p:nvSpPr>
          <p:cNvPr id="498" name="Text 17"/>
          <p:cNvSpPr/>
          <p:nvPr/>
        </p:nvSpPr>
        <p:spPr>
          <a:xfrm>
            <a:off x="1554480" y="411480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Maîtrise commerciale du digital</a:t>
            </a:r>
            <a:endParaRPr lang="fr-FR" sz="1000" b="0" u="none" strike="noStrike">
              <a:solidFill>
                <a:srgbClr val="000000"/>
              </a:solidFill>
              <a:effectLst/>
              <a:uFillTx/>
              <a:latin typeface="Arial"/>
            </a:endParaRPr>
          </a:p>
        </p:txBody>
      </p:sp>
      <p:sp>
        <p:nvSpPr>
          <p:cNvPr id="499" name="Text 18"/>
          <p:cNvSpPr/>
          <p:nvPr/>
        </p:nvSpPr>
        <p:spPr>
          <a:xfrm>
            <a:off x="3749040" y="214884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OBJECTIFS</a:t>
            </a:r>
            <a:endParaRPr lang="fr-FR" sz="1000" b="0" u="none" strike="noStrike">
              <a:solidFill>
                <a:srgbClr val="000000"/>
              </a:solidFill>
              <a:effectLst/>
              <a:uFillTx/>
              <a:latin typeface="Arial"/>
            </a:endParaRPr>
          </a:p>
        </p:txBody>
      </p:sp>
      <p:sp>
        <p:nvSpPr>
          <p:cNvPr id="500" name="Text 20"/>
          <p:cNvSpPr/>
          <p:nvPr/>
        </p:nvSpPr>
        <p:spPr>
          <a:xfrm>
            <a:off x="3749040" y="357300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FRUSTRATIONS</a:t>
            </a:r>
            <a:endParaRPr lang="fr-FR" sz="1000" b="0" u="none" strike="noStrike">
              <a:solidFill>
                <a:srgbClr val="000000"/>
              </a:solidFill>
              <a:effectLst/>
              <a:uFillTx/>
              <a:latin typeface="Arial"/>
            </a:endParaRPr>
          </a:p>
        </p:txBody>
      </p:sp>
      <p:sp>
        <p:nvSpPr>
          <p:cNvPr id="501" name="Text 21"/>
          <p:cNvSpPr/>
          <p:nvPr/>
        </p:nvSpPr>
        <p:spPr>
          <a:xfrm>
            <a:off x="3749040" y="3857040"/>
            <a:ext cx="5022000" cy="8614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Portfolios qui ne montrent que du visuel sans détail technique.</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Absence de fiches détaillées avec objectifs, défis techniques et solutions. </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Pas de mention des technologies utilisées par projet.</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Difficulté à évaluer la méthodologie de travail et le respect des détails.</a:t>
            </a:r>
            <a:endParaRPr lang="fr-FR" sz="1050" b="0" u="none" strike="noStrike">
              <a:solidFill>
                <a:srgbClr val="000000"/>
              </a:solidFill>
              <a:effectLst/>
              <a:uFillTx/>
              <a:latin typeface="Arial"/>
            </a:endParaRPr>
          </a:p>
        </p:txBody>
      </p:sp>
      <p:sp>
        <p:nvSpPr>
          <p:cNvPr id="502"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03"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504"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27</a:t>
            </a:r>
            <a:endParaRPr lang="fr-FR" sz="900" b="0" u="none" strike="noStrike">
              <a:solidFill>
                <a:srgbClr val="000000"/>
              </a:solidFill>
              <a:effectLst/>
              <a:uFillTx/>
              <a:latin typeface="Arial"/>
            </a:endParaRPr>
          </a:p>
        </p:txBody>
      </p:sp>
      <p:sp>
        <p:nvSpPr>
          <p:cNvPr id="505" name="Text 89"/>
          <p:cNvSpPr/>
          <p:nvPr/>
        </p:nvSpPr>
        <p:spPr>
          <a:xfrm>
            <a:off x="3749040" y="2468880"/>
            <a:ext cx="5022000" cy="9072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Identifier un développeur capable de concevoir ou d’optimiser son application e-commerce.</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Vérifier les compétences techniques de l’écosystème e-commerce.</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Évaluer la créativité et la capacité à proposer un design adapté.</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Évaluer le rapport qualité-prix d’une éventuelle prestation.</a:t>
            </a:r>
            <a:endParaRPr lang="fr-FR"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50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50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50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09"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SECONDAIRE · 02 · PARCOURS</a:t>
            </a:r>
            <a:endParaRPr lang="fr-FR" sz="1300" b="0" u="none" strike="noStrike">
              <a:solidFill>
                <a:srgbClr val="000000"/>
              </a:solidFill>
              <a:effectLst/>
              <a:uFillTx/>
              <a:latin typeface="Arial"/>
            </a:endParaRPr>
          </a:p>
        </p:txBody>
      </p:sp>
      <p:sp>
        <p:nvSpPr>
          <p:cNvPr id="510" name="Text 4"/>
          <p:cNvSpPr/>
          <p:nvPr/>
        </p:nvSpPr>
        <p:spPr>
          <a:xfrm>
            <a:off x="457200" y="1097280"/>
            <a:ext cx="82224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0A0A0A"/>
                </a:solidFill>
                <a:effectLst/>
                <a:uFillTx/>
                <a:latin typeface="Arelv"/>
                <a:ea typeface="Arelv"/>
              </a:rPr>
              <a:t>Julien LEFEVRE sur le portfolio</a:t>
            </a:r>
            <a:endParaRPr lang="fr-FR" sz="2800" b="0" u="none" strike="noStrike">
              <a:solidFill>
                <a:srgbClr val="000000"/>
              </a:solidFill>
              <a:effectLst/>
              <a:uFillTx/>
              <a:latin typeface="Arial"/>
            </a:endParaRPr>
          </a:p>
        </p:txBody>
      </p:sp>
      <p:sp>
        <p:nvSpPr>
          <p:cNvPr id="511" name="Text 5"/>
          <p:cNvSpPr/>
          <p:nvPr/>
        </p:nvSpPr>
        <p:spPr>
          <a:xfrm>
            <a:off x="457200" y="187452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PARCOURS TYPE</a:t>
            </a:r>
            <a:endParaRPr lang="fr-FR" sz="1000" b="0" u="none" strike="noStrike">
              <a:solidFill>
                <a:srgbClr val="000000"/>
              </a:solidFill>
              <a:effectLst/>
              <a:uFillTx/>
              <a:latin typeface="Arial"/>
            </a:endParaRPr>
          </a:p>
        </p:txBody>
      </p:sp>
      <p:sp>
        <p:nvSpPr>
          <p:cNvPr id="512" name="Shape 6"/>
          <p:cNvSpPr/>
          <p:nvPr/>
        </p:nvSpPr>
        <p:spPr>
          <a:xfrm>
            <a:off x="10972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13" name="Text 7"/>
          <p:cNvSpPr/>
          <p:nvPr/>
        </p:nvSpPr>
        <p:spPr>
          <a:xfrm>
            <a:off x="10972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1</a:t>
            </a:r>
            <a:endParaRPr lang="fr-FR" sz="1100" b="0" u="none" strike="noStrike">
              <a:solidFill>
                <a:srgbClr val="000000"/>
              </a:solidFill>
              <a:effectLst/>
              <a:uFillTx/>
              <a:latin typeface="Arial"/>
            </a:endParaRPr>
          </a:p>
        </p:txBody>
      </p:sp>
      <p:sp>
        <p:nvSpPr>
          <p:cNvPr id="514" name="Text 8"/>
          <p:cNvSpPr/>
          <p:nvPr/>
        </p:nvSpPr>
        <p:spPr>
          <a:xfrm>
            <a:off x="4572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Arrivée</a:t>
            </a:r>
            <a:endParaRPr lang="fr-FR" sz="1100" b="0" u="none" strike="noStrike">
              <a:solidFill>
                <a:srgbClr val="000000"/>
              </a:solidFill>
              <a:effectLst/>
              <a:uFillTx/>
              <a:latin typeface="Arial"/>
            </a:endParaRPr>
          </a:p>
        </p:txBody>
      </p:sp>
      <p:sp>
        <p:nvSpPr>
          <p:cNvPr id="515" name="Text 9"/>
          <p:cNvSpPr/>
          <p:nvPr/>
        </p:nvSpPr>
        <p:spPr>
          <a:xfrm>
            <a:off x="4572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Sur la Hero Banner (section d’accueil) via recherche Google ou recommandation pro </a:t>
            </a:r>
            <a:endParaRPr lang="fr-FR" sz="900" b="0" u="none" strike="noStrike">
              <a:solidFill>
                <a:srgbClr val="000000"/>
              </a:solidFill>
              <a:effectLst/>
              <a:uFillTx/>
              <a:latin typeface="Arial"/>
            </a:endParaRPr>
          </a:p>
        </p:txBody>
      </p:sp>
      <p:sp>
        <p:nvSpPr>
          <p:cNvPr id="516" name="Text 10"/>
          <p:cNvSpPr/>
          <p:nvPr/>
        </p:nvSpPr>
        <p:spPr>
          <a:xfrm>
            <a:off x="20116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17" name="Shape 11"/>
          <p:cNvSpPr/>
          <p:nvPr/>
        </p:nvSpPr>
        <p:spPr>
          <a:xfrm>
            <a:off x="27705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18" name="Text 12"/>
          <p:cNvSpPr/>
          <p:nvPr/>
        </p:nvSpPr>
        <p:spPr>
          <a:xfrm>
            <a:off x="27705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2</a:t>
            </a:r>
            <a:endParaRPr lang="fr-FR" sz="1100" b="0" u="none" strike="noStrike">
              <a:solidFill>
                <a:srgbClr val="000000"/>
              </a:solidFill>
              <a:effectLst/>
              <a:uFillTx/>
              <a:latin typeface="Arial"/>
            </a:endParaRPr>
          </a:p>
        </p:txBody>
      </p:sp>
      <p:sp>
        <p:nvSpPr>
          <p:cNvPr id="519" name="Text 13"/>
          <p:cNvSpPr/>
          <p:nvPr/>
        </p:nvSpPr>
        <p:spPr>
          <a:xfrm>
            <a:off x="21304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Projets</a:t>
            </a:r>
            <a:endParaRPr lang="fr-FR" sz="1100" b="0" u="none" strike="noStrike">
              <a:solidFill>
                <a:srgbClr val="000000"/>
              </a:solidFill>
              <a:effectLst/>
              <a:uFillTx/>
              <a:latin typeface="Arial"/>
            </a:endParaRPr>
          </a:p>
        </p:txBody>
      </p:sp>
      <p:sp>
        <p:nvSpPr>
          <p:cNvPr id="520" name="Text 14"/>
          <p:cNvSpPr/>
          <p:nvPr/>
        </p:nvSpPr>
        <p:spPr>
          <a:xfrm>
            <a:off x="21304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Scroll et examen détaillé des réalisations e-commerc</a:t>
            </a:r>
            <a:endParaRPr lang="fr-FR" sz="900" b="0" u="none" strike="noStrike">
              <a:solidFill>
                <a:srgbClr val="000000"/>
              </a:solidFill>
              <a:effectLst/>
              <a:uFillTx/>
              <a:latin typeface="Arial"/>
            </a:endParaRPr>
          </a:p>
        </p:txBody>
      </p:sp>
      <p:sp>
        <p:nvSpPr>
          <p:cNvPr id="521" name="Text 15"/>
          <p:cNvSpPr/>
          <p:nvPr/>
        </p:nvSpPr>
        <p:spPr>
          <a:xfrm>
            <a:off x="368496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22" name="Shape 16"/>
          <p:cNvSpPr/>
          <p:nvPr/>
        </p:nvSpPr>
        <p:spPr>
          <a:xfrm>
            <a:off x="444384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23" name="Text 17"/>
          <p:cNvSpPr/>
          <p:nvPr/>
        </p:nvSpPr>
        <p:spPr>
          <a:xfrm>
            <a:off x="444384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3</a:t>
            </a:r>
            <a:endParaRPr lang="fr-FR" sz="1100" b="0" u="none" strike="noStrike">
              <a:solidFill>
                <a:srgbClr val="000000"/>
              </a:solidFill>
              <a:effectLst/>
              <a:uFillTx/>
              <a:latin typeface="Arial"/>
            </a:endParaRPr>
          </a:p>
        </p:txBody>
      </p:sp>
      <p:sp>
        <p:nvSpPr>
          <p:cNvPr id="524" name="Text 18"/>
          <p:cNvSpPr/>
          <p:nvPr/>
        </p:nvSpPr>
        <p:spPr>
          <a:xfrm>
            <a:off x="380376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Compétences</a:t>
            </a:r>
            <a:endParaRPr lang="fr-FR" sz="1100" b="0" u="none" strike="noStrike">
              <a:solidFill>
                <a:srgbClr val="000000"/>
              </a:solidFill>
              <a:effectLst/>
              <a:uFillTx/>
              <a:latin typeface="Arial"/>
            </a:endParaRPr>
          </a:p>
        </p:txBody>
      </p:sp>
      <p:sp>
        <p:nvSpPr>
          <p:cNvPr id="525" name="Text 19"/>
          <p:cNvSpPr/>
          <p:nvPr/>
        </p:nvSpPr>
        <p:spPr>
          <a:xfrm>
            <a:off x="380376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Lecture de la Stack technique et des expériences</a:t>
            </a:r>
            <a:endParaRPr lang="fr-FR" sz="900" b="0" u="none" strike="noStrike">
              <a:solidFill>
                <a:srgbClr val="000000"/>
              </a:solidFill>
              <a:effectLst/>
              <a:uFillTx/>
              <a:latin typeface="Arial"/>
            </a:endParaRPr>
          </a:p>
        </p:txBody>
      </p:sp>
      <p:sp>
        <p:nvSpPr>
          <p:cNvPr id="526" name="Text 20"/>
          <p:cNvSpPr/>
          <p:nvPr/>
        </p:nvSpPr>
        <p:spPr>
          <a:xfrm>
            <a:off x="535824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27" name="Shape 21"/>
          <p:cNvSpPr/>
          <p:nvPr/>
        </p:nvSpPr>
        <p:spPr>
          <a:xfrm>
            <a:off x="61174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28" name="Text 22"/>
          <p:cNvSpPr/>
          <p:nvPr/>
        </p:nvSpPr>
        <p:spPr>
          <a:xfrm>
            <a:off x="61174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4</a:t>
            </a:r>
            <a:endParaRPr lang="fr-FR" sz="1100" b="0" u="none" strike="noStrike">
              <a:solidFill>
                <a:srgbClr val="000000"/>
              </a:solidFill>
              <a:effectLst/>
              <a:uFillTx/>
              <a:latin typeface="Arial"/>
            </a:endParaRPr>
          </a:p>
        </p:txBody>
      </p:sp>
      <p:sp>
        <p:nvSpPr>
          <p:cNvPr id="529" name="Text 23"/>
          <p:cNvSpPr/>
          <p:nvPr/>
        </p:nvSpPr>
        <p:spPr>
          <a:xfrm>
            <a:off x="54774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Devis</a:t>
            </a:r>
            <a:endParaRPr lang="fr-FR" sz="1100" b="0" u="none" strike="noStrike">
              <a:solidFill>
                <a:srgbClr val="000000"/>
              </a:solidFill>
              <a:effectLst/>
              <a:uFillTx/>
              <a:latin typeface="Arial"/>
            </a:endParaRPr>
          </a:p>
        </p:txBody>
      </p:sp>
      <p:sp>
        <p:nvSpPr>
          <p:cNvPr id="530" name="Text 24"/>
          <p:cNvSpPr/>
          <p:nvPr/>
        </p:nvSpPr>
        <p:spPr>
          <a:xfrm>
            <a:off x="54774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Formulaire de contact unique (option demande de devis)</a:t>
            </a:r>
            <a:endParaRPr lang="fr-FR" sz="900" b="0" u="none" strike="noStrike">
              <a:solidFill>
                <a:srgbClr val="000000"/>
              </a:solidFill>
              <a:effectLst/>
              <a:uFillTx/>
              <a:latin typeface="Arial"/>
            </a:endParaRPr>
          </a:p>
        </p:txBody>
      </p:sp>
      <p:sp>
        <p:nvSpPr>
          <p:cNvPr id="531" name="Text 25"/>
          <p:cNvSpPr/>
          <p:nvPr/>
        </p:nvSpPr>
        <p:spPr>
          <a:xfrm>
            <a:off x="70318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32" name="Shape 26"/>
          <p:cNvSpPr/>
          <p:nvPr/>
        </p:nvSpPr>
        <p:spPr>
          <a:xfrm>
            <a:off x="77907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33" name="Text 27"/>
          <p:cNvSpPr/>
          <p:nvPr/>
        </p:nvSpPr>
        <p:spPr>
          <a:xfrm>
            <a:off x="77907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5</a:t>
            </a:r>
            <a:endParaRPr lang="fr-FR" sz="1100" b="0" u="none" strike="noStrike">
              <a:solidFill>
                <a:srgbClr val="000000"/>
              </a:solidFill>
              <a:effectLst/>
              <a:uFillTx/>
              <a:latin typeface="Arial"/>
            </a:endParaRPr>
          </a:p>
        </p:txBody>
      </p:sp>
      <p:sp>
        <p:nvSpPr>
          <p:cNvPr id="534" name="Text 28"/>
          <p:cNvSpPr/>
          <p:nvPr/>
        </p:nvSpPr>
        <p:spPr>
          <a:xfrm>
            <a:off x="71506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Échange</a:t>
            </a:r>
            <a:endParaRPr lang="fr-FR" sz="1100" b="0" u="none" strike="noStrike">
              <a:solidFill>
                <a:srgbClr val="000000"/>
              </a:solidFill>
              <a:effectLst/>
              <a:uFillTx/>
              <a:latin typeface="Arial"/>
            </a:endParaRPr>
          </a:p>
        </p:txBody>
      </p:sp>
      <p:sp>
        <p:nvSpPr>
          <p:cNvPr id="535" name="Text 29"/>
          <p:cNvSpPr/>
          <p:nvPr/>
        </p:nvSpPr>
        <p:spPr>
          <a:xfrm>
            <a:off x="71506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37474F"/>
                </a:solidFill>
                <a:effectLst/>
                <a:uFillTx/>
                <a:latin typeface="Satoshi"/>
                <a:ea typeface="Satoshi"/>
              </a:rPr>
              <a:t>Demande d'appel pour cadrer le besoin</a:t>
            </a:r>
            <a:endParaRPr lang="fr-FR" sz="900" b="0" u="none" strike="noStrike">
              <a:solidFill>
                <a:srgbClr val="000000"/>
              </a:solidFill>
              <a:effectLst/>
              <a:uFillTx/>
              <a:latin typeface="Arial"/>
            </a:endParaRPr>
          </a:p>
        </p:txBody>
      </p:sp>
      <p:sp>
        <p:nvSpPr>
          <p:cNvPr id="536" name="Text 30"/>
          <p:cNvSpPr/>
          <p:nvPr/>
        </p:nvSpPr>
        <p:spPr>
          <a:xfrm>
            <a:off x="457200" y="374904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ATTENTES &amp; BESOINS CLÉS</a:t>
            </a:r>
            <a:endParaRPr lang="fr-FR" sz="1000" b="0" u="none" strike="noStrike">
              <a:solidFill>
                <a:srgbClr val="000000"/>
              </a:solidFill>
              <a:effectLst/>
              <a:uFillTx/>
              <a:latin typeface="Arial"/>
            </a:endParaRPr>
          </a:p>
        </p:txBody>
      </p:sp>
      <p:sp>
        <p:nvSpPr>
          <p:cNvPr id="537" name="Text 31"/>
          <p:cNvSpPr/>
          <p:nvPr/>
        </p:nvSpPr>
        <p:spPr>
          <a:xfrm>
            <a:off x="457200" y="40690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100" b="0" u="none" strike="noStrike">
                <a:solidFill>
                  <a:srgbClr val="0A0A0A"/>
                </a:solidFill>
                <a:effectLst/>
                <a:uFillTx/>
                <a:latin typeface="Satoshi"/>
                <a:ea typeface="Satoshi"/>
              </a:rPr>
              <a:t>Portfolio démonstratif et concret. Présentation claire des technologies utilisées par projet. Études de cas avec contexte, mission et résultat. Accessibilité immédiate du formulaire de contact. Indices de fiabilité (témoignages, expériences professionnelles antérieures).</a:t>
            </a:r>
            <a:endParaRPr lang="fr-FR" sz="1100" b="0" u="none" strike="noStrike">
              <a:solidFill>
                <a:srgbClr val="000000"/>
              </a:solidFill>
              <a:effectLst/>
              <a:uFillTx/>
              <a:latin typeface="Arial"/>
            </a:endParaRPr>
          </a:p>
        </p:txBody>
      </p:sp>
      <p:sp>
        <p:nvSpPr>
          <p:cNvPr id="538" name="Shape 3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39" name="Text 3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540" name="Text 3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54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54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54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44"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SECONDAIRE · 03</a:t>
            </a:r>
            <a:endParaRPr lang="fr-FR" sz="1300" b="0" u="none" strike="noStrike">
              <a:solidFill>
                <a:srgbClr val="000000"/>
              </a:solidFill>
              <a:effectLst/>
              <a:uFillTx/>
              <a:latin typeface="Arial"/>
            </a:endParaRPr>
          </a:p>
        </p:txBody>
      </p:sp>
      <p:sp>
        <p:nvSpPr>
          <p:cNvPr id="545" name="Text 4"/>
          <p:cNvSpPr/>
          <p:nvPr/>
        </p:nvSpPr>
        <p:spPr>
          <a:xfrm>
            <a:off x="457200" y="1097280"/>
            <a:ext cx="82224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Simon DUPUIS</a:t>
            </a:r>
            <a:endParaRPr lang="fr-FR" sz="3800" b="0" u="none" strike="noStrike">
              <a:solidFill>
                <a:srgbClr val="000000"/>
              </a:solidFill>
              <a:effectLst/>
              <a:uFillTx/>
              <a:latin typeface="Arial"/>
            </a:endParaRPr>
          </a:p>
        </p:txBody>
      </p:sp>
      <p:sp>
        <p:nvSpPr>
          <p:cNvPr id="546" name="Text 5"/>
          <p:cNvSpPr/>
          <p:nvPr/>
        </p:nvSpPr>
        <p:spPr>
          <a:xfrm>
            <a:off x="457200" y="1691640"/>
            <a:ext cx="82224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Développeur front-end — Pair &amp; collaborateur</a:t>
            </a:r>
            <a:endParaRPr lang="fr-FR" sz="1300" b="0" u="none" strike="noStrike">
              <a:solidFill>
                <a:srgbClr val="000000"/>
              </a:solidFill>
              <a:effectLst/>
              <a:uFillTx/>
              <a:latin typeface="Arial"/>
            </a:endParaRPr>
          </a:p>
        </p:txBody>
      </p:sp>
      <p:sp>
        <p:nvSpPr>
          <p:cNvPr id="547" name="Shape 6"/>
          <p:cNvSpPr/>
          <p:nvPr/>
        </p:nvSpPr>
        <p:spPr>
          <a:xfrm>
            <a:off x="457200" y="2148840"/>
            <a:ext cx="3101760" cy="241596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48" name="Text 7"/>
          <p:cNvSpPr/>
          <p:nvPr/>
        </p:nvSpPr>
        <p:spPr>
          <a:xfrm>
            <a:off x="640080" y="228600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IDENTITÉ</a:t>
            </a:r>
            <a:endParaRPr lang="fr-FR" sz="1000" b="0" u="none" strike="noStrike">
              <a:solidFill>
                <a:srgbClr val="000000"/>
              </a:solidFill>
              <a:effectLst/>
              <a:uFillTx/>
              <a:latin typeface="Arial"/>
            </a:endParaRPr>
          </a:p>
        </p:txBody>
      </p:sp>
      <p:sp>
        <p:nvSpPr>
          <p:cNvPr id="549" name="Text 8"/>
          <p:cNvSpPr/>
          <p:nvPr/>
        </p:nvSpPr>
        <p:spPr>
          <a:xfrm>
            <a:off x="640080" y="265176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ÂGE</a:t>
            </a:r>
            <a:endParaRPr lang="fr-FR" sz="900" b="0" u="none" strike="noStrike">
              <a:solidFill>
                <a:srgbClr val="000000"/>
              </a:solidFill>
              <a:effectLst/>
              <a:uFillTx/>
              <a:latin typeface="Arial"/>
            </a:endParaRPr>
          </a:p>
        </p:txBody>
      </p:sp>
      <p:sp>
        <p:nvSpPr>
          <p:cNvPr id="550" name="Text 9"/>
          <p:cNvSpPr/>
          <p:nvPr/>
        </p:nvSpPr>
        <p:spPr>
          <a:xfrm>
            <a:off x="1554480" y="265176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42 ans</a:t>
            </a:r>
            <a:endParaRPr lang="fr-FR" sz="1000" b="0" u="none" strike="noStrike">
              <a:solidFill>
                <a:srgbClr val="000000"/>
              </a:solidFill>
              <a:effectLst/>
              <a:uFillTx/>
              <a:latin typeface="Arial"/>
            </a:endParaRPr>
          </a:p>
        </p:txBody>
      </p:sp>
      <p:sp>
        <p:nvSpPr>
          <p:cNvPr id="551" name="Text 10"/>
          <p:cNvSpPr/>
          <p:nvPr/>
        </p:nvSpPr>
        <p:spPr>
          <a:xfrm>
            <a:off x="640080" y="301752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POSTE</a:t>
            </a:r>
            <a:endParaRPr lang="fr-FR" sz="900" b="0" u="none" strike="noStrike">
              <a:solidFill>
                <a:srgbClr val="000000"/>
              </a:solidFill>
              <a:effectLst/>
              <a:uFillTx/>
              <a:latin typeface="Arial"/>
            </a:endParaRPr>
          </a:p>
        </p:txBody>
      </p:sp>
      <p:sp>
        <p:nvSpPr>
          <p:cNvPr id="552" name="Text 11"/>
          <p:cNvSpPr/>
          <p:nvPr/>
        </p:nvSpPr>
        <p:spPr>
          <a:xfrm>
            <a:off x="1554480" y="301752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Développeur Web</a:t>
            </a:r>
            <a:endParaRPr lang="fr-FR" sz="1000" b="0" u="none" strike="noStrike">
              <a:solidFill>
                <a:srgbClr val="000000"/>
              </a:solidFill>
              <a:effectLst/>
              <a:uFillTx/>
              <a:latin typeface="Arial"/>
            </a:endParaRPr>
          </a:p>
        </p:txBody>
      </p:sp>
      <p:sp>
        <p:nvSpPr>
          <p:cNvPr id="553" name="Text 12"/>
          <p:cNvSpPr/>
          <p:nvPr/>
        </p:nvSpPr>
        <p:spPr>
          <a:xfrm>
            <a:off x="640080" y="338328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LIEU</a:t>
            </a:r>
            <a:endParaRPr lang="fr-FR" sz="900" b="0" u="none" strike="noStrike">
              <a:solidFill>
                <a:srgbClr val="000000"/>
              </a:solidFill>
              <a:effectLst/>
              <a:uFillTx/>
              <a:latin typeface="Arial"/>
            </a:endParaRPr>
          </a:p>
        </p:txBody>
      </p:sp>
      <p:sp>
        <p:nvSpPr>
          <p:cNvPr id="554" name="Text 13"/>
          <p:cNvSpPr/>
          <p:nvPr/>
        </p:nvSpPr>
        <p:spPr>
          <a:xfrm>
            <a:off x="1554480" y="338328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Lyon (69)</a:t>
            </a:r>
            <a:endParaRPr lang="fr-FR" sz="1000" b="0" u="none" strike="noStrike">
              <a:solidFill>
                <a:srgbClr val="000000"/>
              </a:solidFill>
              <a:effectLst/>
              <a:uFillTx/>
              <a:latin typeface="Arial"/>
            </a:endParaRPr>
          </a:p>
        </p:txBody>
      </p:sp>
      <p:sp>
        <p:nvSpPr>
          <p:cNvPr id="555" name="Text 14"/>
          <p:cNvSpPr/>
          <p:nvPr/>
        </p:nvSpPr>
        <p:spPr>
          <a:xfrm>
            <a:off x="640080" y="374904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STATUT</a:t>
            </a:r>
            <a:endParaRPr lang="fr-FR" sz="900" b="0" u="none" strike="noStrike">
              <a:solidFill>
                <a:srgbClr val="000000"/>
              </a:solidFill>
              <a:effectLst/>
              <a:uFillTx/>
              <a:latin typeface="Arial"/>
            </a:endParaRPr>
          </a:p>
        </p:txBody>
      </p:sp>
      <p:sp>
        <p:nvSpPr>
          <p:cNvPr id="556" name="Text 15"/>
          <p:cNvSpPr/>
          <p:nvPr/>
        </p:nvSpPr>
        <p:spPr>
          <a:xfrm>
            <a:off x="1554480" y="374904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CDI dans une startup tech</a:t>
            </a:r>
            <a:endParaRPr lang="fr-FR" sz="1000" b="0" u="none" strike="noStrike">
              <a:solidFill>
                <a:srgbClr val="000000"/>
              </a:solidFill>
              <a:effectLst/>
              <a:uFillTx/>
              <a:latin typeface="Arial"/>
            </a:endParaRPr>
          </a:p>
        </p:txBody>
      </p:sp>
      <p:sp>
        <p:nvSpPr>
          <p:cNvPr id="557" name="Text 16"/>
          <p:cNvSpPr/>
          <p:nvPr/>
        </p:nvSpPr>
        <p:spPr>
          <a:xfrm>
            <a:off x="640080" y="411480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78909C"/>
                </a:solidFill>
                <a:effectLst/>
                <a:uFillTx/>
                <a:latin typeface="Satoshi"/>
                <a:ea typeface="Satoshi"/>
              </a:rPr>
              <a:t>TECH</a:t>
            </a:r>
            <a:endParaRPr lang="fr-FR" sz="900" b="0" u="none" strike="noStrike">
              <a:solidFill>
                <a:srgbClr val="000000"/>
              </a:solidFill>
              <a:effectLst/>
              <a:uFillTx/>
              <a:latin typeface="Arial"/>
            </a:endParaRPr>
          </a:p>
        </p:txBody>
      </p:sp>
      <p:sp>
        <p:nvSpPr>
          <p:cNvPr id="558" name="Text 17"/>
          <p:cNvSpPr/>
          <p:nvPr/>
        </p:nvSpPr>
        <p:spPr>
          <a:xfrm>
            <a:off x="1554480" y="4114800"/>
            <a:ext cx="19130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Expert technique</a:t>
            </a:r>
            <a:endParaRPr lang="fr-FR" sz="1000" b="0" u="none" strike="noStrike">
              <a:solidFill>
                <a:srgbClr val="000000"/>
              </a:solidFill>
              <a:effectLst/>
              <a:uFillTx/>
              <a:latin typeface="Arial"/>
            </a:endParaRPr>
          </a:p>
        </p:txBody>
      </p:sp>
      <p:sp>
        <p:nvSpPr>
          <p:cNvPr id="559" name="Text 18"/>
          <p:cNvSpPr/>
          <p:nvPr/>
        </p:nvSpPr>
        <p:spPr>
          <a:xfrm>
            <a:off x="3749040" y="214884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OBJECTIFS</a:t>
            </a:r>
            <a:endParaRPr lang="fr-FR" sz="1000" b="0" u="none" strike="noStrike">
              <a:solidFill>
                <a:srgbClr val="000000"/>
              </a:solidFill>
              <a:effectLst/>
              <a:uFillTx/>
              <a:latin typeface="Arial"/>
            </a:endParaRPr>
          </a:p>
        </p:txBody>
      </p:sp>
      <p:sp>
        <p:nvSpPr>
          <p:cNvPr id="560" name="Text 19"/>
          <p:cNvSpPr/>
          <p:nvPr/>
        </p:nvSpPr>
        <p:spPr>
          <a:xfrm>
            <a:off x="3749040" y="2468880"/>
            <a:ext cx="5022000" cy="9072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Découvrir le style et les méthodes de travail d'autres développeurs.</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S'inspirer de projets pour améliorer ses propres pratiques.</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Évaluer la qualité du code via GitHub.</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Évaluer un potentiel pour échanges techniques ou collaboration Open Source.</a:t>
            </a:r>
            <a:endParaRPr lang="fr-FR" sz="1050" b="0" u="none" strike="noStrike">
              <a:solidFill>
                <a:srgbClr val="000000"/>
              </a:solidFill>
              <a:effectLst/>
              <a:uFillTx/>
              <a:latin typeface="Arial"/>
            </a:endParaRPr>
          </a:p>
        </p:txBody>
      </p:sp>
      <p:sp>
        <p:nvSpPr>
          <p:cNvPr id="561" name="Text 20"/>
          <p:cNvSpPr/>
          <p:nvPr/>
        </p:nvSpPr>
        <p:spPr>
          <a:xfrm>
            <a:off x="3749040" y="3573000"/>
            <a:ext cx="5022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FRUSTRATIONS</a:t>
            </a:r>
            <a:endParaRPr lang="fr-FR" sz="1000" b="0" u="none" strike="noStrike">
              <a:solidFill>
                <a:srgbClr val="000000"/>
              </a:solidFill>
              <a:effectLst/>
              <a:uFillTx/>
              <a:latin typeface="Arial"/>
            </a:endParaRPr>
          </a:p>
        </p:txBody>
      </p:sp>
      <p:sp>
        <p:nvSpPr>
          <p:cNvPr id="562" name="Text 21"/>
          <p:cNvSpPr/>
          <p:nvPr/>
        </p:nvSpPr>
        <p:spPr>
          <a:xfrm>
            <a:off x="3749040" y="3857040"/>
            <a:ext cx="5022000" cy="8614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Portfolios beaux mais sans accès au code source.</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Absence de liens vers GitHub ou repositories vides.</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Description vague des choix d’architecture ou de la Stack.</a:t>
            </a:r>
            <a:endParaRPr lang="fr-FR" sz="1050" b="0" u="none" strike="noStrike">
              <a:solidFill>
                <a:srgbClr val="000000"/>
              </a:solidFill>
              <a:effectLst/>
              <a:uFillTx/>
              <a:latin typeface="Arial"/>
            </a:endParaRPr>
          </a:p>
          <a:p>
            <a:pPr defTabSz="914400">
              <a:lnSpc>
                <a:spcPct val="100000"/>
              </a:lnSpc>
              <a:spcAft>
                <a:spcPts val="201"/>
              </a:spcAft>
              <a:tabLst>
                <a:tab pos="0" algn="l"/>
              </a:tabLst>
            </a:pPr>
            <a:r>
              <a:rPr lang="fr-FR" sz="1050" b="0" u="none" strike="noStrike">
                <a:solidFill>
                  <a:srgbClr val="0A0A0A"/>
                </a:solidFill>
                <a:effectLst/>
                <a:uFillTx/>
                <a:latin typeface="Satoshi"/>
                <a:ea typeface="Satoshi"/>
              </a:rPr>
              <a:t>› Manque d'explication concrète sur la résolution des défis techniques.</a:t>
            </a:r>
            <a:endParaRPr lang="fr-FR" sz="1050" b="0" u="none" strike="noStrike">
              <a:solidFill>
                <a:srgbClr val="000000"/>
              </a:solidFill>
              <a:effectLst/>
              <a:uFillTx/>
              <a:latin typeface="Arial"/>
            </a:endParaRPr>
          </a:p>
        </p:txBody>
      </p:sp>
      <p:sp>
        <p:nvSpPr>
          <p:cNvPr id="563"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64"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565"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29</a:t>
            </a:r>
            <a:endParaRPr lang="fr-FR" sz="900" b="0" u="none" strike="noStrike">
              <a:solidFill>
                <a:srgbClr val="000000"/>
              </a:solidFill>
              <a:effectLst/>
              <a:uFillTx/>
              <a:latin typeface="Arial"/>
            </a:endParaRPr>
          </a:p>
        </p:txBody>
      </p:sp>
      <p:sp>
        <p:nvSpPr>
          <p:cNvPr id="566" name=""/>
          <p:cNvSpPr/>
          <p:nvPr/>
        </p:nvSpPr>
        <p:spPr>
          <a:xfrm>
            <a:off x="3780000" y="900000"/>
            <a:ext cx="4429800" cy="242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fr-FR" sz="1000" b="0" u="none" strike="noStrike">
                <a:solidFill>
                  <a:srgbClr val="000000"/>
                </a:solidFill>
                <a:effectLst/>
                <a:uFillTx/>
                <a:latin typeface="Arial"/>
              </a:rPr>
              <a:t>Manque d'explications concrÃ¨tes sur la rÃ©solution des dÃ©fis techniques </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56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56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56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570" name="Text 3"/>
          <p:cNvSpPr/>
          <p:nvPr/>
        </p:nvSpPr>
        <p:spPr>
          <a:xfrm>
            <a:off x="457200" y="77724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BF360C"/>
                </a:solidFill>
                <a:effectLst/>
                <a:uFillTx/>
                <a:latin typeface="Satoshi"/>
                <a:ea typeface="Satoshi"/>
              </a:rPr>
              <a:t>CIBLE SECONDAIRE · 03 · PARCOURS</a:t>
            </a:r>
            <a:endParaRPr lang="fr-FR" sz="1300" b="0" u="none" strike="noStrike">
              <a:solidFill>
                <a:srgbClr val="000000"/>
              </a:solidFill>
              <a:effectLst/>
              <a:uFillTx/>
              <a:latin typeface="Arial"/>
            </a:endParaRPr>
          </a:p>
        </p:txBody>
      </p:sp>
      <p:sp>
        <p:nvSpPr>
          <p:cNvPr id="571" name="Text 4"/>
          <p:cNvSpPr/>
          <p:nvPr/>
        </p:nvSpPr>
        <p:spPr>
          <a:xfrm>
            <a:off x="457200" y="1097280"/>
            <a:ext cx="82224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0A0A0A"/>
                </a:solidFill>
                <a:effectLst/>
                <a:uFillTx/>
                <a:latin typeface="Arelv"/>
                <a:ea typeface="Arelv"/>
              </a:rPr>
              <a:t>Simon DUPUIS sur le portfolio</a:t>
            </a:r>
            <a:endParaRPr lang="fr-FR" sz="2800" b="0" u="none" strike="noStrike">
              <a:solidFill>
                <a:srgbClr val="000000"/>
              </a:solidFill>
              <a:effectLst/>
              <a:uFillTx/>
              <a:latin typeface="Arial"/>
            </a:endParaRPr>
          </a:p>
        </p:txBody>
      </p:sp>
      <p:sp>
        <p:nvSpPr>
          <p:cNvPr id="572" name="Text 5"/>
          <p:cNvSpPr/>
          <p:nvPr/>
        </p:nvSpPr>
        <p:spPr>
          <a:xfrm>
            <a:off x="457200" y="187452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PARCOURS TYPE</a:t>
            </a:r>
            <a:endParaRPr lang="fr-FR" sz="1000" b="0" u="none" strike="noStrike">
              <a:solidFill>
                <a:srgbClr val="000000"/>
              </a:solidFill>
              <a:effectLst/>
              <a:uFillTx/>
              <a:latin typeface="Arial"/>
            </a:endParaRPr>
          </a:p>
        </p:txBody>
      </p:sp>
      <p:sp>
        <p:nvSpPr>
          <p:cNvPr id="573" name="Shape 6"/>
          <p:cNvSpPr/>
          <p:nvPr/>
        </p:nvSpPr>
        <p:spPr>
          <a:xfrm>
            <a:off x="10972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74" name="Text 7"/>
          <p:cNvSpPr/>
          <p:nvPr/>
        </p:nvSpPr>
        <p:spPr>
          <a:xfrm>
            <a:off x="10972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1</a:t>
            </a:r>
            <a:endParaRPr lang="fr-FR" sz="1100" b="0" u="none" strike="noStrike">
              <a:solidFill>
                <a:srgbClr val="000000"/>
              </a:solidFill>
              <a:effectLst/>
              <a:uFillTx/>
              <a:latin typeface="Arial"/>
            </a:endParaRPr>
          </a:p>
        </p:txBody>
      </p:sp>
      <p:sp>
        <p:nvSpPr>
          <p:cNvPr id="575" name="Text 8"/>
          <p:cNvSpPr/>
          <p:nvPr/>
        </p:nvSpPr>
        <p:spPr>
          <a:xfrm>
            <a:off x="4572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Arrivée</a:t>
            </a:r>
            <a:endParaRPr lang="fr-FR" sz="1100" b="0" u="none" strike="noStrike">
              <a:solidFill>
                <a:srgbClr val="000000"/>
              </a:solidFill>
              <a:effectLst/>
              <a:uFillTx/>
              <a:latin typeface="Arial"/>
            </a:endParaRPr>
          </a:p>
        </p:txBody>
      </p:sp>
      <p:sp>
        <p:nvSpPr>
          <p:cNvPr id="576" name="Text 9"/>
          <p:cNvSpPr/>
          <p:nvPr/>
        </p:nvSpPr>
        <p:spPr>
          <a:xfrm>
            <a:off x="4572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Sur la Hero Banner (section d’accueil) via un lien partagé sur LinkedIn ou Discord </a:t>
            </a:r>
            <a:endParaRPr lang="fr-FR" sz="900" b="0" u="none" strike="noStrike">
              <a:solidFill>
                <a:srgbClr val="000000"/>
              </a:solidFill>
              <a:effectLst/>
              <a:uFillTx/>
              <a:latin typeface="Arial"/>
            </a:endParaRPr>
          </a:p>
        </p:txBody>
      </p:sp>
      <p:sp>
        <p:nvSpPr>
          <p:cNvPr id="577" name="Text 10"/>
          <p:cNvSpPr/>
          <p:nvPr/>
        </p:nvSpPr>
        <p:spPr>
          <a:xfrm>
            <a:off x="20116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78" name="Shape 11"/>
          <p:cNvSpPr/>
          <p:nvPr/>
        </p:nvSpPr>
        <p:spPr>
          <a:xfrm>
            <a:off x="27705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79" name="Text 12"/>
          <p:cNvSpPr/>
          <p:nvPr/>
        </p:nvSpPr>
        <p:spPr>
          <a:xfrm>
            <a:off x="27705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2</a:t>
            </a:r>
            <a:endParaRPr lang="fr-FR" sz="1100" b="0" u="none" strike="noStrike">
              <a:solidFill>
                <a:srgbClr val="000000"/>
              </a:solidFill>
              <a:effectLst/>
              <a:uFillTx/>
              <a:latin typeface="Arial"/>
            </a:endParaRPr>
          </a:p>
        </p:txBody>
      </p:sp>
      <p:sp>
        <p:nvSpPr>
          <p:cNvPr id="580" name="Text 13"/>
          <p:cNvSpPr/>
          <p:nvPr/>
        </p:nvSpPr>
        <p:spPr>
          <a:xfrm>
            <a:off x="21304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Projets</a:t>
            </a:r>
            <a:endParaRPr lang="fr-FR" sz="1100" b="0" u="none" strike="noStrike">
              <a:solidFill>
                <a:srgbClr val="000000"/>
              </a:solidFill>
              <a:effectLst/>
              <a:uFillTx/>
              <a:latin typeface="Arial"/>
            </a:endParaRPr>
          </a:p>
        </p:txBody>
      </p:sp>
      <p:sp>
        <p:nvSpPr>
          <p:cNvPr id="581" name="Text 14"/>
          <p:cNvSpPr/>
          <p:nvPr/>
        </p:nvSpPr>
        <p:spPr>
          <a:xfrm>
            <a:off x="21304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37474F"/>
                </a:solidFill>
                <a:effectLst/>
                <a:uFillTx/>
                <a:latin typeface="Satoshi"/>
                <a:ea typeface="Satoshi"/>
              </a:rPr>
              <a:t>Scroll et examen technique des réalisations</a:t>
            </a:r>
            <a:endParaRPr lang="fr-FR" sz="900" b="0" u="none" strike="noStrike">
              <a:solidFill>
                <a:srgbClr val="000000"/>
              </a:solidFill>
              <a:effectLst/>
              <a:uFillTx/>
              <a:latin typeface="Arial"/>
            </a:endParaRPr>
          </a:p>
        </p:txBody>
      </p:sp>
      <p:sp>
        <p:nvSpPr>
          <p:cNvPr id="582" name="Text 15"/>
          <p:cNvSpPr/>
          <p:nvPr/>
        </p:nvSpPr>
        <p:spPr>
          <a:xfrm>
            <a:off x="368496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83" name="Shape 16"/>
          <p:cNvSpPr/>
          <p:nvPr/>
        </p:nvSpPr>
        <p:spPr>
          <a:xfrm>
            <a:off x="444384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84" name="Text 17"/>
          <p:cNvSpPr/>
          <p:nvPr/>
        </p:nvSpPr>
        <p:spPr>
          <a:xfrm>
            <a:off x="444384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3</a:t>
            </a:r>
            <a:endParaRPr lang="fr-FR" sz="1100" b="0" u="none" strike="noStrike">
              <a:solidFill>
                <a:srgbClr val="000000"/>
              </a:solidFill>
              <a:effectLst/>
              <a:uFillTx/>
              <a:latin typeface="Arial"/>
            </a:endParaRPr>
          </a:p>
        </p:txBody>
      </p:sp>
      <p:sp>
        <p:nvSpPr>
          <p:cNvPr id="585" name="Text 18"/>
          <p:cNvSpPr/>
          <p:nvPr/>
        </p:nvSpPr>
        <p:spPr>
          <a:xfrm>
            <a:off x="380376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Stack</a:t>
            </a:r>
            <a:endParaRPr lang="fr-FR" sz="1100" b="0" u="none" strike="noStrike">
              <a:solidFill>
                <a:srgbClr val="000000"/>
              </a:solidFill>
              <a:effectLst/>
              <a:uFillTx/>
              <a:latin typeface="Arial"/>
            </a:endParaRPr>
          </a:p>
        </p:txBody>
      </p:sp>
      <p:sp>
        <p:nvSpPr>
          <p:cNvPr id="586" name="Text 19"/>
          <p:cNvSpPr/>
          <p:nvPr/>
        </p:nvSpPr>
        <p:spPr>
          <a:xfrm>
            <a:off x="380376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Lecture des choix d'architecture et de la Stack sur la fiche projet </a:t>
            </a:r>
            <a:endParaRPr lang="fr-FR" sz="900" b="0" u="none" strike="noStrike">
              <a:solidFill>
                <a:srgbClr val="000000"/>
              </a:solidFill>
              <a:effectLst/>
              <a:uFillTx/>
              <a:latin typeface="Arial"/>
            </a:endParaRPr>
          </a:p>
        </p:txBody>
      </p:sp>
      <p:sp>
        <p:nvSpPr>
          <p:cNvPr id="587" name="Text 20"/>
          <p:cNvSpPr/>
          <p:nvPr/>
        </p:nvSpPr>
        <p:spPr>
          <a:xfrm>
            <a:off x="535824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88" name="Shape 21"/>
          <p:cNvSpPr/>
          <p:nvPr/>
        </p:nvSpPr>
        <p:spPr>
          <a:xfrm>
            <a:off x="611748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89" name="Text 22"/>
          <p:cNvSpPr/>
          <p:nvPr/>
        </p:nvSpPr>
        <p:spPr>
          <a:xfrm>
            <a:off x="611748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4</a:t>
            </a:r>
            <a:endParaRPr lang="fr-FR" sz="1100" b="0" u="none" strike="noStrike">
              <a:solidFill>
                <a:srgbClr val="000000"/>
              </a:solidFill>
              <a:effectLst/>
              <a:uFillTx/>
              <a:latin typeface="Arial"/>
            </a:endParaRPr>
          </a:p>
        </p:txBody>
      </p:sp>
      <p:sp>
        <p:nvSpPr>
          <p:cNvPr id="590" name="Text 23"/>
          <p:cNvSpPr/>
          <p:nvPr/>
        </p:nvSpPr>
        <p:spPr>
          <a:xfrm>
            <a:off x="547740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GitHub</a:t>
            </a:r>
            <a:endParaRPr lang="fr-FR" sz="1100" b="0" u="none" strike="noStrike">
              <a:solidFill>
                <a:srgbClr val="000000"/>
              </a:solidFill>
              <a:effectLst/>
              <a:uFillTx/>
              <a:latin typeface="Arial"/>
            </a:endParaRPr>
          </a:p>
        </p:txBody>
      </p:sp>
      <p:sp>
        <p:nvSpPr>
          <p:cNvPr id="591" name="Text 24"/>
          <p:cNvSpPr/>
          <p:nvPr/>
        </p:nvSpPr>
        <p:spPr>
          <a:xfrm>
            <a:off x="547740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Clic sur le CTA et inspection des repositories publics </a:t>
            </a:r>
            <a:endParaRPr lang="fr-FR" sz="900" b="0" u="none" strike="noStrike">
              <a:solidFill>
                <a:srgbClr val="000000"/>
              </a:solidFill>
              <a:effectLst/>
              <a:uFillTx/>
              <a:latin typeface="Arial"/>
            </a:endParaRPr>
          </a:p>
        </p:txBody>
      </p:sp>
      <p:sp>
        <p:nvSpPr>
          <p:cNvPr id="592" name="Text 25"/>
          <p:cNvSpPr/>
          <p:nvPr/>
        </p:nvSpPr>
        <p:spPr>
          <a:xfrm>
            <a:off x="7031880" y="2240280"/>
            <a:ext cx="111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BF360C"/>
                </a:solidFill>
                <a:effectLst/>
                <a:uFillTx/>
                <a:latin typeface="Satoshi"/>
                <a:ea typeface="Satoshi"/>
              </a:rPr>
              <a:t>›</a:t>
            </a:r>
            <a:endParaRPr lang="fr-FR" sz="1600" b="0" u="none" strike="noStrike">
              <a:solidFill>
                <a:srgbClr val="000000"/>
              </a:solidFill>
              <a:effectLst/>
              <a:uFillTx/>
              <a:latin typeface="Arial"/>
            </a:endParaRPr>
          </a:p>
        </p:txBody>
      </p:sp>
      <p:sp>
        <p:nvSpPr>
          <p:cNvPr id="593" name="Shape 26"/>
          <p:cNvSpPr/>
          <p:nvPr/>
        </p:nvSpPr>
        <p:spPr>
          <a:xfrm>
            <a:off x="7790760" y="2194560"/>
            <a:ext cx="267120" cy="267120"/>
          </a:xfrm>
          <a:prstGeom prst="ellipse">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94" name="Text 27"/>
          <p:cNvSpPr/>
          <p:nvPr/>
        </p:nvSpPr>
        <p:spPr>
          <a:xfrm>
            <a:off x="7790760" y="21945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5</a:t>
            </a:r>
            <a:endParaRPr lang="fr-FR" sz="1100" b="0" u="none" strike="noStrike">
              <a:solidFill>
                <a:srgbClr val="000000"/>
              </a:solidFill>
              <a:effectLst/>
              <a:uFillTx/>
              <a:latin typeface="Arial"/>
            </a:endParaRPr>
          </a:p>
        </p:txBody>
      </p:sp>
      <p:sp>
        <p:nvSpPr>
          <p:cNvPr id="595" name="Text 28"/>
          <p:cNvSpPr/>
          <p:nvPr/>
        </p:nvSpPr>
        <p:spPr>
          <a:xfrm>
            <a:off x="7150680" y="2560320"/>
            <a:ext cx="154728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0A0A0A"/>
                </a:solidFill>
                <a:effectLst/>
                <a:uFillTx/>
                <a:latin typeface="Arelv"/>
                <a:ea typeface="Arelv"/>
              </a:rPr>
              <a:t>Contact</a:t>
            </a:r>
            <a:endParaRPr lang="fr-FR" sz="1100" b="0" u="none" strike="noStrike">
              <a:solidFill>
                <a:srgbClr val="000000"/>
              </a:solidFill>
              <a:effectLst/>
              <a:uFillTx/>
              <a:latin typeface="Arial"/>
            </a:endParaRPr>
          </a:p>
        </p:txBody>
      </p:sp>
      <p:sp>
        <p:nvSpPr>
          <p:cNvPr id="596" name="Text 29"/>
          <p:cNvSpPr/>
          <p:nvPr/>
        </p:nvSpPr>
        <p:spPr>
          <a:xfrm>
            <a:off x="7150680" y="2834640"/>
            <a:ext cx="1547280" cy="6328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37474F"/>
                </a:solidFill>
                <a:effectLst/>
                <a:uFillTx/>
                <a:latin typeface="Satoshi"/>
                <a:ea typeface="Satoshi"/>
              </a:rPr>
              <a:t>Échange par mail ou réseaux pros</a:t>
            </a:r>
            <a:endParaRPr lang="fr-FR" sz="900" b="0" u="none" strike="noStrike">
              <a:solidFill>
                <a:srgbClr val="000000"/>
              </a:solidFill>
              <a:effectLst/>
              <a:uFillTx/>
              <a:latin typeface="Arial"/>
            </a:endParaRPr>
          </a:p>
        </p:txBody>
      </p:sp>
      <p:sp>
        <p:nvSpPr>
          <p:cNvPr id="597" name="Text 30"/>
          <p:cNvSpPr/>
          <p:nvPr/>
        </p:nvSpPr>
        <p:spPr>
          <a:xfrm>
            <a:off x="457200" y="374904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ATTENTES &amp; BESOINS CLÉS</a:t>
            </a:r>
            <a:endParaRPr lang="fr-FR" sz="1000" b="0" u="none" strike="noStrike">
              <a:solidFill>
                <a:srgbClr val="000000"/>
              </a:solidFill>
              <a:effectLst/>
              <a:uFillTx/>
              <a:latin typeface="Arial"/>
            </a:endParaRPr>
          </a:p>
        </p:txBody>
      </p:sp>
      <p:sp>
        <p:nvSpPr>
          <p:cNvPr id="598" name="Text 31"/>
          <p:cNvSpPr/>
          <p:nvPr/>
        </p:nvSpPr>
        <p:spPr>
          <a:xfrm>
            <a:off x="457200" y="40690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1100" b="0" u="none" strike="noStrike">
                <a:solidFill>
                  <a:srgbClr val="0A0A0A"/>
                </a:solidFill>
                <a:effectLst/>
                <a:uFillTx/>
                <a:latin typeface="Satoshi"/>
                <a:ea typeface="Satoshi"/>
              </a:rPr>
              <a:t>Portfolio transparent et détaillé. Code organisé et accessible publiquement. Choix techniques expliqués et justifiés. Possibilité de contact rapide pour échanger sur des idées ou projets Open Source. Design clair, ergonomique, centré sur l'efficacité et la lisibilité des fiches projets.</a:t>
            </a:r>
            <a:endParaRPr lang="fr-FR" sz="1100" b="0" u="none" strike="noStrike">
              <a:solidFill>
                <a:srgbClr val="000000"/>
              </a:solidFill>
              <a:effectLst/>
              <a:uFillTx/>
              <a:latin typeface="Arial"/>
            </a:endParaRPr>
          </a:p>
        </p:txBody>
      </p:sp>
      <p:sp>
        <p:nvSpPr>
          <p:cNvPr id="599" name="Shape 3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00" name="Text 3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601" name="Text 3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602"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04</a:t>
            </a:r>
            <a:endParaRPr lang="fr-FR" sz="28000" b="0" u="none" strike="noStrike">
              <a:solidFill>
                <a:srgbClr val="FFFFFF"/>
              </a:solidFill>
              <a:effectLst/>
              <a:uFillTx/>
              <a:latin typeface="Arial"/>
            </a:endParaRPr>
          </a:p>
        </p:txBody>
      </p:sp>
      <p:sp>
        <p:nvSpPr>
          <p:cNvPr id="603"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PÉRIMÈTRE &amp;</a:t>
            </a:r>
            <a:endParaRPr lang="fr-FR" sz="3200" b="0" u="none" strike="noStrike">
              <a:solidFill>
                <a:srgbClr val="FFFFFF"/>
              </a:solidFill>
              <a:effectLst/>
              <a:uFillTx/>
              <a:latin typeface="Arial"/>
            </a:endParaRPr>
          </a:p>
        </p:txBody>
      </p:sp>
      <p:sp>
        <p:nvSpPr>
          <p:cNvPr id="604"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FAISABILITÉ</a:t>
            </a:r>
            <a:endParaRPr lang="fr-FR" sz="3200" b="0" u="none" strike="noStrike">
              <a:solidFill>
                <a:srgbClr val="FFFFFF"/>
              </a:solidFill>
              <a:effectLst/>
              <a:uFillTx/>
              <a:latin typeface="Arial"/>
            </a:endParaRPr>
          </a:p>
        </p:txBody>
      </p:sp>
      <p:sp>
        <p:nvSpPr>
          <p:cNvPr id="605"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Quatrième partie · pages 31 → 38</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60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60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60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0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600" b="1" u="none" strike="noStrike">
                <a:solidFill>
                  <a:srgbClr val="0A0A0A"/>
                </a:solidFill>
                <a:effectLst/>
                <a:uFillTx/>
                <a:latin typeface="Arelv"/>
                <a:ea typeface="Arelv"/>
              </a:rPr>
              <a:t>PARTIES PRENANTES</a:t>
            </a:r>
            <a:endParaRPr lang="fr-FR" sz="4600" b="0" u="none" strike="noStrike">
              <a:solidFill>
                <a:srgbClr val="000000"/>
              </a:solidFill>
              <a:effectLst/>
              <a:uFillTx/>
              <a:latin typeface="Arial"/>
            </a:endParaRPr>
          </a:p>
        </p:txBody>
      </p:sp>
      <p:sp>
        <p:nvSpPr>
          <p:cNvPr id="61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Cartographie des acteurs du projet</a:t>
            </a:r>
            <a:endParaRPr lang="fr-FR" sz="1600" b="0" u="none" strike="noStrike">
              <a:solidFill>
                <a:srgbClr val="000000"/>
              </a:solidFill>
              <a:effectLst/>
              <a:uFillTx/>
              <a:latin typeface="Arial"/>
            </a:endParaRPr>
          </a:p>
        </p:txBody>
      </p:sp>
      <p:sp>
        <p:nvSpPr>
          <p:cNvPr id="611" name="Text 5"/>
          <p:cNvSpPr/>
          <p:nvPr/>
        </p:nvSpPr>
        <p:spPr>
          <a:xfrm>
            <a:off x="457200" y="210312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201" strike="noStrike">
                <a:solidFill>
                  <a:srgbClr val="BF360C"/>
                </a:solidFill>
                <a:effectLst/>
                <a:uFillTx/>
                <a:latin typeface="Satoshi"/>
                <a:ea typeface="Satoshi"/>
              </a:rPr>
              <a:t>INTERNE</a:t>
            </a:r>
            <a:endParaRPr lang="fr-FR" sz="1100" b="0" u="none" strike="noStrike">
              <a:solidFill>
                <a:srgbClr val="000000"/>
              </a:solidFill>
              <a:effectLst/>
              <a:uFillTx/>
              <a:latin typeface="Arial"/>
            </a:endParaRPr>
          </a:p>
        </p:txBody>
      </p:sp>
      <p:sp>
        <p:nvSpPr>
          <p:cNvPr id="612" name="Text 6"/>
          <p:cNvSpPr/>
          <p:nvPr/>
        </p:nvSpPr>
        <p:spPr>
          <a:xfrm>
            <a:off x="457200" y="242316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Chef de projet &amp; développeur</a:t>
            </a:r>
            <a:endParaRPr lang="fr-FR" sz="1100" b="0" u="none" strike="noStrike">
              <a:solidFill>
                <a:srgbClr val="000000"/>
              </a:solidFill>
              <a:effectLst/>
              <a:uFillTx/>
              <a:latin typeface="Arial"/>
            </a:endParaRPr>
          </a:p>
        </p:txBody>
      </p:sp>
      <p:sp>
        <p:nvSpPr>
          <p:cNvPr id="613" name="Text 7"/>
          <p:cNvSpPr/>
          <p:nvPr/>
        </p:nvSpPr>
        <p:spPr>
          <a:xfrm>
            <a:off x="457200" y="262440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Aymen CHAABANE</a:t>
            </a:r>
            <a:endParaRPr lang="fr-FR" sz="1000" b="0" u="none" strike="noStrike">
              <a:solidFill>
                <a:srgbClr val="000000"/>
              </a:solidFill>
              <a:effectLst/>
              <a:uFillTx/>
              <a:latin typeface="Arial"/>
            </a:endParaRPr>
          </a:p>
        </p:txBody>
      </p:sp>
      <p:sp>
        <p:nvSpPr>
          <p:cNvPr id="614" name="Text 8"/>
          <p:cNvSpPr/>
          <p:nvPr/>
        </p:nvSpPr>
        <p:spPr>
          <a:xfrm>
            <a:off x="457200" y="278964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Conception, développement, contenu, suivi.</a:t>
            </a:r>
            <a:endParaRPr lang="fr-FR" sz="950" b="0" u="none" strike="noStrike">
              <a:solidFill>
                <a:srgbClr val="000000"/>
              </a:solidFill>
              <a:effectLst/>
              <a:uFillTx/>
              <a:latin typeface="Arial"/>
            </a:endParaRPr>
          </a:p>
        </p:txBody>
      </p:sp>
      <p:sp>
        <p:nvSpPr>
          <p:cNvPr id="615" name="Text 9"/>
          <p:cNvSpPr/>
          <p:nvPr/>
        </p:nvSpPr>
        <p:spPr>
          <a:xfrm>
            <a:off x="457200" y="315468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Référent pédagogique FIM</a:t>
            </a:r>
            <a:endParaRPr lang="fr-FR" sz="1100" b="0" u="none" strike="noStrike">
              <a:solidFill>
                <a:srgbClr val="000000"/>
              </a:solidFill>
              <a:effectLst/>
              <a:uFillTx/>
              <a:latin typeface="Arial"/>
            </a:endParaRPr>
          </a:p>
        </p:txBody>
      </p:sp>
      <p:sp>
        <p:nvSpPr>
          <p:cNvPr id="616" name="Text 10"/>
          <p:cNvSpPr/>
          <p:nvPr/>
        </p:nvSpPr>
        <p:spPr>
          <a:xfrm>
            <a:off x="457200" y="335592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Benoît MOTTIN</a:t>
            </a:r>
            <a:endParaRPr lang="fr-FR" sz="1000" b="0" u="none" strike="noStrike">
              <a:solidFill>
                <a:srgbClr val="000000"/>
              </a:solidFill>
              <a:effectLst/>
              <a:uFillTx/>
              <a:latin typeface="Arial"/>
            </a:endParaRPr>
          </a:p>
        </p:txBody>
      </p:sp>
      <p:sp>
        <p:nvSpPr>
          <p:cNvPr id="617" name="Text 11"/>
          <p:cNvSpPr/>
          <p:nvPr/>
        </p:nvSpPr>
        <p:spPr>
          <a:xfrm>
            <a:off x="457200" y="352116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Cadrage méthodologique, suivi des jalons et évaluation finale. </a:t>
            </a:r>
            <a:endParaRPr lang="fr-FR" sz="950" b="0" u="none" strike="noStrike">
              <a:solidFill>
                <a:srgbClr val="000000"/>
              </a:solidFill>
              <a:effectLst/>
              <a:uFillTx/>
              <a:latin typeface="Arial"/>
            </a:endParaRPr>
          </a:p>
        </p:txBody>
      </p:sp>
      <p:sp>
        <p:nvSpPr>
          <p:cNvPr id="618" name="Text 12"/>
          <p:cNvSpPr/>
          <p:nvPr/>
        </p:nvSpPr>
        <p:spPr>
          <a:xfrm>
            <a:off x="457200" y="388620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Maître de stage Saobio</a:t>
            </a:r>
            <a:endParaRPr lang="fr-FR" sz="1100" b="0" u="none" strike="noStrike">
              <a:solidFill>
                <a:srgbClr val="000000"/>
              </a:solidFill>
              <a:effectLst/>
              <a:uFillTx/>
              <a:latin typeface="Arial"/>
            </a:endParaRPr>
          </a:p>
        </p:txBody>
      </p:sp>
      <p:sp>
        <p:nvSpPr>
          <p:cNvPr id="619" name="Text 13"/>
          <p:cNvSpPr/>
          <p:nvPr/>
        </p:nvSpPr>
        <p:spPr>
          <a:xfrm>
            <a:off x="457200" y="40874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Lucas TREHET</a:t>
            </a:r>
            <a:endParaRPr lang="fr-FR" sz="1000" b="0" u="none" strike="noStrike">
              <a:solidFill>
                <a:srgbClr val="000000"/>
              </a:solidFill>
              <a:effectLst/>
              <a:uFillTx/>
              <a:latin typeface="Arial"/>
            </a:endParaRPr>
          </a:p>
        </p:txBody>
      </p:sp>
      <p:sp>
        <p:nvSpPr>
          <p:cNvPr id="620" name="Text 14"/>
          <p:cNvSpPr/>
          <p:nvPr/>
        </p:nvSpPr>
        <p:spPr>
          <a:xfrm>
            <a:off x="457200" y="425268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Mise en application opérationnelle parallèle.</a:t>
            </a:r>
            <a:endParaRPr lang="fr-FR" sz="950" b="0" u="none" strike="noStrike">
              <a:solidFill>
                <a:srgbClr val="000000"/>
              </a:solidFill>
              <a:effectLst/>
              <a:uFillTx/>
              <a:latin typeface="Arial"/>
            </a:endParaRPr>
          </a:p>
        </p:txBody>
      </p:sp>
      <p:sp>
        <p:nvSpPr>
          <p:cNvPr id="621" name="Text 15"/>
          <p:cNvSpPr/>
          <p:nvPr/>
        </p:nvSpPr>
        <p:spPr>
          <a:xfrm>
            <a:off x="4934880" y="210312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201" strike="noStrike">
                <a:solidFill>
                  <a:srgbClr val="BF360C"/>
                </a:solidFill>
                <a:effectLst/>
                <a:uFillTx/>
                <a:latin typeface="Satoshi"/>
                <a:ea typeface="Satoshi"/>
              </a:rPr>
              <a:t>EXTERNE</a:t>
            </a:r>
            <a:endParaRPr lang="fr-FR" sz="1100" b="0" u="none" strike="noStrike">
              <a:solidFill>
                <a:srgbClr val="000000"/>
              </a:solidFill>
              <a:effectLst/>
              <a:uFillTx/>
              <a:latin typeface="Arial"/>
            </a:endParaRPr>
          </a:p>
        </p:txBody>
      </p:sp>
      <p:sp>
        <p:nvSpPr>
          <p:cNvPr id="622" name="Text 16"/>
          <p:cNvSpPr/>
          <p:nvPr/>
        </p:nvSpPr>
        <p:spPr>
          <a:xfrm>
            <a:off x="4934880" y="242316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Cibles primaires</a:t>
            </a:r>
            <a:endParaRPr lang="fr-FR" sz="1100" b="0" u="none" strike="noStrike">
              <a:solidFill>
                <a:srgbClr val="000000"/>
              </a:solidFill>
              <a:effectLst/>
              <a:uFillTx/>
              <a:latin typeface="Arial"/>
            </a:endParaRPr>
          </a:p>
        </p:txBody>
      </p:sp>
      <p:sp>
        <p:nvSpPr>
          <p:cNvPr id="623" name="Text 17"/>
          <p:cNvSpPr/>
          <p:nvPr/>
        </p:nvSpPr>
        <p:spPr>
          <a:xfrm>
            <a:off x="4934880" y="262440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Recruteurs &amp; RH</a:t>
            </a:r>
            <a:endParaRPr lang="fr-FR" sz="1000" b="0" u="none" strike="noStrike">
              <a:solidFill>
                <a:srgbClr val="000000"/>
              </a:solidFill>
              <a:effectLst/>
              <a:uFillTx/>
              <a:latin typeface="Arial"/>
            </a:endParaRPr>
          </a:p>
        </p:txBody>
      </p:sp>
      <p:sp>
        <p:nvSpPr>
          <p:cNvPr id="624" name="Text 18"/>
          <p:cNvSpPr/>
          <p:nvPr/>
        </p:nvSpPr>
        <p:spPr>
          <a:xfrm>
            <a:off x="4934880" y="278964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Évaluateurs principaux du portfolio en contexte de recrutement.</a:t>
            </a:r>
            <a:endParaRPr lang="fr-FR" sz="950" b="0" u="none" strike="noStrike">
              <a:solidFill>
                <a:srgbClr val="000000"/>
              </a:solidFill>
              <a:effectLst/>
              <a:uFillTx/>
              <a:latin typeface="Arial"/>
            </a:endParaRPr>
          </a:p>
        </p:txBody>
      </p:sp>
      <p:sp>
        <p:nvSpPr>
          <p:cNvPr id="625" name="Text 19"/>
          <p:cNvSpPr/>
          <p:nvPr/>
        </p:nvSpPr>
        <p:spPr>
          <a:xfrm>
            <a:off x="4934880" y="315468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Cibles secondaires</a:t>
            </a:r>
            <a:endParaRPr lang="fr-FR" sz="1100" b="0" u="none" strike="noStrike">
              <a:solidFill>
                <a:srgbClr val="000000"/>
              </a:solidFill>
              <a:effectLst/>
              <a:uFillTx/>
              <a:latin typeface="Arial"/>
            </a:endParaRPr>
          </a:p>
        </p:txBody>
      </p:sp>
      <p:sp>
        <p:nvSpPr>
          <p:cNvPr id="626" name="Text 20"/>
          <p:cNvSpPr/>
          <p:nvPr/>
        </p:nvSpPr>
        <p:spPr>
          <a:xfrm>
            <a:off x="4934880" y="335592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Clients &amp; pairs</a:t>
            </a:r>
            <a:endParaRPr lang="fr-FR" sz="1000" b="0" u="none" strike="noStrike">
              <a:solidFill>
                <a:srgbClr val="000000"/>
              </a:solidFill>
              <a:effectLst/>
              <a:uFillTx/>
              <a:latin typeface="Arial"/>
            </a:endParaRPr>
          </a:p>
        </p:txBody>
      </p:sp>
      <p:sp>
        <p:nvSpPr>
          <p:cNvPr id="627" name="Text 21"/>
          <p:cNvSpPr/>
          <p:nvPr/>
        </p:nvSpPr>
        <p:spPr>
          <a:xfrm>
            <a:off x="4934880" y="352116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Free-lance, collaborateurs développeurs, communauté académique.</a:t>
            </a:r>
            <a:endParaRPr lang="fr-FR" sz="950" b="0" u="none" strike="noStrike">
              <a:solidFill>
                <a:srgbClr val="000000"/>
              </a:solidFill>
              <a:effectLst/>
              <a:uFillTx/>
              <a:latin typeface="Arial"/>
            </a:endParaRPr>
          </a:p>
        </p:txBody>
      </p:sp>
      <p:sp>
        <p:nvSpPr>
          <p:cNvPr id="628" name="Text 22"/>
          <p:cNvSpPr/>
          <p:nvPr/>
        </p:nvSpPr>
        <p:spPr>
          <a:xfrm>
            <a:off x="4934880" y="388620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Prestataires techniques</a:t>
            </a:r>
            <a:endParaRPr lang="fr-FR" sz="1100" b="0" u="none" strike="noStrike">
              <a:solidFill>
                <a:srgbClr val="000000"/>
              </a:solidFill>
              <a:effectLst/>
              <a:uFillTx/>
              <a:latin typeface="Arial"/>
            </a:endParaRPr>
          </a:p>
        </p:txBody>
      </p:sp>
      <p:sp>
        <p:nvSpPr>
          <p:cNvPr id="629" name="Text 23"/>
          <p:cNvSpPr/>
          <p:nvPr/>
        </p:nvSpPr>
        <p:spPr>
          <a:xfrm>
            <a:off x="4934880" y="40874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Hébergeur &amp; registrar</a:t>
            </a:r>
            <a:endParaRPr lang="fr-FR" sz="1000" b="0" u="none" strike="noStrike">
              <a:solidFill>
                <a:srgbClr val="000000"/>
              </a:solidFill>
              <a:effectLst/>
              <a:uFillTx/>
              <a:latin typeface="Arial"/>
            </a:endParaRPr>
          </a:p>
        </p:txBody>
      </p:sp>
      <p:sp>
        <p:nvSpPr>
          <p:cNvPr id="630" name="Text 24"/>
          <p:cNvSpPr/>
          <p:nvPr/>
        </p:nvSpPr>
        <p:spPr>
          <a:xfrm>
            <a:off x="4934880" y="432468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50" b="0" u="none" strike="noStrike">
                <a:solidFill>
                  <a:srgbClr val="37474F"/>
                </a:solidFill>
                <a:effectLst/>
                <a:uFillTx/>
                <a:latin typeface="Satoshi"/>
                <a:ea typeface="Satoshi"/>
              </a:rPr>
              <a:t>Hébergeur distant &amp; Registrar (ex: o2switch ou Hostinger pour l'installation du CMS demandé) </a:t>
            </a:r>
            <a:endParaRPr lang="fr-FR" sz="950" b="0" u="none" strike="noStrike">
              <a:solidFill>
                <a:srgbClr val="000000"/>
              </a:solidFill>
              <a:effectLst/>
              <a:uFillTx/>
              <a:latin typeface="Arial"/>
            </a:endParaRPr>
          </a:p>
        </p:txBody>
      </p:sp>
      <p:sp>
        <p:nvSpPr>
          <p:cNvPr id="631" name="Shape 25"/>
          <p:cNvSpPr/>
          <p:nvPr/>
        </p:nvSpPr>
        <p:spPr>
          <a:xfrm>
            <a:off x="4617720" y="2103120"/>
            <a:ext cx="360" cy="2468880"/>
          </a:xfrm>
          <a:prstGeom prst="line">
            <a:avLst/>
          </a:prstGeom>
          <a:ln w="635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632" name="Shape 2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33" name="Text 2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634" name="Text 2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63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63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63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3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LIVRABLES</a:t>
            </a:r>
            <a:endParaRPr lang="fr-FR" sz="5000" b="0" u="none" strike="noStrike">
              <a:solidFill>
                <a:srgbClr val="000000"/>
              </a:solidFill>
              <a:effectLst/>
              <a:uFillTx/>
              <a:latin typeface="Arial"/>
            </a:endParaRPr>
          </a:p>
        </p:txBody>
      </p:sp>
      <p:sp>
        <p:nvSpPr>
          <p:cNvPr id="63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Éléments tangibles produits par le projet</a:t>
            </a:r>
            <a:endParaRPr lang="fr-FR" sz="1600" b="0" u="none" strike="noStrike">
              <a:solidFill>
                <a:srgbClr val="000000"/>
              </a:solidFill>
              <a:effectLst/>
              <a:uFillTx/>
              <a:latin typeface="Arial"/>
            </a:endParaRPr>
          </a:p>
        </p:txBody>
      </p:sp>
      <p:sp>
        <p:nvSpPr>
          <p:cNvPr id="640" name="Shape 5"/>
          <p:cNvSpPr/>
          <p:nvPr/>
        </p:nvSpPr>
        <p:spPr>
          <a:xfrm>
            <a:off x="457200" y="2103120"/>
            <a:ext cx="2644560" cy="23245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41" name="Text 6"/>
          <p:cNvSpPr/>
          <p:nvPr/>
        </p:nvSpPr>
        <p:spPr>
          <a:xfrm>
            <a:off x="594360" y="2240280"/>
            <a:ext cx="23702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PRODUIT</a:t>
            </a:r>
            <a:endParaRPr lang="fr-FR" sz="1300" b="0" u="none" strike="noStrike">
              <a:solidFill>
                <a:srgbClr val="000000"/>
              </a:solidFill>
              <a:effectLst/>
              <a:uFillTx/>
              <a:latin typeface="Arial"/>
            </a:endParaRPr>
          </a:p>
        </p:txBody>
      </p:sp>
      <p:sp>
        <p:nvSpPr>
          <p:cNvPr id="642" name="Shape 7"/>
          <p:cNvSpPr/>
          <p:nvPr/>
        </p:nvSpPr>
        <p:spPr>
          <a:xfrm>
            <a:off x="594360" y="2606040"/>
            <a:ext cx="31284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643" name="Text 8"/>
          <p:cNvSpPr/>
          <p:nvPr/>
        </p:nvSpPr>
        <p:spPr>
          <a:xfrm>
            <a:off x="594360" y="2788920"/>
            <a:ext cx="2370240" cy="1547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Site web responsive multilingue (FR / EN / JA / AR)</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Domaine actif : aymen-chaabane.fr</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Hébergement opérationnel + certificat SSL</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Page 404 personnalisée + bannière RGPD</a:t>
            </a:r>
            <a:endParaRPr lang="fr-FR" sz="1000" b="0" u="none" strike="noStrike">
              <a:solidFill>
                <a:srgbClr val="000000"/>
              </a:solidFill>
              <a:effectLst/>
              <a:uFillTx/>
              <a:latin typeface="Arial"/>
            </a:endParaRPr>
          </a:p>
        </p:txBody>
      </p:sp>
      <p:sp>
        <p:nvSpPr>
          <p:cNvPr id="644" name="Shape 9"/>
          <p:cNvSpPr/>
          <p:nvPr/>
        </p:nvSpPr>
        <p:spPr>
          <a:xfrm>
            <a:off x="3246120" y="2103120"/>
            <a:ext cx="2644560" cy="23245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45" name="Text 10"/>
          <p:cNvSpPr/>
          <p:nvPr/>
        </p:nvSpPr>
        <p:spPr>
          <a:xfrm>
            <a:off x="3383280" y="2240280"/>
            <a:ext cx="23702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DOCUMENTATION</a:t>
            </a:r>
            <a:endParaRPr lang="fr-FR" sz="1300" b="0" u="none" strike="noStrike">
              <a:solidFill>
                <a:srgbClr val="000000"/>
              </a:solidFill>
              <a:effectLst/>
              <a:uFillTx/>
              <a:latin typeface="Arial"/>
            </a:endParaRPr>
          </a:p>
        </p:txBody>
      </p:sp>
      <p:sp>
        <p:nvSpPr>
          <p:cNvPr id="646" name="Shape 11"/>
          <p:cNvSpPr/>
          <p:nvPr/>
        </p:nvSpPr>
        <p:spPr>
          <a:xfrm>
            <a:off x="3383280" y="2606040"/>
            <a:ext cx="31284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647" name="Text 12"/>
          <p:cNvSpPr/>
          <p:nvPr/>
        </p:nvSpPr>
        <p:spPr>
          <a:xfrm>
            <a:off x="3383280" y="2788920"/>
            <a:ext cx="2370240" cy="1547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Cahier des charges (présent document, 106 pages)</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Charte graphique complète intégrée</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Cahier des charges complet (Objectifs, Spécifications, Arborescence, Planning) </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Rapport de stage 30 pages (livrable parallèle)</a:t>
            </a:r>
            <a:endParaRPr lang="fr-FR" sz="1000" b="0" u="none" strike="noStrike">
              <a:solidFill>
                <a:srgbClr val="000000"/>
              </a:solidFill>
              <a:effectLst/>
              <a:uFillTx/>
              <a:latin typeface="Arial"/>
            </a:endParaRPr>
          </a:p>
        </p:txBody>
      </p:sp>
      <p:sp>
        <p:nvSpPr>
          <p:cNvPr id="648" name="Shape 13"/>
          <p:cNvSpPr/>
          <p:nvPr/>
        </p:nvSpPr>
        <p:spPr>
          <a:xfrm>
            <a:off x="6035040" y="2103120"/>
            <a:ext cx="2644560" cy="23245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49" name="Text 14"/>
          <p:cNvSpPr/>
          <p:nvPr/>
        </p:nvSpPr>
        <p:spPr>
          <a:xfrm>
            <a:off x="6172200" y="2240280"/>
            <a:ext cx="23702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CODE &amp; DESIGN</a:t>
            </a:r>
            <a:endParaRPr lang="fr-FR" sz="1300" b="0" u="none" strike="noStrike">
              <a:solidFill>
                <a:srgbClr val="000000"/>
              </a:solidFill>
              <a:effectLst/>
              <a:uFillTx/>
              <a:latin typeface="Arial"/>
            </a:endParaRPr>
          </a:p>
        </p:txBody>
      </p:sp>
      <p:sp>
        <p:nvSpPr>
          <p:cNvPr id="650" name="Shape 15"/>
          <p:cNvSpPr/>
          <p:nvPr/>
        </p:nvSpPr>
        <p:spPr>
          <a:xfrm>
            <a:off x="6172200" y="2606040"/>
            <a:ext cx="31284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651" name="Text 16"/>
          <p:cNvSpPr/>
          <p:nvPr/>
        </p:nvSpPr>
        <p:spPr>
          <a:xfrm>
            <a:off x="6172200" y="2788920"/>
            <a:ext cx="2370240" cy="1547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Code source versionné sur GitHub (LEMON-216)</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Fichiers source du site &amp; Base de données CMS</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Prototype interactif &amp; Style Guide</a:t>
            </a:r>
            <a:endParaRPr lang="fr-FR" sz="1000" b="0" u="none" strike="noStrike">
              <a:solidFill>
                <a:srgbClr val="000000"/>
              </a:solidFill>
              <a:effectLst/>
              <a:uFillTx/>
              <a:latin typeface="Arial"/>
            </a:endParaRPr>
          </a:p>
          <a:p>
            <a:pPr defTabSz="914400">
              <a:lnSpc>
                <a:spcPct val="100000"/>
              </a:lnSpc>
              <a:spcAft>
                <a:spcPts val="400"/>
              </a:spcAft>
              <a:tabLst>
                <a:tab pos="0" algn="l"/>
              </a:tabLst>
            </a:pPr>
            <a:r>
              <a:rPr lang="fr-FR" sz="1000" b="0" u="none" strike="noStrike">
                <a:solidFill>
                  <a:srgbClr val="0A0A0A"/>
                </a:solidFill>
                <a:effectLst/>
                <a:uFillTx/>
                <a:latin typeface="Satoshi"/>
                <a:ea typeface="Satoshi"/>
              </a:rPr>
              <a:t>› Bibliothèque de ressources graphiques (logo, icônes)</a:t>
            </a:r>
            <a:endParaRPr lang="fr-FR" sz="1000" b="0" u="none" strike="noStrike">
              <a:solidFill>
                <a:srgbClr val="000000"/>
              </a:solidFill>
              <a:effectLst/>
              <a:uFillTx/>
              <a:latin typeface="Arial"/>
            </a:endParaRPr>
          </a:p>
        </p:txBody>
      </p:sp>
      <p:sp>
        <p:nvSpPr>
          <p:cNvPr id="652"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53"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654"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33</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65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65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65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5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RESSOURCES</a:t>
            </a:r>
            <a:endParaRPr lang="fr-FR" sz="5000" b="0" u="none" strike="noStrike">
              <a:solidFill>
                <a:srgbClr val="000000"/>
              </a:solidFill>
              <a:effectLst/>
              <a:uFillTx/>
              <a:latin typeface="Arial"/>
            </a:endParaRPr>
          </a:p>
        </p:txBody>
      </p:sp>
      <p:sp>
        <p:nvSpPr>
          <p:cNvPr id="65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Humaines, techniques et financières</a:t>
            </a:r>
            <a:endParaRPr lang="fr-FR" sz="1600" b="0" u="none" strike="noStrike">
              <a:solidFill>
                <a:srgbClr val="000000"/>
              </a:solidFill>
              <a:effectLst/>
              <a:uFillTx/>
              <a:latin typeface="Arial"/>
            </a:endParaRPr>
          </a:p>
        </p:txBody>
      </p:sp>
      <p:sp>
        <p:nvSpPr>
          <p:cNvPr id="660" name="Text 5"/>
          <p:cNvSpPr/>
          <p:nvPr/>
        </p:nvSpPr>
        <p:spPr>
          <a:xfrm>
            <a:off x="457200" y="2057400"/>
            <a:ext cx="6328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BF360C"/>
                </a:solidFill>
                <a:effectLst/>
                <a:uFillTx/>
                <a:latin typeface="Arelv"/>
                <a:ea typeface="Arelv"/>
              </a:rPr>
              <a:t>01</a:t>
            </a:r>
            <a:endParaRPr lang="fr-FR" sz="2000" b="0" u="none" strike="noStrike">
              <a:solidFill>
                <a:srgbClr val="000000"/>
              </a:solidFill>
              <a:effectLst/>
              <a:uFillTx/>
              <a:latin typeface="Arial"/>
            </a:endParaRPr>
          </a:p>
        </p:txBody>
      </p:sp>
      <p:sp>
        <p:nvSpPr>
          <p:cNvPr id="661" name="Text 6"/>
          <p:cNvSpPr/>
          <p:nvPr/>
        </p:nvSpPr>
        <p:spPr>
          <a:xfrm>
            <a:off x="1097280" y="209412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0A0A0A"/>
                </a:solidFill>
                <a:effectLst/>
                <a:uFillTx/>
                <a:latin typeface="Satoshi"/>
                <a:ea typeface="Satoshi"/>
              </a:rPr>
              <a:t>HUMAINES</a:t>
            </a:r>
            <a:endParaRPr lang="fr-FR" sz="1300" b="0" u="none" strike="noStrike">
              <a:solidFill>
                <a:srgbClr val="000000"/>
              </a:solidFill>
              <a:effectLst/>
              <a:uFillTx/>
              <a:latin typeface="Arial"/>
            </a:endParaRPr>
          </a:p>
        </p:txBody>
      </p:sp>
      <p:sp>
        <p:nvSpPr>
          <p:cNvPr id="662" name="Text 7"/>
          <p:cNvSpPr/>
          <p:nvPr/>
        </p:nvSpPr>
        <p:spPr>
          <a:xfrm>
            <a:off x="3931920" y="205740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Conception &amp; dev</a:t>
            </a:r>
            <a:endParaRPr lang="fr-FR" sz="900" b="0" u="none" strike="noStrike">
              <a:solidFill>
                <a:srgbClr val="000000"/>
              </a:solidFill>
              <a:effectLst/>
              <a:uFillTx/>
              <a:latin typeface="Arial"/>
            </a:endParaRPr>
          </a:p>
        </p:txBody>
      </p:sp>
      <p:sp>
        <p:nvSpPr>
          <p:cNvPr id="663" name="Text 8"/>
          <p:cNvSpPr/>
          <p:nvPr/>
        </p:nvSpPr>
        <p:spPr>
          <a:xfrm>
            <a:off x="3931920" y="225864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Aymen CHAABANE (temps partiel hors stage)</a:t>
            </a:r>
            <a:endParaRPr lang="fr-FR" sz="950" b="0" u="none" strike="noStrike">
              <a:solidFill>
                <a:srgbClr val="000000"/>
              </a:solidFill>
              <a:effectLst/>
              <a:uFillTx/>
              <a:latin typeface="Arial"/>
            </a:endParaRPr>
          </a:p>
        </p:txBody>
      </p:sp>
      <p:sp>
        <p:nvSpPr>
          <p:cNvPr id="664" name="Text 9"/>
          <p:cNvSpPr/>
          <p:nvPr/>
        </p:nvSpPr>
        <p:spPr>
          <a:xfrm>
            <a:off x="5623560" y="205740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Supervision péda.</a:t>
            </a:r>
            <a:endParaRPr lang="fr-FR" sz="900" b="0" u="none" strike="noStrike">
              <a:solidFill>
                <a:srgbClr val="000000"/>
              </a:solidFill>
              <a:effectLst/>
              <a:uFillTx/>
              <a:latin typeface="Arial"/>
            </a:endParaRPr>
          </a:p>
        </p:txBody>
      </p:sp>
      <p:sp>
        <p:nvSpPr>
          <p:cNvPr id="665" name="Text 10"/>
          <p:cNvSpPr/>
          <p:nvPr/>
        </p:nvSpPr>
        <p:spPr>
          <a:xfrm>
            <a:off x="5623560" y="225864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Benoît MOTTIN (jalons communiqués par avance)</a:t>
            </a:r>
            <a:endParaRPr lang="fr-FR" sz="950" b="0" u="none" strike="noStrike">
              <a:solidFill>
                <a:srgbClr val="000000"/>
              </a:solidFill>
              <a:effectLst/>
              <a:uFillTx/>
              <a:latin typeface="Arial"/>
            </a:endParaRPr>
          </a:p>
        </p:txBody>
      </p:sp>
      <p:sp>
        <p:nvSpPr>
          <p:cNvPr id="666" name="Text 11"/>
          <p:cNvSpPr/>
          <p:nvPr/>
        </p:nvSpPr>
        <p:spPr>
          <a:xfrm>
            <a:off x="7315200" y="205740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Tests utilisateurs</a:t>
            </a:r>
            <a:endParaRPr lang="fr-FR" sz="900" b="0" u="none" strike="noStrike">
              <a:solidFill>
                <a:srgbClr val="000000"/>
              </a:solidFill>
              <a:effectLst/>
              <a:uFillTx/>
              <a:latin typeface="Arial"/>
            </a:endParaRPr>
          </a:p>
        </p:txBody>
      </p:sp>
      <p:sp>
        <p:nvSpPr>
          <p:cNvPr id="667" name="Text 12"/>
          <p:cNvSpPr/>
          <p:nvPr/>
        </p:nvSpPr>
        <p:spPr>
          <a:xfrm>
            <a:off x="7315200" y="225864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Panel informel : 3 à 5 recruteurs</a:t>
            </a:r>
            <a:endParaRPr lang="fr-FR" sz="950" b="0" u="none" strike="noStrike">
              <a:solidFill>
                <a:srgbClr val="000000"/>
              </a:solidFill>
              <a:effectLst/>
              <a:uFillTx/>
              <a:latin typeface="Arial"/>
            </a:endParaRPr>
          </a:p>
        </p:txBody>
      </p:sp>
      <p:sp>
        <p:nvSpPr>
          <p:cNvPr id="668" name="Shape 13"/>
          <p:cNvSpPr/>
          <p:nvPr/>
        </p:nvSpPr>
        <p:spPr>
          <a:xfrm>
            <a:off x="457200" y="2697480"/>
            <a:ext cx="832104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69" name="Text 14"/>
          <p:cNvSpPr/>
          <p:nvPr/>
        </p:nvSpPr>
        <p:spPr>
          <a:xfrm>
            <a:off x="457200" y="2926080"/>
            <a:ext cx="6328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BF360C"/>
                </a:solidFill>
                <a:effectLst/>
                <a:uFillTx/>
                <a:latin typeface="Arelv"/>
                <a:ea typeface="Arelv"/>
              </a:rPr>
              <a:t>02</a:t>
            </a:r>
            <a:endParaRPr lang="fr-FR" sz="2000" b="0" u="none" strike="noStrike">
              <a:solidFill>
                <a:srgbClr val="000000"/>
              </a:solidFill>
              <a:effectLst/>
              <a:uFillTx/>
              <a:latin typeface="Arial"/>
            </a:endParaRPr>
          </a:p>
        </p:txBody>
      </p:sp>
      <p:sp>
        <p:nvSpPr>
          <p:cNvPr id="670" name="Text 15"/>
          <p:cNvSpPr/>
          <p:nvPr/>
        </p:nvSpPr>
        <p:spPr>
          <a:xfrm>
            <a:off x="1097280" y="296280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0A0A0A"/>
                </a:solidFill>
                <a:effectLst/>
                <a:uFillTx/>
                <a:latin typeface="Satoshi"/>
                <a:ea typeface="Satoshi"/>
              </a:rPr>
              <a:t>TECHNIQUES</a:t>
            </a:r>
            <a:endParaRPr lang="fr-FR" sz="1300" b="0" u="none" strike="noStrike">
              <a:solidFill>
                <a:srgbClr val="000000"/>
              </a:solidFill>
              <a:effectLst/>
              <a:uFillTx/>
              <a:latin typeface="Arial"/>
            </a:endParaRPr>
          </a:p>
        </p:txBody>
      </p:sp>
      <p:sp>
        <p:nvSpPr>
          <p:cNvPr id="671" name="Text 16"/>
          <p:cNvSpPr/>
          <p:nvPr/>
        </p:nvSpPr>
        <p:spPr>
          <a:xfrm>
            <a:off x="3931920" y="292608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Environnement local</a:t>
            </a:r>
            <a:endParaRPr lang="fr-FR" sz="900" b="0" u="none" strike="noStrike">
              <a:solidFill>
                <a:srgbClr val="000000"/>
              </a:solidFill>
              <a:effectLst/>
              <a:uFillTx/>
              <a:latin typeface="Arial"/>
            </a:endParaRPr>
          </a:p>
        </p:txBody>
      </p:sp>
      <p:sp>
        <p:nvSpPr>
          <p:cNvPr id="672" name="Text 17"/>
          <p:cNvSpPr/>
          <p:nvPr/>
        </p:nvSpPr>
        <p:spPr>
          <a:xfrm>
            <a:off x="3931920" y="312732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0A0A0A"/>
                </a:solidFill>
                <a:effectLst/>
                <a:uFillTx/>
                <a:latin typeface="Satoshi"/>
                <a:ea typeface="Satoshi"/>
              </a:rPr>
              <a:t>LocalWP, VSCode, GitHub, Serveur distant (FTP/O2Switch) </a:t>
            </a:r>
            <a:endParaRPr lang="fr-FR" sz="950" b="0" u="none" strike="noStrike">
              <a:solidFill>
                <a:srgbClr val="000000"/>
              </a:solidFill>
              <a:effectLst/>
              <a:uFillTx/>
              <a:latin typeface="Arial"/>
            </a:endParaRPr>
          </a:p>
        </p:txBody>
      </p:sp>
      <p:sp>
        <p:nvSpPr>
          <p:cNvPr id="673" name="Text 18"/>
          <p:cNvSpPr/>
          <p:nvPr/>
        </p:nvSpPr>
        <p:spPr>
          <a:xfrm>
            <a:off x="5623560" y="292608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Stack production</a:t>
            </a:r>
            <a:endParaRPr lang="fr-FR" sz="900" b="0" u="none" strike="noStrike">
              <a:solidFill>
                <a:srgbClr val="000000"/>
              </a:solidFill>
              <a:effectLst/>
              <a:uFillTx/>
              <a:latin typeface="Arial"/>
            </a:endParaRPr>
          </a:p>
        </p:txBody>
      </p:sp>
      <p:sp>
        <p:nvSpPr>
          <p:cNvPr id="674" name="Text 19"/>
          <p:cNvSpPr/>
          <p:nvPr/>
        </p:nvSpPr>
        <p:spPr>
          <a:xfrm>
            <a:off x="5623560" y="312732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fr-FR" sz="950" b="0" u="none" strike="noStrike">
                <a:solidFill>
                  <a:srgbClr val="0A0A0A"/>
                </a:solidFill>
                <a:effectLst/>
                <a:uFillTx/>
                <a:latin typeface="Satoshi"/>
                <a:ea typeface="Satoshi"/>
              </a:rPr>
              <a:t>WordPress + Astra + Elementor + Polylang + Complianz (RGPD)</a:t>
            </a:r>
            <a:endParaRPr lang="fr-FR" sz="950" b="0" u="none" strike="noStrike">
              <a:solidFill>
                <a:srgbClr val="000000"/>
              </a:solidFill>
              <a:effectLst/>
              <a:uFillTx/>
              <a:latin typeface="Arial"/>
            </a:endParaRPr>
          </a:p>
        </p:txBody>
      </p:sp>
      <p:sp>
        <p:nvSpPr>
          <p:cNvPr id="675" name="Text 20"/>
          <p:cNvSpPr/>
          <p:nvPr/>
        </p:nvSpPr>
        <p:spPr>
          <a:xfrm>
            <a:off x="7315200" y="292608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Outils design</a:t>
            </a:r>
            <a:endParaRPr lang="fr-FR" sz="900" b="0" u="none" strike="noStrike">
              <a:solidFill>
                <a:srgbClr val="000000"/>
              </a:solidFill>
              <a:effectLst/>
              <a:uFillTx/>
              <a:latin typeface="Arial"/>
            </a:endParaRPr>
          </a:p>
        </p:txBody>
      </p:sp>
      <p:sp>
        <p:nvSpPr>
          <p:cNvPr id="676" name="Text 21"/>
          <p:cNvSpPr/>
          <p:nvPr/>
        </p:nvSpPr>
        <p:spPr>
          <a:xfrm>
            <a:off x="7315200" y="312732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Canva, Figma, Adobe Illustrator</a:t>
            </a:r>
            <a:endParaRPr lang="fr-FR" sz="950" b="0" u="none" strike="noStrike">
              <a:solidFill>
                <a:srgbClr val="000000"/>
              </a:solidFill>
              <a:effectLst/>
              <a:uFillTx/>
              <a:latin typeface="Arial"/>
            </a:endParaRPr>
          </a:p>
        </p:txBody>
      </p:sp>
      <p:sp>
        <p:nvSpPr>
          <p:cNvPr id="677" name="Shape 22"/>
          <p:cNvSpPr/>
          <p:nvPr/>
        </p:nvSpPr>
        <p:spPr>
          <a:xfrm>
            <a:off x="457200" y="3566160"/>
            <a:ext cx="832104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78" name="Text 23"/>
          <p:cNvSpPr/>
          <p:nvPr/>
        </p:nvSpPr>
        <p:spPr>
          <a:xfrm>
            <a:off x="457200" y="3794760"/>
            <a:ext cx="6328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BF360C"/>
                </a:solidFill>
                <a:effectLst/>
                <a:uFillTx/>
                <a:latin typeface="Arelv"/>
                <a:ea typeface="Arelv"/>
              </a:rPr>
              <a:t>03</a:t>
            </a:r>
            <a:endParaRPr lang="fr-FR" sz="2000" b="0" u="none" strike="noStrike">
              <a:solidFill>
                <a:srgbClr val="000000"/>
              </a:solidFill>
              <a:effectLst/>
              <a:uFillTx/>
              <a:latin typeface="Arial"/>
            </a:endParaRPr>
          </a:p>
        </p:txBody>
      </p:sp>
      <p:sp>
        <p:nvSpPr>
          <p:cNvPr id="679" name="Text 24"/>
          <p:cNvSpPr/>
          <p:nvPr/>
        </p:nvSpPr>
        <p:spPr>
          <a:xfrm>
            <a:off x="1097280" y="3831480"/>
            <a:ext cx="2736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0A0A0A"/>
                </a:solidFill>
                <a:effectLst/>
                <a:uFillTx/>
                <a:latin typeface="Satoshi"/>
                <a:ea typeface="Satoshi"/>
              </a:rPr>
              <a:t>FINANCIÈRES</a:t>
            </a:r>
            <a:endParaRPr lang="fr-FR" sz="1300" b="0" u="none" strike="noStrike">
              <a:solidFill>
                <a:srgbClr val="000000"/>
              </a:solidFill>
              <a:effectLst/>
              <a:uFillTx/>
              <a:latin typeface="Arial"/>
            </a:endParaRPr>
          </a:p>
        </p:txBody>
      </p:sp>
      <p:sp>
        <p:nvSpPr>
          <p:cNvPr id="680" name="Text 25"/>
          <p:cNvSpPr/>
          <p:nvPr/>
        </p:nvSpPr>
        <p:spPr>
          <a:xfrm>
            <a:off x="3931920" y="379476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Domaine .com</a:t>
            </a:r>
            <a:endParaRPr lang="fr-FR" sz="900" b="0" u="none" strike="noStrike">
              <a:solidFill>
                <a:srgbClr val="000000"/>
              </a:solidFill>
              <a:effectLst/>
              <a:uFillTx/>
              <a:latin typeface="Arial"/>
            </a:endParaRPr>
          </a:p>
        </p:txBody>
      </p:sp>
      <p:sp>
        <p:nvSpPr>
          <p:cNvPr id="681" name="Text 26"/>
          <p:cNvSpPr/>
          <p:nvPr/>
        </p:nvSpPr>
        <p:spPr>
          <a:xfrm>
            <a:off x="3931920" y="399600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 12 € / an</a:t>
            </a:r>
            <a:endParaRPr lang="fr-FR" sz="950" b="0" u="none" strike="noStrike">
              <a:solidFill>
                <a:srgbClr val="000000"/>
              </a:solidFill>
              <a:effectLst/>
              <a:uFillTx/>
              <a:latin typeface="Arial"/>
            </a:endParaRPr>
          </a:p>
        </p:txBody>
      </p:sp>
      <p:sp>
        <p:nvSpPr>
          <p:cNvPr id="682" name="Text 27"/>
          <p:cNvSpPr/>
          <p:nvPr/>
        </p:nvSpPr>
        <p:spPr>
          <a:xfrm>
            <a:off x="5623560" y="379476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Hébergement WP</a:t>
            </a:r>
            <a:endParaRPr lang="fr-FR" sz="900" b="0" u="none" strike="noStrike">
              <a:solidFill>
                <a:srgbClr val="000000"/>
              </a:solidFill>
              <a:effectLst/>
              <a:uFillTx/>
              <a:latin typeface="Arial"/>
            </a:endParaRPr>
          </a:p>
        </p:txBody>
      </p:sp>
      <p:sp>
        <p:nvSpPr>
          <p:cNvPr id="683" name="Text 28"/>
          <p:cNvSpPr/>
          <p:nvPr/>
        </p:nvSpPr>
        <p:spPr>
          <a:xfrm>
            <a:off x="5623560" y="399600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 60 — 120 € / an</a:t>
            </a:r>
            <a:endParaRPr lang="fr-FR" sz="950" b="0" u="none" strike="noStrike">
              <a:solidFill>
                <a:srgbClr val="000000"/>
              </a:solidFill>
              <a:effectLst/>
              <a:uFillTx/>
              <a:latin typeface="Arial"/>
            </a:endParaRPr>
          </a:p>
        </p:txBody>
      </p:sp>
      <p:sp>
        <p:nvSpPr>
          <p:cNvPr id="684" name="Text 29"/>
          <p:cNvSpPr/>
          <p:nvPr/>
        </p:nvSpPr>
        <p:spPr>
          <a:xfrm>
            <a:off x="7315200" y="3794760"/>
            <a:ext cx="163872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99" strike="noStrike">
                <a:solidFill>
                  <a:srgbClr val="37474F"/>
                </a:solidFill>
                <a:effectLst/>
                <a:uFillTx/>
                <a:latin typeface="Satoshi"/>
                <a:ea typeface="Satoshi"/>
              </a:rPr>
              <a:t>Licences typo</a:t>
            </a:r>
            <a:endParaRPr lang="fr-FR" sz="900" b="0" u="none" strike="noStrike">
              <a:solidFill>
                <a:srgbClr val="000000"/>
              </a:solidFill>
              <a:effectLst/>
              <a:uFillTx/>
              <a:latin typeface="Arial"/>
            </a:endParaRPr>
          </a:p>
        </p:txBody>
      </p:sp>
      <p:sp>
        <p:nvSpPr>
          <p:cNvPr id="685" name="Text 30"/>
          <p:cNvSpPr/>
          <p:nvPr/>
        </p:nvSpPr>
        <p:spPr>
          <a:xfrm>
            <a:off x="7315200" y="3996000"/>
            <a:ext cx="163872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Arelv &amp; Satoshi : licences gratuites pour usage personnel</a:t>
            </a:r>
            <a:endParaRPr lang="fr-FR" sz="950" b="0" u="none" strike="noStrike">
              <a:solidFill>
                <a:srgbClr val="000000"/>
              </a:solidFill>
              <a:effectLst/>
              <a:uFillTx/>
              <a:latin typeface="Arial"/>
            </a:endParaRPr>
          </a:p>
        </p:txBody>
      </p:sp>
      <p:sp>
        <p:nvSpPr>
          <p:cNvPr id="686" name="Shape 31"/>
          <p:cNvSpPr/>
          <p:nvPr/>
        </p:nvSpPr>
        <p:spPr>
          <a:xfrm>
            <a:off x="457200" y="4434840"/>
            <a:ext cx="832104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87" name="Shape 3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88" name="Text 3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689" name="Text 3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69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69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69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69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SWOT</a:t>
            </a:r>
            <a:endParaRPr lang="fr-FR" sz="5600" b="0" u="none" strike="noStrike">
              <a:solidFill>
                <a:srgbClr val="000000"/>
              </a:solidFill>
              <a:effectLst/>
              <a:uFillTx/>
              <a:latin typeface="Arial"/>
            </a:endParaRPr>
          </a:p>
        </p:txBody>
      </p:sp>
      <p:sp>
        <p:nvSpPr>
          <p:cNvPr id="69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Forces, Faiblesses, Opportunités, Menaces</a:t>
            </a:r>
            <a:endParaRPr lang="fr-FR" sz="1600" b="0" u="none" strike="noStrike">
              <a:solidFill>
                <a:srgbClr val="000000"/>
              </a:solidFill>
              <a:effectLst/>
              <a:uFillTx/>
              <a:latin typeface="Arial"/>
            </a:endParaRPr>
          </a:p>
        </p:txBody>
      </p:sp>
      <p:sp>
        <p:nvSpPr>
          <p:cNvPr id="695" name="Shape 5"/>
          <p:cNvSpPr/>
          <p:nvPr/>
        </p:nvSpPr>
        <p:spPr>
          <a:xfrm>
            <a:off x="457200" y="2011680"/>
            <a:ext cx="4016160" cy="12729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696" name="Text 6"/>
          <p:cNvSpPr/>
          <p:nvPr/>
        </p:nvSpPr>
        <p:spPr>
          <a:xfrm>
            <a:off x="640080" y="203112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4EFE6"/>
                </a:solidFill>
                <a:effectLst/>
                <a:uFillTx/>
                <a:latin typeface="Arelv"/>
                <a:ea typeface="Arelv"/>
              </a:rPr>
              <a:t>FORCES</a:t>
            </a:r>
            <a:endParaRPr lang="fr-FR" sz="1600" b="0" u="none" strike="noStrike">
              <a:solidFill>
                <a:srgbClr val="000000"/>
              </a:solidFill>
              <a:effectLst/>
              <a:uFillTx/>
              <a:latin typeface="Arial"/>
            </a:endParaRPr>
          </a:p>
        </p:txBody>
      </p:sp>
      <p:sp>
        <p:nvSpPr>
          <p:cNvPr id="697" name="Text 7"/>
          <p:cNvSpPr/>
          <p:nvPr/>
        </p:nvSpPr>
        <p:spPr>
          <a:xfrm>
            <a:off x="640080" y="2341440"/>
            <a:ext cx="36504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Internes · Positives</a:t>
            </a:r>
            <a:endParaRPr lang="fr-FR" sz="900" b="0" u="none" strike="noStrike">
              <a:solidFill>
                <a:srgbClr val="000000"/>
              </a:solidFill>
              <a:effectLst/>
              <a:uFillTx/>
              <a:latin typeface="Arial"/>
            </a:endParaRPr>
          </a:p>
        </p:txBody>
      </p:sp>
      <p:sp>
        <p:nvSpPr>
          <p:cNvPr id="698" name="Text 8"/>
          <p:cNvSpPr/>
          <p:nvPr/>
        </p:nvSpPr>
        <p:spPr>
          <a:xfrm>
            <a:off x="640080" y="2534040"/>
            <a:ext cx="3650400" cy="632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Double expertise unique (Anthropologie + Digital)</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Maîtrise méthodologique de la recherche</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Charte graphique forte et différenciante</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Multilingue natif (FR/EN/JA/AR)</a:t>
            </a:r>
            <a:endParaRPr lang="fr-FR" sz="950" b="0" u="none" strike="noStrike">
              <a:solidFill>
                <a:srgbClr val="000000"/>
              </a:solidFill>
              <a:effectLst/>
              <a:uFillTx/>
              <a:latin typeface="Arial"/>
            </a:endParaRPr>
          </a:p>
        </p:txBody>
      </p:sp>
      <p:sp>
        <p:nvSpPr>
          <p:cNvPr id="699" name="Shape 9"/>
          <p:cNvSpPr/>
          <p:nvPr/>
        </p:nvSpPr>
        <p:spPr>
          <a:xfrm>
            <a:off x="4663440" y="2011680"/>
            <a:ext cx="4016160" cy="12729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00" name="Text 10"/>
          <p:cNvSpPr/>
          <p:nvPr/>
        </p:nvSpPr>
        <p:spPr>
          <a:xfrm>
            <a:off x="4846320" y="203112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4EFE6"/>
                </a:solidFill>
                <a:effectLst/>
                <a:uFillTx/>
                <a:latin typeface="Arelv"/>
                <a:ea typeface="Arelv"/>
              </a:rPr>
              <a:t>FAIBLESSES</a:t>
            </a:r>
            <a:endParaRPr lang="fr-FR" sz="1600" b="0" u="none" strike="noStrike">
              <a:solidFill>
                <a:srgbClr val="000000"/>
              </a:solidFill>
              <a:effectLst/>
              <a:uFillTx/>
              <a:latin typeface="Arial"/>
            </a:endParaRPr>
          </a:p>
        </p:txBody>
      </p:sp>
      <p:sp>
        <p:nvSpPr>
          <p:cNvPr id="701" name="Text 11"/>
          <p:cNvSpPr/>
          <p:nvPr/>
        </p:nvSpPr>
        <p:spPr>
          <a:xfrm>
            <a:off x="4846320" y="2341440"/>
            <a:ext cx="36504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Internes · Négatives</a:t>
            </a:r>
            <a:endParaRPr lang="fr-FR" sz="900" b="0" u="none" strike="noStrike">
              <a:solidFill>
                <a:srgbClr val="000000"/>
              </a:solidFill>
              <a:effectLst/>
              <a:uFillTx/>
              <a:latin typeface="Arial"/>
            </a:endParaRPr>
          </a:p>
        </p:txBody>
      </p:sp>
      <p:sp>
        <p:nvSpPr>
          <p:cNvPr id="702" name="Text 12"/>
          <p:cNvSpPr/>
          <p:nvPr/>
        </p:nvSpPr>
        <p:spPr>
          <a:xfrm>
            <a:off x="4846320" y="2534040"/>
            <a:ext cx="3650400" cy="632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Manque d'antériorité en projets web pro</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Réseau professionnel digital en construction</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Contraintes techniques liées au CMS (personnalisation avancée) </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Temps disponible limité (stage parallèle)</a:t>
            </a:r>
            <a:endParaRPr lang="fr-FR" sz="950" b="0" u="none" strike="noStrike">
              <a:solidFill>
                <a:srgbClr val="000000"/>
              </a:solidFill>
              <a:effectLst/>
              <a:uFillTx/>
              <a:latin typeface="Arial"/>
            </a:endParaRPr>
          </a:p>
        </p:txBody>
      </p:sp>
      <p:sp>
        <p:nvSpPr>
          <p:cNvPr id="703" name="Shape 13"/>
          <p:cNvSpPr/>
          <p:nvPr/>
        </p:nvSpPr>
        <p:spPr>
          <a:xfrm>
            <a:off x="457200" y="3429000"/>
            <a:ext cx="4016160" cy="1272960"/>
          </a:xfrm>
          <a:prstGeom prst="rect">
            <a:avLst/>
          </a:prstGeom>
          <a:solidFill>
            <a:srgbClr val="1A237E"/>
          </a:solidFill>
          <a:ln w="12700">
            <a:solidFill>
              <a:srgbClr val="1A237E"/>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04" name="Text 14"/>
          <p:cNvSpPr/>
          <p:nvPr/>
        </p:nvSpPr>
        <p:spPr>
          <a:xfrm>
            <a:off x="640080" y="344844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4EFE6"/>
                </a:solidFill>
                <a:effectLst/>
                <a:uFillTx/>
                <a:latin typeface="Arelv"/>
                <a:ea typeface="Arelv"/>
              </a:rPr>
              <a:t>OPPORTUNITÉS</a:t>
            </a:r>
            <a:endParaRPr lang="fr-FR" sz="1600" b="0" u="none" strike="noStrike">
              <a:solidFill>
                <a:srgbClr val="000000"/>
              </a:solidFill>
              <a:effectLst/>
              <a:uFillTx/>
              <a:latin typeface="Arial"/>
            </a:endParaRPr>
          </a:p>
        </p:txBody>
      </p:sp>
      <p:sp>
        <p:nvSpPr>
          <p:cNvPr id="705" name="Text 15"/>
          <p:cNvSpPr/>
          <p:nvPr/>
        </p:nvSpPr>
        <p:spPr>
          <a:xfrm>
            <a:off x="640080" y="3758760"/>
            <a:ext cx="36504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Externes · Positives</a:t>
            </a:r>
            <a:endParaRPr lang="fr-FR" sz="900" b="0" u="none" strike="noStrike">
              <a:solidFill>
                <a:srgbClr val="000000"/>
              </a:solidFill>
              <a:effectLst/>
              <a:uFillTx/>
              <a:latin typeface="Arial"/>
            </a:endParaRPr>
          </a:p>
        </p:txBody>
      </p:sp>
      <p:sp>
        <p:nvSpPr>
          <p:cNvPr id="706" name="Text 16"/>
          <p:cNvSpPr/>
          <p:nvPr/>
        </p:nvSpPr>
        <p:spPr>
          <a:xfrm>
            <a:off x="640080" y="3951360"/>
            <a:ext cx="3650400" cy="632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Recruteurs sensibles aux profils atypiques</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Marché digital en tension de recrutement</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Reconnaissance croissante des reconversions</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Visibilité internationale via le multilingue</a:t>
            </a:r>
            <a:endParaRPr lang="fr-FR" sz="950" b="0" u="none" strike="noStrike">
              <a:solidFill>
                <a:srgbClr val="000000"/>
              </a:solidFill>
              <a:effectLst/>
              <a:uFillTx/>
              <a:latin typeface="Arial"/>
            </a:endParaRPr>
          </a:p>
        </p:txBody>
      </p:sp>
      <p:sp>
        <p:nvSpPr>
          <p:cNvPr id="707" name="Shape 17"/>
          <p:cNvSpPr/>
          <p:nvPr/>
        </p:nvSpPr>
        <p:spPr>
          <a:xfrm>
            <a:off x="4663440" y="3429000"/>
            <a:ext cx="4016160" cy="1272960"/>
          </a:xfrm>
          <a:prstGeom prst="rect">
            <a:avLst/>
          </a:prstGeom>
          <a:solidFill>
            <a:srgbClr val="37474F"/>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08" name="Text 18"/>
          <p:cNvSpPr/>
          <p:nvPr/>
        </p:nvSpPr>
        <p:spPr>
          <a:xfrm>
            <a:off x="4846320" y="344844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4EFE6"/>
                </a:solidFill>
                <a:effectLst/>
                <a:uFillTx/>
                <a:latin typeface="Arelv"/>
                <a:ea typeface="Arelv"/>
              </a:rPr>
              <a:t>MENACES</a:t>
            </a:r>
            <a:endParaRPr lang="fr-FR" sz="1600" b="0" u="none" strike="noStrike">
              <a:solidFill>
                <a:srgbClr val="000000"/>
              </a:solidFill>
              <a:effectLst/>
              <a:uFillTx/>
              <a:latin typeface="Arial"/>
            </a:endParaRPr>
          </a:p>
        </p:txBody>
      </p:sp>
      <p:sp>
        <p:nvSpPr>
          <p:cNvPr id="709" name="Text 19"/>
          <p:cNvSpPr/>
          <p:nvPr/>
        </p:nvSpPr>
        <p:spPr>
          <a:xfrm>
            <a:off x="4846320" y="3758760"/>
            <a:ext cx="36504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Externes · Négatives</a:t>
            </a:r>
            <a:endParaRPr lang="fr-FR" sz="900" b="0" u="none" strike="noStrike">
              <a:solidFill>
                <a:srgbClr val="000000"/>
              </a:solidFill>
              <a:effectLst/>
              <a:uFillTx/>
              <a:latin typeface="Arial"/>
            </a:endParaRPr>
          </a:p>
        </p:txBody>
      </p:sp>
      <p:sp>
        <p:nvSpPr>
          <p:cNvPr id="710" name="Text 20"/>
          <p:cNvSpPr/>
          <p:nvPr/>
        </p:nvSpPr>
        <p:spPr>
          <a:xfrm>
            <a:off x="4846320" y="3951360"/>
            <a:ext cx="3650400" cy="632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Concurrence massive de portfolios génériques</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Veille technologique permanente nécessaire</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Évolution rapide des standards UX et SEO</a:t>
            </a:r>
            <a:endParaRPr lang="fr-FR" sz="950" b="0" u="none" strike="noStrike">
              <a:solidFill>
                <a:srgbClr val="000000"/>
              </a:solidFill>
              <a:effectLst/>
              <a:uFillTx/>
              <a:latin typeface="Arial"/>
            </a:endParaRPr>
          </a:p>
          <a:p>
            <a:pPr defTabSz="914400">
              <a:lnSpc>
                <a:spcPct val="100000"/>
              </a:lnSpc>
              <a:spcAft>
                <a:spcPts val="201"/>
              </a:spcAft>
              <a:tabLst>
                <a:tab pos="0" algn="l"/>
              </a:tabLst>
            </a:pPr>
            <a:r>
              <a:rPr lang="fr-FR" sz="950" b="0" u="none" strike="noStrike">
                <a:solidFill>
                  <a:srgbClr val="F4EFE6"/>
                </a:solidFill>
                <a:effectLst/>
                <a:uFillTx/>
                <a:latin typeface="Satoshi"/>
                <a:ea typeface="Satoshi"/>
              </a:rPr>
              <a:t>› Dépendance aux algorithmes de visibilité</a:t>
            </a:r>
            <a:endParaRPr lang="fr-FR" sz="950" b="0" u="none" strike="noStrike">
              <a:solidFill>
                <a:srgbClr val="000000"/>
              </a:solidFill>
              <a:effectLst/>
              <a:uFillTx/>
              <a:latin typeface="Arial"/>
            </a:endParaRPr>
          </a:p>
        </p:txBody>
      </p:sp>
      <p:sp>
        <p:nvSpPr>
          <p:cNvPr id="711" name="Shape 2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12" name="Text 22"/>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713" name="Text 23"/>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14"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715"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716"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17"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MOSCOW</a:t>
            </a:r>
            <a:endParaRPr lang="fr-FR" sz="5600" b="0" u="none" strike="noStrike">
              <a:solidFill>
                <a:srgbClr val="000000"/>
              </a:solidFill>
              <a:effectLst/>
              <a:uFillTx/>
              <a:latin typeface="Arial"/>
            </a:endParaRPr>
          </a:p>
        </p:txBody>
      </p:sp>
      <p:sp>
        <p:nvSpPr>
          <p:cNvPr id="718"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Priorisation des fonctionnalités du portfolio</a:t>
            </a:r>
            <a:endParaRPr lang="fr-FR" sz="1600" b="0" u="none" strike="noStrike">
              <a:solidFill>
                <a:srgbClr val="000000"/>
              </a:solidFill>
              <a:effectLst/>
              <a:uFillTx/>
              <a:latin typeface="Arial"/>
            </a:endParaRPr>
          </a:p>
        </p:txBody>
      </p:sp>
      <p:sp>
        <p:nvSpPr>
          <p:cNvPr id="719" name="Shape 5"/>
          <p:cNvSpPr/>
          <p:nvPr/>
        </p:nvSpPr>
        <p:spPr>
          <a:xfrm>
            <a:off x="457200" y="2057400"/>
            <a:ext cx="2004480" cy="6328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20" name="Text 6"/>
          <p:cNvSpPr/>
          <p:nvPr/>
        </p:nvSpPr>
        <p:spPr>
          <a:xfrm>
            <a:off x="594360" y="2103120"/>
            <a:ext cx="4500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F4EFE6"/>
                </a:solidFill>
                <a:effectLst/>
                <a:uFillTx/>
                <a:latin typeface="Arelv"/>
                <a:ea typeface="Arelv"/>
              </a:rPr>
              <a:t>M</a:t>
            </a:r>
            <a:endParaRPr lang="fr-FR" sz="3600" b="0" u="none" strike="noStrike">
              <a:solidFill>
                <a:srgbClr val="000000"/>
              </a:solidFill>
              <a:effectLst/>
              <a:uFillTx/>
              <a:latin typeface="Arial"/>
            </a:endParaRPr>
          </a:p>
        </p:txBody>
      </p:sp>
      <p:sp>
        <p:nvSpPr>
          <p:cNvPr id="721" name="Text 7"/>
          <p:cNvSpPr/>
          <p:nvPr/>
        </p:nvSpPr>
        <p:spPr>
          <a:xfrm>
            <a:off x="1051560" y="21488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MUST HAVE</a:t>
            </a:r>
            <a:endParaRPr lang="fr-FR" sz="1100" b="0" u="none" strike="noStrike">
              <a:solidFill>
                <a:srgbClr val="000000"/>
              </a:solidFill>
              <a:effectLst/>
              <a:uFillTx/>
              <a:latin typeface="Arial"/>
            </a:endParaRPr>
          </a:p>
        </p:txBody>
      </p:sp>
      <p:sp>
        <p:nvSpPr>
          <p:cNvPr id="722" name="Text 8"/>
          <p:cNvSpPr/>
          <p:nvPr/>
        </p:nvSpPr>
        <p:spPr>
          <a:xfrm>
            <a:off x="1051560" y="23774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Indispensable</a:t>
            </a:r>
            <a:endParaRPr lang="fr-FR" sz="900" b="0" u="none" strike="noStrike">
              <a:solidFill>
                <a:srgbClr val="000000"/>
              </a:solidFill>
              <a:effectLst/>
              <a:uFillTx/>
              <a:latin typeface="Arial"/>
            </a:endParaRPr>
          </a:p>
        </p:txBody>
      </p:sp>
      <p:sp>
        <p:nvSpPr>
          <p:cNvPr id="723" name="Shape 9"/>
          <p:cNvSpPr/>
          <p:nvPr/>
        </p:nvSpPr>
        <p:spPr>
          <a:xfrm>
            <a:off x="457200" y="2697480"/>
            <a:ext cx="2004480" cy="19130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24" name="Text 10"/>
          <p:cNvSpPr/>
          <p:nvPr/>
        </p:nvSpPr>
        <p:spPr>
          <a:xfrm>
            <a:off x="594360" y="2834640"/>
            <a:ext cx="173016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5 pages principales (Accueil, À propos, Projets, Contact, 404)</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Multilingue complet FR / EN / JA / AR (Polylang)</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Formulaire de contact fonctionnel</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Téléchargement CV PDF</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Bannière RGPD conforme</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Responsive mobile et tablette</a:t>
            </a:r>
            <a:endParaRPr lang="fr-FR" sz="900" b="0" u="none" strike="noStrike">
              <a:solidFill>
                <a:srgbClr val="000000"/>
              </a:solidFill>
              <a:effectLst/>
              <a:uFillTx/>
              <a:latin typeface="Arial"/>
            </a:endParaRPr>
          </a:p>
        </p:txBody>
      </p:sp>
      <p:sp>
        <p:nvSpPr>
          <p:cNvPr id="725" name="Shape 11"/>
          <p:cNvSpPr/>
          <p:nvPr/>
        </p:nvSpPr>
        <p:spPr>
          <a:xfrm>
            <a:off x="2560320" y="2057400"/>
            <a:ext cx="2004480" cy="632880"/>
          </a:xfrm>
          <a:prstGeom prst="rect">
            <a:avLst/>
          </a:prstGeom>
          <a:solidFill>
            <a:srgbClr val="D84315"/>
          </a:solidFill>
          <a:ln w="12700">
            <a:solidFill>
              <a:srgbClr val="D84315"/>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26" name="Text 12"/>
          <p:cNvSpPr/>
          <p:nvPr/>
        </p:nvSpPr>
        <p:spPr>
          <a:xfrm>
            <a:off x="2697480" y="2103120"/>
            <a:ext cx="4500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F4EFE6"/>
                </a:solidFill>
                <a:effectLst/>
                <a:uFillTx/>
                <a:latin typeface="Arelv"/>
                <a:ea typeface="Arelv"/>
              </a:rPr>
              <a:t>S</a:t>
            </a:r>
            <a:endParaRPr lang="fr-FR" sz="3600" b="0" u="none" strike="noStrike">
              <a:solidFill>
                <a:srgbClr val="000000"/>
              </a:solidFill>
              <a:effectLst/>
              <a:uFillTx/>
              <a:latin typeface="Arial"/>
            </a:endParaRPr>
          </a:p>
        </p:txBody>
      </p:sp>
      <p:sp>
        <p:nvSpPr>
          <p:cNvPr id="727" name="Text 13"/>
          <p:cNvSpPr/>
          <p:nvPr/>
        </p:nvSpPr>
        <p:spPr>
          <a:xfrm>
            <a:off x="3154680" y="21488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SHOULD HAVE</a:t>
            </a:r>
            <a:endParaRPr lang="fr-FR" sz="1100" b="0" u="none" strike="noStrike">
              <a:solidFill>
                <a:srgbClr val="000000"/>
              </a:solidFill>
              <a:effectLst/>
              <a:uFillTx/>
              <a:latin typeface="Arial"/>
            </a:endParaRPr>
          </a:p>
        </p:txBody>
      </p:sp>
      <p:sp>
        <p:nvSpPr>
          <p:cNvPr id="728" name="Text 14"/>
          <p:cNvSpPr/>
          <p:nvPr/>
        </p:nvSpPr>
        <p:spPr>
          <a:xfrm>
            <a:off x="3154680" y="23774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Important</a:t>
            </a:r>
            <a:endParaRPr lang="fr-FR" sz="900" b="0" u="none" strike="noStrike">
              <a:solidFill>
                <a:srgbClr val="000000"/>
              </a:solidFill>
              <a:effectLst/>
              <a:uFillTx/>
              <a:latin typeface="Arial"/>
            </a:endParaRPr>
          </a:p>
        </p:txBody>
      </p:sp>
      <p:sp>
        <p:nvSpPr>
          <p:cNvPr id="729" name="Shape 15"/>
          <p:cNvSpPr/>
          <p:nvPr/>
        </p:nvSpPr>
        <p:spPr>
          <a:xfrm>
            <a:off x="2560320" y="2697480"/>
            <a:ext cx="2004480" cy="19130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30" name="Text 16"/>
          <p:cNvSpPr/>
          <p:nvPr/>
        </p:nvSpPr>
        <p:spPr>
          <a:xfrm>
            <a:off x="2697480" y="2834640"/>
            <a:ext cx="173016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Carrousel de projets enrichi</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Effet starfield</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Curseur custom personnalisé</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Optimisation Core Web Vitals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Animations au scroll (légères)</a:t>
            </a:r>
            <a:endParaRPr lang="fr-FR" sz="900" b="0" u="none" strike="noStrike">
              <a:solidFill>
                <a:srgbClr val="000000"/>
              </a:solidFill>
              <a:effectLst/>
              <a:uFillTx/>
              <a:latin typeface="Arial"/>
            </a:endParaRPr>
          </a:p>
        </p:txBody>
      </p:sp>
      <p:sp>
        <p:nvSpPr>
          <p:cNvPr id="731" name="Shape 17"/>
          <p:cNvSpPr/>
          <p:nvPr/>
        </p:nvSpPr>
        <p:spPr>
          <a:xfrm>
            <a:off x="4663440" y="2057400"/>
            <a:ext cx="2004480" cy="632880"/>
          </a:xfrm>
          <a:prstGeom prst="rect">
            <a:avLst/>
          </a:prstGeom>
          <a:solidFill>
            <a:srgbClr val="FFB300"/>
          </a:solidFill>
          <a:ln w="12700">
            <a:solidFill>
              <a:srgbClr val="FFB300"/>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32" name="Text 18"/>
          <p:cNvSpPr/>
          <p:nvPr/>
        </p:nvSpPr>
        <p:spPr>
          <a:xfrm>
            <a:off x="4800600" y="2103120"/>
            <a:ext cx="4500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F4EFE6"/>
                </a:solidFill>
                <a:effectLst/>
                <a:uFillTx/>
                <a:latin typeface="Arelv"/>
                <a:ea typeface="Arelv"/>
              </a:rPr>
              <a:t>C</a:t>
            </a:r>
            <a:endParaRPr lang="fr-FR" sz="3600" b="0" u="none" strike="noStrike">
              <a:solidFill>
                <a:srgbClr val="000000"/>
              </a:solidFill>
              <a:effectLst/>
              <a:uFillTx/>
              <a:latin typeface="Arial"/>
            </a:endParaRPr>
          </a:p>
        </p:txBody>
      </p:sp>
      <p:sp>
        <p:nvSpPr>
          <p:cNvPr id="733" name="Text 19"/>
          <p:cNvSpPr/>
          <p:nvPr/>
        </p:nvSpPr>
        <p:spPr>
          <a:xfrm>
            <a:off x="5257800" y="21488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COULD HAVE</a:t>
            </a:r>
            <a:endParaRPr lang="fr-FR" sz="1100" b="0" u="none" strike="noStrike">
              <a:solidFill>
                <a:srgbClr val="000000"/>
              </a:solidFill>
              <a:effectLst/>
              <a:uFillTx/>
              <a:latin typeface="Arial"/>
            </a:endParaRPr>
          </a:p>
        </p:txBody>
      </p:sp>
      <p:sp>
        <p:nvSpPr>
          <p:cNvPr id="734" name="Text 20"/>
          <p:cNvSpPr/>
          <p:nvPr/>
        </p:nvSpPr>
        <p:spPr>
          <a:xfrm>
            <a:off x="5257800" y="23774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Souhaitable</a:t>
            </a:r>
            <a:endParaRPr lang="fr-FR" sz="900" b="0" u="none" strike="noStrike">
              <a:solidFill>
                <a:srgbClr val="000000"/>
              </a:solidFill>
              <a:effectLst/>
              <a:uFillTx/>
              <a:latin typeface="Arial"/>
            </a:endParaRPr>
          </a:p>
        </p:txBody>
      </p:sp>
      <p:sp>
        <p:nvSpPr>
          <p:cNvPr id="735" name="Shape 21"/>
          <p:cNvSpPr/>
          <p:nvPr/>
        </p:nvSpPr>
        <p:spPr>
          <a:xfrm>
            <a:off x="4663440" y="2697480"/>
            <a:ext cx="2004480" cy="19130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36" name="Text 22"/>
          <p:cNvSpPr/>
          <p:nvPr/>
        </p:nvSpPr>
        <p:spPr>
          <a:xfrm>
            <a:off x="4800600" y="2834640"/>
            <a:ext cx="173016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Blog technique (articles)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Galerie photo dans chaque fiche projet </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Intégration Google Analytics 4</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Newsletter (LinkedIn)</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Galerie d'expérimentations 3D</a:t>
            </a:r>
            <a:endParaRPr lang="fr-FR" sz="900" b="0" u="none" strike="noStrike">
              <a:solidFill>
                <a:srgbClr val="000000"/>
              </a:solidFill>
              <a:effectLst/>
              <a:uFillTx/>
              <a:latin typeface="Arial"/>
            </a:endParaRPr>
          </a:p>
        </p:txBody>
      </p:sp>
      <p:sp>
        <p:nvSpPr>
          <p:cNvPr id="737" name="Shape 23"/>
          <p:cNvSpPr/>
          <p:nvPr/>
        </p:nvSpPr>
        <p:spPr>
          <a:xfrm>
            <a:off x="6766560" y="2057400"/>
            <a:ext cx="2004480" cy="632880"/>
          </a:xfrm>
          <a:prstGeom prst="rect">
            <a:avLst/>
          </a:prstGeom>
          <a:solidFill>
            <a:srgbClr val="37474F"/>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38" name="Text 24"/>
          <p:cNvSpPr/>
          <p:nvPr/>
        </p:nvSpPr>
        <p:spPr>
          <a:xfrm>
            <a:off x="6903720" y="2103120"/>
            <a:ext cx="450000" cy="541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F4EFE6"/>
                </a:solidFill>
                <a:effectLst/>
                <a:uFillTx/>
                <a:latin typeface="Arelv"/>
                <a:ea typeface="Arelv"/>
              </a:rPr>
              <a:t>W</a:t>
            </a:r>
            <a:endParaRPr lang="fr-FR" sz="3600" b="0" u="none" strike="noStrike">
              <a:solidFill>
                <a:srgbClr val="000000"/>
              </a:solidFill>
              <a:effectLst/>
              <a:uFillTx/>
              <a:latin typeface="Arial"/>
            </a:endParaRPr>
          </a:p>
        </p:txBody>
      </p:sp>
      <p:sp>
        <p:nvSpPr>
          <p:cNvPr id="739" name="Text 25"/>
          <p:cNvSpPr/>
          <p:nvPr/>
        </p:nvSpPr>
        <p:spPr>
          <a:xfrm>
            <a:off x="7360920" y="21488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WON'T HAVE</a:t>
            </a:r>
            <a:endParaRPr lang="fr-FR" sz="1100" b="0" u="none" strike="noStrike">
              <a:solidFill>
                <a:srgbClr val="000000"/>
              </a:solidFill>
              <a:effectLst/>
              <a:uFillTx/>
              <a:latin typeface="Arial"/>
            </a:endParaRPr>
          </a:p>
        </p:txBody>
      </p:sp>
      <p:sp>
        <p:nvSpPr>
          <p:cNvPr id="740" name="Text 26"/>
          <p:cNvSpPr/>
          <p:nvPr/>
        </p:nvSpPr>
        <p:spPr>
          <a:xfrm>
            <a:off x="7360920" y="2377440"/>
            <a:ext cx="1364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i="1" u="none" strike="noStrike">
                <a:solidFill>
                  <a:srgbClr val="F4EFE6"/>
                </a:solidFill>
                <a:effectLst/>
                <a:uFillTx/>
                <a:latin typeface="Satoshi"/>
                <a:ea typeface="Satoshi"/>
              </a:rPr>
              <a:t>Exclu de cette version</a:t>
            </a:r>
            <a:endParaRPr lang="fr-FR" sz="900" b="0" u="none" strike="noStrike">
              <a:solidFill>
                <a:srgbClr val="000000"/>
              </a:solidFill>
              <a:effectLst/>
              <a:uFillTx/>
              <a:latin typeface="Arial"/>
            </a:endParaRPr>
          </a:p>
        </p:txBody>
      </p:sp>
      <p:sp>
        <p:nvSpPr>
          <p:cNvPr id="741" name="Shape 27"/>
          <p:cNvSpPr/>
          <p:nvPr/>
        </p:nvSpPr>
        <p:spPr>
          <a:xfrm>
            <a:off x="6766560" y="2697480"/>
            <a:ext cx="2004480" cy="19130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42" name="Text 28"/>
          <p:cNvSpPr/>
          <p:nvPr/>
        </p:nvSpPr>
        <p:spPr>
          <a:xfrm>
            <a:off x="6903720" y="2834640"/>
            <a:ext cx="173016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Espace utilisateur authentifié</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Système de commentaires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E-commerce intégré</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Application mobile dédiée</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0A0A0A"/>
                </a:solidFill>
                <a:effectLst/>
                <a:uFillTx/>
                <a:latin typeface="Satoshi"/>
                <a:ea typeface="Satoshi"/>
              </a:rPr>
              <a:t>› Intelligence artificielle générative</a:t>
            </a:r>
            <a:endParaRPr lang="fr-FR" sz="900" b="0" u="none" strike="noStrike">
              <a:solidFill>
                <a:srgbClr val="000000"/>
              </a:solidFill>
              <a:effectLst/>
              <a:uFillTx/>
              <a:latin typeface="Arial"/>
            </a:endParaRPr>
          </a:p>
        </p:txBody>
      </p:sp>
      <p:sp>
        <p:nvSpPr>
          <p:cNvPr id="743" name="Shape 2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44" name="Text 3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745" name="Text 3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4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74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74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4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JURIDIQUE</a:t>
            </a:r>
            <a:endParaRPr lang="fr-FR" sz="5000" b="0" u="none" strike="noStrike">
              <a:solidFill>
                <a:srgbClr val="000000"/>
              </a:solidFill>
              <a:effectLst/>
              <a:uFillTx/>
              <a:latin typeface="Arial"/>
            </a:endParaRPr>
          </a:p>
        </p:txBody>
      </p:sp>
      <p:sp>
        <p:nvSpPr>
          <p:cNvPr id="75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Conformité légale et protection des données</a:t>
            </a:r>
            <a:endParaRPr lang="fr-FR" sz="1600" b="0" u="none" strike="noStrike">
              <a:solidFill>
                <a:srgbClr val="000000"/>
              </a:solidFill>
              <a:effectLst/>
              <a:uFillTx/>
              <a:latin typeface="Arial"/>
            </a:endParaRPr>
          </a:p>
        </p:txBody>
      </p:sp>
      <p:sp>
        <p:nvSpPr>
          <p:cNvPr id="751" name="Shape 5"/>
          <p:cNvSpPr/>
          <p:nvPr/>
        </p:nvSpPr>
        <p:spPr>
          <a:xfrm>
            <a:off x="45720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52" name="Text 6"/>
          <p:cNvSpPr/>
          <p:nvPr/>
        </p:nvSpPr>
        <p:spPr>
          <a:xfrm>
            <a:off x="64008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RGPD</a:t>
            </a:r>
            <a:endParaRPr lang="fr-FR" sz="1600" b="0" u="none" strike="noStrike">
              <a:solidFill>
                <a:srgbClr val="000000"/>
              </a:solidFill>
              <a:effectLst/>
              <a:uFillTx/>
              <a:latin typeface="Arial"/>
            </a:endParaRPr>
          </a:p>
        </p:txBody>
      </p:sp>
      <p:sp>
        <p:nvSpPr>
          <p:cNvPr id="753" name="Text 7"/>
          <p:cNvSpPr/>
          <p:nvPr/>
        </p:nvSpPr>
        <p:spPr>
          <a:xfrm>
            <a:off x="457200" y="25603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Conformité au Règlement Général sur la Protection des Données (UE 2016/679). Bannière de consentement Complianz, collecte minimale, droit à l'oubli, registre des traitements, finalité explicite pour chaque donnée recueillie via le formulaire de contact.</a:t>
            </a:r>
            <a:endParaRPr lang="fr-FR" sz="1000" b="0" u="none" strike="noStrike">
              <a:solidFill>
                <a:srgbClr val="000000"/>
              </a:solidFill>
              <a:effectLst/>
              <a:uFillTx/>
              <a:latin typeface="Arial"/>
            </a:endParaRPr>
          </a:p>
        </p:txBody>
      </p:sp>
      <p:sp>
        <p:nvSpPr>
          <p:cNvPr id="754" name="Shape 8"/>
          <p:cNvSpPr/>
          <p:nvPr/>
        </p:nvSpPr>
        <p:spPr>
          <a:xfrm>
            <a:off x="466344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55" name="Text 9"/>
          <p:cNvSpPr/>
          <p:nvPr/>
        </p:nvSpPr>
        <p:spPr>
          <a:xfrm>
            <a:off x="484632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MENTIONS LÉGALES</a:t>
            </a:r>
            <a:endParaRPr lang="fr-FR" sz="1600" b="0" u="none" strike="noStrike">
              <a:solidFill>
                <a:srgbClr val="000000"/>
              </a:solidFill>
              <a:effectLst/>
              <a:uFillTx/>
              <a:latin typeface="Arial"/>
            </a:endParaRPr>
          </a:p>
        </p:txBody>
      </p:sp>
      <p:sp>
        <p:nvSpPr>
          <p:cNvPr id="756" name="Text 10"/>
          <p:cNvSpPr/>
          <p:nvPr/>
        </p:nvSpPr>
        <p:spPr>
          <a:xfrm>
            <a:off x="4663440" y="25603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Page dédiée incluant identité de l'éditeur (Aymen CHAABANE), hébergeur (à préciser selon offre retenue), responsable de publication, contact, propriété intellectuelle, et clause de limitation de responsabilité.</a:t>
            </a:r>
            <a:endParaRPr lang="fr-FR" sz="1000" b="0" u="none" strike="noStrike">
              <a:solidFill>
                <a:srgbClr val="000000"/>
              </a:solidFill>
              <a:effectLst/>
              <a:uFillTx/>
              <a:latin typeface="Arial"/>
            </a:endParaRPr>
          </a:p>
        </p:txBody>
      </p:sp>
      <p:sp>
        <p:nvSpPr>
          <p:cNvPr id="757" name="Shape 11"/>
          <p:cNvSpPr/>
          <p:nvPr/>
        </p:nvSpPr>
        <p:spPr>
          <a:xfrm>
            <a:off x="45720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58" name="Text 12"/>
          <p:cNvSpPr/>
          <p:nvPr/>
        </p:nvSpPr>
        <p:spPr>
          <a:xfrm>
            <a:off x="64008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COOKIES</a:t>
            </a:r>
            <a:endParaRPr lang="fr-FR" sz="1600" b="0" u="none" strike="noStrike">
              <a:solidFill>
                <a:srgbClr val="000000"/>
              </a:solidFill>
              <a:effectLst/>
              <a:uFillTx/>
              <a:latin typeface="Arial"/>
            </a:endParaRPr>
          </a:p>
        </p:txBody>
      </p:sp>
      <p:sp>
        <p:nvSpPr>
          <p:cNvPr id="759" name="Text 13"/>
          <p:cNvSpPr/>
          <p:nvPr/>
        </p:nvSpPr>
        <p:spPr>
          <a:xfrm>
            <a:off x="457200" y="39319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Politique cookies détaillée : cookies fonctionnels (Polylang, WordPress core) autorisés sans consentement, cookies analytiques (Google Analytics 4), durée de conservation des consentements limitée à 6 mois.</a:t>
            </a:r>
            <a:endParaRPr lang="fr-FR" sz="1000" b="0" u="none" strike="noStrike">
              <a:solidFill>
                <a:srgbClr val="000000"/>
              </a:solidFill>
              <a:effectLst/>
              <a:uFillTx/>
              <a:latin typeface="Arial"/>
            </a:endParaRPr>
          </a:p>
        </p:txBody>
      </p:sp>
      <p:sp>
        <p:nvSpPr>
          <p:cNvPr id="760" name="Shape 14"/>
          <p:cNvSpPr/>
          <p:nvPr/>
        </p:nvSpPr>
        <p:spPr>
          <a:xfrm>
            <a:off x="466344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61" name="Text 15"/>
          <p:cNvSpPr/>
          <p:nvPr/>
        </p:nvSpPr>
        <p:spPr>
          <a:xfrm>
            <a:off x="484632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DROITS D'IMAGE &amp; TYPO</a:t>
            </a:r>
            <a:endParaRPr lang="fr-FR" sz="1600" b="0" u="none" strike="noStrike">
              <a:solidFill>
                <a:srgbClr val="000000"/>
              </a:solidFill>
              <a:effectLst/>
              <a:uFillTx/>
              <a:latin typeface="Arial"/>
            </a:endParaRPr>
          </a:p>
        </p:txBody>
      </p:sp>
      <p:sp>
        <p:nvSpPr>
          <p:cNvPr id="762" name="Text 16"/>
          <p:cNvSpPr/>
          <p:nvPr/>
        </p:nvSpPr>
        <p:spPr>
          <a:xfrm>
            <a:off x="4663440" y="39319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Toutes les photographies utilisées sont libres de droits propres à l'auteur. Les polices Arelv et Satoshi font l'objet de licences libres pour un usage personnelle. Le symbole et le logo sont créations originales de l'auteur.</a:t>
            </a:r>
            <a:endParaRPr lang="fr-FR" sz="1000" b="0" u="none" strike="noStrike">
              <a:solidFill>
                <a:srgbClr val="000000"/>
              </a:solidFill>
              <a:effectLst/>
              <a:uFillTx/>
              <a:latin typeface="Arial"/>
            </a:endParaRPr>
          </a:p>
        </p:txBody>
      </p:sp>
      <p:sp>
        <p:nvSpPr>
          <p:cNvPr id="763"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64"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765"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6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76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76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6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FAISABILITÉ</a:t>
            </a:r>
            <a:endParaRPr lang="fr-FR" sz="5000" b="0" u="none" strike="noStrike">
              <a:solidFill>
                <a:srgbClr val="000000"/>
              </a:solidFill>
              <a:effectLst/>
              <a:uFillTx/>
              <a:latin typeface="Arial"/>
            </a:endParaRPr>
          </a:p>
        </p:txBody>
      </p:sp>
      <p:sp>
        <p:nvSpPr>
          <p:cNvPr id="77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Contraintes techniques et conditions de réussite</a:t>
            </a:r>
            <a:endParaRPr lang="fr-FR" sz="1600" b="0" u="none" strike="noStrike">
              <a:solidFill>
                <a:srgbClr val="000000"/>
              </a:solidFill>
              <a:effectLst/>
              <a:uFillTx/>
              <a:latin typeface="Arial"/>
            </a:endParaRPr>
          </a:p>
        </p:txBody>
      </p:sp>
      <p:sp>
        <p:nvSpPr>
          <p:cNvPr id="771" name="Text 5"/>
          <p:cNvSpPr/>
          <p:nvPr/>
        </p:nvSpPr>
        <p:spPr>
          <a:xfrm>
            <a:off x="457200" y="2011680"/>
            <a:ext cx="822240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L'étude de faisabilité confirme la viabilité du projet dans les conditions de cadrage. Quatre familles de contraintes encadrent la production et orientent les arbitrages techniques.</a:t>
            </a:r>
            <a:endParaRPr lang="fr-FR" sz="1100" b="0" u="none" strike="noStrike">
              <a:solidFill>
                <a:srgbClr val="000000"/>
              </a:solidFill>
              <a:effectLst/>
              <a:uFillTx/>
              <a:latin typeface="Arial"/>
            </a:endParaRPr>
          </a:p>
        </p:txBody>
      </p:sp>
      <p:sp>
        <p:nvSpPr>
          <p:cNvPr id="772" name="Shape 6"/>
          <p:cNvSpPr/>
          <p:nvPr/>
        </p:nvSpPr>
        <p:spPr>
          <a:xfrm>
            <a:off x="457200" y="269748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73" name="Text 7"/>
          <p:cNvSpPr/>
          <p:nvPr/>
        </p:nvSpPr>
        <p:spPr>
          <a:xfrm>
            <a:off x="594360" y="280728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TECHNIQUES</a:t>
            </a:r>
            <a:endParaRPr lang="fr-FR" sz="1200" b="0" u="none" strike="noStrike">
              <a:solidFill>
                <a:srgbClr val="000000"/>
              </a:solidFill>
              <a:effectLst/>
              <a:uFillTx/>
              <a:latin typeface="Arial"/>
            </a:endParaRPr>
          </a:p>
        </p:txBody>
      </p:sp>
      <p:sp>
        <p:nvSpPr>
          <p:cNvPr id="774" name="Shape 8"/>
          <p:cNvSpPr/>
          <p:nvPr/>
        </p:nvSpPr>
        <p:spPr>
          <a:xfrm>
            <a:off x="59436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775" name="Text 9"/>
          <p:cNvSpPr/>
          <p:nvPr/>
        </p:nvSpPr>
        <p:spPr>
          <a:xfrm>
            <a:off x="594360" y="3246120"/>
            <a:ext cx="1684440" cy="1135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WordPress imposé (cadre péda. FIM)</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Hébergement compatible PHP 8+ et MySQL 5.7+</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Compatibilité tous navigateurs modernes</a:t>
            </a:r>
            <a:endParaRPr lang="fr-FR" sz="900" b="0" u="none" strike="noStrike">
              <a:solidFill>
                <a:srgbClr val="000000"/>
              </a:solidFill>
              <a:effectLst/>
              <a:uFillTx/>
              <a:latin typeface="Arial"/>
            </a:endParaRPr>
          </a:p>
        </p:txBody>
      </p:sp>
      <p:sp>
        <p:nvSpPr>
          <p:cNvPr id="776" name="Shape 10"/>
          <p:cNvSpPr/>
          <p:nvPr/>
        </p:nvSpPr>
        <p:spPr>
          <a:xfrm>
            <a:off x="2541960" y="269748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77" name="Text 11"/>
          <p:cNvSpPr/>
          <p:nvPr/>
        </p:nvSpPr>
        <p:spPr>
          <a:xfrm>
            <a:off x="2679120" y="280728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TEMPORELLES</a:t>
            </a:r>
            <a:endParaRPr lang="fr-FR" sz="1200" b="0" u="none" strike="noStrike">
              <a:solidFill>
                <a:srgbClr val="000000"/>
              </a:solidFill>
              <a:effectLst/>
              <a:uFillTx/>
              <a:latin typeface="Arial"/>
            </a:endParaRPr>
          </a:p>
        </p:txBody>
      </p:sp>
      <p:sp>
        <p:nvSpPr>
          <p:cNvPr id="778" name="Shape 12"/>
          <p:cNvSpPr/>
          <p:nvPr/>
        </p:nvSpPr>
        <p:spPr>
          <a:xfrm>
            <a:off x="267912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779" name="Text 13"/>
          <p:cNvSpPr/>
          <p:nvPr/>
        </p:nvSpPr>
        <p:spPr>
          <a:xfrm>
            <a:off x="2679120" y="3246120"/>
            <a:ext cx="1816920" cy="1135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Livraison finale : juin 2026</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Stage Saobio jusqu'au 31 mai 2026 (gestion en parallèle)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Soutenance : 25-26 juin 2026</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Approche cascade avec jalons FIM prédéfinis (du 8/12/25, au 15/06/26)</a:t>
            </a:r>
            <a:endParaRPr lang="fr-FR" sz="900" b="0" u="none" strike="noStrike">
              <a:solidFill>
                <a:srgbClr val="000000"/>
              </a:solidFill>
              <a:effectLst/>
              <a:uFillTx/>
              <a:latin typeface="Arial"/>
            </a:endParaRPr>
          </a:p>
        </p:txBody>
      </p:sp>
      <p:sp>
        <p:nvSpPr>
          <p:cNvPr id="780" name="Shape 14"/>
          <p:cNvSpPr/>
          <p:nvPr/>
        </p:nvSpPr>
        <p:spPr>
          <a:xfrm>
            <a:off x="4626720" y="269748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81" name="Text 15"/>
          <p:cNvSpPr/>
          <p:nvPr/>
        </p:nvSpPr>
        <p:spPr>
          <a:xfrm>
            <a:off x="4763880" y="280728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BUDGÉTAIRES</a:t>
            </a:r>
            <a:endParaRPr lang="fr-FR" sz="1200" b="0" u="none" strike="noStrike">
              <a:solidFill>
                <a:srgbClr val="000000"/>
              </a:solidFill>
              <a:effectLst/>
              <a:uFillTx/>
              <a:latin typeface="Arial"/>
            </a:endParaRPr>
          </a:p>
        </p:txBody>
      </p:sp>
      <p:sp>
        <p:nvSpPr>
          <p:cNvPr id="782" name="Shape 16"/>
          <p:cNvSpPr/>
          <p:nvPr/>
        </p:nvSpPr>
        <p:spPr>
          <a:xfrm>
            <a:off x="476388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783" name="Text 17"/>
          <p:cNvSpPr/>
          <p:nvPr/>
        </p:nvSpPr>
        <p:spPr>
          <a:xfrm>
            <a:off x="4763880" y="3246120"/>
            <a:ext cx="1684440" cy="1135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Budget projet personnel limité (~150 €/an)</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Aucune prestation externe rémunérée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Licences logicielles gratuites privilégiées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Outils freemium acceptables (Canva, GitHub)</a:t>
            </a:r>
            <a:endParaRPr lang="fr-FR" sz="900" b="0" u="none" strike="noStrike">
              <a:solidFill>
                <a:srgbClr val="000000"/>
              </a:solidFill>
              <a:effectLst/>
              <a:uFillTx/>
              <a:latin typeface="Arial"/>
            </a:endParaRPr>
          </a:p>
        </p:txBody>
      </p:sp>
      <p:sp>
        <p:nvSpPr>
          <p:cNvPr id="784" name="Shape 18"/>
          <p:cNvSpPr/>
          <p:nvPr/>
        </p:nvSpPr>
        <p:spPr>
          <a:xfrm>
            <a:off x="6711840" y="269748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85" name="Text 19"/>
          <p:cNvSpPr/>
          <p:nvPr/>
        </p:nvSpPr>
        <p:spPr>
          <a:xfrm>
            <a:off x="6849000" y="280728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QUALITATIVES</a:t>
            </a:r>
            <a:endParaRPr lang="fr-FR" sz="1200" b="0" u="none" strike="noStrike">
              <a:solidFill>
                <a:srgbClr val="000000"/>
              </a:solidFill>
              <a:effectLst/>
              <a:uFillTx/>
              <a:latin typeface="Arial"/>
            </a:endParaRPr>
          </a:p>
        </p:txBody>
      </p:sp>
      <p:sp>
        <p:nvSpPr>
          <p:cNvPr id="786" name="Shape 20"/>
          <p:cNvSpPr/>
          <p:nvPr/>
        </p:nvSpPr>
        <p:spPr>
          <a:xfrm>
            <a:off x="684900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787" name="Text 21"/>
          <p:cNvSpPr/>
          <p:nvPr/>
        </p:nvSpPr>
        <p:spPr>
          <a:xfrm>
            <a:off x="6849000" y="3246120"/>
            <a:ext cx="1684440" cy="1135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Multilingue avec qualité éditoriale égale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Cohérence stricte avec la charte graphique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0A0A0A"/>
                </a:solidFill>
                <a:effectLst/>
                <a:uFillTx/>
                <a:latin typeface="Satoshi"/>
                <a:ea typeface="Satoshi"/>
              </a:rPr>
              <a:t>› Aucune coquille en production</a:t>
            </a:r>
            <a:endParaRPr lang="fr-FR" sz="900" b="0" u="none" strike="noStrike">
              <a:solidFill>
                <a:srgbClr val="000000"/>
              </a:solidFill>
              <a:effectLst/>
              <a:uFillTx/>
              <a:latin typeface="Arial"/>
            </a:endParaRPr>
          </a:p>
        </p:txBody>
      </p:sp>
      <p:sp>
        <p:nvSpPr>
          <p:cNvPr id="788"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89"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790"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38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791"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05</a:t>
            </a:r>
            <a:endParaRPr lang="fr-FR" sz="28000" b="0" u="none" strike="noStrike">
              <a:solidFill>
                <a:srgbClr val="FFFFFF"/>
              </a:solidFill>
              <a:effectLst/>
              <a:uFillTx/>
              <a:latin typeface="Arial"/>
            </a:endParaRPr>
          </a:p>
        </p:txBody>
      </p:sp>
      <p:sp>
        <p:nvSpPr>
          <p:cNvPr id="792"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IDENTITÉ</a:t>
            </a:r>
            <a:endParaRPr lang="fr-FR" sz="3200" b="0" u="none" strike="noStrike">
              <a:solidFill>
                <a:srgbClr val="FFFFFF"/>
              </a:solidFill>
              <a:effectLst/>
              <a:uFillTx/>
              <a:latin typeface="Arial"/>
            </a:endParaRPr>
          </a:p>
        </p:txBody>
      </p:sp>
      <p:sp>
        <p:nvSpPr>
          <p:cNvPr id="793"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VISUELLE</a:t>
            </a:r>
            <a:endParaRPr lang="fr-FR" sz="3200" b="0" u="none" strike="noStrike">
              <a:solidFill>
                <a:srgbClr val="FFFFFF"/>
              </a:solidFill>
              <a:effectLst/>
              <a:uFillTx/>
              <a:latin typeface="Arial"/>
            </a:endParaRPr>
          </a:p>
        </p:txBody>
      </p:sp>
      <p:sp>
        <p:nvSpPr>
          <p:cNvPr id="794"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Cinquième partie · pages 39 → 52</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9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79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79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79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GENÈSE</a:t>
            </a:r>
            <a:endParaRPr lang="fr-FR" sz="5600" b="0" u="none" strike="noStrike">
              <a:solidFill>
                <a:srgbClr val="000000"/>
              </a:solidFill>
              <a:effectLst/>
              <a:uFillTx/>
              <a:latin typeface="Arial"/>
            </a:endParaRPr>
          </a:p>
        </p:txBody>
      </p:sp>
      <p:sp>
        <p:nvSpPr>
          <p:cNvPr id="79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Fondements conceptuels de l'identité visuelle</a:t>
            </a:r>
            <a:endParaRPr lang="fr-FR" sz="1600" b="0" u="none" strike="noStrike">
              <a:solidFill>
                <a:srgbClr val="000000"/>
              </a:solidFill>
              <a:effectLst/>
              <a:uFillTx/>
              <a:latin typeface="Arial"/>
            </a:endParaRPr>
          </a:p>
        </p:txBody>
      </p:sp>
      <p:sp>
        <p:nvSpPr>
          <p:cNvPr id="800" name="Text 5"/>
          <p:cNvSpPr/>
          <p:nvPr/>
        </p:nvSpPr>
        <p:spPr>
          <a:xfrm>
            <a:off x="457200" y="2011680"/>
            <a:ext cx="8222400" cy="2644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L'identité visuelle du portfolio s'enracine dans une géographie symbolique précise : le désert du Tassili, ses gravures rupestres, ses massifs minéraux, sa lumière. Ce choix n'est pas illustratif mais conceptuel. Il fait du portfolio le lieu de jonction de deux univers en apparence opposés : la rigueur méthodologique de la recherche et la fluidité expressive de l'héritage culturel.</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La lettre arabe Wa (</a:t>
            </a:r>
            <a:r>
              <a:rPr lang="hi-IN" sz="1200" b="0" u="none" strike="noStrike">
                <a:solidFill>
                  <a:srgbClr val="0A0A0A"/>
                </a:solidFill>
                <a:effectLst/>
                <a:uFillTx/>
                <a:latin typeface="Satoshi"/>
                <a:cs typeface="Satoshi"/>
              </a:rPr>
              <a:t>و</a:t>
            </a:r>
            <a:r>
              <a:rPr lang="fr-FR" sz="1200" b="0" u="none" strike="noStrike">
                <a:solidFill>
                  <a:srgbClr val="0A0A0A"/>
                </a:solidFill>
                <a:effectLst/>
                <a:uFillTx/>
                <a:latin typeface="Satoshi"/>
                <a:ea typeface="Satoshi"/>
              </a:rPr>
              <a:t>), conjonction grammaticale signifiant « et », constitue le motif fondateur du système visuel. Sa forme — boucle ouverte prolongée d'un trait — autorise une déclinaison géométrique et symbolique : signe du lien, marque de l'unité dans la diversité.</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 </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L'ensemble des éléments graphiques qui suivent — palette, typographie, symbole, logo, imagerie — découlent de ce socle conceptuel. La présente section décrit les règles d'usage destinées à garantir la cohérence du système sur l'ensemble des supports, imprimés comme numériques.</a:t>
            </a:r>
            <a:endParaRPr lang="fr-FR" sz="1200" b="0" u="none" strike="noStrike">
              <a:solidFill>
                <a:srgbClr val="000000"/>
              </a:solidFill>
              <a:effectLst/>
              <a:uFillTx/>
              <a:latin typeface="Arial"/>
            </a:endParaRPr>
          </a:p>
        </p:txBody>
      </p:sp>
      <p:sp>
        <p:nvSpPr>
          <p:cNvPr id="801"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02"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03"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04"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05"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06"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07"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UNIVERS</a:t>
            </a:r>
            <a:endParaRPr lang="fr-FR" sz="5600" b="0" u="none" strike="noStrike">
              <a:solidFill>
                <a:srgbClr val="000000"/>
              </a:solidFill>
              <a:effectLst/>
              <a:uFillTx/>
              <a:latin typeface="Arial"/>
            </a:endParaRPr>
          </a:p>
        </p:txBody>
      </p:sp>
      <p:sp>
        <p:nvSpPr>
          <p:cNvPr id="808"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L'atmosphère &amp; l'horizon</a:t>
            </a:r>
            <a:endParaRPr lang="fr-FR" sz="1600" b="0" u="none" strike="noStrike">
              <a:solidFill>
                <a:srgbClr val="000000"/>
              </a:solidFill>
              <a:effectLst/>
              <a:uFillTx/>
              <a:latin typeface="Arial"/>
            </a:endParaRPr>
          </a:p>
        </p:txBody>
      </p:sp>
      <p:sp>
        <p:nvSpPr>
          <p:cNvPr id="809" name="Text 5"/>
          <p:cNvSpPr/>
          <p:nvPr/>
        </p:nvSpPr>
        <p:spPr>
          <a:xfrm>
            <a:off x="457200" y="2103120"/>
            <a:ext cx="4016160" cy="2461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00"/>
              </a:spcAft>
              <a:tabLst>
                <a:tab pos="0" algn="l"/>
              </a:tabLst>
            </a:pPr>
            <a:r>
              <a:rPr lang="fr-FR" sz="1100" b="0" u="none" strike="noStrike">
                <a:solidFill>
                  <a:srgbClr val="0A0A0A"/>
                </a:solidFill>
                <a:effectLst/>
                <a:uFillTx/>
                <a:latin typeface="Satoshi"/>
                <a:ea typeface="Satoshi"/>
              </a:rPr>
              <a:t>L'univers de référence s'éloigne volontairement du Sahara cliché — sable, dunes, palmiers. Il convoque un désert contemporain, contrasté, minéral, presque électrique : massifs rocheux du Tassili, gravures rupestres préhistoriques, jeux d'ombres tranchés sur la pierre.</a:t>
            </a:r>
            <a:endParaRPr lang="fr-FR" sz="1100" b="0" u="none" strike="noStrike">
              <a:solidFill>
                <a:srgbClr val="000000"/>
              </a:solidFill>
              <a:effectLst/>
              <a:uFillTx/>
              <a:latin typeface="Arial"/>
            </a:endParaRPr>
          </a:p>
          <a:p>
            <a:pPr defTabSz="914400">
              <a:lnSpc>
                <a:spcPct val="100000"/>
              </a:lnSpc>
              <a:spcAft>
                <a:spcPts val="400"/>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400"/>
              </a:spcAft>
              <a:tabLst>
                <a:tab pos="0" algn="l"/>
              </a:tabLst>
            </a:pPr>
            <a:r>
              <a:rPr lang="fr-FR" sz="1100" b="0" u="none" strike="noStrike">
                <a:solidFill>
                  <a:srgbClr val="0A0A0A"/>
                </a:solidFill>
                <a:effectLst/>
                <a:uFillTx/>
                <a:latin typeface="Satoshi"/>
                <a:ea typeface="Satoshi"/>
              </a:rPr>
              <a:t>Cette atmosphère sert de cadre mental au portfolio : un espace silencieux propice à la lecture sérieuse, structuré comme un paysage, où chaque élément graphique dialogue avec ses voisins selon des règles de composition strictes.</a:t>
            </a:r>
            <a:endParaRPr lang="fr-FR" sz="1100" b="0" u="none" strike="noStrike">
              <a:solidFill>
                <a:srgbClr val="000000"/>
              </a:solidFill>
              <a:effectLst/>
              <a:uFillTx/>
              <a:latin typeface="Arial"/>
            </a:endParaRPr>
          </a:p>
        </p:txBody>
      </p:sp>
      <p:sp>
        <p:nvSpPr>
          <p:cNvPr id="810" name="Shape 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11" name="Text 1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12" name="Text 1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41</a:t>
            </a:r>
            <a:endParaRPr lang="fr-FR" sz="900" b="0" u="none" strike="noStrike">
              <a:solidFill>
                <a:srgbClr val="000000"/>
              </a:solidFill>
              <a:effectLst/>
              <a:uFillTx/>
              <a:latin typeface="Arial"/>
            </a:endParaRPr>
          </a:p>
        </p:txBody>
      </p:sp>
      <p:pic>
        <p:nvPicPr>
          <p:cNvPr id="813" name=""/>
          <p:cNvPicPr/>
          <p:nvPr/>
        </p:nvPicPr>
        <p:blipFill>
          <a:blip r:embed="rId1"/>
          <a:stretch/>
        </p:blipFill>
        <p:spPr>
          <a:xfrm>
            <a:off x="4734720" y="1887120"/>
            <a:ext cx="4014360" cy="2462760"/>
          </a:xfrm>
          <a:prstGeom prst="rect">
            <a:avLst/>
          </a:prstGeom>
          <a:noFill/>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14"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15"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16"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17"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POSITIONNEMENT</a:t>
            </a:r>
            <a:endParaRPr lang="fr-FR" sz="4400" b="0" u="none" strike="noStrike">
              <a:solidFill>
                <a:srgbClr val="000000"/>
              </a:solidFill>
              <a:effectLst/>
              <a:uFillTx/>
              <a:latin typeface="Arial"/>
            </a:endParaRPr>
          </a:p>
        </p:txBody>
      </p:sp>
      <p:sp>
        <p:nvSpPr>
          <p:cNvPr id="818"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Cinq curseurs définissent l'identité de marque</a:t>
            </a:r>
            <a:endParaRPr lang="fr-FR" sz="1600" b="0" u="none" strike="noStrike">
              <a:solidFill>
                <a:srgbClr val="000000"/>
              </a:solidFill>
              <a:effectLst/>
              <a:uFillTx/>
              <a:latin typeface="Arial"/>
            </a:endParaRPr>
          </a:p>
        </p:txBody>
      </p:sp>
      <p:sp>
        <p:nvSpPr>
          <p:cNvPr id="819" name="Text 5"/>
          <p:cNvSpPr/>
          <p:nvPr/>
        </p:nvSpPr>
        <p:spPr>
          <a:xfrm>
            <a:off x="457200" y="2194560"/>
            <a:ext cx="12729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0A0A0A"/>
                </a:solidFill>
                <a:effectLst/>
                <a:uFillTx/>
                <a:latin typeface="Satoshi"/>
                <a:ea typeface="Satoshi"/>
              </a:rPr>
              <a:t>Formel</a:t>
            </a:r>
            <a:endParaRPr lang="fr-FR" sz="1100" b="0" u="none" strike="noStrike">
              <a:solidFill>
                <a:srgbClr val="000000"/>
              </a:solidFill>
              <a:effectLst/>
              <a:uFillTx/>
              <a:latin typeface="Arial"/>
            </a:endParaRPr>
          </a:p>
        </p:txBody>
      </p:sp>
      <p:sp>
        <p:nvSpPr>
          <p:cNvPr id="820" name="Text 6"/>
          <p:cNvSpPr/>
          <p:nvPr/>
        </p:nvSpPr>
        <p:spPr>
          <a:xfrm>
            <a:off x="7406640" y="2194560"/>
            <a:ext cx="12729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0A0A0A"/>
                </a:solidFill>
                <a:effectLst/>
                <a:uFillTx/>
                <a:latin typeface="Satoshi"/>
                <a:ea typeface="Satoshi"/>
              </a:rPr>
              <a:t>Détendu</a:t>
            </a:r>
            <a:endParaRPr lang="fr-FR" sz="1100" b="0" u="none" strike="noStrike">
              <a:solidFill>
                <a:srgbClr val="000000"/>
              </a:solidFill>
              <a:effectLst/>
              <a:uFillTx/>
              <a:latin typeface="Arial"/>
            </a:endParaRPr>
          </a:p>
        </p:txBody>
      </p:sp>
      <p:sp>
        <p:nvSpPr>
          <p:cNvPr id="821" name="Shape 7"/>
          <p:cNvSpPr/>
          <p:nvPr/>
        </p:nvSpPr>
        <p:spPr>
          <a:xfrm>
            <a:off x="1828800" y="2331720"/>
            <a:ext cx="5486400" cy="360"/>
          </a:xfrm>
          <a:prstGeom prst="line">
            <a:avLst/>
          </a:prstGeom>
          <a:ln w="1270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22" name="Shape 8"/>
          <p:cNvSpPr/>
          <p:nvPr/>
        </p:nvSpPr>
        <p:spPr>
          <a:xfrm>
            <a:off x="3177720" y="2240280"/>
            <a:ext cx="38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23" name="Text 9"/>
          <p:cNvSpPr/>
          <p:nvPr/>
        </p:nvSpPr>
        <p:spPr>
          <a:xfrm>
            <a:off x="457200" y="2651760"/>
            <a:ext cx="12729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0A0A0A"/>
                </a:solidFill>
                <a:effectLst/>
                <a:uFillTx/>
                <a:latin typeface="Satoshi"/>
                <a:ea typeface="Satoshi"/>
              </a:rPr>
              <a:t>Simple</a:t>
            </a:r>
            <a:endParaRPr lang="fr-FR" sz="1100" b="0" u="none" strike="noStrike">
              <a:solidFill>
                <a:srgbClr val="000000"/>
              </a:solidFill>
              <a:effectLst/>
              <a:uFillTx/>
              <a:latin typeface="Arial"/>
            </a:endParaRPr>
          </a:p>
        </p:txBody>
      </p:sp>
      <p:sp>
        <p:nvSpPr>
          <p:cNvPr id="824" name="Text 10"/>
          <p:cNvSpPr/>
          <p:nvPr/>
        </p:nvSpPr>
        <p:spPr>
          <a:xfrm>
            <a:off x="7406640" y="2651760"/>
            <a:ext cx="12729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0A0A0A"/>
                </a:solidFill>
                <a:effectLst/>
                <a:uFillTx/>
                <a:latin typeface="Satoshi"/>
                <a:ea typeface="Satoshi"/>
              </a:rPr>
              <a:t>Complexe</a:t>
            </a:r>
            <a:endParaRPr lang="fr-FR" sz="1100" b="0" u="none" strike="noStrike">
              <a:solidFill>
                <a:srgbClr val="000000"/>
              </a:solidFill>
              <a:effectLst/>
              <a:uFillTx/>
              <a:latin typeface="Arial"/>
            </a:endParaRPr>
          </a:p>
        </p:txBody>
      </p:sp>
      <p:sp>
        <p:nvSpPr>
          <p:cNvPr id="825" name="Shape 11"/>
          <p:cNvSpPr/>
          <p:nvPr/>
        </p:nvSpPr>
        <p:spPr>
          <a:xfrm>
            <a:off x="1828800" y="2788920"/>
            <a:ext cx="5486400" cy="360"/>
          </a:xfrm>
          <a:prstGeom prst="line">
            <a:avLst/>
          </a:prstGeom>
          <a:ln w="1270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26" name="Shape 12"/>
          <p:cNvSpPr/>
          <p:nvPr/>
        </p:nvSpPr>
        <p:spPr>
          <a:xfrm>
            <a:off x="4000680" y="2697480"/>
            <a:ext cx="38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27" name="Text 13"/>
          <p:cNvSpPr/>
          <p:nvPr/>
        </p:nvSpPr>
        <p:spPr>
          <a:xfrm>
            <a:off x="457200" y="3108960"/>
            <a:ext cx="12729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0A0A0A"/>
                </a:solidFill>
                <a:effectLst/>
                <a:uFillTx/>
                <a:latin typeface="Satoshi"/>
                <a:ea typeface="Satoshi"/>
              </a:rPr>
              <a:t>Chaud</a:t>
            </a:r>
            <a:endParaRPr lang="fr-FR" sz="1100" b="0" u="none" strike="noStrike">
              <a:solidFill>
                <a:srgbClr val="000000"/>
              </a:solidFill>
              <a:effectLst/>
              <a:uFillTx/>
              <a:latin typeface="Arial"/>
            </a:endParaRPr>
          </a:p>
        </p:txBody>
      </p:sp>
      <p:sp>
        <p:nvSpPr>
          <p:cNvPr id="828" name="Text 14"/>
          <p:cNvSpPr/>
          <p:nvPr/>
        </p:nvSpPr>
        <p:spPr>
          <a:xfrm>
            <a:off x="7406640" y="3108960"/>
            <a:ext cx="12729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0A0A0A"/>
                </a:solidFill>
                <a:effectLst/>
                <a:uFillTx/>
                <a:latin typeface="Satoshi"/>
                <a:ea typeface="Satoshi"/>
              </a:rPr>
              <a:t>Froid</a:t>
            </a:r>
            <a:endParaRPr lang="fr-FR" sz="1100" b="0" u="none" strike="noStrike">
              <a:solidFill>
                <a:srgbClr val="000000"/>
              </a:solidFill>
              <a:effectLst/>
              <a:uFillTx/>
              <a:latin typeface="Arial"/>
            </a:endParaRPr>
          </a:p>
        </p:txBody>
      </p:sp>
      <p:sp>
        <p:nvSpPr>
          <p:cNvPr id="829" name="Shape 15"/>
          <p:cNvSpPr/>
          <p:nvPr/>
        </p:nvSpPr>
        <p:spPr>
          <a:xfrm>
            <a:off x="1828800" y="3246120"/>
            <a:ext cx="5486400" cy="360"/>
          </a:xfrm>
          <a:prstGeom prst="line">
            <a:avLst/>
          </a:prstGeom>
          <a:ln w="1270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30" name="Shape 16"/>
          <p:cNvSpPr/>
          <p:nvPr/>
        </p:nvSpPr>
        <p:spPr>
          <a:xfrm>
            <a:off x="4823640" y="3154680"/>
            <a:ext cx="38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31" name="Text 17"/>
          <p:cNvSpPr/>
          <p:nvPr/>
        </p:nvSpPr>
        <p:spPr>
          <a:xfrm>
            <a:off x="457200" y="3566160"/>
            <a:ext cx="12729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0A0A0A"/>
                </a:solidFill>
                <a:effectLst/>
                <a:uFillTx/>
                <a:latin typeface="Satoshi"/>
                <a:ea typeface="Satoshi"/>
              </a:rPr>
              <a:t>Moderne</a:t>
            </a:r>
            <a:endParaRPr lang="fr-FR" sz="1100" b="0" u="none" strike="noStrike">
              <a:solidFill>
                <a:srgbClr val="000000"/>
              </a:solidFill>
              <a:effectLst/>
              <a:uFillTx/>
              <a:latin typeface="Arial"/>
            </a:endParaRPr>
          </a:p>
        </p:txBody>
      </p:sp>
      <p:sp>
        <p:nvSpPr>
          <p:cNvPr id="832" name="Text 18"/>
          <p:cNvSpPr/>
          <p:nvPr/>
        </p:nvSpPr>
        <p:spPr>
          <a:xfrm>
            <a:off x="7406640" y="3566160"/>
            <a:ext cx="12729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0A0A0A"/>
                </a:solidFill>
                <a:effectLst/>
                <a:uFillTx/>
                <a:latin typeface="Satoshi"/>
                <a:ea typeface="Satoshi"/>
              </a:rPr>
              <a:t>Classique</a:t>
            </a:r>
            <a:endParaRPr lang="fr-FR" sz="1100" b="0" u="none" strike="noStrike">
              <a:solidFill>
                <a:srgbClr val="000000"/>
              </a:solidFill>
              <a:effectLst/>
              <a:uFillTx/>
              <a:latin typeface="Arial"/>
            </a:endParaRPr>
          </a:p>
        </p:txBody>
      </p:sp>
      <p:sp>
        <p:nvSpPr>
          <p:cNvPr id="833" name="Shape 19"/>
          <p:cNvSpPr/>
          <p:nvPr/>
        </p:nvSpPr>
        <p:spPr>
          <a:xfrm>
            <a:off x="1828800" y="3703320"/>
            <a:ext cx="5486400" cy="360"/>
          </a:xfrm>
          <a:prstGeom prst="line">
            <a:avLst/>
          </a:prstGeom>
          <a:ln w="1270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34" name="Shape 20"/>
          <p:cNvSpPr/>
          <p:nvPr/>
        </p:nvSpPr>
        <p:spPr>
          <a:xfrm>
            <a:off x="3452040" y="3611880"/>
            <a:ext cx="38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35" name="Text 21"/>
          <p:cNvSpPr/>
          <p:nvPr/>
        </p:nvSpPr>
        <p:spPr>
          <a:xfrm>
            <a:off x="457200" y="4023360"/>
            <a:ext cx="12729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u="none" strike="noStrike">
                <a:solidFill>
                  <a:srgbClr val="0A0A0A"/>
                </a:solidFill>
                <a:effectLst/>
                <a:uFillTx/>
                <a:latin typeface="Satoshi"/>
                <a:ea typeface="Satoshi"/>
              </a:rPr>
              <a:t>Industriel</a:t>
            </a:r>
            <a:endParaRPr lang="fr-FR" sz="1100" b="0" u="none" strike="noStrike">
              <a:solidFill>
                <a:srgbClr val="000000"/>
              </a:solidFill>
              <a:effectLst/>
              <a:uFillTx/>
              <a:latin typeface="Arial"/>
            </a:endParaRPr>
          </a:p>
        </p:txBody>
      </p:sp>
      <p:sp>
        <p:nvSpPr>
          <p:cNvPr id="836" name="Text 22"/>
          <p:cNvSpPr/>
          <p:nvPr/>
        </p:nvSpPr>
        <p:spPr>
          <a:xfrm>
            <a:off x="7406640" y="4023360"/>
            <a:ext cx="12729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0A0A0A"/>
                </a:solidFill>
                <a:effectLst/>
                <a:uFillTx/>
                <a:latin typeface="Satoshi"/>
                <a:ea typeface="Satoshi"/>
              </a:rPr>
              <a:t>Naturel</a:t>
            </a:r>
            <a:endParaRPr lang="fr-FR" sz="1100" b="0" u="none" strike="noStrike">
              <a:solidFill>
                <a:srgbClr val="000000"/>
              </a:solidFill>
              <a:effectLst/>
              <a:uFillTx/>
              <a:latin typeface="Arial"/>
            </a:endParaRPr>
          </a:p>
        </p:txBody>
      </p:sp>
      <p:sp>
        <p:nvSpPr>
          <p:cNvPr id="837" name="Shape 23"/>
          <p:cNvSpPr/>
          <p:nvPr/>
        </p:nvSpPr>
        <p:spPr>
          <a:xfrm>
            <a:off x="1828800" y="4160520"/>
            <a:ext cx="5486400" cy="360"/>
          </a:xfrm>
          <a:prstGeom prst="line">
            <a:avLst/>
          </a:prstGeom>
          <a:ln w="1270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38" name="Shape 24"/>
          <p:cNvSpPr/>
          <p:nvPr/>
        </p:nvSpPr>
        <p:spPr>
          <a:xfrm>
            <a:off x="5646600" y="4069080"/>
            <a:ext cx="38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39" name="Shape 2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40" name="Text 2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41" name="Text 2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4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4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4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4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MOODBOARD I</a:t>
            </a:r>
            <a:endParaRPr lang="fr-FR" sz="5000" b="0" u="none" strike="noStrike">
              <a:solidFill>
                <a:srgbClr val="000000"/>
              </a:solidFill>
              <a:effectLst/>
              <a:uFillTx/>
              <a:latin typeface="Arial"/>
            </a:endParaRPr>
          </a:p>
        </p:txBody>
      </p:sp>
      <p:sp>
        <p:nvSpPr>
          <p:cNvPr id="84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Désert électrique — premières inspirations</a:t>
            </a:r>
            <a:endParaRPr lang="fr-FR" sz="1600" b="0" u="none" strike="noStrike">
              <a:solidFill>
                <a:srgbClr val="000000"/>
              </a:solidFill>
              <a:effectLst/>
              <a:uFillTx/>
              <a:latin typeface="Arial"/>
            </a:endParaRPr>
          </a:p>
        </p:txBody>
      </p:sp>
      <p:sp>
        <p:nvSpPr>
          <p:cNvPr id="847" name="Shape 1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48" name="Text 1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49" name="Text 2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43</a:t>
            </a:r>
            <a:endParaRPr lang="fr-FR" sz="900" b="0" u="none" strike="noStrike">
              <a:solidFill>
                <a:srgbClr val="000000"/>
              </a:solidFill>
              <a:effectLst/>
              <a:uFillTx/>
              <a:latin typeface="Arial"/>
            </a:endParaRPr>
          </a:p>
        </p:txBody>
      </p:sp>
      <p:pic>
        <p:nvPicPr>
          <p:cNvPr id="850" name=""/>
          <p:cNvPicPr/>
          <p:nvPr/>
        </p:nvPicPr>
        <p:blipFill>
          <a:blip r:embed="rId1"/>
          <a:stretch/>
        </p:blipFill>
        <p:spPr>
          <a:xfrm>
            <a:off x="457200" y="2057400"/>
            <a:ext cx="2004480" cy="1272960"/>
          </a:xfrm>
          <a:prstGeom prst="rect">
            <a:avLst/>
          </a:prstGeom>
          <a:noFill/>
          <a:ln w="0">
            <a:noFill/>
          </a:ln>
        </p:spPr>
      </p:pic>
      <p:pic>
        <p:nvPicPr>
          <p:cNvPr id="851" name=""/>
          <p:cNvPicPr/>
          <p:nvPr/>
        </p:nvPicPr>
        <p:blipFill>
          <a:blip r:embed="rId2"/>
          <a:stretch/>
        </p:blipFill>
        <p:spPr>
          <a:xfrm>
            <a:off x="2606040" y="2057400"/>
            <a:ext cx="2004480" cy="1272960"/>
          </a:xfrm>
          <a:prstGeom prst="rect">
            <a:avLst/>
          </a:prstGeom>
          <a:noFill/>
          <a:ln w="0">
            <a:noFill/>
          </a:ln>
        </p:spPr>
      </p:pic>
      <p:pic>
        <p:nvPicPr>
          <p:cNvPr id="852" name=""/>
          <p:cNvPicPr/>
          <p:nvPr/>
        </p:nvPicPr>
        <p:blipFill>
          <a:blip r:embed="rId3"/>
          <a:stretch/>
        </p:blipFill>
        <p:spPr>
          <a:xfrm>
            <a:off x="6903720" y="2057400"/>
            <a:ext cx="1821600" cy="2598840"/>
          </a:xfrm>
          <a:prstGeom prst="rect">
            <a:avLst/>
          </a:prstGeom>
          <a:noFill/>
          <a:ln w="0">
            <a:noFill/>
          </a:ln>
        </p:spPr>
      </p:pic>
      <p:pic>
        <p:nvPicPr>
          <p:cNvPr id="853" name=""/>
          <p:cNvPicPr/>
          <p:nvPr/>
        </p:nvPicPr>
        <p:blipFill>
          <a:blip r:embed="rId4"/>
          <a:srcRect l="0" t="0" r="0" b="11"/>
          <a:stretch/>
        </p:blipFill>
        <p:spPr>
          <a:xfrm>
            <a:off x="4867200" y="2057400"/>
            <a:ext cx="1821960" cy="2599560"/>
          </a:xfrm>
          <a:prstGeom prst="rect">
            <a:avLst/>
          </a:prstGeom>
          <a:noFill/>
          <a:ln w="0">
            <a:noFill/>
          </a:ln>
        </p:spPr>
      </p:pic>
      <p:pic>
        <p:nvPicPr>
          <p:cNvPr id="854" name=""/>
          <p:cNvPicPr/>
          <p:nvPr/>
        </p:nvPicPr>
        <p:blipFill>
          <a:blip r:embed="rId5"/>
          <a:stretch/>
        </p:blipFill>
        <p:spPr>
          <a:xfrm>
            <a:off x="457200" y="3381480"/>
            <a:ext cx="2005560" cy="1274760"/>
          </a:xfrm>
          <a:prstGeom prst="rect">
            <a:avLst/>
          </a:prstGeom>
          <a:noFill/>
          <a:ln w="0">
            <a:noFill/>
          </a:ln>
        </p:spPr>
      </p:pic>
      <p:pic>
        <p:nvPicPr>
          <p:cNvPr id="855" name=""/>
          <p:cNvPicPr/>
          <p:nvPr/>
        </p:nvPicPr>
        <p:blipFill>
          <a:blip r:embed="rId6"/>
          <a:stretch/>
        </p:blipFill>
        <p:spPr>
          <a:xfrm>
            <a:off x="2606040" y="3381480"/>
            <a:ext cx="2005560" cy="127476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56" name="Text 54"/>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57" name="Text 57"/>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58" name="Shape 3"/>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59" name="Text 58"/>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MOODBOARD II</a:t>
            </a:r>
            <a:endParaRPr lang="fr-FR" sz="5000" b="0" u="none" strike="noStrike">
              <a:solidFill>
                <a:srgbClr val="000000"/>
              </a:solidFill>
              <a:effectLst/>
              <a:uFillTx/>
              <a:latin typeface="Arial"/>
            </a:endParaRPr>
          </a:p>
        </p:txBody>
      </p:sp>
      <p:sp>
        <p:nvSpPr>
          <p:cNvPr id="860" name="Text 59"/>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Saharien revisité — orientations retenues</a:t>
            </a:r>
            <a:endParaRPr lang="fr-FR" sz="1600" b="0" u="none" strike="noStrike">
              <a:solidFill>
                <a:srgbClr val="000000"/>
              </a:solidFill>
              <a:effectLst/>
              <a:uFillTx/>
              <a:latin typeface="Arial"/>
            </a:endParaRPr>
          </a:p>
        </p:txBody>
      </p:sp>
      <p:sp>
        <p:nvSpPr>
          <p:cNvPr id="861" name="Shape 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62" name="Text 6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63" name="Text 6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44</a:t>
            </a:r>
            <a:endParaRPr lang="fr-FR" sz="900" b="0" u="none" strike="noStrike">
              <a:solidFill>
                <a:srgbClr val="000000"/>
              </a:solidFill>
              <a:effectLst/>
              <a:uFillTx/>
              <a:latin typeface="Arial"/>
            </a:endParaRPr>
          </a:p>
        </p:txBody>
      </p:sp>
      <p:pic>
        <p:nvPicPr>
          <p:cNvPr id="864" name=""/>
          <p:cNvPicPr/>
          <p:nvPr/>
        </p:nvPicPr>
        <p:blipFill>
          <a:blip r:embed="rId1"/>
          <a:stretch/>
        </p:blipFill>
        <p:spPr>
          <a:xfrm>
            <a:off x="457200" y="2055600"/>
            <a:ext cx="2005560" cy="1274760"/>
          </a:xfrm>
          <a:prstGeom prst="rect">
            <a:avLst/>
          </a:prstGeom>
          <a:noFill/>
          <a:ln w="0">
            <a:noFill/>
          </a:ln>
        </p:spPr>
      </p:pic>
      <p:pic>
        <p:nvPicPr>
          <p:cNvPr id="865" name=""/>
          <p:cNvPicPr/>
          <p:nvPr/>
        </p:nvPicPr>
        <p:blipFill>
          <a:blip r:embed="rId2"/>
          <a:stretch/>
        </p:blipFill>
        <p:spPr>
          <a:xfrm>
            <a:off x="457200" y="3381480"/>
            <a:ext cx="2005560" cy="1274760"/>
          </a:xfrm>
          <a:prstGeom prst="rect">
            <a:avLst/>
          </a:prstGeom>
          <a:noFill/>
          <a:ln w="0">
            <a:noFill/>
          </a:ln>
        </p:spPr>
      </p:pic>
      <p:pic>
        <p:nvPicPr>
          <p:cNvPr id="866" name=""/>
          <p:cNvPicPr/>
          <p:nvPr/>
        </p:nvPicPr>
        <p:blipFill>
          <a:blip r:embed="rId3"/>
          <a:stretch/>
        </p:blipFill>
        <p:spPr>
          <a:xfrm>
            <a:off x="2606040" y="3381480"/>
            <a:ext cx="2005560" cy="1274760"/>
          </a:xfrm>
          <a:prstGeom prst="rect">
            <a:avLst/>
          </a:prstGeom>
          <a:noFill/>
          <a:ln w="0">
            <a:noFill/>
          </a:ln>
        </p:spPr>
      </p:pic>
      <p:pic>
        <p:nvPicPr>
          <p:cNvPr id="867" name=""/>
          <p:cNvPicPr/>
          <p:nvPr/>
        </p:nvPicPr>
        <p:blipFill>
          <a:blip r:embed="rId4"/>
          <a:stretch/>
        </p:blipFill>
        <p:spPr>
          <a:xfrm>
            <a:off x="4867200" y="2057400"/>
            <a:ext cx="1821960" cy="2599560"/>
          </a:xfrm>
          <a:prstGeom prst="rect">
            <a:avLst/>
          </a:prstGeom>
          <a:noFill/>
          <a:ln w="0">
            <a:noFill/>
          </a:ln>
        </p:spPr>
      </p:pic>
      <p:pic>
        <p:nvPicPr>
          <p:cNvPr id="868" name=""/>
          <p:cNvPicPr/>
          <p:nvPr/>
        </p:nvPicPr>
        <p:blipFill>
          <a:blip r:embed="rId5"/>
          <a:stretch/>
        </p:blipFill>
        <p:spPr>
          <a:xfrm>
            <a:off x="6903360" y="2057400"/>
            <a:ext cx="1821960" cy="2599560"/>
          </a:xfrm>
          <a:prstGeom prst="rect">
            <a:avLst/>
          </a:prstGeom>
          <a:noFill/>
          <a:ln w="0">
            <a:noFill/>
          </a:ln>
        </p:spPr>
      </p:pic>
      <p:pic>
        <p:nvPicPr>
          <p:cNvPr id="869" name=""/>
          <p:cNvPicPr/>
          <p:nvPr/>
        </p:nvPicPr>
        <p:blipFill>
          <a:blip r:embed="rId6"/>
          <a:stretch/>
        </p:blipFill>
        <p:spPr>
          <a:xfrm>
            <a:off x="2606040" y="2057400"/>
            <a:ext cx="2005560" cy="127476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7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7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7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7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VALEURS</a:t>
            </a:r>
            <a:endParaRPr lang="fr-FR" sz="5600" b="0" u="none" strike="noStrike">
              <a:solidFill>
                <a:srgbClr val="000000"/>
              </a:solidFill>
              <a:effectLst/>
              <a:uFillTx/>
              <a:latin typeface="Arial"/>
            </a:endParaRPr>
          </a:p>
        </p:txBody>
      </p:sp>
      <p:sp>
        <p:nvSpPr>
          <p:cNvPr id="87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Trois piliers structurent la démarche</a:t>
            </a:r>
            <a:endParaRPr lang="fr-FR" sz="1600" b="0" u="none" strike="noStrike">
              <a:solidFill>
                <a:srgbClr val="000000"/>
              </a:solidFill>
              <a:effectLst/>
              <a:uFillTx/>
              <a:latin typeface="Arial"/>
            </a:endParaRPr>
          </a:p>
        </p:txBody>
      </p:sp>
      <p:sp>
        <p:nvSpPr>
          <p:cNvPr id="875" name="Shape 5"/>
          <p:cNvSpPr/>
          <p:nvPr/>
        </p:nvSpPr>
        <p:spPr>
          <a:xfrm>
            <a:off x="457200" y="2103120"/>
            <a:ext cx="2690280" cy="246168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76" name="Text 6"/>
          <p:cNvSpPr/>
          <p:nvPr/>
        </p:nvSpPr>
        <p:spPr>
          <a:xfrm>
            <a:off x="640080" y="2240280"/>
            <a:ext cx="9072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FB300"/>
                </a:solidFill>
                <a:effectLst/>
                <a:uFillTx/>
                <a:latin typeface="Arelv"/>
                <a:ea typeface="Arelv"/>
              </a:rPr>
              <a:t>I</a:t>
            </a:r>
            <a:endParaRPr lang="fr-FR" sz="2400" b="0" u="none" strike="noStrike">
              <a:solidFill>
                <a:srgbClr val="000000"/>
              </a:solidFill>
              <a:effectLst/>
              <a:uFillTx/>
              <a:latin typeface="Arial"/>
            </a:endParaRPr>
          </a:p>
        </p:txBody>
      </p:sp>
      <p:sp>
        <p:nvSpPr>
          <p:cNvPr id="877" name="Text 7"/>
          <p:cNvSpPr/>
          <p:nvPr/>
        </p:nvSpPr>
        <p:spPr>
          <a:xfrm>
            <a:off x="640080" y="2697480"/>
            <a:ext cx="232452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pc="150" strike="noStrike">
                <a:solidFill>
                  <a:srgbClr val="F4EFE6"/>
                </a:solidFill>
                <a:effectLst/>
                <a:uFillTx/>
                <a:latin typeface="Arelv"/>
                <a:ea typeface="Arelv"/>
              </a:rPr>
              <a:t>RÉSILIENCE</a:t>
            </a:r>
            <a:endParaRPr lang="fr-FR" sz="1800" b="0" u="none" strike="noStrike">
              <a:solidFill>
                <a:srgbClr val="000000"/>
              </a:solidFill>
              <a:effectLst/>
              <a:uFillTx/>
              <a:latin typeface="Arial"/>
            </a:endParaRPr>
          </a:p>
        </p:txBody>
      </p:sp>
      <p:sp>
        <p:nvSpPr>
          <p:cNvPr id="878" name="Shape 8"/>
          <p:cNvSpPr/>
          <p:nvPr/>
        </p:nvSpPr>
        <p:spPr>
          <a:xfrm>
            <a:off x="640080" y="3108960"/>
            <a:ext cx="35856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879" name="Text 9"/>
          <p:cNvSpPr/>
          <p:nvPr/>
        </p:nvSpPr>
        <p:spPr>
          <a:xfrm>
            <a:off x="640080" y="3246120"/>
            <a:ext cx="2324520" cy="122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Transformer la contrainte en ressource. Le dromadaire, figure emblématique du désert, incarne cette capacité d'endurance et d'adaptation. La résilience guide les arbitrages techniques : préférer la robustesse à la prouesse, l'évolutivité à la fixité.</a:t>
            </a:r>
            <a:endParaRPr lang="fr-FR" sz="1000" b="0" u="none" strike="noStrike">
              <a:solidFill>
                <a:srgbClr val="000000"/>
              </a:solidFill>
              <a:effectLst/>
              <a:uFillTx/>
              <a:latin typeface="Arial"/>
            </a:endParaRPr>
          </a:p>
        </p:txBody>
      </p:sp>
      <p:sp>
        <p:nvSpPr>
          <p:cNvPr id="880" name="Shape 10"/>
          <p:cNvSpPr/>
          <p:nvPr/>
        </p:nvSpPr>
        <p:spPr>
          <a:xfrm>
            <a:off x="3273480" y="2103120"/>
            <a:ext cx="2690280" cy="246168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81" name="Text 11"/>
          <p:cNvSpPr/>
          <p:nvPr/>
        </p:nvSpPr>
        <p:spPr>
          <a:xfrm>
            <a:off x="3456360" y="2240280"/>
            <a:ext cx="9072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FB300"/>
                </a:solidFill>
                <a:effectLst/>
                <a:uFillTx/>
                <a:latin typeface="Arelv"/>
                <a:ea typeface="Arelv"/>
              </a:rPr>
              <a:t>II</a:t>
            </a:r>
            <a:endParaRPr lang="fr-FR" sz="2400" b="0" u="none" strike="noStrike">
              <a:solidFill>
                <a:srgbClr val="000000"/>
              </a:solidFill>
              <a:effectLst/>
              <a:uFillTx/>
              <a:latin typeface="Arial"/>
            </a:endParaRPr>
          </a:p>
        </p:txBody>
      </p:sp>
      <p:sp>
        <p:nvSpPr>
          <p:cNvPr id="882" name="Text 12"/>
          <p:cNvSpPr/>
          <p:nvPr/>
        </p:nvSpPr>
        <p:spPr>
          <a:xfrm>
            <a:off x="3456360" y="2697480"/>
            <a:ext cx="232452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pc="150" strike="noStrike">
                <a:solidFill>
                  <a:srgbClr val="F4EFE6"/>
                </a:solidFill>
                <a:effectLst/>
                <a:uFillTx/>
                <a:latin typeface="Arelv"/>
                <a:ea typeface="Arelv"/>
              </a:rPr>
              <a:t>CONNEXION</a:t>
            </a:r>
            <a:endParaRPr lang="fr-FR" sz="1800" b="0" u="none" strike="noStrike">
              <a:solidFill>
                <a:srgbClr val="000000"/>
              </a:solidFill>
              <a:effectLst/>
              <a:uFillTx/>
              <a:latin typeface="Arial"/>
            </a:endParaRPr>
          </a:p>
        </p:txBody>
      </p:sp>
      <p:sp>
        <p:nvSpPr>
          <p:cNvPr id="883" name="Shape 13"/>
          <p:cNvSpPr/>
          <p:nvPr/>
        </p:nvSpPr>
        <p:spPr>
          <a:xfrm>
            <a:off x="3456360" y="3108960"/>
            <a:ext cx="35856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884" name="Text 14"/>
          <p:cNvSpPr/>
          <p:nvPr/>
        </p:nvSpPr>
        <p:spPr>
          <a:xfrm>
            <a:off x="3456360" y="3246120"/>
            <a:ext cx="2324520" cy="122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Créer des ponts entre les savoirs et les cultures. La lettre Wa (</a:t>
            </a:r>
            <a:r>
              <a:rPr lang="hi-IN" sz="1000" b="0" u="none" strike="noStrike">
                <a:solidFill>
                  <a:srgbClr val="F4EFE6"/>
                </a:solidFill>
                <a:effectLst/>
                <a:uFillTx/>
                <a:latin typeface="Satoshi"/>
                <a:cs typeface="Satoshi"/>
              </a:rPr>
              <a:t>و</a:t>
            </a:r>
            <a:r>
              <a:rPr lang="fr-FR" sz="1000" b="0" u="none" strike="noStrike">
                <a:solidFill>
                  <a:srgbClr val="F4EFE6"/>
                </a:solidFill>
                <a:effectLst/>
                <a:uFillTx/>
                <a:latin typeface="Satoshi"/>
                <a:ea typeface="Satoshi"/>
              </a:rPr>
              <a:t>) — conjonction d'addition — porte cette vocation. La connexion détermine les choix éditoriaux : décloisonner académique et digital, faire dialoguer rigueur et intuition.</a:t>
            </a:r>
            <a:endParaRPr lang="fr-FR" sz="1000" b="0" u="none" strike="noStrike">
              <a:solidFill>
                <a:srgbClr val="000000"/>
              </a:solidFill>
              <a:effectLst/>
              <a:uFillTx/>
              <a:latin typeface="Arial"/>
            </a:endParaRPr>
          </a:p>
        </p:txBody>
      </p:sp>
      <p:sp>
        <p:nvSpPr>
          <p:cNvPr id="885" name="Shape 15"/>
          <p:cNvSpPr/>
          <p:nvPr/>
        </p:nvSpPr>
        <p:spPr>
          <a:xfrm>
            <a:off x="6089760" y="2103120"/>
            <a:ext cx="2690280" cy="246168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86" name="Text 16"/>
          <p:cNvSpPr/>
          <p:nvPr/>
        </p:nvSpPr>
        <p:spPr>
          <a:xfrm>
            <a:off x="6272640" y="2240280"/>
            <a:ext cx="9072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400" b="1" u="none" strike="noStrike">
                <a:solidFill>
                  <a:srgbClr val="FFB300"/>
                </a:solidFill>
                <a:effectLst/>
                <a:uFillTx/>
                <a:latin typeface="Arelv"/>
                <a:ea typeface="Arelv"/>
              </a:rPr>
              <a:t>III</a:t>
            </a:r>
            <a:endParaRPr lang="fr-FR" sz="2400" b="0" u="none" strike="noStrike">
              <a:solidFill>
                <a:srgbClr val="000000"/>
              </a:solidFill>
              <a:effectLst/>
              <a:uFillTx/>
              <a:latin typeface="Arial"/>
            </a:endParaRPr>
          </a:p>
        </p:txBody>
      </p:sp>
      <p:sp>
        <p:nvSpPr>
          <p:cNvPr id="887" name="Text 17"/>
          <p:cNvSpPr/>
          <p:nvPr/>
        </p:nvSpPr>
        <p:spPr>
          <a:xfrm>
            <a:off x="6272640" y="2697480"/>
            <a:ext cx="232452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pc="150" strike="noStrike">
                <a:solidFill>
                  <a:srgbClr val="F4EFE6"/>
                </a:solidFill>
                <a:effectLst/>
                <a:uFillTx/>
                <a:latin typeface="Arelv"/>
                <a:ea typeface="Arelv"/>
              </a:rPr>
              <a:t>PÉRENNITÉ</a:t>
            </a:r>
            <a:endParaRPr lang="fr-FR" sz="1800" b="0" u="none" strike="noStrike">
              <a:solidFill>
                <a:srgbClr val="000000"/>
              </a:solidFill>
              <a:effectLst/>
              <a:uFillTx/>
              <a:latin typeface="Arial"/>
            </a:endParaRPr>
          </a:p>
        </p:txBody>
      </p:sp>
      <p:sp>
        <p:nvSpPr>
          <p:cNvPr id="888" name="Shape 18"/>
          <p:cNvSpPr/>
          <p:nvPr/>
        </p:nvSpPr>
        <p:spPr>
          <a:xfrm>
            <a:off x="6272640" y="3108960"/>
            <a:ext cx="35856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889" name="Text 19"/>
          <p:cNvSpPr/>
          <p:nvPr/>
        </p:nvSpPr>
        <p:spPr>
          <a:xfrm>
            <a:off x="6272640" y="3246120"/>
            <a:ext cx="2324520" cy="122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Inscrire le travail dans la durée. Les gravures rupestres du Tassili, vieilles de milliers d'années, sont la métaphore tutélaire de cette ambition. La pérennité oriente les décisions structurelles : choisir des standards ouverts, documenter, anticiper l'évolutivité.</a:t>
            </a:r>
            <a:endParaRPr lang="fr-FR" sz="1000" b="0" u="none" strike="noStrike">
              <a:solidFill>
                <a:srgbClr val="000000"/>
              </a:solidFill>
              <a:effectLst/>
              <a:uFillTx/>
              <a:latin typeface="Arial"/>
            </a:endParaRPr>
          </a:p>
        </p:txBody>
      </p:sp>
      <p:sp>
        <p:nvSpPr>
          <p:cNvPr id="890" name="Shape 2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91" name="Text 2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892" name="Text 2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9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89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89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89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PALETTE I</a:t>
            </a:r>
            <a:endParaRPr lang="fr-FR" sz="5600" b="0" u="none" strike="noStrike">
              <a:solidFill>
                <a:srgbClr val="000000"/>
              </a:solidFill>
              <a:effectLst/>
              <a:uFillTx/>
              <a:latin typeface="Arial"/>
            </a:endParaRPr>
          </a:p>
        </p:txBody>
      </p:sp>
      <p:sp>
        <p:nvSpPr>
          <p:cNvPr id="89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Spectre froid — minéral, nocturne, électrique</a:t>
            </a:r>
            <a:endParaRPr lang="fr-FR" sz="1600" b="0" u="none" strike="noStrike">
              <a:solidFill>
                <a:srgbClr val="000000"/>
              </a:solidFill>
              <a:effectLst/>
              <a:uFillTx/>
              <a:latin typeface="Arial"/>
            </a:endParaRPr>
          </a:p>
        </p:txBody>
      </p:sp>
      <p:sp>
        <p:nvSpPr>
          <p:cNvPr id="898" name="Shape 5"/>
          <p:cNvSpPr/>
          <p:nvPr/>
        </p:nvSpPr>
        <p:spPr>
          <a:xfrm>
            <a:off x="457200" y="2057400"/>
            <a:ext cx="2598840" cy="735840"/>
          </a:xfrm>
          <a:prstGeom prst="rect">
            <a:avLst/>
          </a:prstGeom>
          <a:solidFill>
            <a:srgbClr val="1A237E"/>
          </a:solidFill>
          <a:ln w="12700">
            <a:solidFill>
              <a:srgbClr val="1A237E"/>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99" name="Shape 6"/>
          <p:cNvSpPr/>
          <p:nvPr/>
        </p:nvSpPr>
        <p:spPr>
          <a:xfrm>
            <a:off x="4572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00" name="Text 7"/>
          <p:cNvSpPr/>
          <p:nvPr/>
        </p:nvSpPr>
        <p:spPr>
          <a:xfrm>
            <a:off x="5486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Bleu nuit</a:t>
            </a:r>
            <a:endParaRPr lang="fr-FR" sz="1000" b="0" u="none" strike="noStrike">
              <a:solidFill>
                <a:srgbClr val="000000"/>
              </a:solidFill>
              <a:effectLst/>
              <a:uFillTx/>
              <a:latin typeface="Arial"/>
            </a:endParaRPr>
          </a:p>
        </p:txBody>
      </p:sp>
      <p:sp>
        <p:nvSpPr>
          <p:cNvPr id="901" name="Text 8"/>
          <p:cNvSpPr/>
          <p:nvPr/>
        </p:nvSpPr>
        <p:spPr>
          <a:xfrm>
            <a:off x="17604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#1A237E</a:t>
            </a:r>
            <a:endParaRPr lang="fr-FR" sz="900" b="0" u="none" strike="noStrike">
              <a:solidFill>
                <a:srgbClr val="000000"/>
              </a:solidFill>
              <a:effectLst/>
              <a:uFillTx/>
              <a:latin typeface="Arial"/>
            </a:endParaRPr>
          </a:p>
        </p:txBody>
      </p:sp>
      <p:sp>
        <p:nvSpPr>
          <p:cNvPr id="902" name="Text 9"/>
          <p:cNvSpPr/>
          <p:nvPr/>
        </p:nvSpPr>
        <p:spPr>
          <a:xfrm>
            <a:off x="5486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Couleur ancrage</a:t>
            </a:r>
            <a:endParaRPr lang="fr-FR" sz="800" b="0" u="none" strike="noStrike">
              <a:solidFill>
                <a:srgbClr val="000000"/>
              </a:solidFill>
              <a:effectLst/>
              <a:uFillTx/>
              <a:latin typeface="Arial"/>
            </a:endParaRPr>
          </a:p>
        </p:txBody>
      </p:sp>
      <p:sp>
        <p:nvSpPr>
          <p:cNvPr id="903" name="Shape 10"/>
          <p:cNvSpPr/>
          <p:nvPr/>
        </p:nvSpPr>
        <p:spPr>
          <a:xfrm>
            <a:off x="3200400" y="2057400"/>
            <a:ext cx="2598840" cy="735840"/>
          </a:xfrm>
          <a:prstGeom prst="rect">
            <a:avLst/>
          </a:prstGeom>
          <a:solidFill>
            <a:srgbClr val="0D47A1"/>
          </a:solidFill>
          <a:ln w="12700">
            <a:solidFill>
              <a:srgbClr val="0D47A1"/>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04" name="Shape 11"/>
          <p:cNvSpPr/>
          <p:nvPr/>
        </p:nvSpPr>
        <p:spPr>
          <a:xfrm>
            <a:off x="32004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05" name="Text 12"/>
          <p:cNvSpPr/>
          <p:nvPr/>
        </p:nvSpPr>
        <p:spPr>
          <a:xfrm>
            <a:off x="32918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Bleu profond</a:t>
            </a:r>
            <a:endParaRPr lang="fr-FR" sz="1000" b="0" u="none" strike="noStrike">
              <a:solidFill>
                <a:srgbClr val="000000"/>
              </a:solidFill>
              <a:effectLst/>
              <a:uFillTx/>
              <a:latin typeface="Arial"/>
            </a:endParaRPr>
          </a:p>
        </p:txBody>
      </p:sp>
      <p:sp>
        <p:nvSpPr>
          <p:cNvPr id="906" name="Text 13"/>
          <p:cNvSpPr/>
          <p:nvPr/>
        </p:nvSpPr>
        <p:spPr>
          <a:xfrm>
            <a:off x="45036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#0D47A1</a:t>
            </a:r>
            <a:endParaRPr lang="fr-FR" sz="900" b="0" u="none" strike="noStrike">
              <a:solidFill>
                <a:srgbClr val="000000"/>
              </a:solidFill>
              <a:effectLst/>
              <a:uFillTx/>
              <a:latin typeface="Arial"/>
            </a:endParaRPr>
          </a:p>
        </p:txBody>
      </p:sp>
      <p:sp>
        <p:nvSpPr>
          <p:cNvPr id="907" name="Text 14"/>
          <p:cNvSpPr/>
          <p:nvPr/>
        </p:nvSpPr>
        <p:spPr>
          <a:xfrm>
            <a:off x="32918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Liens &amp; accents</a:t>
            </a:r>
            <a:endParaRPr lang="fr-FR" sz="800" b="0" u="none" strike="noStrike">
              <a:solidFill>
                <a:srgbClr val="000000"/>
              </a:solidFill>
              <a:effectLst/>
              <a:uFillTx/>
              <a:latin typeface="Arial"/>
            </a:endParaRPr>
          </a:p>
        </p:txBody>
      </p:sp>
      <p:sp>
        <p:nvSpPr>
          <p:cNvPr id="908" name="Shape 15"/>
          <p:cNvSpPr/>
          <p:nvPr/>
        </p:nvSpPr>
        <p:spPr>
          <a:xfrm>
            <a:off x="5943600" y="2057400"/>
            <a:ext cx="2598840" cy="735840"/>
          </a:xfrm>
          <a:prstGeom prst="rect">
            <a:avLst/>
          </a:prstGeom>
          <a:solidFill>
            <a:srgbClr val="90BCD4"/>
          </a:solidFill>
          <a:ln w="12700">
            <a:solidFill>
              <a:srgbClr val="90BCD4"/>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09" name="Shape 16"/>
          <p:cNvSpPr/>
          <p:nvPr/>
        </p:nvSpPr>
        <p:spPr>
          <a:xfrm>
            <a:off x="59436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10" name="Text 17"/>
          <p:cNvSpPr/>
          <p:nvPr/>
        </p:nvSpPr>
        <p:spPr>
          <a:xfrm>
            <a:off x="60350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Bleu désertique</a:t>
            </a:r>
            <a:endParaRPr lang="fr-FR" sz="1000" b="0" u="none" strike="noStrike">
              <a:solidFill>
                <a:srgbClr val="000000"/>
              </a:solidFill>
              <a:effectLst/>
              <a:uFillTx/>
              <a:latin typeface="Arial"/>
            </a:endParaRPr>
          </a:p>
        </p:txBody>
      </p:sp>
      <p:sp>
        <p:nvSpPr>
          <p:cNvPr id="911" name="Text 18"/>
          <p:cNvSpPr/>
          <p:nvPr/>
        </p:nvSpPr>
        <p:spPr>
          <a:xfrm>
            <a:off x="72468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#90BCD4</a:t>
            </a:r>
            <a:endParaRPr lang="fr-FR" sz="900" b="0" u="none" strike="noStrike">
              <a:solidFill>
                <a:srgbClr val="000000"/>
              </a:solidFill>
              <a:effectLst/>
              <a:uFillTx/>
              <a:latin typeface="Arial"/>
            </a:endParaRPr>
          </a:p>
        </p:txBody>
      </p:sp>
      <p:sp>
        <p:nvSpPr>
          <p:cNvPr id="912" name="Text 19"/>
          <p:cNvSpPr/>
          <p:nvPr/>
        </p:nvSpPr>
        <p:spPr>
          <a:xfrm>
            <a:off x="60350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Fonds secondaires</a:t>
            </a:r>
            <a:endParaRPr lang="fr-FR" sz="800" b="0" u="none" strike="noStrike">
              <a:solidFill>
                <a:srgbClr val="000000"/>
              </a:solidFill>
              <a:effectLst/>
              <a:uFillTx/>
              <a:latin typeface="Arial"/>
            </a:endParaRPr>
          </a:p>
        </p:txBody>
      </p:sp>
      <p:sp>
        <p:nvSpPr>
          <p:cNvPr id="913" name="Shape 20"/>
          <p:cNvSpPr/>
          <p:nvPr/>
        </p:nvSpPr>
        <p:spPr>
          <a:xfrm>
            <a:off x="457200" y="3337560"/>
            <a:ext cx="2598840" cy="735840"/>
          </a:xfrm>
          <a:prstGeom prst="rect">
            <a:avLst/>
          </a:prstGeom>
          <a:solidFill>
            <a:srgbClr val="37474F"/>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14" name="Shape 21"/>
          <p:cNvSpPr/>
          <p:nvPr/>
        </p:nvSpPr>
        <p:spPr>
          <a:xfrm>
            <a:off x="4572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15" name="Text 22"/>
          <p:cNvSpPr/>
          <p:nvPr/>
        </p:nvSpPr>
        <p:spPr>
          <a:xfrm>
            <a:off x="5486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Graphite</a:t>
            </a:r>
            <a:endParaRPr lang="fr-FR" sz="1000" b="0" u="none" strike="noStrike">
              <a:solidFill>
                <a:srgbClr val="000000"/>
              </a:solidFill>
              <a:effectLst/>
              <a:uFillTx/>
              <a:latin typeface="Arial"/>
            </a:endParaRPr>
          </a:p>
        </p:txBody>
      </p:sp>
      <p:sp>
        <p:nvSpPr>
          <p:cNvPr id="916" name="Text 23"/>
          <p:cNvSpPr/>
          <p:nvPr/>
        </p:nvSpPr>
        <p:spPr>
          <a:xfrm>
            <a:off x="17604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#37474F</a:t>
            </a:r>
            <a:endParaRPr lang="fr-FR" sz="900" b="0" u="none" strike="noStrike">
              <a:solidFill>
                <a:srgbClr val="000000"/>
              </a:solidFill>
              <a:effectLst/>
              <a:uFillTx/>
              <a:latin typeface="Arial"/>
            </a:endParaRPr>
          </a:p>
        </p:txBody>
      </p:sp>
      <p:sp>
        <p:nvSpPr>
          <p:cNvPr id="917" name="Text 24"/>
          <p:cNvSpPr/>
          <p:nvPr/>
        </p:nvSpPr>
        <p:spPr>
          <a:xfrm>
            <a:off x="5486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Texte secondaire</a:t>
            </a:r>
            <a:endParaRPr lang="fr-FR" sz="800" b="0" u="none" strike="noStrike">
              <a:solidFill>
                <a:srgbClr val="000000"/>
              </a:solidFill>
              <a:effectLst/>
              <a:uFillTx/>
              <a:latin typeface="Arial"/>
            </a:endParaRPr>
          </a:p>
        </p:txBody>
      </p:sp>
      <p:sp>
        <p:nvSpPr>
          <p:cNvPr id="918" name="Shape 25"/>
          <p:cNvSpPr/>
          <p:nvPr/>
        </p:nvSpPr>
        <p:spPr>
          <a:xfrm>
            <a:off x="3200400" y="3337560"/>
            <a:ext cx="2598840" cy="735840"/>
          </a:xfrm>
          <a:prstGeom prst="rect">
            <a:avLst/>
          </a:prstGeom>
          <a:solidFill>
            <a:srgbClr val="D549F5"/>
          </a:solidFill>
          <a:ln w="12700">
            <a:solidFill>
              <a:srgbClr val="D549F5"/>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19" name="Shape 26"/>
          <p:cNvSpPr/>
          <p:nvPr/>
        </p:nvSpPr>
        <p:spPr>
          <a:xfrm>
            <a:off x="32004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20" name="Text 27"/>
          <p:cNvSpPr/>
          <p:nvPr/>
        </p:nvSpPr>
        <p:spPr>
          <a:xfrm>
            <a:off x="32918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Magenta</a:t>
            </a:r>
            <a:endParaRPr lang="fr-FR" sz="1000" b="0" u="none" strike="noStrike">
              <a:solidFill>
                <a:srgbClr val="000000"/>
              </a:solidFill>
              <a:effectLst/>
              <a:uFillTx/>
              <a:latin typeface="Arial"/>
            </a:endParaRPr>
          </a:p>
        </p:txBody>
      </p:sp>
      <p:sp>
        <p:nvSpPr>
          <p:cNvPr id="921" name="Text 28"/>
          <p:cNvSpPr/>
          <p:nvPr/>
        </p:nvSpPr>
        <p:spPr>
          <a:xfrm>
            <a:off x="45036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#D549F5</a:t>
            </a:r>
            <a:endParaRPr lang="fr-FR" sz="900" b="0" u="none" strike="noStrike">
              <a:solidFill>
                <a:srgbClr val="000000"/>
              </a:solidFill>
              <a:effectLst/>
              <a:uFillTx/>
              <a:latin typeface="Arial"/>
            </a:endParaRPr>
          </a:p>
        </p:txBody>
      </p:sp>
      <p:sp>
        <p:nvSpPr>
          <p:cNvPr id="922" name="Text 29"/>
          <p:cNvSpPr/>
          <p:nvPr/>
        </p:nvSpPr>
        <p:spPr>
          <a:xfrm>
            <a:off x="32918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Accent rare</a:t>
            </a:r>
            <a:endParaRPr lang="fr-FR" sz="800" b="0" u="none" strike="noStrike">
              <a:solidFill>
                <a:srgbClr val="000000"/>
              </a:solidFill>
              <a:effectLst/>
              <a:uFillTx/>
              <a:latin typeface="Arial"/>
            </a:endParaRPr>
          </a:p>
        </p:txBody>
      </p:sp>
      <p:sp>
        <p:nvSpPr>
          <p:cNvPr id="923" name="Shape 30"/>
          <p:cNvSpPr/>
          <p:nvPr/>
        </p:nvSpPr>
        <p:spPr>
          <a:xfrm>
            <a:off x="5943600" y="3337560"/>
            <a:ext cx="2598840" cy="735840"/>
          </a:xfrm>
          <a:prstGeom prst="rect">
            <a:avLst/>
          </a:prstGeom>
          <a:solidFill>
            <a:srgbClr val="101820"/>
          </a:solidFill>
          <a:ln w="12700">
            <a:solidFill>
              <a:srgbClr val="10182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24" name="Shape 31"/>
          <p:cNvSpPr/>
          <p:nvPr/>
        </p:nvSpPr>
        <p:spPr>
          <a:xfrm>
            <a:off x="59436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25" name="Text 32"/>
          <p:cNvSpPr/>
          <p:nvPr/>
        </p:nvSpPr>
        <p:spPr>
          <a:xfrm>
            <a:off x="60350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Encre</a:t>
            </a:r>
            <a:endParaRPr lang="fr-FR" sz="1000" b="0" u="none" strike="noStrike">
              <a:solidFill>
                <a:srgbClr val="000000"/>
              </a:solidFill>
              <a:effectLst/>
              <a:uFillTx/>
              <a:latin typeface="Arial"/>
            </a:endParaRPr>
          </a:p>
        </p:txBody>
      </p:sp>
      <p:sp>
        <p:nvSpPr>
          <p:cNvPr id="926" name="Text 33"/>
          <p:cNvSpPr/>
          <p:nvPr/>
        </p:nvSpPr>
        <p:spPr>
          <a:xfrm>
            <a:off x="72468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#101820</a:t>
            </a:r>
            <a:endParaRPr lang="fr-FR" sz="900" b="0" u="none" strike="noStrike">
              <a:solidFill>
                <a:srgbClr val="000000"/>
              </a:solidFill>
              <a:effectLst/>
              <a:uFillTx/>
              <a:latin typeface="Arial"/>
            </a:endParaRPr>
          </a:p>
        </p:txBody>
      </p:sp>
      <p:sp>
        <p:nvSpPr>
          <p:cNvPr id="927" name="Text 34"/>
          <p:cNvSpPr/>
          <p:nvPr/>
        </p:nvSpPr>
        <p:spPr>
          <a:xfrm>
            <a:off x="60350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Texte principal</a:t>
            </a:r>
            <a:endParaRPr lang="fr-FR" sz="800" b="0" u="none" strike="noStrike">
              <a:solidFill>
                <a:srgbClr val="000000"/>
              </a:solidFill>
              <a:effectLst/>
              <a:uFillTx/>
              <a:latin typeface="Arial"/>
            </a:endParaRPr>
          </a:p>
        </p:txBody>
      </p:sp>
      <p:sp>
        <p:nvSpPr>
          <p:cNvPr id="928" name="Shape 3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29" name="Text 3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930" name="Text 3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93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93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93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3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PALETTE II</a:t>
            </a:r>
            <a:endParaRPr lang="fr-FR" sz="5600" b="0" u="none" strike="noStrike">
              <a:solidFill>
                <a:srgbClr val="000000"/>
              </a:solidFill>
              <a:effectLst/>
              <a:uFillTx/>
              <a:latin typeface="Arial"/>
            </a:endParaRPr>
          </a:p>
        </p:txBody>
      </p:sp>
      <p:sp>
        <p:nvSpPr>
          <p:cNvPr id="93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Spectre chaud — solaire, minéral, terre brûlée</a:t>
            </a:r>
            <a:endParaRPr lang="fr-FR" sz="1600" b="0" u="none" strike="noStrike">
              <a:solidFill>
                <a:srgbClr val="000000"/>
              </a:solidFill>
              <a:effectLst/>
              <a:uFillTx/>
              <a:latin typeface="Arial"/>
            </a:endParaRPr>
          </a:p>
        </p:txBody>
      </p:sp>
      <p:sp>
        <p:nvSpPr>
          <p:cNvPr id="936" name="Shape 5"/>
          <p:cNvSpPr/>
          <p:nvPr/>
        </p:nvSpPr>
        <p:spPr>
          <a:xfrm>
            <a:off x="457200" y="2057400"/>
            <a:ext cx="2598840" cy="735840"/>
          </a:xfrm>
          <a:prstGeom prst="rect">
            <a:avLst/>
          </a:prstGeom>
          <a:solidFill>
            <a:srgbClr val="FFB300"/>
          </a:solidFill>
          <a:ln w="12700">
            <a:solidFill>
              <a:srgbClr val="FFB300"/>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37" name="Shape 6"/>
          <p:cNvSpPr/>
          <p:nvPr/>
        </p:nvSpPr>
        <p:spPr>
          <a:xfrm>
            <a:off x="4572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38" name="Text 7"/>
          <p:cNvSpPr/>
          <p:nvPr/>
        </p:nvSpPr>
        <p:spPr>
          <a:xfrm>
            <a:off x="5486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Jaune solaire</a:t>
            </a:r>
            <a:endParaRPr lang="fr-FR" sz="1000" b="0" u="none" strike="noStrike">
              <a:solidFill>
                <a:srgbClr val="000000"/>
              </a:solidFill>
              <a:effectLst/>
              <a:uFillTx/>
              <a:latin typeface="Arial"/>
            </a:endParaRPr>
          </a:p>
        </p:txBody>
      </p:sp>
      <p:sp>
        <p:nvSpPr>
          <p:cNvPr id="939" name="Text 8"/>
          <p:cNvSpPr/>
          <p:nvPr/>
        </p:nvSpPr>
        <p:spPr>
          <a:xfrm>
            <a:off x="17604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#FFB300</a:t>
            </a:r>
            <a:endParaRPr lang="fr-FR" sz="900" b="0" u="none" strike="noStrike">
              <a:solidFill>
                <a:srgbClr val="000000"/>
              </a:solidFill>
              <a:effectLst/>
              <a:uFillTx/>
              <a:latin typeface="Arial"/>
            </a:endParaRPr>
          </a:p>
        </p:txBody>
      </p:sp>
      <p:sp>
        <p:nvSpPr>
          <p:cNvPr id="940" name="Text 9"/>
          <p:cNvSpPr/>
          <p:nvPr/>
        </p:nvSpPr>
        <p:spPr>
          <a:xfrm>
            <a:off x="5486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Accent fort</a:t>
            </a:r>
            <a:endParaRPr lang="fr-FR" sz="800" b="0" u="none" strike="noStrike">
              <a:solidFill>
                <a:srgbClr val="000000"/>
              </a:solidFill>
              <a:effectLst/>
              <a:uFillTx/>
              <a:latin typeface="Arial"/>
            </a:endParaRPr>
          </a:p>
        </p:txBody>
      </p:sp>
      <p:sp>
        <p:nvSpPr>
          <p:cNvPr id="941" name="Shape 10"/>
          <p:cNvSpPr/>
          <p:nvPr/>
        </p:nvSpPr>
        <p:spPr>
          <a:xfrm>
            <a:off x="3200400" y="2057400"/>
            <a:ext cx="2598840" cy="735840"/>
          </a:xfrm>
          <a:prstGeom prst="rect">
            <a:avLst/>
          </a:prstGeom>
          <a:solidFill>
            <a:srgbClr val="FFC107"/>
          </a:solidFill>
          <a:ln w="12700">
            <a:solidFill>
              <a:srgbClr val="FFC107"/>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42" name="Shape 11"/>
          <p:cNvSpPr/>
          <p:nvPr/>
        </p:nvSpPr>
        <p:spPr>
          <a:xfrm>
            <a:off x="32004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43" name="Text 12"/>
          <p:cNvSpPr/>
          <p:nvPr/>
        </p:nvSpPr>
        <p:spPr>
          <a:xfrm>
            <a:off x="32918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Ambre</a:t>
            </a:r>
            <a:endParaRPr lang="fr-FR" sz="1000" b="0" u="none" strike="noStrike">
              <a:solidFill>
                <a:srgbClr val="000000"/>
              </a:solidFill>
              <a:effectLst/>
              <a:uFillTx/>
              <a:latin typeface="Arial"/>
            </a:endParaRPr>
          </a:p>
        </p:txBody>
      </p:sp>
      <p:sp>
        <p:nvSpPr>
          <p:cNvPr id="944" name="Text 13"/>
          <p:cNvSpPr/>
          <p:nvPr/>
        </p:nvSpPr>
        <p:spPr>
          <a:xfrm>
            <a:off x="45036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#FFC107</a:t>
            </a:r>
            <a:endParaRPr lang="fr-FR" sz="900" b="0" u="none" strike="noStrike">
              <a:solidFill>
                <a:srgbClr val="000000"/>
              </a:solidFill>
              <a:effectLst/>
              <a:uFillTx/>
              <a:latin typeface="Arial"/>
            </a:endParaRPr>
          </a:p>
        </p:txBody>
      </p:sp>
      <p:sp>
        <p:nvSpPr>
          <p:cNvPr id="945" name="Text 14"/>
          <p:cNvSpPr/>
          <p:nvPr/>
        </p:nvSpPr>
        <p:spPr>
          <a:xfrm>
            <a:off x="32918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Surbrillance</a:t>
            </a:r>
            <a:endParaRPr lang="fr-FR" sz="800" b="0" u="none" strike="noStrike">
              <a:solidFill>
                <a:srgbClr val="000000"/>
              </a:solidFill>
              <a:effectLst/>
              <a:uFillTx/>
              <a:latin typeface="Arial"/>
            </a:endParaRPr>
          </a:p>
        </p:txBody>
      </p:sp>
      <p:sp>
        <p:nvSpPr>
          <p:cNvPr id="946" name="Shape 15"/>
          <p:cNvSpPr/>
          <p:nvPr/>
        </p:nvSpPr>
        <p:spPr>
          <a:xfrm>
            <a:off x="5943600" y="2057400"/>
            <a:ext cx="2598840" cy="735840"/>
          </a:xfrm>
          <a:prstGeom prst="rect">
            <a:avLst/>
          </a:prstGeom>
          <a:solidFill>
            <a:srgbClr val="FF8F00"/>
          </a:solidFill>
          <a:ln w="12700">
            <a:solidFill>
              <a:srgbClr val="FF8F00"/>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47" name="Shape 16"/>
          <p:cNvSpPr/>
          <p:nvPr/>
        </p:nvSpPr>
        <p:spPr>
          <a:xfrm>
            <a:off x="5943600" y="280044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48" name="Text 17"/>
          <p:cNvSpPr/>
          <p:nvPr/>
        </p:nvSpPr>
        <p:spPr>
          <a:xfrm>
            <a:off x="6035040" y="281196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Orange</a:t>
            </a:r>
            <a:endParaRPr lang="fr-FR" sz="1000" b="0" u="none" strike="noStrike">
              <a:solidFill>
                <a:srgbClr val="000000"/>
              </a:solidFill>
              <a:effectLst/>
              <a:uFillTx/>
              <a:latin typeface="Arial"/>
            </a:endParaRPr>
          </a:p>
        </p:txBody>
      </p:sp>
      <p:sp>
        <p:nvSpPr>
          <p:cNvPr id="949" name="Text 18"/>
          <p:cNvSpPr/>
          <p:nvPr/>
        </p:nvSpPr>
        <p:spPr>
          <a:xfrm>
            <a:off x="7246800" y="281196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#FF8F00</a:t>
            </a:r>
            <a:endParaRPr lang="fr-FR" sz="900" b="0" u="none" strike="noStrike">
              <a:solidFill>
                <a:srgbClr val="000000"/>
              </a:solidFill>
              <a:effectLst/>
              <a:uFillTx/>
              <a:latin typeface="Arial"/>
            </a:endParaRPr>
          </a:p>
        </p:txBody>
      </p:sp>
      <p:sp>
        <p:nvSpPr>
          <p:cNvPr id="950" name="Text 19"/>
          <p:cNvSpPr/>
          <p:nvPr/>
        </p:nvSpPr>
        <p:spPr>
          <a:xfrm>
            <a:off x="6035040" y="302904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Accentuation graphique</a:t>
            </a:r>
            <a:endParaRPr lang="fr-FR" sz="800" b="0" u="none" strike="noStrike">
              <a:solidFill>
                <a:srgbClr val="000000"/>
              </a:solidFill>
              <a:effectLst/>
              <a:uFillTx/>
              <a:latin typeface="Arial"/>
            </a:endParaRPr>
          </a:p>
        </p:txBody>
      </p:sp>
      <p:sp>
        <p:nvSpPr>
          <p:cNvPr id="951" name="Shape 20"/>
          <p:cNvSpPr/>
          <p:nvPr/>
        </p:nvSpPr>
        <p:spPr>
          <a:xfrm>
            <a:off x="457200" y="3337560"/>
            <a:ext cx="2598840" cy="7358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52" name="Shape 21"/>
          <p:cNvSpPr/>
          <p:nvPr/>
        </p:nvSpPr>
        <p:spPr>
          <a:xfrm>
            <a:off x="4572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53" name="Text 22"/>
          <p:cNvSpPr/>
          <p:nvPr/>
        </p:nvSpPr>
        <p:spPr>
          <a:xfrm>
            <a:off x="5486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Orange brûlé</a:t>
            </a:r>
            <a:endParaRPr lang="fr-FR" sz="1000" b="0" u="none" strike="noStrike">
              <a:solidFill>
                <a:srgbClr val="000000"/>
              </a:solidFill>
              <a:effectLst/>
              <a:uFillTx/>
              <a:latin typeface="Arial"/>
            </a:endParaRPr>
          </a:p>
        </p:txBody>
      </p:sp>
      <p:sp>
        <p:nvSpPr>
          <p:cNvPr id="954" name="Text 23"/>
          <p:cNvSpPr/>
          <p:nvPr/>
        </p:nvSpPr>
        <p:spPr>
          <a:xfrm>
            <a:off x="17604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#E65100</a:t>
            </a:r>
            <a:endParaRPr lang="fr-FR" sz="900" b="0" u="none" strike="noStrike">
              <a:solidFill>
                <a:srgbClr val="000000"/>
              </a:solidFill>
              <a:effectLst/>
              <a:uFillTx/>
              <a:latin typeface="Arial"/>
            </a:endParaRPr>
          </a:p>
        </p:txBody>
      </p:sp>
      <p:sp>
        <p:nvSpPr>
          <p:cNvPr id="955" name="Text 24"/>
          <p:cNvSpPr/>
          <p:nvPr/>
        </p:nvSpPr>
        <p:spPr>
          <a:xfrm>
            <a:off x="5486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Mise en valeur</a:t>
            </a:r>
            <a:endParaRPr lang="fr-FR" sz="800" b="0" u="none" strike="noStrike">
              <a:solidFill>
                <a:srgbClr val="000000"/>
              </a:solidFill>
              <a:effectLst/>
              <a:uFillTx/>
              <a:latin typeface="Arial"/>
            </a:endParaRPr>
          </a:p>
        </p:txBody>
      </p:sp>
      <p:sp>
        <p:nvSpPr>
          <p:cNvPr id="956" name="Shape 25"/>
          <p:cNvSpPr/>
          <p:nvPr/>
        </p:nvSpPr>
        <p:spPr>
          <a:xfrm>
            <a:off x="3200400" y="3337560"/>
            <a:ext cx="2598840" cy="735840"/>
          </a:xfrm>
          <a:prstGeom prst="rect">
            <a:avLst/>
          </a:prstGeom>
          <a:solidFill>
            <a:srgbClr val="D84315"/>
          </a:solidFill>
          <a:ln w="12700">
            <a:solidFill>
              <a:srgbClr val="D84315"/>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57" name="Shape 26"/>
          <p:cNvSpPr/>
          <p:nvPr/>
        </p:nvSpPr>
        <p:spPr>
          <a:xfrm>
            <a:off x="32004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58" name="Text 27"/>
          <p:cNvSpPr/>
          <p:nvPr/>
        </p:nvSpPr>
        <p:spPr>
          <a:xfrm>
            <a:off x="32918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Ember</a:t>
            </a:r>
            <a:endParaRPr lang="fr-FR" sz="1000" b="0" u="none" strike="noStrike">
              <a:solidFill>
                <a:srgbClr val="000000"/>
              </a:solidFill>
              <a:effectLst/>
              <a:uFillTx/>
              <a:latin typeface="Arial"/>
            </a:endParaRPr>
          </a:p>
        </p:txBody>
      </p:sp>
      <p:sp>
        <p:nvSpPr>
          <p:cNvPr id="959" name="Text 28"/>
          <p:cNvSpPr/>
          <p:nvPr/>
        </p:nvSpPr>
        <p:spPr>
          <a:xfrm>
            <a:off x="45036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#D84315</a:t>
            </a:r>
            <a:endParaRPr lang="fr-FR" sz="900" b="0" u="none" strike="noStrike">
              <a:solidFill>
                <a:srgbClr val="000000"/>
              </a:solidFill>
              <a:effectLst/>
              <a:uFillTx/>
              <a:latin typeface="Arial"/>
            </a:endParaRPr>
          </a:p>
        </p:txBody>
      </p:sp>
      <p:sp>
        <p:nvSpPr>
          <p:cNvPr id="960" name="Text 29"/>
          <p:cNvSpPr/>
          <p:nvPr/>
        </p:nvSpPr>
        <p:spPr>
          <a:xfrm>
            <a:off x="32918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Alerte douce</a:t>
            </a:r>
            <a:endParaRPr lang="fr-FR" sz="800" b="0" u="none" strike="noStrike">
              <a:solidFill>
                <a:srgbClr val="000000"/>
              </a:solidFill>
              <a:effectLst/>
              <a:uFillTx/>
              <a:latin typeface="Arial"/>
            </a:endParaRPr>
          </a:p>
        </p:txBody>
      </p:sp>
      <p:sp>
        <p:nvSpPr>
          <p:cNvPr id="961" name="Shape 30"/>
          <p:cNvSpPr/>
          <p:nvPr/>
        </p:nvSpPr>
        <p:spPr>
          <a:xfrm>
            <a:off x="5943600" y="3337560"/>
            <a:ext cx="2598840" cy="7358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62" name="Shape 31"/>
          <p:cNvSpPr/>
          <p:nvPr/>
        </p:nvSpPr>
        <p:spPr>
          <a:xfrm>
            <a:off x="5943600" y="4080600"/>
            <a:ext cx="2598840" cy="3927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63" name="Text 32"/>
          <p:cNvSpPr/>
          <p:nvPr/>
        </p:nvSpPr>
        <p:spPr>
          <a:xfrm>
            <a:off x="6035040" y="4092120"/>
            <a:ext cx="129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Terracotta</a:t>
            </a:r>
            <a:endParaRPr lang="fr-FR" sz="1000" b="0" u="none" strike="noStrike">
              <a:solidFill>
                <a:srgbClr val="000000"/>
              </a:solidFill>
              <a:effectLst/>
              <a:uFillTx/>
              <a:latin typeface="Arial"/>
            </a:endParaRPr>
          </a:p>
        </p:txBody>
      </p:sp>
      <p:sp>
        <p:nvSpPr>
          <p:cNvPr id="964" name="Text 33"/>
          <p:cNvSpPr/>
          <p:nvPr/>
        </p:nvSpPr>
        <p:spPr>
          <a:xfrm>
            <a:off x="7246800" y="4092120"/>
            <a:ext cx="120456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#BF360C</a:t>
            </a:r>
            <a:endParaRPr lang="fr-FR" sz="900" b="0" u="none" strike="noStrike">
              <a:solidFill>
                <a:srgbClr val="000000"/>
              </a:solidFill>
              <a:effectLst/>
              <a:uFillTx/>
              <a:latin typeface="Arial"/>
            </a:endParaRPr>
          </a:p>
        </p:txBody>
      </p:sp>
      <p:sp>
        <p:nvSpPr>
          <p:cNvPr id="965" name="Text 34"/>
          <p:cNvSpPr/>
          <p:nvPr/>
        </p:nvSpPr>
        <p:spPr>
          <a:xfrm>
            <a:off x="6035040" y="4309200"/>
            <a:ext cx="241596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Signature visuelle</a:t>
            </a:r>
            <a:endParaRPr lang="fr-FR" sz="800" b="0" u="none" strike="noStrike">
              <a:solidFill>
                <a:srgbClr val="000000"/>
              </a:solidFill>
              <a:effectLst/>
              <a:uFillTx/>
              <a:latin typeface="Arial"/>
            </a:endParaRPr>
          </a:p>
        </p:txBody>
      </p:sp>
      <p:sp>
        <p:nvSpPr>
          <p:cNvPr id="966" name="Shape 3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67" name="Text 3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968" name="Text 3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96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97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97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72"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LE SYMBOLE</a:t>
            </a:r>
            <a:endParaRPr lang="fr-FR" sz="5600" b="0" u="none" strike="noStrike">
              <a:solidFill>
                <a:srgbClr val="000000"/>
              </a:solidFill>
              <a:effectLst/>
              <a:uFillTx/>
              <a:latin typeface="Arial"/>
            </a:endParaRPr>
          </a:p>
        </p:txBody>
      </p:sp>
      <p:sp>
        <p:nvSpPr>
          <p:cNvPr id="973"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Le Wa — calligraphie du lien</a:t>
            </a:r>
            <a:endParaRPr lang="fr-FR" sz="1600" b="0" u="none" strike="noStrike">
              <a:solidFill>
                <a:srgbClr val="000000"/>
              </a:solidFill>
              <a:effectLst/>
              <a:uFillTx/>
              <a:latin typeface="Arial"/>
            </a:endParaRPr>
          </a:p>
        </p:txBody>
      </p:sp>
      <p:sp>
        <p:nvSpPr>
          <p:cNvPr id="974" name="Text 5"/>
          <p:cNvSpPr/>
          <p:nvPr/>
        </p:nvSpPr>
        <p:spPr>
          <a:xfrm>
            <a:off x="457200" y="2057400"/>
            <a:ext cx="4564800" cy="2598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100" b="1" u="none" spc="150" strike="noStrike">
                <a:solidFill>
                  <a:srgbClr val="BF360C"/>
                </a:solidFill>
                <a:effectLst/>
                <a:uFillTx/>
                <a:latin typeface="Satoshi"/>
                <a:ea typeface="Satoshi"/>
              </a:rPr>
              <a:t>CONSTRUCTION</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Le symbole est construit par répétition rotative (5 occurrences à 72°) de la lettre Wa (</a:t>
            </a:r>
            <a:r>
              <a:rPr lang="hi-IN" sz="1100" b="0" u="none" strike="noStrike">
                <a:solidFill>
                  <a:srgbClr val="0A0A0A"/>
                </a:solidFill>
                <a:effectLst/>
                <a:uFillTx/>
                <a:latin typeface="Satoshi"/>
                <a:cs typeface="Satoshi"/>
              </a:rPr>
              <a:t>و</a:t>
            </a:r>
            <a:r>
              <a:rPr lang="fr-FR" sz="1100" b="0" u="none" strike="noStrike">
                <a:solidFill>
                  <a:srgbClr val="0A0A0A"/>
                </a:solidFill>
                <a:effectLst/>
                <a:uFillTx/>
                <a:latin typeface="Satoshi"/>
                <a:ea typeface="Satoshi"/>
              </a:rPr>
              <a:t>) — conjonction arabe signifiant « et ». L'arrangement circulaire forme une boussole organique : signe de l'unité maintenue dans la diversité, du mouvement contenu dans la stabilité.</a:t>
            </a:r>
            <a:endParaRPr lang="fr-FR" sz="1100" b="0" u="none" strike="noStrike">
              <a:solidFill>
                <a:srgbClr val="000000"/>
              </a:solidFill>
              <a:effectLst/>
              <a:uFillTx/>
              <a:latin typeface="Arial"/>
            </a:endParaRPr>
          </a:p>
          <a:p>
            <a:pPr defTabSz="914400">
              <a:lnSpc>
                <a:spcPct val="100000"/>
              </a:lnSpc>
              <a:spcAft>
                <a:spcPts val="201"/>
              </a:spcAft>
              <a:tabLst>
                <a:tab pos="0" algn="l"/>
              </a:tabLst>
            </a:pP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100" b="1" u="none" spc="150" strike="noStrike">
                <a:solidFill>
                  <a:srgbClr val="BF360C"/>
                </a:solidFill>
                <a:effectLst/>
                <a:uFillTx/>
                <a:latin typeface="Satoshi"/>
                <a:ea typeface="Satoshi"/>
              </a:rPr>
              <a:t>RÈGLES D'USAGE</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Toujours présenté sur fond neutre (crème, blanc, noir)</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Taille minimale d'affichage : 32 px de hauteur</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Zone d'isolation : 1× hauteur de symbole sur chaque côté</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Aucune déformation ni effet décoratif additionnel</a:t>
            </a:r>
            <a:endParaRPr lang="fr-FR" sz="1000" b="0" u="none" strike="noStrike">
              <a:solidFill>
                <a:srgbClr val="000000"/>
              </a:solidFill>
              <a:effectLst/>
              <a:uFillTx/>
              <a:latin typeface="Arial"/>
            </a:endParaRPr>
          </a:p>
        </p:txBody>
      </p:sp>
      <p:sp>
        <p:nvSpPr>
          <p:cNvPr id="975" name="Shape 6"/>
          <p:cNvSpPr/>
          <p:nvPr/>
        </p:nvSpPr>
        <p:spPr>
          <a:xfrm>
            <a:off x="5303520" y="2057400"/>
            <a:ext cx="3467520" cy="2598840"/>
          </a:xfrm>
          <a:prstGeom prst="rect">
            <a:avLst/>
          </a:prstGeom>
          <a:solidFill>
            <a:srgbClr val="000000"/>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76" name="Text 8"/>
          <p:cNvSpPr/>
          <p:nvPr/>
        </p:nvSpPr>
        <p:spPr>
          <a:xfrm>
            <a:off x="5303520" y="4258800"/>
            <a:ext cx="34675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201" strike="noStrike">
                <a:solidFill>
                  <a:srgbClr val="FFB300"/>
                </a:solidFill>
                <a:effectLst/>
                <a:uFillTx/>
                <a:latin typeface="Satoshi"/>
                <a:ea typeface="Satoshi"/>
              </a:rPr>
              <a:t>SYMBOLE WA</a:t>
            </a:r>
            <a:endParaRPr lang="fr-FR" sz="1000" b="0" u="none" strike="noStrike">
              <a:solidFill>
                <a:srgbClr val="000000"/>
              </a:solidFill>
              <a:effectLst/>
              <a:uFillTx/>
              <a:latin typeface="Arial"/>
            </a:endParaRPr>
          </a:p>
        </p:txBody>
      </p:sp>
      <p:sp>
        <p:nvSpPr>
          <p:cNvPr id="977" name="Shape 1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78" name="Text 1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979" name="Text 1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48</a:t>
            </a:r>
            <a:endParaRPr lang="fr-FR" sz="900" b="0" u="none" strike="noStrike">
              <a:solidFill>
                <a:srgbClr val="000000"/>
              </a:solidFill>
              <a:effectLst/>
              <a:uFillTx/>
              <a:latin typeface="Arial"/>
            </a:endParaRPr>
          </a:p>
        </p:txBody>
      </p:sp>
      <p:pic>
        <p:nvPicPr>
          <p:cNvPr id="980" name=""/>
          <p:cNvPicPr/>
          <p:nvPr/>
        </p:nvPicPr>
        <p:blipFill>
          <a:blip r:embed="rId1">
            <a:extLst>
              <a:ext uri="{96DAC541-7B7A-43D3-8B79-37D633B846F1}">
                <asvg:svgBlip xmlns:asvg="http://schemas.microsoft.com/office/drawing/2016/SVG/main" r:embed="rId2"/>
              </a:ext>
            </a:extLst>
          </a:blip>
          <a:stretch/>
        </p:blipFill>
        <p:spPr>
          <a:xfrm>
            <a:off x="6474960" y="2783520"/>
            <a:ext cx="1125000" cy="1146600"/>
          </a:xfrm>
          <a:prstGeom prst="rect">
            <a:avLst/>
          </a:prstGeom>
          <a:noFill/>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98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98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98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8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LE LOGO</a:t>
            </a:r>
            <a:endParaRPr lang="fr-FR" sz="5600" b="0" u="none" strike="noStrike">
              <a:solidFill>
                <a:srgbClr val="000000"/>
              </a:solidFill>
              <a:effectLst/>
              <a:uFillTx/>
              <a:latin typeface="Arial"/>
            </a:endParaRPr>
          </a:p>
        </p:txBody>
      </p:sp>
      <p:sp>
        <p:nvSpPr>
          <p:cNvPr id="98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Signature visuelle — déclinaisons et règles d'usage</a:t>
            </a:r>
            <a:endParaRPr lang="fr-FR" sz="1600" b="0" u="none" strike="noStrike">
              <a:solidFill>
                <a:srgbClr val="000000"/>
              </a:solidFill>
              <a:effectLst/>
              <a:uFillTx/>
              <a:latin typeface="Arial"/>
            </a:endParaRPr>
          </a:p>
        </p:txBody>
      </p:sp>
      <p:sp>
        <p:nvSpPr>
          <p:cNvPr id="986" name="Shape 5"/>
          <p:cNvSpPr/>
          <p:nvPr/>
        </p:nvSpPr>
        <p:spPr>
          <a:xfrm>
            <a:off x="457200" y="2073960"/>
            <a:ext cx="2278800" cy="1638720"/>
          </a:xfrm>
          <a:prstGeom prst="rect">
            <a:avLst/>
          </a:prstGeom>
          <a:solidFill>
            <a:srgbClr val="F4EFE6"/>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87" name="Text 7"/>
          <p:cNvSpPr/>
          <p:nvPr/>
        </p:nvSpPr>
        <p:spPr>
          <a:xfrm>
            <a:off x="457200" y="3749040"/>
            <a:ext cx="227880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Sur fond clair</a:t>
            </a:r>
            <a:endParaRPr lang="fr-FR" sz="900" b="0" u="none" strike="noStrike">
              <a:solidFill>
                <a:srgbClr val="000000"/>
              </a:solidFill>
              <a:effectLst/>
              <a:uFillTx/>
              <a:latin typeface="Arial"/>
            </a:endParaRPr>
          </a:p>
        </p:txBody>
      </p:sp>
      <p:sp>
        <p:nvSpPr>
          <p:cNvPr id="988" name="Shape 8"/>
          <p:cNvSpPr/>
          <p:nvPr/>
        </p:nvSpPr>
        <p:spPr>
          <a:xfrm>
            <a:off x="2926080" y="2057400"/>
            <a:ext cx="2278800" cy="1638720"/>
          </a:xfrm>
          <a:prstGeom prst="rect">
            <a:avLst/>
          </a:prstGeom>
          <a:solidFill>
            <a:srgbClr val="000000"/>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89" name="Text 10"/>
          <p:cNvSpPr/>
          <p:nvPr/>
        </p:nvSpPr>
        <p:spPr>
          <a:xfrm>
            <a:off x="2926080" y="3749040"/>
            <a:ext cx="227880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Sur fond sombre</a:t>
            </a:r>
            <a:endParaRPr lang="fr-FR" sz="900" b="0" u="none" strike="noStrike">
              <a:solidFill>
                <a:srgbClr val="000000"/>
              </a:solidFill>
              <a:effectLst/>
              <a:uFillTx/>
              <a:latin typeface="Arial"/>
            </a:endParaRPr>
          </a:p>
        </p:txBody>
      </p:sp>
      <p:sp>
        <p:nvSpPr>
          <p:cNvPr id="990" name="Text 11"/>
          <p:cNvSpPr/>
          <p:nvPr/>
        </p:nvSpPr>
        <p:spPr>
          <a:xfrm>
            <a:off x="5486400" y="21031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RÈGLES D'USAGE</a:t>
            </a:r>
            <a:endParaRPr lang="fr-FR" sz="1100" b="0" u="none" strike="noStrike">
              <a:solidFill>
                <a:srgbClr val="000000"/>
              </a:solidFill>
              <a:effectLst/>
              <a:uFillTx/>
              <a:latin typeface="Arial"/>
            </a:endParaRPr>
          </a:p>
        </p:txBody>
      </p:sp>
      <p:sp>
        <p:nvSpPr>
          <p:cNvPr id="991" name="Text 12"/>
          <p:cNvSpPr/>
          <p:nvPr/>
        </p:nvSpPr>
        <p:spPr>
          <a:xfrm>
            <a:off x="5486400" y="2423160"/>
            <a:ext cx="3284640" cy="2278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Taille minimale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40 px de large (écran), 20 mm (print)</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Zone d'isolation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1/3 de la hauteur du logo sur tous les côtés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Exclusions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Ne pas déformer, ombrer, recolorer hors palette officielle</a:t>
            </a:r>
            <a:endParaRPr lang="fr-FR" sz="1000" b="0" u="none" strike="noStrike">
              <a:solidFill>
                <a:srgbClr val="000000"/>
              </a:solidFill>
              <a:effectLst/>
              <a:uFillTx/>
              <a:latin typeface="Arial"/>
            </a:endParaRPr>
          </a:p>
        </p:txBody>
      </p:sp>
      <p:sp>
        <p:nvSpPr>
          <p:cNvPr id="992" name="Shape 1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993" name="Text 15"/>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994" name="Text 16"/>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49</a:t>
            </a:r>
            <a:endParaRPr lang="fr-FR" sz="900" b="0" u="none" strike="noStrike">
              <a:solidFill>
                <a:srgbClr val="000000"/>
              </a:solidFill>
              <a:effectLst/>
              <a:uFillTx/>
              <a:latin typeface="Arial"/>
            </a:endParaRPr>
          </a:p>
        </p:txBody>
      </p:sp>
      <p:pic>
        <p:nvPicPr>
          <p:cNvPr id="995" name=""/>
          <p:cNvPicPr/>
          <p:nvPr/>
        </p:nvPicPr>
        <p:blipFill>
          <a:blip r:embed="rId1">
            <a:extLst>
              <a:ext uri="{96DAC541-7B7A-43D3-8B79-37D633B846F1}">
                <asvg:svgBlip xmlns:asvg="http://schemas.microsoft.com/office/drawing/2016/SVG/main" r:embed="rId2"/>
              </a:ext>
            </a:extLst>
          </a:blip>
          <a:stretch/>
        </p:blipFill>
        <p:spPr>
          <a:xfrm>
            <a:off x="1060200" y="2346840"/>
            <a:ext cx="1073160" cy="1093320"/>
          </a:xfrm>
          <a:prstGeom prst="rect">
            <a:avLst/>
          </a:prstGeom>
          <a:noFill/>
          <a:ln w="0">
            <a:noFill/>
          </a:ln>
        </p:spPr>
      </p:pic>
      <p:pic>
        <p:nvPicPr>
          <p:cNvPr id="996" name=""/>
          <p:cNvPicPr/>
          <p:nvPr/>
        </p:nvPicPr>
        <p:blipFill>
          <a:blip r:embed="rId3">
            <a:extLst>
              <a:ext uri="{96DAC541-7B7A-43D3-8B79-37D633B846F1}">
                <asvg:svgBlip xmlns:asvg="http://schemas.microsoft.com/office/drawing/2016/SVG/main" r:embed="rId4"/>
              </a:ext>
            </a:extLst>
          </a:blip>
          <a:stretch/>
        </p:blipFill>
        <p:spPr>
          <a:xfrm>
            <a:off x="3529080" y="2340360"/>
            <a:ext cx="1073160" cy="1073160"/>
          </a:xfrm>
          <a:prstGeom prst="rect">
            <a:avLst/>
          </a:prstGeom>
          <a:noFill/>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99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99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99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0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TYPOGRAPHIE I</a:t>
            </a:r>
            <a:endParaRPr lang="fr-FR" sz="4400" b="0" u="none" strike="noStrike">
              <a:solidFill>
                <a:srgbClr val="000000"/>
              </a:solidFill>
              <a:effectLst/>
              <a:uFillTx/>
              <a:latin typeface="Arial"/>
            </a:endParaRPr>
          </a:p>
        </p:txBody>
      </p:sp>
      <p:sp>
        <p:nvSpPr>
          <p:cNvPr id="100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u="none" strike="noStrike">
                <a:solidFill>
                  <a:srgbClr val="37474F"/>
                </a:solidFill>
                <a:effectLst/>
                <a:uFillTx/>
                <a:latin typeface="Arelv"/>
                <a:ea typeface="Satoshi"/>
              </a:rPr>
              <a:t>Arelv</a:t>
            </a:r>
            <a:r>
              <a:rPr lang="fr-FR" sz="1600" b="0" i="1" u="none" strike="noStrike">
                <a:solidFill>
                  <a:srgbClr val="37474F"/>
                </a:solidFill>
                <a:effectLst/>
                <a:uFillTx/>
                <a:latin typeface="Satoshi"/>
                <a:ea typeface="Satoshi"/>
              </a:rPr>
              <a:t> — structure et présence pour les titres</a:t>
            </a:r>
            <a:endParaRPr lang="fr-FR" sz="1600" b="0" u="none" strike="noStrike">
              <a:solidFill>
                <a:srgbClr val="000000"/>
              </a:solidFill>
              <a:effectLst/>
              <a:uFillTx/>
              <a:latin typeface="Arial"/>
            </a:endParaRPr>
          </a:p>
        </p:txBody>
      </p:sp>
      <p:sp>
        <p:nvSpPr>
          <p:cNvPr id="1002" name="Shape 5"/>
          <p:cNvSpPr/>
          <p:nvPr/>
        </p:nvSpPr>
        <p:spPr>
          <a:xfrm>
            <a:off x="457200" y="2103120"/>
            <a:ext cx="2736000" cy="250740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03" name="Text 6"/>
          <p:cNvSpPr/>
          <p:nvPr/>
        </p:nvSpPr>
        <p:spPr>
          <a:xfrm>
            <a:off x="457200" y="2286000"/>
            <a:ext cx="2736000" cy="2278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0" b="1" u="none" strike="noStrike">
                <a:solidFill>
                  <a:srgbClr val="F4EFE6"/>
                </a:solidFill>
                <a:effectLst/>
                <a:uFillTx/>
                <a:latin typeface="Arelv"/>
                <a:ea typeface="Arelv"/>
              </a:rPr>
              <a:t>Aa</a:t>
            </a:r>
            <a:endParaRPr lang="fr-FR" sz="13000" b="0" u="none" strike="noStrike">
              <a:solidFill>
                <a:srgbClr val="000000"/>
              </a:solidFill>
              <a:effectLst/>
              <a:uFillTx/>
              <a:latin typeface="Arial"/>
            </a:endParaRPr>
          </a:p>
        </p:txBody>
      </p:sp>
      <p:sp>
        <p:nvSpPr>
          <p:cNvPr id="1004" name="Text 7"/>
          <p:cNvSpPr/>
          <p:nvPr/>
        </p:nvSpPr>
        <p:spPr>
          <a:xfrm>
            <a:off x="3474720" y="2103120"/>
            <a:ext cx="5296320" cy="25074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1" u="none" spc="201" strike="noStrike">
                <a:solidFill>
                  <a:srgbClr val="BF360C"/>
                </a:solidFill>
                <a:effectLst/>
                <a:uFillTx/>
                <a:latin typeface="Satoshi"/>
                <a:ea typeface="Satoshi"/>
              </a:rPr>
              <a:t>ALPHABET</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Arelv"/>
                <a:ea typeface="Arelv"/>
              </a:rPr>
              <a:t>ABCDEFGHIJKLMNOPQRSTUVWXYZ</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Arelv"/>
                <a:ea typeface="Arelv"/>
              </a:rPr>
              <a:t>abcdefghijklmnopqrstuvwxyz</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Arelv"/>
                <a:ea typeface="Arelv"/>
              </a:rPr>
              <a:t>0 1 2 3 4 5 6 7 8 9</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800" b="0" u="none" strike="noStrike">
                <a:solidFill>
                  <a:srgbClr val="0A0A0A"/>
                </a:solidFill>
                <a:effectLst/>
                <a:uFillTx/>
                <a:latin typeface="Satoshi"/>
                <a:ea typeface="Satoshi"/>
              </a:rPr>
              <a:t> </a:t>
            </a:r>
            <a:endParaRPr lang="fr-FR" sz="8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201" strike="noStrike">
                <a:solidFill>
                  <a:srgbClr val="BF360C"/>
                </a:solidFill>
                <a:effectLst/>
                <a:uFillTx/>
                <a:latin typeface="Satoshi"/>
                <a:ea typeface="Satoshi"/>
              </a:rPr>
              <a:t>USAGES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Titres principaux et sections : de 24 à 72 pt</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Slogans et accroches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Numéros et signes typographiques massifs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Caractère géométrique évoquant la stèle minérale</a:t>
            </a:r>
            <a:endParaRPr lang="fr-FR" sz="1000" b="0" u="none" strike="noStrike">
              <a:solidFill>
                <a:srgbClr val="000000"/>
              </a:solidFill>
              <a:effectLst/>
              <a:uFillTx/>
              <a:latin typeface="Arial"/>
            </a:endParaRPr>
          </a:p>
        </p:txBody>
      </p:sp>
      <p:sp>
        <p:nvSpPr>
          <p:cNvPr id="1005" name="Shape 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06" name="Text 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007" name="Text 1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0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0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1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1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TYPOGRAPHIE II</a:t>
            </a:r>
            <a:endParaRPr lang="fr-FR" sz="4400" b="0" u="none" strike="noStrike">
              <a:solidFill>
                <a:srgbClr val="000000"/>
              </a:solidFill>
              <a:effectLst/>
              <a:uFillTx/>
              <a:latin typeface="Arial"/>
            </a:endParaRPr>
          </a:p>
        </p:txBody>
      </p:sp>
      <p:sp>
        <p:nvSpPr>
          <p:cNvPr id="101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37474F"/>
                </a:solidFill>
                <a:effectLst/>
                <a:uFillTx/>
                <a:latin typeface="Satoshi"/>
                <a:ea typeface="Satoshi"/>
              </a:rPr>
              <a:t>Satoshi</a:t>
            </a:r>
            <a:r>
              <a:rPr lang="fr-FR" sz="1600" b="0" i="1" u="none" strike="noStrike">
                <a:solidFill>
                  <a:srgbClr val="37474F"/>
                </a:solidFill>
                <a:effectLst/>
                <a:uFillTx/>
                <a:latin typeface="Satoshi"/>
                <a:ea typeface="Satoshi"/>
              </a:rPr>
              <a:t> — clarté et lisibilité pour le corps de texte</a:t>
            </a:r>
            <a:endParaRPr lang="fr-FR" sz="1600" b="0" u="none" strike="noStrike">
              <a:solidFill>
                <a:srgbClr val="000000"/>
              </a:solidFill>
              <a:effectLst/>
              <a:uFillTx/>
              <a:latin typeface="Arial"/>
            </a:endParaRPr>
          </a:p>
        </p:txBody>
      </p:sp>
      <p:sp>
        <p:nvSpPr>
          <p:cNvPr id="1013" name="Shape 5"/>
          <p:cNvSpPr/>
          <p:nvPr/>
        </p:nvSpPr>
        <p:spPr>
          <a:xfrm>
            <a:off x="457200" y="2103120"/>
            <a:ext cx="2736000" cy="250740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14" name="Text 6"/>
          <p:cNvSpPr/>
          <p:nvPr/>
        </p:nvSpPr>
        <p:spPr>
          <a:xfrm>
            <a:off x="457200" y="2286000"/>
            <a:ext cx="2736000" cy="2278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0" b="1" u="none" strike="noStrike">
                <a:solidFill>
                  <a:srgbClr val="0A0A0A"/>
                </a:solidFill>
                <a:effectLst/>
                <a:uFillTx/>
                <a:latin typeface="Satoshi"/>
                <a:ea typeface="Satoshi"/>
              </a:rPr>
              <a:t>Aa</a:t>
            </a:r>
            <a:endParaRPr lang="fr-FR" sz="13000" b="0" u="none" strike="noStrike">
              <a:solidFill>
                <a:srgbClr val="000000"/>
              </a:solidFill>
              <a:effectLst/>
              <a:uFillTx/>
              <a:latin typeface="Arial"/>
            </a:endParaRPr>
          </a:p>
        </p:txBody>
      </p:sp>
      <p:sp>
        <p:nvSpPr>
          <p:cNvPr id="1015" name="Text 7"/>
          <p:cNvSpPr/>
          <p:nvPr/>
        </p:nvSpPr>
        <p:spPr>
          <a:xfrm>
            <a:off x="3474720" y="2103120"/>
            <a:ext cx="5296320" cy="25074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1" u="none" spc="201" strike="noStrike">
                <a:solidFill>
                  <a:srgbClr val="BF360C"/>
                </a:solidFill>
                <a:effectLst/>
                <a:uFillTx/>
                <a:latin typeface="Satoshi"/>
                <a:ea typeface="Satoshi"/>
              </a:rPr>
              <a:t>ALPHABET</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Satoshi"/>
                <a:ea typeface="Satoshi"/>
              </a:rPr>
              <a:t>ABCDEFGHIJKLMNOPQRSTUVWXYZ</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Satoshi"/>
                <a:ea typeface="Satoshi"/>
              </a:rPr>
              <a:t>abcdefghijklmnopqrstuvwxyz</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1400" b="0" u="none" strike="noStrike">
                <a:solidFill>
                  <a:srgbClr val="0A0A0A"/>
                </a:solidFill>
                <a:effectLst/>
                <a:uFillTx/>
                <a:latin typeface="Satoshi"/>
                <a:ea typeface="Satoshi"/>
              </a:rPr>
              <a:t>0 1 2 3 4 5 6 7 8 9</a:t>
            </a:r>
            <a:endParaRPr lang="fr-FR" sz="1400" b="0" u="none" strike="noStrike">
              <a:solidFill>
                <a:srgbClr val="000000"/>
              </a:solidFill>
              <a:effectLst/>
              <a:uFillTx/>
              <a:latin typeface="Arial"/>
            </a:endParaRPr>
          </a:p>
          <a:p>
            <a:pPr defTabSz="914400">
              <a:lnSpc>
                <a:spcPct val="100000"/>
              </a:lnSpc>
              <a:spcAft>
                <a:spcPts val="201"/>
              </a:spcAft>
              <a:tabLst>
                <a:tab pos="0" algn="l"/>
              </a:tabLst>
            </a:pPr>
            <a:r>
              <a:rPr lang="fr-FR" sz="800" b="0" u="none" strike="noStrike">
                <a:solidFill>
                  <a:srgbClr val="0A0A0A"/>
                </a:solidFill>
                <a:effectLst/>
                <a:uFillTx/>
                <a:latin typeface="Satoshi"/>
                <a:ea typeface="Satoshi"/>
              </a:rPr>
              <a:t> </a:t>
            </a:r>
            <a:endParaRPr lang="fr-FR" sz="800" b="0" u="none" strike="noStrike">
              <a:solidFill>
                <a:srgbClr val="000000"/>
              </a:solidFill>
              <a:effectLst/>
              <a:uFillTx/>
              <a:latin typeface="Arial"/>
            </a:endParaRPr>
          </a:p>
          <a:p>
            <a:pPr defTabSz="914400">
              <a:lnSpc>
                <a:spcPct val="100000"/>
              </a:lnSpc>
              <a:spcAft>
                <a:spcPts val="201"/>
              </a:spcAft>
              <a:tabLst>
                <a:tab pos="0" algn="l"/>
              </a:tabLst>
            </a:pPr>
            <a:r>
              <a:rPr lang="fr-FR" sz="1000" b="1" u="none" spc="201" strike="noStrike">
                <a:solidFill>
                  <a:srgbClr val="BF360C"/>
                </a:solidFill>
                <a:effectLst/>
                <a:uFillTx/>
                <a:latin typeface="Satoshi"/>
                <a:ea typeface="Satoshi"/>
              </a:rPr>
              <a:t>USAGES &amp; GRAISSES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Light — paragraphes longs (11 à 13 pt)</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Regular — corps de texte standard</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Medium — sous-titres et accents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Bold — labels, menus, signalétique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0A0A0A"/>
                </a:solidFill>
                <a:effectLst/>
                <a:uFillTx/>
                <a:latin typeface="Satoshi"/>
                <a:ea typeface="Satoshi"/>
              </a:rPr>
              <a:t>› Black — sous-titres forts</a:t>
            </a:r>
            <a:endParaRPr lang="fr-FR" sz="1000" b="0" u="none" strike="noStrike">
              <a:solidFill>
                <a:srgbClr val="000000"/>
              </a:solidFill>
              <a:effectLst/>
              <a:uFillTx/>
              <a:latin typeface="Arial"/>
            </a:endParaRPr>
          </a:p>
        </p:txBody>
      </p:sp>
      <p:sp>
        <p:nvSpPr>
          <p:cNvPr id="1016" name="Shape 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17" name="Text 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018" name="Text 1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19" name="Shape 60"/>
          <p:cNvSpPr/>
          <p:nvPr/>
        </p:nvSpPr>
        <p:spPr>
          <a:xfrm>
            <a:off x="448200" y="278928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20" name="Shape 59"/>
          <p:cNvSpPr/>
          <p:nvPr/>
        </p:nvSpPr>
        <p:spPr>
          <a:xfrm>
            <a:off x="2536200" y="278928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21" name="Shape 58"/>
          <p:cNvSpPr/>
          <p:nvPr/>
        </p:nvSpPr>
        <p:spPr>
          <a:xfrm>
            <a:off x="4624200" y="278928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22" name="Shape 57"/>
          <p:cNvSpPr/>
          <p:nvPr/>
        </p:nvSpPr>
        <p:spPr>
          <a:xfrm>
            <a:off x="6712200" y="278928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2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2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2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2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IMAGERIE</a:t>
            </a:r>
            <a:endParaRPr lang="fr-FR" sz="5600" b="0" u="none" strike="noStrike">
              <a:solidFill>
                <a:srgbClr val="000000"/>
              </a:solidFill>
              <a:effectLst/>
              <a:uFillTx/>
              <a:latin typeface="Arial"/>
            </a:endParaRPr>
          </a:p>
        </p:txBody>
      </p:sp>
      <p:sp>
        <p:nvSpPr>
          <p:cNvPr id="102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Règles iconographiques — l'empreinte visuelle</a:t>
            </a:r>
            <a:endParaRPr lang="fr-FR" sz="1600" b="0" u="none" strike="noStrike">
              <a:solidFill>
                <a:srgbClr val="000000"/>
              </a:solidFill>
              <a:effectLst/>
              <a:uFillTx/>
              <a:latin typeface="Arial"/>
            </a:endParaRPr>
          </a:p>
        </p:txBody>
      </p:sp>
      <p:sp>
        <p:nvSpPr>
          <p:cNvPr id="1028" name="Text 5"/>
          <p:cNvSpPr/>
          <p:nvPr/>
        </p:nvSpPr>
        <p:spPr>
          <a:xfrm>
            <a:off x="457200" y="2011680"/>
            <a:ext cx="822240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L'iconographie privilégie la minéralité, les grands espaces et les contrastes lumineux. Quatre principes encadrent la sélection et le traitement des images.</a:t>
            </a:r>
            <a:endParaRPr lang="fr-FR" sz="1100" b="0" u="none" strike="noStrike">
              <a:solidFill>
                <a:srgbClr val="000000"/>
              </a:solidFill>
              <a:effectLst/>
              <a:uFillTx/>
              <a:latin typeface="Arial"/>
            </a:endParaRPr>
          </a:p>
        </p:txBody>
      </p:sp>
      <p:sp>
        <p:nvSpPr>
          <p:cNvPr id="1029" name="Text 7"/>
          <p:cNvSpPr/>
          <p:nvPr/>
        </p:nvSpPr>
        <p:spPr>
          <a:xfrm>
            <a:off x="594360" y="278892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MATIÈRE</a:t>
            </a:r>
            <a:endParaRPr lang="fr-FR" sz="1300" b="0" u="none" strike="noStrike">
              <a:solidFill>
                <a:srgbClr val="000000"/>
              </a:solidFill>
              <a:effectLst/>
              <a:uFillTx/>
              <a:latin typeface="Arial"/>
            </a:endParaRPr>
          </a:p>
        </p:txBody>
      </p:sp>
      <p:sp>
        <p:nvSpPr>
          <p:cNvPr id="1030" name="Shape 8"/>
          <p:cNvSpPr/>
          <p:nvPr/>
        </p:nvSpPr>
        <p:spPr>
          <a:xfrm>
            <a:off x="59436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1031" name="Text 9"/>
          <p:cNvSpPr/>
          <p:nvPr/>
        </p:nvSpPr>
        <p:spPr>
          <a:xfrm>
            <a:off x="594360" y="3246120"/>
            <a:ext cx="1684440" cy="1135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Privilégier les surfaces minérales : roche, sable, pierre brute. Les textures organiques traduisent la dimension tactile du portfolio.</a:t>
            </a:r>
            <a:endParaRPr lang="fr-FR" sz="950" b="0" u="none" strike="noStrike">
              <a:solidFill>
                <a:srgbClr val="000000"/>
              </a:solidFill>
              <a:effectLst/>
              <a:uFillTx/>
              <a:latin typeface="Arial"/>
            </a:endParaRPr>
          </a:p>
        </p:txBody>
      </p:sp>
      <p:sp>
        <p:nvSpPr>
          <p:cNvPr id="1032" name="Text 11"/>
          <p:cNvSpPr/>
          <p:nvPr/>
        </p:nvSpPr>
        <p:spPr>
          <a:xfrm>
            <a:off x="2679120" y="278892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LUMIÈRE</a:t>
            </a:r>
            <a:endParaRPr lang="fr-FR" sz="1300" b="0" u="none" strike="noStrike">
              <a:solidFill>
                <a:srgbClr val="000000"/>
              </a:solidFill>
              <a:effectLst/>
              <a:uFillTx/>
              <a:latin typeface="Arial"/>
            </a:endParaRPr>
          </a:p>
        </p:txBody>
      </p:sp>
      <p:sp>
        <p:nvSpPr>
          <p:cNvPr id="1033" name="Shape 12"/>
          <p:cNvSpPr/>
          <p:nvPr/>
        </p:nvSpPr>
        <p:spPr>
          <a:xfrm>
            <a:off x="267912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1034" name="Text 13"/>
          <p:cNvSpPr/>
          <p:nvPr/>
        </p:nvSpPr>
        <p:spPr>
          <a:xfrm>
            <a:off x="2679120" y="3246120"/>
            <a:ext cx="1684440" cy="1135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Lumière franche, ombres tranchées, contrastes forts. La photographie de désert ou en intérieur sombre constitue la référence visuelle.</a:t>
            </a:r>
            <a:endParaRPr lang="fr-FR" sz="950" b="0" u="none" strike="noStrike">
              <a:solidFill>
                <a:srgbClr val="000000"/>
              </a:solidFill>
              <a:effectLst/>
              <a:uFillTx/>
              <a:latin typeface="Arial"/>
            </a:endParaRPr>
          </a:p>
        </p:txBody>
      </p:sp>
      <p:sp>
        <p:nvSpPr>
          <p:cNvPr id="1035" name="Text 15"/>
          <p:cNvSpPr/>
          <p:nvPr/>
        </p:nvSpPr>
        <p:spPr>
          <a:xfrm>
            <a:off x="4763880" y="278892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MOUVEMENT</a:t>
            </a:r>
            <a:endParaRPr lang="fr-FR" sz="1300" b="0" u="none" strike="noStrike">
              <a:solidFill>
                <a:srgbClr val="000000"/>
              </a:solidFill>
              <a:effectLst/>
              <a:uFillTx/>
              <a:latin typeface="Arial"/>
            </a:endParaRPr>
          </a:p>
        </p:txBody>
      </p:sp>
      <p:sp>
        <p:nvSpPr>
          <p:cNvPr id="1036" name="Shape 16"/>
          <p:cNvSpPr/>
          <p:nvPr/>
        </p:nvSpPr>
        <p:spPr>
          <a:xfrm>
            <a:off x="476388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1037" name="Text 17"/>
          <p:cNvSpPr/>
          <p:nvPr/>
        </p:nvSpPr>
        <p:spPr>
          <a:xfrm>
            <a:off x="4763880" y="3246120"/>
            <a:ext cx="1684440" cy="1135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Préférer les images de gestes captés (silhouettes en marche, danse, performance) à la pose statique. Le corps en action porte le récit.</a:t>
            </a:r>
            <a:endParaRPr lang="fr-FR" sz="950" b="0" u="none" strike="noStrike">
              <a:solidFill>
                <a:srgbClr val="000000"/>
              </a:solidFill>
              <a:effectLst/>
              <a:uFillTx/>
              <a:latin typeface="Arial"/>
            </a:endParaRPr>
          </a:p>
        </p:txBody>
      </p:sp>
      <p:sp>
        <p:nvSpPr>
          <p:cNvPr id="1038" name="Text 19"/>
          <p:cNvSpPr/>
          <p:nvPr/>
        </p:nvSpPr>
        <p:spPr>
          <a:xfrm>
            <a:off x="6849000" y="278892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SATURATION</a:t>
            </a:r>
            <a:endParaRPr lang="fr-FR" sz="1300" b="0" u="none" strike="noStrike">
              <a:solidFill>
                <a:srgbClr val="000000"/>
              </a:solidFill>
              <a:effectLst/>
              <a:uFillTx/>
              <a:latin typeface="Arial"/>
            </a:endParaRPr>
          </a:p>
        </p:txBody>
      </p:sp>
      <p:sp>
        <p:nvSpPr>
          <p:cNvPr id="1039" name="Shape 20"/>
          <p:cNvSpPr/>
          <p:nvPr/>
        </p:nvSpPr>
        <p:spPr>
          <a:xfrm>
            <a:off x="6849000" y="3108960"/>
            <a:ext cx="267120" cy="29520"/>
          </a:xfrm>
          <a:prstGeom prst="rect">
            <a:avLst/>
          </a:prstGeom>
          <a:solidFill>
            <a:srgbClr val="BF360C"/>
          </a:solidFill>
          <a:ln w="12700">
            <a:solidFill>
              <a:srgbClr val="BF360C"/>
            </a:solidFill>
            <a:round/>
          </a:ln>
        </p:spPr>
        <p:style>
          <a:lnRef idx="0"/>
          <a:fillRef idx="0"/>
          <a:effectRef idx="0"/>
          <a:fontRef idx="minor"/>
        </p:style>
        <p:txBody>
          <a:bodyPr lIns="90000" tIns="-8280" rIns="90000" bIns="-8280" anchor="t">
            <a:noAutofit/>
          </a:bodyPr>
          <a:p>
            <a:endParaRPr lang="fr-FR" sz="1800" b="0" u="none" strike="noStrike">
              <a:solidFill>
                <a:srgbClr val="FFFFFF"/>
              </a:solidFill>
              <a:effectLst/>
              <a:uFillTx/>
              <a:latin typeface="Arial"/>
            </a:endParaRPr>
          </a:p>
        </p:txBody>
      </p:sp>
      <p:sp>
        <p:nvSpPr>
          <p:cNvPr id="1040" name="Text 21"/>
          <p:cNvSpPr/>
          <p:nvPr/>
        </p:nvSpPr>
        <p:spPr>
          <a:xfrm>
            <a:off x="6849000" y="3246120"/>
            <a:ext cx="1684440" cy="1135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Saturation maîtrisée — jamais terne, jamais criarde. Le traitement chromatique peut accentuer une couleur de la palette si la cohérence narrative l'exige.</a:t>
            </a:r>
            <a:endParaRPr lang="fr-FR" sz="950" b="0" u="none" strike="noStrike">
              <a:solidFill>
                <a:srgbClr val="000000"/>
              </a:solidFill>
              <a:effectLst/>
              <a:uFillTx/>
              <a:latin typeface="Arial"/>
            </a:endParaRPr>
          </a:p>
        </p:txBody>
      </p:sp>
      <p:sp>
        <p:nvSpPr>
          <p:cNvPr id="1041"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42"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043"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044"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06</a:t>
            </a:r>
            <a:endParaRPr lang="fr-FR" sz="28000" b="0" u="none" strike="noStrike">
              <a:solidFill>
                <a:srgbClr val="FFFFFF"/>
              </a:solidFill>
              <a:effectLst/>
              <a:uFillTx/>
              <a:latin typeface="Arial"/>
            </a:endParaRPr>
          </a:p>
        </p:txBody>
      </p:sp>
      <p:sp>
        <p:nvSpPr>
          <p:cNvPr id="1045"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STRATÉGIE</a:t>
            </a:r>
            <a:endParaRPr lang="fr-FR" sz="3200" b="0" u="none" strike="noStrike">
              <a:solidFill>
                <a:srgbClr val="FFFFFF"/>
              </a:solidFill>
              <a:effectLst/>
              <a:uFillTx/>
              <a:latin typeface="Arial"/>
            </a:endParaRPr>
          </a:p>
        </p:txBody>
      </p:sp>
      <p:sp>
        <p:nvSpPr>
          <p:cNvPr id="1046"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ÉDITORIALE</a:t>
            </a:r>
            <a:endParaRPr lang="fr-FR" sz="3200" b="0" u="none" strike="noStrike">
              <a:solidFill>
                <a:srgbClr val="FFFFFF"/>
              </a:solidFill>
              <a:effectLst/>
              <a:uFillTx/>
              <a:latin typeface="Arial"/>
            </a:endParaRPr>
          </a:p>
        </p:txBody>
      </p:sp>
      <p:sp>
        <p:nvSpPr>
          <p:cNvPr id="1047"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Sixième partie · pages 53 → 57</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48" name="Shape 55"/>
          <p:cNvSpPr/>
          <p:nvPr/>
        </p:nvSpPr>
        <p:spPr>
          <a:xfrm>
            <a:off x="468000" y="277596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49" name="Shape 56"/>
          <p:cNvSpPr/>
          <p:nvPr/>
        </p:nvSpPr>
        <p:spPr>
          <a:xfrm>
            <a:off x="2546280" y="277812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50" name="Shape 61"/>
          <p:cNvSpPr/>
          <p:nvPr/>
        </p:nvSpPr>
        <p:spPr>
          <a:xfrm>
            <a:off x="4624200" y="278928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5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5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5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5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VOIX &amp; TON</a:t>
            </a:r>
            <a:endParaRPr lang="fr-FR" sz="5600" b="0" u="none" strike="noStrike">
              <a:solidFill>
                <a:srgbClr val="000000"/>
              </a:solidFill>
              <a:effectLst/>
              <a:uFillTx/>
              <a:latin typeface="Arial"/>
            </a:endParaRPr>
          </a:p>
        </p:txBody>
      </p:sp>
      <p:sp>
        <p:nvSpPr>
          <p:cNvPr id="105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La signature rédactionnelle du portfolio</a:t>
            </a:r>
            <a:endParaRPr lang="fr-FR" sz="1600" b="0" u="none" strike="noStrike">
              <a:solidFill>
                <a:srgbClr val="000000"/>
              </a:solidFill>
              <a:effectLst/>
              <a:uFillTx/>
              <a:latin typeface="Arial"/>
            </a:endParaRPr>
          </a:p>
        </p:txBody>
      </p:sp>
      <p:sp>
        <p:nvSpPr>
          <p:cNvPr id="1056" name="Text 5"/>
          <p:cNvSpPr/>
          <p:nvPr/>
        </p:nvSpPr>
        <p:spPr>
          <a:xfrm>
            <a:off x="457200" y="20116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200" b="0" u="none" strike="noStrike">
                <a:solidFill>
                  <a:srgbClr val="0A0A0A"/>
                </a:solidFill>
                <a:effectLst/>
                <a:uFillTx/>
                <a:latin typeface="Satoshi"/>
                <a:ea typeface="Satoshi"/>
              </a:rPr>
              <a:t>La voix éditoriale du portfolio porte une signature simple : celle d'une rigueur académique transposée au digital. Ni jargon technique ostentatoire, ni storytelling artificiel. Une langue claire, précise, qui assume sa double appartenance — recherche et création.</a:t>
            </a:r>
            <a:endParaRPr lang="fr-FR" sz="1200" b="0" u="none" strike="noStrike">
              <a:solidFill>
                <a:srgbClr val="000000"/>
              </a:solidFill>
              <a:effectLst/>
              <a:uFillTx/>
              <a:latin typeface="Arial"/>
            </a:endParaRPr>
          </a:p>
        </p:txBody>
      </p:sp>
      <p:sp>
        <p:nvSpPr>
          <p:cNvPr id="1057" name="Text 7"/>
          <p:cNvSpPr/>
          <p:nvPr/>
        </p:nvSpPr>
        <p:spPr>
          <a:xfrm>
            <a:off x="594360" y="288036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01</a:t>
            </a:r>
            <a:endParaRPr lang="fr-FR" sz="1400" b="0" u="none" strike="noStrike">
              <a:solidFill>
                <a:srgbClr val="000000"/>
              </a:solidFill>
              <a:effectLst/>
              <a:uFillTx/>
              <a:latin typeface="Arial"/>
            </a:endParaRPr>
          </a:p>
        </p:txBody>
      </p:sp>
      <p:sp>
        <p:nvSpPr>
          <p:cNvPr id="1058" name="Text 8"/>
          <p:cNvSpPr/>
          <p:nvPr/>
        </p:nvSpPr>
        <p:spPr>
          <a:xfrm>
            <a:off x="594360" y="315468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PRÉCIS</a:t>
            </a:r>
            <a:endParaRPr lang="fr-FR" sz="1400" b="0" u="none" strike="noStrike">
              <a:solidFill>
                <a:srgbClr val="000000"/>
              </a:solidFill>
              <a:effectLst/>
              <a:uFillTx/>
              <a:latin typeface="Arial"/>
            </a:endParaRPr>
          </a:p>
        </p:txBody>
      </p:sp>
      <p:sp>
        <p:nvSpPr>
          <p:cNvPr id="1059" name="Text 9"/>
          <p:cNvSpPr/>
          <p:nvPr/>
        </p:nvSpPr>
        <p:spPr>
          <a:xfrm>
            <a:off x="594360" y="350208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Chaque mot pèse. Pas de remplissage rhétorique. Le verbe juste plutôt que le superlatif.</a:t>
            </a:r>
            <a:endParaRPr lang="fr-FR" sz="950" b="0" u="none" strike="noStrike">
              <a:solidFill>
                <a:srgbClr val="000000"/>
              </a:solidFill>
              <a:effectLst/>
              <a:uFillTx/>
              <a:latin typeface="Arial"/>
            </a:endParaRPr>
          </a:p>
        </p:txBody>
      </p:sp>
      <p:sp>
        <p:nvSpPr>
          <p:cNvPr id="1060" name="Text 11"/>
          <p:cNvSpPr/>
          <p:nvPr/>
        </p:nvSpPr>
        <p:spPr>
          <a:xfrm>
            <a:off x="2679120" y="288036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02</a:t>
            </a:r>
            <a:endParaRPr lang="fr-FR" sz="1400" b="0" u="none" strike="noStrike">
              <a:solidFill>
                <a:srgbClr val="000000"/>
              </a:solidFill>
              <a:effectLst/>
              <a:uFillTx/>
              <a:latin typeface="Arial"/>
            </a:endParaRPr>
          </a:p>
        </p:txBody>
      </p:sp>
      <p:sp>
        <p:nvSpPr>
          <p:cNvPr id="1061" name="Text 12"/>
          <p:cNvSpPr/>
          <p:nvPr/>
        </p:nvSpPr>
        <p:spPr>
          <a:xfrm>
            <a:off x="2679120" y="315468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ATTENTIF</a:t>
            </a:r>
            <a:endParaRPr lang="fr-FR" sz="1400" b="0" u="none" strike="noStrike">
              <a:solidFill>
                <a:srgbClr val="000000"/>
              </a:solidFill>
              <a:effectLst/>
              <a:uFillTx/>
              <a:latin typeface="Arial"/>
            </a:endParaRPr>
          </a:p>
        </p:txBody>
      </p:sp>
      <p:sp>
        <p:nvSpPr>
          <p:cNvPr id="1062" name="Text 13"/>
          <p:cNvSpPr/>
          <p:nvPr/>
        </p:nvSpPr>
        <p:spPr>
          <a:xfrm>
            <a:off x="2679120" y="350208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Une langue qui prend soin du lecteur : Phrases courtes, ponctuation soignée, transitions explicites.</a:t>
            </a:r>
            <a:endParaRPr lang="fr-FR" sz="950" b="0" u="none" strike="noStrike">
              <a:solidFill>
                <a:srgbClr val="000000"/>
              </a:solidFill>
              <a:effectLst/>
              <a:uFillTx/>
              <a:latin typeface="Arial"/>
            </a:endParaRPr>
          </a:p>
        </p:txBody>
      </p:sp>
      <p:sp>
        <p:nvSpPr>
          <p:cNvPr id="1063" name="Text 15"/>
          <p:cNvSpPr/>
          <p:nvPr/>
        </p:nvSpPr>
        <p:spPr>
          <a:xfrm>
            <a:off x="4763880" y="288036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03</a:t>
            </a:r>
            <a:endParaRPr lang="fr-FR" sz="1400" b="0" u="none" strike="noStrike">
              <a:solidFill>
                <a:srgbClr val="000000"/>
              </a:solidFill>
              <a:effectLst/>
              <a:uFillTx/>
              <a:latin typeface="Arial"/>
            </a:endParaRPr>
          </a:p>
        </p:txBody>
      </p:sp>
      <p:sp>
        <p:nvSpPr>
          <p:cNvPr id="1064" name="Text 16"/>
          <p:cNvSpPr/>
          <p:nvPr/>
        </p:nvSpPr>
        <p:spPr>
          <a:xfrm>
            <a:off x="4763880" y="315468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ASSUMÉ</a:t>
            </a:r>
            <a:endParaRPr lang="fr-FR" sz="1400" b="0" u="none" strike="noStrike">
              <a:solidFill>
                <a:srgbClr val="000000"/>
              </a:solidFill>
              <a:effectLst/>
              <a:uFillTx/>
              <a:latin typeface="Arial"/>
            </a:endParaRPr>
          </a:p>
        </p:txBody>
      </p:sp>
      <p:sp>
        <p:nvSpPr>
          <p:cNvPr id="1065" name="Text 17"/>
          <p:cNvSpPr/>
          <p:nvPr/>
        </p:nvSpPr>
        <p:spPr>
          <a:xfrm>
            <a:off x="4763880" y="350208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Le « je » plutôt que le « nous » corporatif. Un point de vue clairement situé.</a:t>
            </a:r>
            <a:endParaRPr lang="fr-FR" sz="950" b="0" u="none" strike="noStrike">
              <a:solidFill>
                <a:srgbClr val="000000"/>
              </a:solidFill>
              <a:effectLst/>
              <a:uFillTx/>
              <a:latin typeface="Arial"/>
            </a:endParaRPr>
          </a:p>
        </p:txBody>
      </p:sp>
      <p:sp>
        <p:nvSpPr>
          <p:cNvPr id="1066" name="Shape 18"/>
          <p:cNvSpPr/>
          <p:nvPr/>
        </p:nvSpPr>
        <p:spPr>
          <a:xfrm>
            <a:off x="6711840" y="2788920"/>
            <a:ext cx="1958760" cy="16844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67" name="Text 19"/>
          <p:cNvSpPr/>
          <p:nvPr/>
        </p:nvSpPr>
        <p:spPr>
          <a:xfrm>
            <a:off x="6849000" y="2880360"/>
            <a:ext cx="6328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04</a:t>
            </a:r>
            <a:endParaRPr lang="fr-FR" sz="1400" b="0" u="none" strike="noStrike">
              <a:solidFill>
                <a:srgbClr val="000000"/>
              </a:solidFill>
              <a:effectLst/>
              <a:uFillTx/>
              <a:latin typeface="Arial"/>
            </a:endParaRPr>
          </a:p>
        </p:txBody>
      </p:sp>
      <p:sp>
        <p:nvSpPr>
          <p:cNvPr id="1068" name="Text 20"/>
          <p:cNvSpPr/>
          <p:nvPr/>
        </p:nvSpPr>
        <p:spPr>
          <a:xfrm>
            <a:off x="6849000" y="3154680"/>
            <a:ext cx="16844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99" strike="noStrike">
                <a:solidFill>
                  <a:srgbClr val="0A0A0A"/>
                </a:solidFill>
                <a:effectLst/>
                <a:uFillTx/>
                <a:latin typeface="Arelv"/>
                <a:ea typeface="Arelv"/>
              </a:rPr>
              <a:t>MESURÉ</a:t>
            </a:r>
            <a:endParaRPr lang="fr-FR" sz="1400" b="0" u="none" strike="noStrike">
              <a:solidFill>
                <a:srgbClr val="000000"/>
              </a:solidFill>
              <a:effectLst/>
              <a:uFillTx/>
              <a:latin typeface="Arial"/>
            </a:endParaRPr>
          </a:p>
        </p:txBody>
      </p:sp>
      <p:sp>
        <p:nvSpPr>
          <p:cNvPr id="1069" name="Text 21"/>
          <p:cNvSpPr/>
          <p:nvPr/>
        </p:nvSpPr>
        <p:spPr>
          <a:xfrm>
            <a:off x="6849000" y="3502080"/>
            <a:ext cx="1684440" cy="90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Ni emphase ni minimisation : Décrire ce qui est, en quantifiant quand c'est possible.</a:t>
            </a:r>
            <a:endParaRPr lang="fr-FR" sz="950" b="0" u="none" strike="noStrike">
              <a:solidFill>
                <a:srgbClr val="000000"/>
              </a:solidFill>
              <a:effectLst/>
              <a:uFillTx/>
              <a:latin typeface="Arial"/>
            </a:endParaRPr>
          </a:p>
        </p:txBody>
      </p:sp>
      <p:sp>
        <p:nvSpPr>
          <p:cNvPr id="1070"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71"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072"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7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7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7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7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RÉDACTION</a:t>
            </a:r>
            <a:endParaRPr lang="fr-FR" sz="5000" b="0" u="none" strike="noStrike">
              <a:solidFill>
                <a:srgbClr val="000000"/>
              </a:solidFill>
              <a:effectLst/>
              <a:uFillTx/>
              <a:latin typeface="Arial"/>
            </a:endParaRPr>
          </a:p>
        </p:txBody>
      </p:sp>
      <p:sp>
        <p:nvSpPr>
          <p:cNvPr id="107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Règles concrètes du langage écrit</a:t>
            </a:r>
            <a:endParaRPr lang="fr-FR" sz="1600" b="0" u="none" strike="noStrike">
              <a:solidFill>
                <a:srgbClr val="000000"/>
              </a:solidFill>
              <a:effectLst/>
              <a:uFillTx/>
              <a:latin typeface="Arial"/>
            </a:endParaRPr>
          </a:p>
        </p:txBody>
      </p:sp>
      <p:sp>
        <p:nvSpPr>
          <p:cNvPr id="1078" name="Text 5"/>
          <p:cNvSpPr/>
          <p:nvPr/>
        </p:nvSpPr>
        <p:spPr>
          <a:xfrm>
            <a:off x="457200" y="2011680"/>
            <a:ext cx="82224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Les règles qui suivent traduisent la voix éditoriale en pratique d'écriture. Elles s'appliquent à toutes les zones de texte du portfolio — titres, descriptions de projets, articles, formulaires.</a:t>
            </a:r>
            <a:endParaRPr lang="fr-FR" sz="1100" b="0" u="none" strike="noStrike">
              <a:solidFill>
                <a:srgbClr val="000000"/>
              </a:solidFill>
              <a:effectLst/>
              <a:uFillTx/>
              <a:latin typeface="Arial"/>
            </a:endParaRPr>
          </a:p>
        </p:txBody>
      </p:sp>
      <p:sp>
        <p:nvSpPr>
          <p:cNvPr id="1079" name="Shape 6"/>
          <p:cNvSpPr/>
          <p:nvPr/>
        </p:nvSpPr>
        <p:spPr>
          <a:xfrm>
            <a:off x="457200" y="2697480"/>
            <a:ext cx="4016160" cy="19587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80" name="Text 7"/>
          <p:cNvSpPr/>
          <p:nvPr/>
        </p:nvSpPr>
        <p:spPr>
          <a:xfrm>
            <a:off x="640080" y="278892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F4EFE6"/>
                </a:solidFill>
                <a:effectLst/>
                <a:uFillTx/>
                <a:latin typeface="Satoshi"/>
                <a:ea typeface="Satoshi"/>
              </a:rPr>
              <a:t>À FAIRE</a:t>
            </a:r>
            <a:endParaRPr lang="fr-FR" sz="1200" b="0" u="none" strike="noStrike">
              <a:solidFill>
                <a:srgbClr val="000000"/>
              </a:solidFill>
              <a:effectLst/>
              <a:uFillTx/>
              <a:latin typeface="Arial"/>
            </a:endParaRPr>
          </a:p>
        </p:txBody>
      </p:sp>
      <p:sp>
        <p:nvSpPr>
          <p:cNvPr id="1081" name="Text 8"/>
          <p:cNvSpPr/>
          <p:nvPr/>
        </p:nvSpPr>
        <p:spPr>
          <a:xfrm>
            <a:off x="640080" y="3108960"/>
            <a:ext cx="3650400" cy="1455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Phrases courtes (15 mots en moyenne)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Tirets cadratins (— ALT+0151) pour les incises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Verbes à l'actif et au présent</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Chiffres pour quantifier (« 14 semaines »)</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Première personne assumée (« je conçois »)</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Termes techniques expliqués au premier usage</a:t>
            </a:r>
            <a:endParaRPr lang="fr-FR" sz="1000" b="0" u="none" strike="noStrike">
              <a:solidFill>
                <a:srgbClr val="000000"/>
              </a:solidFill>
              <a:effectLst/>
              <a:uFillTx/>
              <a:latin typeface="Arial"/>
            </a:endParaRPr>
          </a:p>
        </p:txBody>
      </p:sp>
      <p:sp>
        <p:nvSpPr>
          <p:cNvPr id="1082" name="Shape 9"/>
          <p:cNvSpPr/>
          <p:nvPr/>
        </p:nvSpPr>
        <p:spPr>
          <a:xfrm>
            <a:off x="4754880" y="2697480"/>
            <a:ext cx="4016160" cy="19587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83" name="Text 10"/>
          <p:cNvSpPr/>
          <p:nvPr/>
        </p:nvSpPr>
        <p:spPr>
          <a:xfrm>
            <a:off x="4937760" y="278892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F4EFE6"/>
                </a:solidFill>
                <a:effectLst/>
                <a:uFillTx/>
                <a:latin typeface="Satoshi"/>
                <a:ea typeface="Satoshi"/>
              </a:rPr>
              <a:t>À ÉVITER</a:t>
            </a:r>
            <a:endParaRPr lang="fr-FR" sz="1200" b="0" u="none" strike="noStrike">
              <a:solidFill>
                <a:srgbClr val="000000"/>
              </a:solidFill>
              <a:effectLst/>
              <a:uFillTx/>
              <a:latin typeface="Arial"/>
            </a:endParaRPr>
          </a:p>
        </p:txBody>
      </p:sp>
      <p:sp>
        <p:nvSpPr>
          <p:cNvPr id="1084" name="Text 11"/>
          <p:cNvSpPr/>
          <p:nvPr/>
        </p:nvSpPr>
        <p:spPr>
          <a:xfrm>
            <a:off x="4937760" y="3108960"/>
            <a:ext cx="3650400" cy="1455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Termes en anglais sans équivalent français</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Superlatifs vides (ex. « incroyable », « unique »)</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Points d'exclamation (sauf rare emphase)</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Verbes passifs (« il a été conçu »)</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Langage métier non explicité</a:t>
            </a:r>
            <a:endParaRPr lang="fr-FR" sz="1000" b="0" u="none" strike="noStrike">
              <a:solidFill>
                <a:srgbClr val="000000"/>
              </a:solidFill>
              <a:effectLst/>
              <a:uFillTx/>
              <a:latin typeface="Arial"/>
            </a:endParaRPr>
          </a:p>
          <a:p>
            <a:pPr defTabSz="914400">
              <a:lnSpc>
                <a:spcPct val="100000"/>
              </a:lnSpc>
              <a:spcAft>
                <a:spcPts val="201"/>
              </a:spcAft>
              <a:tabLst>
                <a:tab pos="0" algn="l"/>
              </a:tabLst>
            </a:pPr>
            <a:r>
              <a:rPr lang="fr-FR" sz="1000" b="0" u="none" strike="noStrike">
                <a:solidFill>
                  <a:srgbClr val="F4EFE6"/>
                </a:solidFill>
                <a:effectLst/>
                <a:uFillTx/>
                <a:latin typeface="Satoshi"/>
                <a:ea typeface="Satoshi"/>
              </a:rPr>
              <a:t>› Formules génériques ou vagues</a:t>
            </a:r>
            <a:endParaRPr lang="fr-FR" sz="1000" b="0" u="none" strike="noStrike">
              <a:solidFill>
                <a:srgbClr val="000000"/>
              </a:solidFill>
              <a:effectLst/>
              <a:uFillTx/>
              <a:latin typeface="Arial"/>
            </a:endParaRPr>
          </a:p>
        </p:txBody>
      </p:sp>
      <p:sp>
        <p:nvSpPr>
          <p:cNvPr id="1085" name="Shape 1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86" name="Text 1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087" name="Text 1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08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08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09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9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NAMING</a:t>
            </a:r>
            <a:endParaRPr lang="fr-FR" sz="5600" b="0" u="none" strike="noStrike">
              <a:solidFill>
                <a:srgbClr val="000000"/>
              </a:solidFill>
              <a:effectLst/>
              <a:uFillTx/>
              <a:latin typeface="Arial"/>
            </a:endParaRPr>
          </a:p>
        </p:txBody>
      </p:sp>
      <p:sp>
        <p:nvSpPr>
          <p:cNvPr id="109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Conventions de nommage et taxonomie</a:t>
            </a:r>
            <a:endParaRPr lang="fr-FR" sz="1600" b="0" u="none" strike="noStrike">
              <a:solidFill>
                <a:srgbClr val="000000"/>
              </a:solidFill>
              <a:effectLst/>
              <a:uFillTx/>
              <a:latin typeface="Arial"/>
            </a:endParaRPr>
          </a:p>
        </p:txBody>
      </p:sp>
      <p:sp>
        <p:nvSpPr>
          <p:cNvPr id="1093" name="Text 5"/>
          <p:cNvSpPr/>
          <p:nvPr/>
        </p:nvSpPr>
        <p:spPr>
          <a:xfrm>
            <a:off x="457200" y="2011680"/>
            <a:ext cx="82224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Nommer un projet, c'est déjà en raconter le sens. Les conventions qui suivent garantissent la cohérence des titres affichés sur le portfolio, dans les URL et dans les partages sur les réseaux sociaux.</a:t>
            </a:r>
            <a:endParaRPr lang="fr-FR" sz="1100" b="0" u="none" strike="noStrike">
              <a:solidFill>
                <a:srgbClr val="000000"/>
              </a:solidFill>
              <a:effectLst/>
              <a:uFillTx/>
              <a:latin typeface="Arial"/>
            </a:endParaRPr>
          </a:p>
        </p:txBody>
      </p:sp>
      <p:sp>
        <p:nvSpPr>
          <p:cNvPr id="1094" name="Text 6"/>
          <p:cNvSpPr/>
          <p:nvPr/>
        </p:nvSpPr>
        <p:spPr>
          <a:xfrm>
            <a:off x="457200" y="2651760"/>
            <a:ext cx="29188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TITRES DE PROJETS</a:t>
            </a:r>
            <a:endParaRPr lang="fr-FR" sz="1100" b="0" u="none" strike="noStrike">
              <a:solidFill>
                <a:srgbClr val="000000"/>
              </a:solidFill>
              <a:effectLst/>
              <a:uFillTx/>
              <a:latin typeface="Arial"/>
            </a:endParaRPr>
          </a:p>
        </p:txBody>
      </p:sp>
      <p:sp>
        <p:nvSpPr>
          <p:cNvPr id="1095" name="Text 7"/>
          <p:cNvSpPr/>
          <p:nvPr/>
        </p:nvSpPr>
        <p:spPr>
          <a:xfrm>
            <a:off x="457200" y="2898720"/>
            <a:ext cx="291888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i="1" u="none" strike="noStrike">
                <a:solidFill>
                  <a:srgbClr val="37474F"/>
                </a:solidFill>
                <a:effectLst/>
                <a:uFillTx/>
                <a:latin typeface="Satoshi"/>
                <a:ea typeface="Satoshi"/>
              </a:rPr>
              <a:t>Substantif court + complément descriptif</a:t>
            </a:r>
            <a:endParaRPr lang="fr-FR" sz="950" b="0" u="none" strike="noStrike">
              <a:solidFill>
                <a:srgbClr val="000000"/>
              </a:solidFill>
              <a:effectLst/>
              <a:uFillTx/>
              <a:latin typeface="Arial"/>
            </a:endParaRPr>
          </a:p>
        </p:txBody>
      </p:sp>
      <p:sp>
        <p:nvSpPr>
          <p:cNvPr id="1096" name="Text 8"/>
          <p:cNvSpPr/>
          <p:nvPr/>
        </p:nvSpPr>
        <p:spPr>
          <a:xfrm>
            <a:off x="3657600" y="2579760"/>
            <a:ext cx="5113440" cy="678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Secret de Coton — e-commerce lingerie bio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Les Tourelles — Site vitrine pour un gîte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Portfolio — aymen-chaabane.fr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 « Mon super projet de site web pour Saobio »</a:t>
            </a:r>
            <a:endParaRPr lang="fr-FR" sz="950" b="0" u="none" strike="noStrike">
              <a:solidFill>
                <a:srgbClr val="000000"/>
              </a:solidFill>
              <a:effectLst/>
              <a:uFillTx/>
              <a:latin typeface="Arial"/>
            </a:endParaRPr>
          </a:p>
        </p:txBody>
      </p:sp>
      <p:sp>
        <p:nvSpPr>
          <p:cNvPr id="1097" name="Shape 9"/>
          <p:cNvSpPr/>
          <p:nvPr/>
        </p:nvSpPr>
        <p:spPr>
          <a:xfrm>
            <a:off x="457200" y="336492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098" name="Text 10"/>
          <p:cNvSpPr/>
          <p:nvPr/>
        </p:nvSpPr>
        <p:spPr>
          <a:xfrm>
            <a:off x="457200" y="3410640"/>
            <a:ext cx="29188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URL</a:t>
            </a:r>
            <a:endParaRPr lang="fr-FR" sz="1100" b="0" u="none" strike="noStrike">
              <a:solidFill>
                <a:srgbClr val="000000"/>
              </a:solidFill>
              <a:effectLst/>
              <a:uFillTx/>
              <a:latin typeface="Arial"/>
            </a:endParaRPr>
          </a:p>
        </p:txBody>
      </p:sp>
      <p:sp>
        <p:nvSpPr>
          <p:cNvPr id="1099" name="Text 11"/>
          <p:cNvSpPr/>
          <p:nvPr/>
        </p:nvSpPr>
        <p:spPr>
          <a:xfrm>
            <a:off x="457200" y="3657600"/>
            <a:ext cx="291888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i="1" u="none" strike="noStrike">
                <a:solidFill>
                  <a:srgbClr val="37474F"/>
                </a:solidFill>
                <a:effectLst/>
                <a:uFillTx/>
                <a:latin typeface="Satoshi"/>
                <a:ea typeface="Satoshi"/>
              </a:rPr>
              <a:t>Minuscules, tirets, sans accents ni mots vides</a:t>
            </a:r>
            <a:endParaRPr lang="fr-FR" sz="950" b="0" u="none" strike="noStrike">
              <a:solidFill>
                <a:srgbClr val="000000"/>
              </a:solidFill>
              <a:effectLst/>
              <a:uFillTx/>
              <a:latin typeface="Arial"/>
            </a:endParaRPr>
          </a:p>
        </p:txBody>
      </p:sp>
      <p:sp>
        <p:nvSpPr>
          <p:cNvPr id="1100" name="Text 12"/>
          <p:cNvSpPr/>
          <p:nvPr/>
        </p:nvSpPr>
        <p:spPr>
          <a:xfrm>
            <a:off x="3657600" y="3338640"/>
            <a:ext cx="5113440" cy="678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/projets/secret-de-coton</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/projets/les-tourelles</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/projets/portfolio-aymen-chaabane</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 /projets/Le_Projet_E-Commerce_Pour_Saobio.html</a:t>
            </a:r>
            <a:endParaRPr lang="fr-FR" sz="950" b="0" u="none" strike="noStrike">
              <a:solidFill>
                <a:srgbClr val="000000"/>
              </a:solidFill>
              <a:effectLst/>
              <a:uFillTx/>
              <a:latin typeface="Arial"/>
            </a:endParaRPr>
          </a:p>
        </p:txBody>
      </p:sp>
      <p:sp>
        <p:nvSpPr>
          <p:cNvPr id="1101" name="Shape 13"/>
          <p:cNvSpPr/>
          <p:nvPr/>
        </p:nvSpPr>
        <p:spPr>
          <a:xfrm>
            <a:off x="457200" y="412380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02" name="Text 14"/>
          <p:cNvSpPr/>
          <p:nvPr/>
        </p:nvSpPr>
        <p:spPr>
          <a:xfrm>
            <a:off x="457200" y="4169520"/>
            <a:ext cx="29188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DESCRIPTIONS COURTES</a:t>
            </a:r>
            <a:endParaRPr lang="fr-FR" sz="1100" b="0" u="none" strike="noStrike">
              <a:solidFill>
                <a:srgbClr val="000000"/>
              </a:solidFill>
              <a:effectLst/>
              <a:uFillTx/>
              <a:latin typeface="Arial"/>
            </a:endParaRPr>
          </a:p>
        </p:txBody>
      </p:sp>
      <p:sp>
        <p:nvSpPr>
          <p:cNvPr id="1103" name="Text 15"/>
          <p:cNvSpPr/>
          <p:nvPr/>
        </p:nvSpPr>
        <p:spPr>
          <a:xfrm>
            <a:off x="457200" y="4416480"/>
            <a:ext cx="291888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i="1" u="none" strike="noStrike">
                <a:solidFill>
                  <a:srgbClr val="37474F"/>
                </a:solidFill>
                <a:effectLst/>
                <a:uFillTx/>
                <a:latin typeface="Satoshi"/>
                <a:ea typeface="Satoshi"/>
              </a:rPr>
              <a:t>Une phrase, sujet + verbe d'action + résultat</a:t>
            </a:r>
            <a:endParaRPr lang="fr-FR" sz="950" b="0" u="none" strike="noStrike">
              <a:solidFill>
                <a:srgbClr val="000000"/>
              </a:solidFill>
              <a:effectLst/>
              <a:uFillTx/>
              <a:latin typeface="Arial"/>
            </a:endParaRPr>
          </a:p>
        </p:txBody>
      </p:sp>
      <p:sp>
        <p:nvSpPr>
          <p:cNvPr id="1104" name="Text 16"/>
          <p:cNvSpPr/>
          <p:nvPr/>
        </p:nvSpPr>
        <p:spPr>
          <a:xfrm>
            <a:off x="3657600" y="4097520"/>
            <a:ext cx="5113440" cy="678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Site e-commerce multiboutique conçu sur PrestaShop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Site vitrine bilingue pour un gîte de caractère du XVIᵉ siècle, situé en Pays d'Auge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0A0A0A"/>
                </a:solidFill>
                <a:effectLst/>
                <a:uFillTx/>
                <a:latin typeface="Satoshi"/>
                <a:ea typeface="Satoshi"/>
              </a:rPr>
              <a:t>✓ « Portfolio multilingue développé sous WordPress »</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 « Un superbe projet qui m'a beaucoup appris ! »</a:t>
            </a:r>
            <a:endParaRPr lang="fr-FR" sz="950" b="0" u="none" strike="noStrike">
              <a:solidFill>
                <a:srgbClr val="000000"/>
              </a:solidFill>
              <a:effectLst/>
              <a:uFillTx/>
              <a:latin typeface="Arial"/>
            </a:endParaRPr>
          </a:p>
        </p:txBody>
      </p:sp>
      <p:sp>
        <p:nvSpPr>
          <p:cNvPr id="1105" name="Shape 1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06" name="Text 1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107" name="Text 2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10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10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11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1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ADAPTATION</a:t>
            </a:r>
            <a:endParaRPr lang="fr-FR" sz="5000" b="0" u="none" strike="noStrike">
              <a:solidFill>
                <a:srgbClr val="000000"/>
              </a:solidFill>
              <a:effectLst/>
              <a:uFillTx/>
              <a:latin typeface="Arial"/>
            </a:endParaRPr>
          </a:p>
        </p:txBody>
      </p:sp>
      <p:sp>
        <p:nvSpPr>
          <p:cNvPr id="111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Décliner la voix selon la cible primaire ou secondaire</a:t>
            </a:r>
            <a:endParaRPr lang="fr-FR" sz="1600" b="0" u="none" strike="noStrike">
              <a:solidFill>
                <a:srgbClr val="000000"/>
              </a:solidFill>
              <a:effectLst/>
              <a:uFillTx/>
              <a:latin typeface="Arial"/>
            </a:endParaRPr>
          </a:p>
        </p:txBody>
      </p:sp>
      <p:sp>
        <p:nvSpPr>
          <p:cNvPr id="1113" name="Text 5"/>
          <p:cNvSpPr/>
          <p:nvPr/>
        </p:nvSpPr>
        <p:spPr>
          <a:xfrm>
            <a:off x="457200" y="2011680"/>
            <a:ext cx="822240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La voix reste identique, mais le niveau de profondeur technique s'adapte au lecteur. Trois registres cohabitent sur le portfolio sans entrer en contradiction.</a:t>
            </a:r>
            <a:endParaRPr lang="fr-FR" sz="1100" b="0" u="none" strike="noStrike">
              <a:solidFill>
                <a:srgbClr val="000000"/>
              </a:solidFill>
              <a:effectLst/>
              <a:uFillTx/>
              <a:latin typeface="Arial"/>
            </a:endParaRPr>
          </a:p>
        </p:txBody>
      </p:sp>
      <p:sp>
        <p:nvSpPr>
          <p:cNvPr id="1114" name="Text 6"/>
          <p:cNvSpPr/>
          <p:nvPr/>
        </p:nvSpPr>
        <p:spPr>
          <a:xfrm>
            <a:off x="457200" y="2651760"/>
            <a:ext cx="26902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POUR LE RECRUTEUR</a:t>
            </a:r>
            <a:endParaRPr lang="fr-FR" sz="1100" b="0" u="none" strike="noStrike">
              <a:solidFill>
                <a:srgbClr val="000000"/>
              </a:solidFill>
              <a:effectLst/>
              <a:uFillTx/>
              <a:latin typeface="Arial"/>
            </a:endParaRPr>
          </a:p>
        </p:txBody>
      </p:sp>
      <p:sp>
        <p:nvSpPr>
          <p:cNvPr id="1115" name="Text 7"/>
          <p:cNvSpPr/>
          <p:nvPr/>
        </p:nvSpPr>
        <p:spPr>
          <a:xfrm>
            <a:off x="457200" y="2880360"/>
            <a:ext cx="26902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37474F"/>
                </a:solidFill>
                <a:effectLst/>
                <a:uFillTx/>
                <a:latin typeface="Satoshi"/>
                <a:ea typeface="Satoshi"/>
              </a:rPr>
              <a:t>Cible primaire — Claire</a:t>
            </a:r>
            <a:endParaRPr lang="fr-FR" sz="950" b="0" u="none" strike="noStrike">
              <a:solidFill>
                <a:srgbClr val="000000"/>
              </a:solidFill>
              <a:effectLst/>
              <a:uFillTx/>
              <a:latin typeface="Arial"/>
            </a:endParaRPr>
          </a:p>
        </p:txBody>
      </p:sp>
      <p:sp>
        <p:nvSpPr>
          <p:cNvPr id="1116" name="Text 8"/>
          <p:cNvSpPr/>
          <p:nvPr/>
        </p:nvSpPr>
        <p:spPr>
          <a:xfrm>
            <a:off x="457200" y="3154680"/>
            <a:ext cx="2690280" cy="998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Vocabulaire métier accessible. Phrases courtes. Mise en valeur des compétences transversales (gestion de projet, méthode en Cascade, multilinguisme). Pas d'exposition technique excessive en page d'accueil.</a:t>
            </a:r>
            <a:endParaRPr lang="fr-FR" sz="950" b="0" u="none" strike="noStrike">
              <a:solidFill>
                <a:srgbClr val="000000"/>
              </a:solidFill>
              <a:effectLst/>
              <a:uFillTx/>
              <a:latin typeface="Arial"/>
            </a:endParaRPr>
          </a:p>
        </p:txBody>
      </p:sp>
      <p:sp>
        <p:nvSpPr>
          <p:cNvPr id="1117" name="Shape 9"/>
          <p:cNvSpPr/>
          <p:nvPr/>
        </p:nvSpPr>
        <p:spPr>
          <a:xfrm>
            <a:off x="457200" y="4206240"/>
            <a:ext cx="2690280" cy="3128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18" name="Text 10"/>
          <p:cNvSpPr/>
          <p:nvPr/>
        </p:nvSpPr>
        <p:spPr>
          <a:xfrm>
            <a:off x="548640" y="4224600"/>
            <a:ext cx="2507400" cy="28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50" b="0" i="1" u="none" strike="noStrike">
                <a:solidFill>
                  <a:srgbClr val="37474F"/>
                </a:solidFill>
                <a:effectLst/>
                <a:uFillTx/>
                <a:latin typeface="Satoshi"/>
                <a:ea typeface="Satoshi"/>
              </a:rPr>
              <a:t>« Conception et déploiement d'un site e-commerce multilingue sur PrestaShop, livré en 14 semaines. »</a:t>
            </a:r>
            <a:endParaRPr lang="fr-FR" sz="850" b="0" u="none" strike="noStrike">
              <a:solidFill>
                <a:srgbClr val="000000"/>
              </a:solidFill>
              <a:effectLst/>
              <a:uFillTx/>
              <a:latin typeface="Arial"/>
            </a:endParaRPr>
          </a:p>
        </p:txBody>
      </p:sp>
      <p:sp>
        <p:nvSpPr>
          <p:cNvPr id="1119" name="Text 11"/>
          <p:cNvSpPr/>
          <p:nvPr/>
        </p:nvSpPr>
        <p:spPr>
          <a:xfrm>
            <a:off x="3273480" y="2651760"/>
            <a:ext cx="26902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POUR LE CLIENT</a:t>
            </a:r>
            <a:endParaRPr lang="fr-FR" sz="1100" b="0" u="none" strike="noStrike">
              <a:solidFill>
                <a:srgbClr val="000000"/>
              </a:solidFill>
              <a:effectLst/>
              <a:uFillTx/>
              <a:latin typeface="Arial"/>
            </a:endParaRPr>
          </a:p>
        </p:txBody>
      </p:sp>
      <p:sp>
        <p:nvSpPr>
          <p:cNvPr id="1120" name="Text 12"/>
          <p:cNvSpPr/>
          <p:nvPr/>
        </p:nvSpPr>
        <p:spPr>
          <a:xfrm>
            <a:off x="3273480" y="2880360"/>
            <a:ext cx="26902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37474F"/>
                </a:solidFill>
                <a:effectLst/>
                <a:uFillTx/>
                <a:latin typeface="Satoshi"/>
                <a:ea typeface="Satoshi"/>
              </a:rPr>
              <a:t>Cible secondaire — Julien</a:t>
            </a:r>
            <a:endParaRPr lang="fr-FR" sz="950" b="0" u="none" strike="noStrike">
              <a:solidFill>
                <a:srgbClr val="000000"/>
              </a:solidFill>
              <a:effectLst/>
              <a:uFillTx/>
              <a:latin typeface="Arial"/>
            </a:endParaRPr>
          </a:p>
        </p:txBody>
      </p:sp>
      <p:sp>
        <p:nvSpPr>
          <p:cNvPr id="1121" name="Text 13"/>
          <p:cNvSpPr/>
          <p:nvPr/>
        </p:nvSpPr>
        <p:spPr>
          <a:xfrm>
            <a:off x="3273480" y="3154680"/>
            <a:ext cx="2690280" cy="998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Bénéfices avant fonctionnalités. Le « pourquoi » avant le « comment ». Étude de cas avec objectif initial, contraintes, résultats mesurés. Vocabulaire technique uniquement quand il sert le récit.</a:t>
            </a:r>
            <a:endParaRPr lang="fr-FR" sz="950" b="0" u="none" strike="noStrike">
              <a:solidFill>
                <a:srgbClr val="000000"/>
              </a:solidFill>
              <a:effectLst/>
              <a:uFillTx/>
              <a:latin typeface="Arial"/>
            </a:endParaRPr>
          </a:p>
        </p:txBody>
      </p:sp>
      <p:sp>
        <p:nvSpPr>
          <p:cNvPr id="1122" name="Shape 14"/>
          <p:cNvSpPr/>
          <p:nvPr/>
        </p:nvSpPr>
        <p:spPr>
          <a:xfrm>
            <a:off x="3273480" y="4206240"/>
            <a:ext cx="2690280" cy="3128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23" name="Text 15"/>
          <p:cNvSpPr/>
          <p:nvPr/>
        </p:nvSpPr>
        <p:spPr>
          <a:xfrm>
            <a:off x="3364920" y="4224600"/>
            <a:ext cx="2507400" cy="28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50" b="0" i="1" u="none" strike="noStrike">
                <a:solidFill>
                  <a:srgbClr val="37474F"/>
                </a:solidFill>
                <a:effectLst/>
                <a:uFillTx/>
                <a:latin typeface="Satoshi"/>
                <a:ea typeface="Satoshi"/>
              </a:rPr>
              <a:t>« Réduction du temps de chargement de 4 à 1,2 seconde, taux de conversion +35 % sur mobile. »</a:t>
            </a:r>
            <a:endParaRPr lang="fr-FR" sz="850" b="0" u="none" strike="noStrike">
              <a:solidFill>
                <a:srgbClr val="000000"/>
              </a:solidFill>
              <a:effectLst/>
              <a:uFillTx/>
              <a:latin typeface="Arial"/>
            </a:endParaRPr>
          </a:p>
        </p:txBody>
      </p:sp>
      <p:sp>
        <p:nvSpPr>
          <p:cNvPr id="1124" name="Text 16"/>
          <p:cNvSpPr/>
          <p:nvPr/>
        </p:nvSpPr>
        <p:spPr>
          <a:xfrm>
            <a:off x="6089760" y="2651760"/>
            <a:ext cx="26902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POUR LE PAIR</a:t>
            </a:r>
            <a:endParaRPr lang="fr-FR" sz="1100" b="0" u="none" strike="noStrike">
              <a:solidFill>
                <a:srgbClr val="000000"/>
              </a:solidFill>
              <a:effectLst/>
              <a:uFillTx/>
              <a:latin typeface="Arial"/>
            </a:endParaRPr>
          </a:p>
        </p:txBody>
      </p:sp>
      <p:sp>
        <p:nvSpPr>
          <p:cNvPr id="1125" name="Text 17"/>
          <p:cNvSpPr/>
          <p:nvPr/>
        </p:nvSpPr>
        <p:spPr>
          <a:xfrm>
            <a:off x="6089760" y="2880360"/>
            <a:ext cx="26902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37474F"/>
                </a:solidFill>
                <a:effectLst/>
                <a:uFillTx/>
                <a:latin typeface="Satoshi"/>
                <a:ea typeface="Satoshi"/>
              </a:rPr>
              <a:t>Cible secondaire — Simon</a:t>
            </a:r>
            <a:endParaRPr lang="fr-FR" sz="950" b="0" u="none" strike="noStrike">
              <a:solidFill>
                <a:srgbClr val="000000"/>
              </a:solidFill>
              <a:effectLst/>
              <a:uFillTx/>
              <a:latin typeface="Arial"/>
            </a:endParaRPr>
          </a:p>
        </p:txBody>
      </p:sp>
      <p:sp>
        <p:nvSpPr>
          <p:cNvPr id="1126" name="Text 18"/>
          <p:cNvSpPr/>
          <p:nvPr/>
        </p:nvSpPr>
        <p:spPr>
          <a:xfrm>
            <a:off x="6089760" y="3154680"/>
            <a:ext cx="2690280" cy="998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Profondeur technique assumée. Choix d'architecture argumentés, lien vers le code source GitHub. Conventions de naming, frameworks, contraintes techniques exposées sans euphémisme.</a:t>
            </a:r>
            <a:endParaRPr lang="fr-FR" sz="950" b="0" u="none" strike="noStrike">
              <a:solidFill>
                <a:srgbClr val="000000"/>
              </a:solidFill>
              <a:effectLst/>
              <a:uFillTx/>
              <a:latin typeface="Arial"/>
            </a:endParaRPr>
          </a:p>
        </p:txBody>
      </p:sp>
      <p:sp>
        <p:nvSpPr>
          <p:cNvPr id="1127" name="Shape 19"/>
          <p:cNvSpPr/>
          <p:nvPr/>
        </p:nvSpPr>
        <p:spPr>
          <a:xfrm>
            <a:off x="6089760" y="4206240"/>
            <a:ext cx="2690280" cy="3128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28" name="Text 20"/>
          <p:cNvSpPr/>
          <p:nvPr/>
        </p:nvSpPr>
        <p:spPr>
          <a:xfrm>
            <a:off x="6181200" y="4224600"/>
            <a:ext cx="2507400" cy="28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50" b="0" i="1" u="none" strike="noStrike">
                <a:solidFill>
                  <a:srgbClr val="37474F"/>
                </a:solidFill>
                <a:effectLst/>
                <a:uFillTx/>
                <a:latin typeface="Satoshi"/>
                <a:ea typeface="Satoshi"/>
              </a:rPr>
              <a:t>« WordPress 6.4 + Astra + Elementor Free, Polylang, Complianz pour FR/EN/JA/AR. »</a:t>
            </a:r>
            <a:endParaRPr lang="fr-FR" sz="850" b="0" u="none" strike="noStrike">
              <a:solidFill>
                <a:srgbClr val="000000"/>
              </a:solidFill>
              <a:effectLst/>
              <a:uFillTx/>
              <a:latin typeface="Arial"/>
            </a:endParaRPr>
          </a:p>
        </p:txBody>
      </p:sp>
      <p:sp>
        <p:nvSpPr>
          <p:cNvPr id="1129" name="Shape 2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30" name="Text 22"/>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131" name="Text 23"/>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132"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07</a:t>
            </a:r>
            <a:endParaRPr lang="fr-FR" sz="28000" b="0" u="none" strike="noStrike">
              <a:solidFill>
                <a:srgbClr val="FFFFFF"/>
              </a:solidFill>
              <a:effectLst/>
              <a:uFillTx/>
              <a:latin typeface="Arial"/>
            </a:endParaRPr>
          </a:p>
        </p:txBody>
      </p:sp>
      <p:sp>
        <p:nvSpPr>
          <p:cNvPr id="1133"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CONCEPTION</a:t>
            </a:r>
            <a:endParaRPr lang="fr-FR" sz="3200" b="0" u="none" strike="noStrike">
              <a:solidFill>
                <a:srgbClr val="FFFFFF"/>
              </a:solidFill>
              <a:effectLst/>
              <a:uFillTx/>
              <a:latin typeface="Arial"/>
            </a:endParaRPr>
          </a:p>
        </p:txBody>
      </p:sp>
      <p:sp>
        <p:nvSpPr>
          <p:cNvPr id="1134"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FFB300"/>
                </a:solidFill>
                <a:effectLst/>
                <a:uFillTx/>
                <a:latin typeface="Arelv"/>
                <a:ea typeface="Arelv"/>
              </a:rPr>
              <a:t>FONCTIONNELLE</a:t>
            </a:r>
            <a:endParaRPr lang="fr-FR" sz="2800" b="0" u="none" strike="noStrike">
              <a:solidFill>
                <a:srgbClr val="FFFFFF"/>
              </a:solidFill>
              <a:effectLst/>
              <a:uFillTx/>
              <a:latin typeface="Arial"/>
            </a:endParaRPr>
          </a:p>
        </p:txBody>
      </p:sp>
      <p:sp>
        <p:nvSpPr>
          <p:cNvPr id="1135"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Septième partie · pages 58 → 66</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13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13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13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3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ARBORESCENCE</a:t>
            </a:r>
            <a:endParaRPr lang="fr-FR" sz="4400" b="0" u="none" strike="noStrike">
              <a:solidFill>
                <a:srgbClr val="000000"/>
              </a:solidFill>
              <a:effectLst/>
              <a:uFillTx/>
              <a:latin typeface="Arial"/>
            </a:endParaRPr>
          </a:p>
        </p:txBody>
      </p:sp>
      <p:sp>
        <p:nvSpPr>
          <p:cNvPr id="114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Structure du site et déclinaison multilingue</a:t>
            </a:r>
            <a:endParaRPr lang="fr-FR" sz="1600" b="0" u="none" strike="noStrike">
              <a:solidFill>
                <a:srgbClr val="000000"/>
              </a:solidFill>
              <a:effectLst/>
              <a:uFillTx/>
              <a:latin typeface="Arial"/>
            </a:endParaRPr>
          </a:p>
        </p:txBody>
      </p:sp>
      <p:sp>
        <p:nvSpPr>
          <p:cNvPr id="1141" name="Shape 5"/>
          <p:cNvSpPr/>
          <p:nvPr/>
        </p:nvSpPr>
        <p:spPr>
          <a:xfrm>
            <a:off x="3657600" y="2103120"/>
            <a:ext cx="1821600" cy="4957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42" name="Text 6"/>
          <p:cNvSpPr/>
          <p:nvPr/>
        </p:nvSpPr>
        <p:spPr>
          <a:xfrm>
            <a:off x="3657600" y="2148840"/>
            <a:ext cx="1821600" cy="404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100" b="1" u="none" strike="noStrike">
                <a:solidFill>
                  <a:srgbClr val="F4EFE6"/>
                </a:solidFill>
                <a:effectLst/>
                <a:uFillTx/>
                <a:latin typeface="Satoshi"/>
                <a:ea typeface="Satoshi"/>
              </a:rPr>
              <a:t>aymen-chaabane.fr</a:t>
            </a:r>
            <a:endParaRPr lang="fr-FR" sz="1100" b="0" u="none" strike="noStrike">
              <a:solidFill>
                <a:srgbClr val="000000"/>
              </a:solidFill>
              <a:effectLst/>
              <a:uFillTx/>
              <a:latin typeface="Arial"/>
            </a:endParaRPr>
          </a:p>
        </p:txBody>
      </p:sp>
      <p:sp>
        <p:nvSpPr>
          <p:cNvPr id="1143" name="Shape 7"/>
          <p:cNvSpPr/>
          <p:nvPr/>
        </p:nvSpPr>
        <p:spPr>
          <a:xfrm>
            <a:off x="1234440" y="2606040"/>
            <a:ext cx="360" cy="685800"/>
          </a:xfrm>
          <a:prstGeom prst="line">
            <a:avLst/>
          </a:prstGeom>
          <a:ln w="9525">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144" name="Shape 8"/>
          <p:cNvSpPr/>
          <p:nvPr/>
        </p:nvSpPr>
        <p:spPr>
          <a:xfrm>
            <a:off x="457200" y="3291840"/>
            <a:ext cx="1547280" cy="495720"/>
          </a:xfrm>
          <a:prstGeom prst="rect">
            <a:avLst/>
          </a:prstGeom>
          <a:solidFill>
            <a:srgbClr val="EBE4D5"/>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45" name="Text 9"/>
          <p:cNvSpPr/>
          <p:nvPr/>
        </p:nvSpPr>
        <p:spPr>
          <a:xfrm>
            <a:off x="457200" y="3337560"/>
            <a:ext cx="154728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99" strike="noStrike">
                <a:solidFill>
                  <a:srgbClr val="0A0A0A"/>
                </a:solidFill>
                <a:effectLst/>
                <a:uFillTx/>
                <a:latin typeface="Satoshi"/>
                <a:ea typeface="Satoshi"/>
              </a:rPr>
              <a:t>ACCUEIL</a:t>
            </a:r>
            <a:endParaRPr lang="fr-FR" sz="1000" b="0" u="none" strike="noStrike">
              <a:solidFill>
                <a:srgbClr val="000000"/>
              </a:solidFill>
              <a:effectLst/>
              <a:uFillTx/>
              <a:latin typeface="Arial"/>
            </a:endParaRPr>
          </a:p>
        </p:txBody>
      </p:sp>
      <p:sp>
        <p:nvSpPr>
          <p:cNvPr id="1146" name="Text 10"/>
          <p:cNvSpPr/>
          <p:nvPr/>
        </p:nvSpPr>
        <p:spPr>
          <a:xfrm>
            <a:off x="457200" y="3566160"/>
            <a:ext cx="154728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trike="noStrike">
                <a:solidFill>
                  <a:srgbClr val="37474F"/>
                </a:solidFill>
                <a:effectLst/>
                <a:uFillTx/>
                <a:latin typeface="Satoshi"/>
                <a:ea typeface="Satoshi"/>
              </a:rPr>
              <a:t>/</a:t>
            </a:r>
            <a:endParaRPr lang="fr-FR" sz="900" b="0" u="none" strike="noStrike">
              <a:solidFill>
                <a:srgbClr val="000000"/>
              </a:solidFill>
              <a:effectLst/>
              <a:uFillTx/>
              <a:latin typeface="Arial"/>
            </a:endParaRPr>
          </a:p>
        </p:txBody>
      </p:sp>
      <p:sp>
        <p:nvSpPr>
          <p:cNvPr id="1147" name="Shape 11"/>
          <p:cNvSpPr/>
          <p:nvPr/>
        </p:nvSpPr>
        <p:spPr>
          <a:xfrm>
            <a:off x="2926080" y="2606040"/>
            <a:ext cx="360" cy="685800"/>
          </a:xfrm>
          <a:prstGeom prst="line">
            <a:avLst/>
          </a:prstGeom>
          <a:ln w="9525">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148" name="Shape 12"/>
          <p:cNvSpPr/>
          <p:nvPr/>
        </p:nvSpPr>
        <p:spPr>
          <a:xfrm>
            <a:off x="2148840" y="3291840"/>
            <a:ext cx="1547280" cy="495720"/>
          </a:xfrm>
          <a:prstGeom prst="rect">
            <a:avLst/>
          </a:prstGeom>
          <a:solidFill>
            <a:srgbClr val="EBE4D5"/>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49" name="Text 13"/>
          <p:cNvSpPr/>
          <p:nvPr/>
        </p:nvSpPr>
        <p:spPr>
          <a:xfrm>
            <a:off x="2148840" y="3337560"/>
            <a:ext cx="154728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99" strike="noStrike">
                <a:solidFill>
                  <a:srgbClr val="0A0A0A"/>
                </a:solidFill>
                <a:effectLst/>
                <a:uFillTx/>
                <a:latin typeface="Satoshi"/>
                <a:ea typeface="Satoshi"/>
              </a:rPr>
              <a:t>À PROPOS</a:t>
            </a:r>
            <a:endParaRPr lang="fr-FR" sz="1000" b="0" u="none" strike="noStrike">
              <a:solidFill>
                <a:srgbClr val="000000"/>
              </a:solidFill>
              <a:effectLst/>
              <a:uFillTx/>
              <a:latin typeface="Arial"/>
            </a:endParaRPr>
          </a:p>
        </p:txBody>
      </p:sp>
      <p:sp>
        <p:nvSpPr>
          <p:cNvPr id="1150" name="Text 14"/>
          <p:cNvSpPr/>
          <p:nvPr/>
        </p:nvSpPr>
        <p:spPr>
          <a:xfrm>
            <a:off x="2148840" y="3566160"/>
            <a:ext cx="154728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trike="noStrike">
                <a:solidFill>
                  <a:srgbClr val="37474F"/>
                </a:solidFill>
                <a:effectLst/>
                <a:uFillTx/>
                <a:latin typeface="Satoshi"/>
                <a:ea typeface="Satoshi"/>
              </a:rPr>
              <a:t>/a-propos</a:t>
            </a:r>
            <a:endParaRPr lang="fr-FR" sz="900" b="0" u="none" strike="noStrike">
              <a:solidFill>
                <a:srgbClr val="000000"/>
              </a:solidFill>
              <a:effectLst/>
              <a:uFillTx/>
              <a:latin typeface="Arial"/>
            </a:endParaRPr>
          </a:p>
        </p:txBody>
      </p:sp>
      <p:sp>
        <p:nvSpPr>
          <p:cNvPr id="1151" name="Shape 15"/>
          <p:cNvSpPr/>
          <p:nvPr/>
        </p:nvSpPr>
        <p:spPr>
          <a:xfrm>
            <a:off x="4617720" y="2606040"/>
            <a:ext cx="360" cy="685800"/>
          </a:xfrm>
          <a:prstGeom prst="line">
            <a:avLst/>
          </a:prstGeom>
          <a:ln w="9525">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152" name="Shape 16"/>
          <p:cNvSpPr/>
          <p:nvPr/>
        </p:nvSpPr>
        <p:spPr>
          <a:xfrm>
            <a:off x="3840480" y="3291840"/>
            <a:ext cx="1547280" cy="495720"/>
          </a:xfrm>
          <a:prstGeom prst="rect">
            <a:avLst/>
          </a:prstGeom>
          <a:solidFill>
            <a:srgbClr val="EBE4D5"/>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53" name="Text 17"/>
          <p:cNvSpPr/>
          <p:nvPr/>
        </p:nvSpPr>
        <p:spPr>
          <a:xfrm>
            <a:off x="3840480" y="3337560"/>
            <a:ext cx="154728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99" strike="noStrike">
                <a:solidFill>
                  <a:srgbClr val="0A0A0A"/>
                </a:solidFill>
                <a:effectLst/>
                <a:uFillTx/>
                <a:latin typeface="Satoshi"/>
                <a:ea typeface="Satoshi"/>
              </a:rPr>
              <a:t>PROJETS</a:t>
            </a:r>
            <a:endParaRPr lang="fr-FR" sz="1000" b="0" u="none" strike="noStrike">
              <a:solidFill>
                <a:srgbClr val="000000"/>
              </a:solidFill>
              <a:effectLst/>
              <a:uFillTx/>
              <a:latin typeface="Arial"/>
            </a:endParaRPr>
          </a:p>
        </p:txBody>
      </p:sp>
      <p:sp>
        <p:nvSpPr>
          <p:cNvPr id="1154" name="Text 18"/>
          <p:cNvSpPr/>
          <p:nvPr/>
        </p:nvSpPr>
        <p:spPr>
          <a:xfrm>
            <a:off x="3840480" y="3566160"/>
            <a:ext cx="154728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trike="noStrike">
                <a:solidFill>
                  <a:srgbClr val="37474F"/>
                </a:solidFill>
                <a:effectLst/>
                <a:uFillTx/>
                <a:latin typeface="Satoshi"/>
                <a:ea typeface="Satoshi"/>
              </a:rPr>
              <a:t>/projets</a:t>
            </a:r>
            <a:endParaRPr lang="fr-FR" sz="900" b="0" u="none" strike="noStrike">
              <a:solidFill>
                <a:srgbClr val="000000"/>
              </a:solidFill>
              <a:effectLst/>
              <a:uFillTx/>
              <a:latin typeface="Arial"/>
            </a:endParaRPr>
          </a:p>
        </p:txBody>
      </p:sp>
      <p:sp>
        <p:nvSpPr>
          <p:cNvPr id="1155" name="Shape 19"/>
          <p:cNvSpPr/>
          <p:nvPr/>
        </p:nvSpPr>
        <p:spPr>
          <a:xfrm>
            <a:off x="6309360" y="2606040"/>
            <a:ext cx="360" cy="685800"/>
          </a:xfrm>
          <a:prstGeom prst="line">
            <a:avLst/>
          </a:prstGeom>
          <a:ln w="9525">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156" name="Shape 20"/>
          <p:cNvSpPr/>
          <p:nvPr/>
        </p:nvSpPr>
        <p:spPr>
          <a:xfrm>
            <a:off x="5532120" y="3291840"/>
            <a:ext cx="1547280" cy="495720"/>
          </a:xfrm>
          <a:prstGeom prst="rect">
            <a:avLst/>
          </a:prstGeom>
          <a:solidFill>
            <a:srgbClr val="EBE4D5"/>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57" name="Text 21"/>
          <p:cNvSpPr/>
          <p:nvPr/>
        </p:nvSpPr>
        <p:spPr>
          <a:xfrm>
            <a:off x="5532120" y="3337560"/>
            <a:ext cx="154728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99" strike="noStrike">
                <a:solidFill>
                  <a:srgbClr val="0A0A0A"/>
                </a:solidFill>
                <a:effectLst/>
                <a:uFillTx/>
                <a:latin typeface="Satoshi"/>
                <a:ea typeface="Satoshi"/>
              </a:rPr>
              <a:t>CONTACT</a:t>
            </a:r>
            <a:endParaRPr lang="fr-FR" sz="1000" b="0" u="none" strike="noStrike">
              <a:solidFill>
                <a:srgbClr val="000000"/>
              </a:solidFill>
              <a:effectLst/>
              <a:uFillTx/>
              <a:latin typeface="Arial"/>
            </a:endParaRPr>
          </a:p>
        </p:txBody>
      </p:sp>
      <p:sp>
        <p:nvSpPr>
          <p:cNvPr id="1158" name="Text 22"/>
          <p:cNvSpPr/>
          <p:nvPr/>
        </p:nvSpPr>
        <p:spPr>
          <a:xfrm>
            <a:off x="5532120" y="3566160"/>
            <a:ext cx="154728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trike="noStrike">
                <a:solidFill>
                  <a:srgbClr val="37474F"/>
                </a:solidFill>
                <a:effectLst/>
                <a:uFillTx/>
                <a:latin typeface="Satoshi"/>
                <a:ea typeface="Satoshi"/>
              </a:rPr>
              <a:t>/contact</a:t>
            </a:r>
            <a:endParaRPr lang="fr-FR" sz="900" b="0" u="none" strike="noStrike">
              <a:solidFill>
                <a:srgbClr val="000000"/>
              </a:solidFill>
              <a:effectLst/>
              <a:uFillTx/>
              <a:latin typeface="Arial"/>
            </a:endParaRPr>
          </a:p>
        </p:txBody>
      </p:sp>
      <p:sp>
        <p:nvSpPr>
          <p:cNvPr id="1159" name="Shape 23"/>
          <p:cNvSpPr/>
          <p:nvPr/>
        </p:nvSpPr>
        <p:spPr>
          <a:xfrm>
            <a:off x="8001000" y="2606040"/>
            <a:ext cx="360" cy="685800"/>
          </a:xfrm>
          <a:prstGeom prst="line">
            <a:avLst/>
          </a:prstGeom>
          <a:ln w="9525">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160" name="Shape 24"/>
          <p:cNvSpPr/>
          <p:nvPr/>
        </p:nvSpPr>
        <p:spPr>
          <a:xfrm>
            <a:off x="7223760" y="3291840"/>
            <a:ext cx="1547280" cy="495720"/>
          </a:xfrm>
          <a:prstGeom prst="rect">
            <a:avLst/>
          </a:prstGeom>
          <a:solidFill>
            <a:srgbClr val="EBE4D5"/>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61" name="Text 25"/>
          <p:cNvSpPr/>
          <p:nvPr/>
        </p:nvSpPr>
        <p:spPr>
          <a:xfrm>
            <a:off x="7223760" y="3337560"/>
            <a:ext cx="154728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99" strike="noStrike">
                <a:solidFill>
                  <a:srgbClr val="0A0A0A"/>
                </a:solidFill>
                <a:effectLst/>
                <a:uFillTx/>
                <a:latin typeface="Satoshi"/>
                <a:ea typeface="Satoshi"/>
              </a:rPr>
              <a:t>404</a:t>
            </a:r>
            <a:endParaRPr lang="fr-FR" sz="1000" b="0" u="none" strike="noStrike">
              <a:solidFill>
                <a:srgbClr val="000000"/>
              </a:solidFill>
              <a:effectLst/>
              <a:uFillTx/>
              <a:latin typeface="Arial"/>
            </a:endParaRPr>
          </a:p>
        </p:txBody>
      </p:sp>
      <p:sp>
        <p:nvSpPr>
          <p:cNvPr id="1162" name="Text 26"/>
          <p:cNvSpPr/>
          <p:nvPr/>
        </p:nvSpPr>
        <p:spPr>
          <a:xfrm>
            <a:off x="7223760" y="3566160"/>
            <a:ext cx="154728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trike="noStrike">
                <a:solidFill>
                  <a:srgbClr val="37474F"/>
                </a:solidFill>
                <a:effectLst/>
                <a:uFillTx/>
                <a:latin typeface="Satoshi"/>
                <a:ea typeface="Satoshi"/>
              </a:rPr>
              <a:t>/404</a:t>
            </a:r>
            <a:endParaRPr lang="fr-FR" sz="900" b="0" u="none" strike="noStrike">
              <a:solidFill>
                <a:srgbClr val="000000"/>
              </a:solidFill>
              <a:effectLst/>
              <a:uFillTx/>
              <a:latin typeface="Arial"/>
            </a:endParaRPr>
          </a:p>
        </p:txBody>
      </p:sp>
      <p:sp>
        <p:nvSpPr>
          <p:cNvPr id="1163" name="Shape 27"/>
          <p:cNvSpPr/>
          <p:nvPr/>
        </p:nvSpPr>
        <p:spPr>
          <a:xfrm>
            <a:off x="1234440" y="3154680"/>
            <a:ext cx="6766560" cy="360"/>
          </a:xfrm>
          <a:prstGeom prst="line">
            <a:avLst/>
          </a:prstGeom>
          <a:ln w="9525">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64" name="Shape 28"/>
          <p:cNvSpPr/>
          <p:nvPr/>
        </p:nvSpPr>
        <p:spPr>
          <a:xfrm>
            <a:off x="457200" y="4114800"/>
            <a:ext cx="8313840" cy="5414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65" name="Text 29"/>
          <p:cNvSpPr/>
          <p:nvPr/>
        </p:nvSpPr>
        <p:spPr>
          <a:xfrm>
            <a:off x="640080" y="4206240"/>
            <a:ext cx="163872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MULTILINGUE</a:t>
            </a:r>
            <a:endParaRPr lang="fr-FR" sz="900" b="0" u="none" strike="noStrike">
              <a:solidFill>
                <a:srgbClr val="000000"/>
              </a:solidFill>
              <a:effectLst/>
              <a:uFillTx/>
              <a:latin typeface="Arial"/>
            </a:endParaRPr>
          </a:p>
        </p:txBody>
      </p:sp>
      <p:sp>
        <p:nvSpPr>
          <p:cNvPr id="1166" name="Text 30"/>
          <p:cNvSpPr/>
          <p:nvPr/>
        </p:nvSpPr>
        <p:spPr>
          <a:xfrm>
            <a:off x="640080" y="4370760"/>
            <a:ext cx="794808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F4EFE6"/>
                </a:solidFill>
                <a:effectLst/>
                <a:uFillTx/>
                <a:latin typeface="Satoshi"/>
                <a:ea typeface="Satoshi"/>
              </a:rPr>
              <a:t>Chaque page est dupliquée et traduite en FR / EN / JA / AR via Polylang. URL distinctes ( /fr/, /en/, /ja/, /ar/) pour le SEO international.</a:t>
            </a:r>
            <a:endParaRPr lang="fr-FR" sz="1000" b="0" u="none" strike="noStrike">
              <a:solidFill>
                <a:srgbClr val="000000"/>
              </a:solidFill>
              <a:effectLst/>
              <a:uFillTx/>
              <a:latin typeface="Arial"/>
            </a:endParaRPr>
          </a:p>
        </p:txBody>
      </p:sp>
      <p:sp>
        <p:nvSpPr>
          <p:cNvPr id="1167" name="Shape 3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68" name="Text 32"/>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169" name="Text 33"/>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59</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17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17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17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7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200" b="1" u="none" strike="noStrike">
                <a:solidFill>
                  <a:srgbClr val="0A0A0A"/>
                </a:solidFill>
                <a:effectLst/>
                <a:uFillTx/>
                <a:latin typeface="Arelv"/>
                <a:ea typeface="Arelv"/>
              </a:rPr>
              <a:t>FONCTIONNALITÉS</a:t>
            </a:r>
            <a:endParaRPr lang="fr-FR" sz="4200" b="0" u="none" strike="noStrike">
              <a:solidFill>
                <a:srgbClr val="000000"/>
              </a:solidFill>
              <a:effectLst/>
              <a:uFillTx/>
              <a:latin typeface="Arial"/>
            </a:endParaRPr>
          </a:p>
        </p:txBody>
      </p:sp>
      <p:sp>
        <p:nvSpPr>
          <p:cNvPr id="117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Détail des fonctions par page</a:t>
            </a:r>
            <a:endParaRPr lang="fr-FR" sz="1600" b="0" u="none" strike="noStrike">
              <a:solidFill>
                <a:srgbClr val="000000"/>
              </a:solidFill>
              <a:effectLst/>
              <a:uFillTx/>
              <a:latin typeface="Arial"/>
            </a:endParaRPr>
          </a:p>
        </p:txBody>
      </p:sp>
      <p:sp>
        <p:nvSpPr>
          <p:cNvPr id="1175" name="Shape 5"/>
          <p:cNvSpPr/>
          <p:nvPr/>
        </p:nvSpPr>
        <p:spPr>
          <a:xfrm>
            <a:off x="457200" y="21031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76" name="Text 6"/>
          <p:cNvSpPr/>
          <p:nvPr/>
        </p:nvSpPr>
        <p:spPr>
          <a:xfrm>
            <a:off x="640080" y="2057400"/>
            <a:ext cx="38332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ACCUEIL</a:t>
            </a:r>
            <a:endParaRPr lang="fr-FR" sz="1400" b="0" u="none" strike="noStrike">
              <a:solidFill>
                <a:srgbClr val="000000"/>
              </a:solidFill>
              <a:effectLst/>
              <a:uFillTx/>
              <a:latin typeface="Arial"/>
            </a:endParaRPr>
          </a:p>
        </p:txBody>
      </p:sp>
      <p:sp>
        <p:nvSpPr>
          <p:cNvPr id="1177" name="Text 7"/>
          <p:cNvSpPr/>
          <p:nvPr/>
        </p:nvSpPr>
        <p:spPr>
          <a:xfrm>
            <a:off x="502920" y="2468880"/>
            <a:ext cx="3924720" cy="770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Starfield animé en hero Fullscreen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Titres principaux animés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Switcher de langue (4 langues)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Curseur custom</a:t>
            </a:r>
            <a:endParaRPr lang="fr-FR" sz="1000" b="0" u="none" strike="noStrike">
              <a:solidFill>
                <a:srgbClr val="000000"/>
              </a:solidFill>
              <a:effectLst/>
              <a:uFillTx/>
              <a:latin typeface="Arial"/>
            </a:endParaRPr>
          </a:p>
        </p:txBody>
      </p:sp>
      <p:sp>
        <p:nvSpPr>
          <p:cNvPr id="1178" name="Shape 8"/>
          <p:cNvSpPr/>
          <p:nvPr/>
        </p:nvSpPr>
        <p:spPr>
          <a:xfrm>
            <a:off x="4663440" y="21031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79" name="Text 9"/>
          <p:cNvSpPr/>
          <p:nvPr/>
        </p:nvSpPr>
        <p:spPr>
          <a:xfrm>
            <a:off x="4846320" y="2057400"/>
            <a:ext cx="38332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À PROPOS</a:t>
            </a:r>
            <a:endParaRPr lang="fr-FR" sz="1400" b="0" u="none" strike="noStrike">
              <a:solidFill>
                <a:srgbClr val="000000"/>
              </a:solidFill>
              <a:effectLst/>
              <a:uFillTx/>
              <a:latin typeface="Arial"/>
            </a:endParaRPr>
          </a:p>
        </p:txBody>
      </p:sp>
      <p:sp>
        <p:nvSpPr>
          <p:cNvPr id="1180" name="Text 10"/>
          <p:cNvSpPr/>
          <p:nvPr/>
        </p:nvSpPr>
        <p:spPr>
          <a:xfrm>
            <a:off x="4709160" y="2468880"/>
            <a:ext cx="3924720" cy="770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Mise en page centrée (900px) pour une lisibilité optimale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3 boutons CV (liens HTML en ligne)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Biographie structurée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Liens réseaux sociaux</a:t>
            </a:r>
            <a:endParaRPr lang="fr-FR" sz="1000" b="0" u="none" strike="noStrike">
              <a:solidFill>
                <a:srgbClr val="000000"/>
              </a:solidFill>
              <a:effectLst/>
              <a:uFillTx/>
              <a:latin typeface="Arial"/>
            </a:endParaRPr>
          </a:p>
        </p:txBody>
      </p:sp>
      <p:sp>
        <p:nvSpPr>
          <p:cNvPr id="1181" name="Shape 11"/>
          <p:cNvSpPr/>
          <p:nvPr/>
        </p:nvSpPr>
        <p:spPr>
          <a:xfrm>
            <a:off x="457200" y="34747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82" name="Text 12"/>
          <p:cNvSpPr/>
          <p:nvPr/>
        </p:nvSpPr>
        <p:spPr>
          <a:xfrm>
            <a:off x="640080" y="3429000"/>
            <a:ext cx="38332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PROJETS</a:t>
            </a:r>
            <a:endParaRPr lang="fr-FR" sz="1400" b="0" u="none" strike="noStrike">
              <a:solidFill>
                <a:srgbClr val="000000"/>
              </a:solidFill>
              <a:effectLst/>
              <a:uFillTx/>
              <a:latin typeface="Arial"/>
            </a:endParaRPr>
          </a:p>
        </p:txBody>
      </p:sp>
      <p:sp>
        <p:nvSpPr>
          <p:cNvPr id="1183" name="Text 13"/>
          <p:cNvSpPr/>
          <p:nvPr/>
        </p:nvSpPr>
        <p:spPr>
          <a:xfrm>
            <a:off x="502920" y="3840480"/>
            <a:ext cx="3924720" cy="770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Grille 3+1 cartes avec hover</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Carrousel 34 photos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Gradient interactif</a:t>
            </a:r>
            <a:endParaRPr lang="fr-FR" sz="1000" b="0" u="none" strike="noStrike">
              <a:solidFill>
                <a:srgbClr val="000000"/>
              </a:solidFill>
              <a:effectLst/>
              <a:uFillTx/>
              <a:latin typeface="Arial"/>
            </a:endParaRPr>
          </a:p>
        </p:txBody>
      </p:sp>
      <p:sp>
        <p:nvSpPr>
          <p:cNvPr id="1184" name="Shape 14"/>
          <p:cNvSpPr/>
          <p:nvPr/>
        </p:nvSpPr>
        <p:spPr>
          <a:xfrm>
            <a:off x="4663440" y="3474720"/>
            <a:ext cx="47520" cy="3585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85" name="Text 15"/>
          <p:cNvSpPr/>
          <p:nvPr/>
        </p:nvSpPr>
        <p:spPr>
          <a:xfrm>
            <a:off x="4846320" y="3429000"/>
            <a:ext cx="383328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pc="150" strike="noStrike">
                <a:solidFill>
                  <a:srgbClr val="0A0A0A"/>
                </a:solidFill>
                <a:effectLst/>
                <a:uFillTx/>
                <a:latin typeface="Arelv"/>
                <a:ea typeface="Arelv"/>
              </a:rPr>
              <a:t>CONTACT</a:t>
            </a:r>
            <a:endParaRPr lang="fr-FR" sz="1400" b="0" u="none" strike="noStrike">
              <a:solidFill>
                <a:srgbClr val="000000"/>
              </a:solidFill>
              <a:effectLst/>
              <a:uFillTx/>
              <a:latin typeface="Arial"/>
            </a:endParaRPr>
          </a:p>
        </p:txBody>
      </p:sp>
      <p:sp>
        <p:nvSpPr>
          <p:cNvPr id="1186" name="Text 16"/>
          <p:cNvSpPr/>
          <p:nvPr/>
        </p:nvSpPr>
        <p:spPr>
          <a:xfrm>
            <a:off x="4709160" y="3840480"/>
            <a:ext cx="3924720" cy="770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Formulaire CF7 multilingue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Validation côté client</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Icônes sociales effet halo</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37474F"/>
                </a:solidFill>
                <a:effectLst/>
                <a:uFillTx/>
                <a:latin typeface="Satoshi"/>
                <a:ea typeface="Satoshi"/>
              </a:rPr>
              <a:t>› Protection anti-spam native</a:t>
            </a:r>
            <a:endParaRPr lang="fr-FR" sz="1000" b="0" u="none" strike="noStrike">
              <a:solidFill>
                <a:srgbClr val="000000"/>
              </a:solidFill>
              <a:effectLst/>
              <a:uFillTx/>
              <a:latin typeface="Arial"/>
            </a:endParaRPr>
          </a:p>
        </p:txBody>
      </p:sp>
      <p:sp>
        <p:nvSpPr>
          <p:cNvPr id="1187"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88"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189"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19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19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19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19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LOGIGRAMME</a:t>
            </a:r>
            <a:endParaRPr lang="fr-FR" sz="5000" b="0" u="none" strike="noStrike">
              <a:solidFill>
                <a:srgbClr val="000000"/>
              </a:solidFill>
              <a:effectLst/>
              <a:uFillTx/>
              <a:latin typeface="Arial"/>
            </a:endParaRPr>
          </a:p>
        </p:txBody>
      </p:sp>
      <p:sp>
        <p:nvSpPr>
          <p:cNvPr id="119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Diagramme de flux du visiteur type</a:t>
            </a:r>
            <a:endParaRPr lang="fr-FR" sz="1600" b="0" u="none" strike="noStrike">
              <a:solidFill>
                <a:srgbClr val="000000"/>
              </a:solidFill>
              <a:effectLst/>
              <a:uFillTx/>
              <a:latin typeface="Arial"/>
            </a:endParaRPr>
          </a:p>
        </p:txBody>
      </p:sp>
      <p:sp>
        <p:nvSpPr>
          <p:cNvPr id="1195" name="Shape 5"/>
          <p:cNvSpPr/>
          <p:nvPr/>
        </p:nvSpPr>
        <p:spPr>
          <a:xfrm>
            <a:off x="411480" y="2194560"/>
            <a:ext cx="1227240" cy="109008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96" name="Text 6"/>
          <p:cNvSpPr/>
          <p:nvPr/>
        </p:nvSpPr>
        <p:spPr>
          <a:xfrm>
            <a:off x="4114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F4EFE6"/>
                </a:solidFill>
                <a:effectLst/>
                <a:uFillTx/>
                <a:latin typeface="Arelv"/>
                <a:ea typeface="Arelv"/>
              </a:rPr>
              <a:t>ARRIVÉE</a:t>
            </a:r>
            <a:endParaRPr lang="fr-FR" sz="1300" b="0" u="none" strike="noStrike">
              <a:solidFill>
                <a:srgbClr val="000000"/>
              </a:solidFill>
              <a:effectLst/>
              <a:uFillTx/>
              <a:latin typeface="Arial"/>
            </a:endParaRPr>
          </a:p>
        </p:txBody>
      </p:sp>
      <p:sp>
        <p:nvSpPr>
          <p:cNvPr id="1197" name="Text 7"/>
          <p:cNvSpPr/>
          <p:nvPr/>
        </p:nvSpPr>
        <p:spPr>
          <a:xfrm>
            <a:off x="4572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F4EFE6"/>
                </a:solidFill>
                <a:effectLst/>
                <a:uFillTx/>
                <a:latin typeface="Satoshi"/>
                <a:ea typeface="Satoshi"/>
              </a:rPr>
              <a:t>Source</a:t>
            </a:r>
            <a:endParaRPr lang="fr-FR" sz="900" b="0" u="none" strike="noStrike">
              <a:solidFill>
                <a:srgbClr val="000000"/>
              </a:solidFill>
              <a:effectLst/>
              <a:uFillTx/>
              <a:latin typeface="Arial"/>
            </a:endParaRPr>
          </a:p>
          <a:p>
            <a:pPr algn="ctr" defTabSz="914400">
              <a:lnSpc>
                <a:spcPct val="100000"/>
              </a:lnSpc>
              <a:tabLst>
                <a:tab pos="0" algn="l"/>
              </a:tabLst>
            </a:pPr>
            <a:r>
              <a:rPr lang="fr-FR" sz="900" b="0" u="none" strike="noStrike">
                <a:solidFill>
                  <a:srgbClr val="F4EFE6"/>
                </a:solidFill>
                <a:effectLst/>
                <a:uFillTx/>
                <a:latin typeface="Satoshi"/>
                <a:ea typeface="Satoshi"/>
              </a:rPr>
              <a:t>LinkedIn / SEO / Direct</a:t>
            </a:r>
            <a:endParaRPr lang="fr-FR" sz="900" b="0" u="none" strike="noStrike">
              <a:solidFill>
                <a:srgbClr val="000000"/>
              </a:solidFill>
              <a:effectLst/>
              <a:uFillTx/>
              <a:latin typeface="Arial"/>
            </a:endParaRPr>
          </a:p>
        </p:txBody>
      </p:sp>
      <p:sp>
        <p:nvSpPr>
          <p:cNvPr id="1198" name="Text 8"/>
          <p:cNvSpPr/>
          <p:nvPr/>
        </p:nvSpPr>
        <p:spPr>
          <a:xfrm>
            <a:off x="1664280" y="2606040"/>
            <a:ext cx="102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BF360C"/>
                </a:solidFill>
                <a:effectLst/>
                <a:uFillTx/>
                <a:latin typeface="Satoshi"/>
                <a:ea typeface="Satoshi"/>
              </a:rPr>
              <a:t>▶</a:t>
            </a:r>
            <a:endParaRPr lang="fr-FR" sz="1200" b="0" u="none" strike="noStrike">
              <a:solidFill>
                <a:srgbClr val="000000"/>
              </a:solidFill>
              <a:effectLst/>
              <a:uFillTx/>
              <a:latin typeface="Arial"/>
            </a:endParaRPr>
          </a:p>
        </p:txBody>
      </p:sp>
      <p:sp>
        <p:nvSpPr>
          <p:cNvPr id="1199" name="Shape 9"/>
          <p:cNvSpPr/>
          <p:nvPr/>
        </p:nvSpPr>
        <p:spPr>
          <a:xfrm>
            <a:off x="1783080" y="2194560"/>
            <a:ext cx="1227240" cy="10900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00" name="Text 10"/>
          <p:cNvSpPr/>
          <p:nvPr/>
        </p:nvSpPr>
        <p:spPr>
          <a:xfrm>
            <a:off x="17830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0A0A0A"/>
                </a:solidFill>
                <a:effectLst/>
                <a:uFillTx/>
                <a:latin typeface="Arelv"/>
                <a:ea typeface="Arelv"/>
              </a:rPr>
              <a:t>ACCUEIL</a:t>
            </a:r>
            <a:endParaRPr lang="fr-FR" sz="1300" b="0" u="none" strike="noStrike">
              <a:solidFill>
                <a:srgbClr val="000000"/>
              </a:solidFill>
              <a:effectLst/>
              <a:uFillTx/>
              <a:latin typeface="Arial"/>
            </a:endParaRPr>
          </a:p>
        </p:txBody>
      </p:sp>
      <p:sp>
        <p:nvSpPr>
          <p:cNvPr id="1201" name="Text 11"/>
          <p:cNvSpPr/>
          <p:nvPr/>
        </p:nvSpPr>
        <p:spPr>
          <a:xfrm>
            <a:off x="18288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0A0A0A"/>
                </a:solidFill>
                <a:effectLst/>
                <a:uFillTx/>
                <a:latin typeface="Satoshi"/>
                <a:ea typeface="Satoshi"/>
              </a:rPr>
              <a:t>Fullscreen Hero starfield,</a:t>
            </a:r>
            <a:endParaRPr lang="fr-FR" sz="900" b="0" u="none" strike="noStrike">
              <a:solidFill>
                <a:srgbClr val="000000"/>
              </a:solidFill>
              <a:effectLst/>
              <a:uFillTx/>
              <a:latin typeface="Arial"/>
            </a:endParaRPr>
          </a:p>
          <a:p>
            <a:pPr algn="ctr" defTabSz="914400">
              <a:lnSpc>
                <a:spcPct val="100000"/>
              </a:lnSpc>
              <a:tabLst>
                <a:tab pos="0" algn="l"/>
              </a:tabLst>
            </a:pPr>
            <a:r>
              <a:rPr lang="fr-FR" sz="900" b="0" u="none" strike="noStrike">
                <a:solidFill>
                  <a:srgbClr val="0A0A0A"/>
                </a:solidFill>
                <a:effectLst/>
                <a:uFillTx/>
                <a:latin typeface="Satoshi"/>
                <a:ea typeface="Satoshi"/>
              </a:rPr>
              <a:t>Accroche + menu</a:t>
            </a:r>
            <a:endParaRPr lang="fr-FR" sz="900" b="0" u="none" strike="noStrike">
              <a:solidFill>
                <a:srgbClr val="000000"/>
              </a:solidFill>
              <a:effectLst/>
              <a:uFillTx/>
              <a:latin typeface="Arial"/>
            </a:endParaRPr>
          </a:p>
        </p:txBody>
      </p:sp>
      <p:sp>
        <p:nvSpPr>
          <p:cNvPr id="1202" name="Text 12"/>
          <p:cNvSpPr/>
          <p:nvPr/>
        </p:nvSpPr>
        <p:spPr>
          <a:xfrm>
            <a:off x="3035880" y="2606040"/>
            <a:ext cx="102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BF360C"/>
                </a:solidFill>
                <a:effectLst/>
                <a:uFillTx/>
                <a:latin typeface="Satoshi"/>
                <a:ea typeface="Satoshi"/>
              </a:rPr>
              <a:t>▶</a:t>
            </a:r>
            <a:endParaRPr lang="fr-FR" sz="1200" b="0" u="none" strike="noStrike">
              <a:solidFill>
                <a:srgbClr val="000000"/>
              </a:solidFill>
              <a:effectLst/>
              <a:uFillTx/>
              <a:latin typeface="Arial"/>
            </a:endParaRPr>
          </a:p>
        </p:txBody>
      </p:sp>
      <p:sp>
        <p:nvSpPr>
          <p:cNvPr id="1203" name="Shape 13"/>
          <p:cNvSpPr/>
          <p:nvPr/>
        </p:nvSpPr>
        <p:spPr>
          <a:xfrm>
            <a:off x="3154680" y="2194560"/>
            <a:ext cx="1227240" cy="1090080"/>
          </a:xfrm>
          <a:prstGeom prst="ellipse">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04" name="Text 14"/>
          <p:cNvSpPr/>
          <p:nvPr/>
        </p:nvSpPr>
        <p:spPr>
          <a:xfrm>
            <a:off x="31546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F4EFE6"/>
                </a:solidFill>
                <a:effectLst/>
                <a:uFillTx/>
                <a:latin typeface="Arelv"/>
                <a:ea typeface="Arelv"/>
              </a:rPr>
              <a:t>?</a:t>
            </a:r>
            <a:endParaRPr lang="fr-FR" sz="1300" b="0" u="none" strike="noStrike">
              <a:solidFill>
                <a:srgbClr val="000000"/>
              </a:solidFill>
              <a:effectLst/>
              <a:uFillTx/>
              <a:latin typeface="Arial"/>
            </a:endParaRPr>
          </a:p>
        </p:txBody>
      </p:sp>
      <p:sp>
        <p:nvSpPr>
          <p:cNvPr id="1205" name="Text 15"/>
          <p:cNvSpPr/>
          <p:nvPr/>
        </p:nvSpPr>
        <p:spPr>
          <a:xfrm>
            <a:off x="32004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F4EFE6"/>
                </a:solidFill>
                <a:effectLst/>
                <a:uFillTx/>
                <a:latin typeface="Satoshi"/>
                <a:ea typeface="Satoshi"/>
              </a:rPr>
              <a:t>Profil identifié ?</a:t>
            </a:r>
            <a:endParaRPr lang="fr-FR" sz="900" b="0" u="none" strike="noStrike">
              <a:solidFill>
                <a:srgbClr val="000000"/>
              </a:solidFill>
              <a:effectLst/>
              <a:uFillTx/>
              <a:latin typeface="Arial"/>
            </a:endParaRPr>
          </a:p>
        </p:txBody>
      </p:sp>
      <p:sp>
        <p:nvSpPr>
          <p:cNvPr id="1206" name="Text 16"/>
          <p:cNvSpPr/>
          <p:nvPr/>
        </p:nvSpPr>
        <p:spPr>
          <a:xfrm>
            <a:off x="4407480" y="2606040"/>
            <a:ext cx="102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BF360C"/>
                </a:solidFill>
                <a:effectLst/>
                <a:uFillTx/>
                <a:latin typeface="Satoshi"/>
                <a:ea typeface="Satoshi"/>
              </a:rPr>
              <a:t>▶</a:t>
            </a:r>
            <a:endParaRPr lang="fr-FR" sz="1200" b="0" u="none" strike="noStrike">
              <a:solidFill>
                <a:srgbClr val="000000"/>
              </a:solidFill>
              <a:effectLst/>
              <a:uFillTx/>
              <a:latin typeface="Arial"/>
            </a:endParaRPr>
          </a:p>
        </p:txBody>
      </p:sp>
      <p:sp>
        <p:nvSpPr>
          <p:cNvPr id="1207" name="Shape 17"/>
          <p:cNvSpPr/>
          <p:nvPr/>
        </p:nvSpPr>
        <p:spPr>
          <a:xfrm>
            <a:off x="4526280" y="2194560"/>
            <a:ext cx="1227240" cy="10900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08" name="Text 18"/>
          <p:cNvSpPr/>
          <p:nvPr/>
        </p:nvSpPr>
        <p:spPr>
          <a:xfrm>
            <a:off x="45262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0A0A0A"/>
                </a:solidFill>
                <a:effectLst/>
                <a:uFillTx/>
                <a:latin typeface="Arelv"/>
                <a:ea typeface="Arelv"/>
              </a:rPr>
              <a:t>PROJETS</a:t>
            </a:r>
            <a:endParaRPr lang="fr-FR" sz="1300" b="0" u="none" strike="noStrike">
              <a:solidFill>
                <a:srgbClr val="000000"/>
              </a:solidFill>
              <a:effectLst/>
              <a:uFillTx/>
              <a:latin typeface="Arial"/>
            </a:endParaRPr>
          </a:p>
        </p:txBody>
      </p:sp>
      <p:sp>
        <p:nvSpPr>
          <p:cNvPr id="1209" name="Text 19"/>
          <p:cNvSpPr/>
          <p:nvPr/>
        </p:nvSpPr>
        <p:spPr>
          <a:xfrm>
            <a:off x="45720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0A0A0A"/>
                </a:solidFill>
                <a:effectLst/>
                <a:uFillTx/>
                <a:latin typeface="Satoshi"/>
                <a:ea typeface="Satoshi"/>
              </a:rPr>
              <a:t>Grille de projets</a:t>
            </a:r>
            <a:endParaRPr lang="fr-FR" sz="900" b="0" u="none" strike="noStrike">
              <a:solidFill>
                <a:srgbClr val="000000"/>
              </a:solidFill>
              <a:effectLst/>
              <a:uFillTx/>
              <a:latin typeface="Arial"/>
            </a:endParaRPr>
          </a:p>
        </p:txBody>
      </p:sp>
      <p:sp>
        <p:nvSpPr>
          <p:cNvPr id="1210" name="Text 20"/>
          <p:cNvSpPr/>
          <p:nvPr/>
        </p:nvSpPr>
        <p:spPr>
          <a:xfrm>
            <a:off x="5779080" y="2606040"/>
            <a:ext cx="102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BF360C"/>
                </a:solidFill>
                <a:effectLst/>
                <a:uFillTx/>
                <a:latin typeface="Satoshi"/>
                <a:ea typeface="Satoshi"/>
              </a:rPr>
              <a:t>▶</a:t>
            </a:r>
            <a:endParaRPr lang="fr-FR" sz="1200" b="0" u="none" strike="noStrike">
              <a:solidFill>
                <a:srgbClr val="000000"/>
              </a:solidFill>
              <a:effectLst/>
              <a:uFillTx/>
              <a:latin typeface="Arial"/>
            </a:endParaRPr>
          </a:p>
        </p:txBody>
      </p:sp>
      <p:sp>
        <p:nvSpPr>
          <p:cNvPr id="1211" name="Shape 21"/>
          <p:cNvSpPr/>
          <p:nvPr/>
        </p:nvSpPr>
        <p:spPr>
          <a:xfrm>
            <a:off x="5897880" y="2194560"/>
            <a:ext cx="1227240" cy="1090080"/>
          </a:xfrm>
          <a:prstGeom prst="rect">
            <a:avLst/>
          </a:prstGeom>
          <a:solidFill>
            <a:srgbClr val="FFB300"/>
          </a:solidFill>
          <a:ln w="12700">
            <a:solidFill>
              <a:srgbClr val="FFB300"/>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12" name="Text 22"/>
          <p:cNvSpPr/>
          <p:nvPr/>
        </p:nvSpPr>
        <p:spPr>
          <a:xfrm>
            <a:off x="58978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0A0A0A"/>
                </a:solidFill>
                <a:effectLst/>
                <a:uFillTx/>
                <a:latin typeface="Arelv"/>
                <a:ea typeface="Arelv"/>
              </a:rPr>
              <a:t>CONTACT</a:t>
            </a:r>
            <a:endParaRPr lang="fr-FR" sz="1300" b="0" u="none" strike="noStrike">
              <a:solidFill>
                <a:srgbClr val="000000"/>
              </a:solidFill>
              <a:effectLst/>
              <a:uFillTx/>
              <a:latin typeface="Arial"/>
            </a:endParaRPr>
          </a:p>
        </p:txBody>
      </p:sp>
      <p:sp>
        <p:nvSpPr>
          <p:cNvPr id="1213" name="Text 23"/>
          <p:cNvSpPr/>
          <p:nvPr/>
        </p:nvSpPr>
        <p:spPr>
          <a:xfrm>
            <a:off x="59436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0A0A0A"/>
                </a:solidFill>
                <a:effectLst/>
                <a:uFillTx/>
                <a:latin typeface="Satoshi"/>
                <a:ea typeface="Satoshi"/>
              </a:rPr>
              <a:t>Formulaire/</a:t>
            </a:r>
            <a:endParaRPr lang="fr-FR" sz="900" b="0" u="none" strike="noStrike">
              <a:solidFill>
                <a:srgbClr val="000000"/>
              </a:solidFill>
              <a:effectLst/>
              <a:uFillTx/>
              <a:latin typeface="Arial"/>
            </a:endParaRPr>
          </a:p>
          <a:p>
            <a:pPr algn="ctr" defTabSz="914400">
              <a:lnSpc>
                <a:spcPct val="100000"/>
              </a:lnSpc>
              <a:tabLst>
                <a:tab pos="0" algn="l"/>
              </a:tabLst>
            </a:pPr>
            <a:r>
              <a:rPr lang="fr-FR" sz="900" b="0" u="none" strike="noStrike">
                <a:solidFill>
                  <a:srgbClr val="0A0A0A"/>
                </a:solidFill>
                <a:effectLst/>
                <a:uFillTx/>
                <a:latin typeface="Satoshi"/>
                <a:ea typeface="Satoshi"/>
              </a:rPr>
              <a:t>Liens HTML CV (téléchargeables en PDF)</a:t>
            </a:r>
            <a:endParaRPr lang="fr-FR" sz="900" b="0" u="none" strike="noStrike">
              <a:solidFill>
                <a:srgbClr val="000000"/>
              </a:solidFill>
              <a:effectLst/>
              <a:uFillTx/>
              <a:latin typeface="Arial"/>
            </a:endParaRPr>
          </a:p>
        </p:txBody>
      </p:sp>
      <p:sp>
        <p:nvSpPr>
          <p:cNvPr id="1214" name="Text 24"/>
          <p:cNvSpPr/>
          <p:nvPr/>
        </p:nvSpPr>
        <p:spPr>
          <a:xfrm>
            <a:off x="7150680" y="2606040"/>
            <a:ext cx="1026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BF360C"/>
                </a:solidFill>
                <a:effectLst/>
                <a:uFillTx/>
                <a:latin typeface="Satoshi"/>
                <a:ea typeface="Satoshi"/>
              </a:rPr>
              <a:t>▶</a:t>
            </a:r>
            <a:endParaRPr lang="fr-FR" sz="1200" b="0" u="none" strike="noStrike">
              <a:solidFill>
                <a:srgbClr val="000000"/>
              </a:solidFill>
              <a:effectLst/>
              <a:uFillTx/>
              <a:latin typeface="Arial"/>
            </a:endParaRPr>
          </a:p>
        </p:txBody>
      </p:sp>
      <p:sp>
        <p:nvSpPr>
          <p:cNvPr id="1215" name="Shape 25"/>
          <p:cNvSpPr/>
          <p:nvPr/>
        </p:nvSpPr>
        <p:spPr>
          <a:xfrm>
            <a:off x="7269480" y="2194560"/>
            <a:ext cx="1227240" cy="109008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16" name="Text 26"/>
          <p:cNvSpPr/>
          <p:nvPr/>
        </p:nvSpPr>
        <p:spPr>
          <a:xfrm>
            <a:off x="7269480" y="2286000"/>
            <a:ext cx="122724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pc="99" strike="noStrike">
                <a:solidFill>
                  <a:srgbClr val="F4EFE6"/>
                </a:solidFill>
                <a:effectLst/>
                <a:uFillTx/>
                <a:latin typeface="Arelv"/>
                <a:ea typeface="Arelv"/>
              </a:rPr>
              <a:t>SORTIE</a:t>
            </a:r>
            <a:endParaRPr lang="fr-FR" sz="1300" b="0" u="none" strike="noStrike">
              <a:solidFill>
                <a:srgbClr val="000000"/>
              </a:solidFill>
              <a:effectLst/>
              <a:uFillTx/>
              <a:latin typeface="Arial"/>
            </a:endParaRPr>
          </a:p>
        </p:txBody>
      </p:sp>
      <p:sp>
        <p:nvSpPr>
          <p:cNvPr id="1217" name="Text 27"/>
          <p:cNvSpPr/>
          <p:nvPr/>
        </p:nvSpPr>
        <p:spPr>
          <a:xfrm>
            <a:off x="7315200" y="2651760"/>
            <a:ext cx="1135800" cy="587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900" b="0" u="none" strike="noStrike">
                <a:solidFill>
                  <a:srgbClr val="F4EFE6"/>
                </a:solidFill>
                <a:effectLst/>
                <a:uFillTx/>
                <a:latin typeface="Satoshi"/>
                <a:ea typeface="Satoshi"/>
              </a:rPr>
              <a:t>E-mail envoyé</a:t>
            </a:r>
            <a:endParaRPr lang="fr-FR" sz="900" b="0" u="none" strike="noStrike">
              <a:solidFill>
                <a:srgbClr val="000000"/>
              </a:solidFill>
              <a:effectLst/>
              <a:uFillTx/>
              <a:latin typeface="Arial"/>
            </a:endParaRPr>
          </a:p>
          <a:p>
            <a:pPr algn="ctr" defTabSz="914400">
              <a:lnSpc>
                <a:spcPct val="100000"/>
              </a:lnSpc>
              <a:tabLst>
                <a:tab pos="0" algn="l"/>
              </a:tabLst>
            </a:pPr>
            <a:r>
              <a:rPr lang="fr-FR" sz="900" b="0" u="none" strike="noStrike">
                <a:solidFill>
                  <a:srgbClr val="F4EFE6"/>
                </a:solidFill>
                <a:effectLst/>
                <a:uFillTx/>
                <a:latin typeface="Satoshi"/>
                <a:ea typeface="Satoshi"/>
              </a:rPr>
              <a:t>ou mémorisation</a:t>
            </a:r>
            <a:endParaRPr lang="fr-FR" sz="900" b="0" u="none" strike="noStrike">
              <a:solidFill>
                <a:srgbClr val="000000"/>
              </a:solidFill>
              <a:effectLst/>
              <a:uFillTx/>
              <a:latin typeface="Arial"/>
            </a:endParaRPr>
          </a:p>
        </p:txBody>
      </p:sp>
      <p:sp>
        <p:nvSpPr>
          <p:cNvPr id="1218" name="Text 28"/>
          <p:cNvSpPr/>
          <p:nvPr/>
        </p:nvSpPr>
        <p:spPr>
          <a:xfrm>
            <a:off x="457200" y="3657600"/>
            <a:ext cx="1821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BF360C"/>
                </a:solidFill>
                <a:effectLst/>
                <a:uFillTx/>
                <a:latin typeface="Satoshi"/>
                <a:ea typeface="Satoshi"/>
              </a:rPr>
              <a:t>LÉGENDE</a:t>
            </a:r>
            <a:endParaRPr lang="fr-FR" sz="1000" b="0" u="none" strike="noStrike">
              <a:solidFill>
                <a:srgbClr val="000000"/>
              </a:solidFill>
              <a:effectLst/>
              <a:uFillTx/>
              <a:latin typeface="Arial"/>
            </a:endParaRPr>
          </a:p>
        </p:txBody>
      </p:sp>
      <p:sp>
        <p:nvSpPr>
          <p:cNvPr id="1219" name="Shape 29"/>
          <p:cNvSpPr/>
          <p:nvPr/>
        </p:nvSpPr>
        <p:spPr>
          <a:xfrm>
            <a:off x="457200" y="3977640"/>
            <a:ext cx="175680" cy="175680"/>
          </a:xfrm>
          <a:prstGeom prst="rect">
            <a:avLst/>
          </a:prstGeom>
          <a:solidFill>
            <a:srgbClr val="0A0A0A"/>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20" name="Text 30"/>
          <p:cNvSpPr/>
          <p:nvPr/>
        </p:nvSpPr>
        <p:spPr>
          <a:xfrm>
            <a:off x="685800" y="3959280"/>
            <a:ext cx="19130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Point d'entrée / sortie</a:t>
            </a:r>
            <a:endParaRPr lang="fr-FR" sz="900" b="0" u="none" strike="noStrike">
              <a:solidFill>
                <a:srgbClr val="000000"/>
              </a:solidFill>
              <a:effectLst/>
              <a:uFillTx/>
              <a:latin typeface="Arial"/>
            </a:endParaRPr>
          </a:p>
        </p:txBody>
      </p:sp>
      <p:sp>
        <p:nvSpPr>
          <p:cNvPr id="1221" name="Shape 31"/>
          <p:cNvSpPr/>
          <p:nvPr/>
        </p:nvSpPr>
        <p:spPr>
          <a:xfrm>
            <a:off x="2560320" y="3977640"/>
            <a:ext cx="175680" cy="17568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22" name="Text 32"/>
          <p:cNvSpPr/>
          <p:nvPr/>
        </p:nvSpPr>
        <p:spPr>
          <a:xfrm>
            <a:off x="2788920" y="3959280"/>
            <a:ext cx="19130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Page consultée</a:t>
            </a:r>
            <a:endParaRPr lang="fr-FR" sz="900" b="0" u="none" strike="noStrike">
              <a:solidFill>
                <a:srgbClr val="000000"/>
              </a:solidFill>
              <a:effectLst/>
              <a:uFillTx/>
              <a:latin typeface="Arial"/>
            </a:endParaRPr>
          </a:p>
        </p:txBody>
      </p:sp>
      <p:sp>
        <p:nvSpPr>
          <p:cNvPr id="1223" name="Shape 33"/>
          <p:cNvSpPr/>
          <p:nvPr/>
        </p:nvSpPr>
        <p:spPr>
          <a:xfrm>
            <a:off x="4663440" y="3977640"/>
            <a:ext cx="175680" cy="175680"/>
          </a:xfrm>
          <a:prstGeom prst="rect">
            <a:avLst/>
          </a:prstGeom>
          <a:solidFill>
            <a:srgbClr val="BF360C"/>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24" name="Text 34"/>
          <p:cNvSpPr/>
          <p:nvPr/>
        </p:nvSpPr>
        <p:spPr>
          <a:xfrm>
            <a:off x="4892040" y="3959280"/>
            <a:ext cx="19130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Décision / branchement</a:t>
            </a:r>
            <a:endParaRPr lang="fr-FR" sz="900" b="0" u="none" strike="noStrike">
              <a:solidFill>
                <a:srgbClr val="000000"/>
              </a:solidFill>
              <a:effectLst/>
              <a:uFillTx/>
              <a:latin typeface="Arial"/>
            </a:endParaRPr>
          </a:p>
        </p:txBody>
      </p:sp>
      <p:sp>
        <p:nvSpPr>
          <p:cNvPr id="1225" name="Shape 35"/>
          <p:cNvSpPr/>
          <p:nvPr/>
        </p:nvSpPr>
        <p:spPr>
          <a:xfrm>
            <a:off x="6766560" y="3977640"/>
            <a:ext cx="175680" cy="175680"/>
          </a:xfrm>
          <a:prstGeom prst="rect">
            <a:avLst/>
          </a:prstGeom>
          <a:solidFill>
            <a:srgbClr val="FFB300"/>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26" name="Text 36"/>
          <p:cNvSpPr/>
          <p:nvPr/>
        </p:nvSpPr>
        <p:spPr>
          <a:xfrm>
            <a:off x="6995160" y="3959280"/>
            <a:ext cx="19130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Action de conversion</a:t>
            </a:r>
            <a:endParaRPr lang="fr-FR" sz="900" b="0" u="none" strike="noStrike">
              <a:solidFill>
                <a:srgbClr val="000000"/>
              </a:solidFill>
              <a:effectLst/>
              <a:uFillTx/>
              <a:latin typeface="Arial"/>
            </a:endParaRPr>
          </a:p>
        </p:txBody>
      </p:sp>
      <p:sp>
        <p:nvSpPr>
          <p:cNvPr id="1227" name="Shape 3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28" name="Text 3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229" name="Text 3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23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23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23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3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CAS D’USAGE</a:t>
            </a:r>
            <a:endParaRPr lang="fr-FR" sz="5000" b="0" u="none" strike="noStrike">
              <a:solidFill>
                <a:srgbClr val="000000"/>
              </a:solidFill>
              <a:effectLst/>
              <a:uFillTx/>
              <a:latin typeface="Arial"/>
            </a:endParaRPr>
          </a:p>
        </p:txBody>
      </p:sp>
      <p:sp>
        <p:nvSpPr>
          <p:cNvPr id="123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Quatre scénarios d'usage modélisés (Use Cases)</a:t>
            </a:r>
            <a:endParaRPr lang="fr-FR" sz="1600" b="0" u="none" strike="noStrike">
              <a:solidFill>
                <a:srgbClr val="000000"/>
              </a:solidFill>
              <a:effectLst/>
              <a:uFillTx/>
              <a:latin typeface="Arial"/>
            </a:endParaRPr>
          </a:p>
        </p:txBody>
      </p:sp>
      <p:sp>
        <p:nvSpPr>
          <p:cNvPr id="1235" name="Text 5"/>
          <p:cNvSpPr/>
          <p:nvPr/>
        </p:nvSpPr>
        <p:spPr>
          <a:xfrm>
            <a:off x="457200" y="210312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UC-01</a:t>
            </a:r>
            <a:endParaRPr lang="fr-FR" sz="1400" b="0" u="none" strike="noStrike">
              <a:solidFill>
                <a:srgbClr val="000000"/>
              </a:solidFill>
              <a:effectLst/>
              <a:uFillTx/>
              <a:latin typeface="Arial"/>
            </a:endParaRPr>
          </a:p>
        </p:txBody>
      </p:sp>
      <p:sp>
        <p:nvSpPr>
          <p:cNvPr id="1236" name="Text 6"/>
          <p:cNvSpPr/>
          <p:nvPr/>
        </p:nvSpPr>
        <p:spPr>
          <a:xfrm>
            <a:off x="1463040" y="2103120"/>
            <a:ext cx="410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0A0A0A"/>
                </a:solidFill>
                <a:effectLst/>
                <a:uFillTx/>
                <a:latin typeface="Satoshi"/>
                <a:ea typeface="Satoshi"/>
              </a:rPr>
              <a:t>Évaluation de candidature</a:t>
            </a:r>
            <a:endParaRPr lang="fr-FR" sz="1400" b="0" u="none" strike="noStrike">
              <a:solidFill>
                <a:srgbClr val="000000"/>
              </a:solidFill>
              <a:effectLst/>
              <a:uFillTx/>
              <a:latin typeface="Arial"/>
            </a:endParaRPr>
          </a:p>
        </p:txBody>
      </p:sp>
      <p:sp>
        <p:nvSpPr>
          <p:cNvPr id="1237" name="Text 7"/>
          <p:cNvSpPr/>
          <p:nvPr/>
        </p:nvSpPr>
        <p:spPr>
          <a:xfrm>
            <a:off x="5669280" y="2103120"/>
            <a:ext cx="31017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i="1" u="none" strike="noStrike">
                <a:solidFill>
                  <a:srgbClr val="37474F"/>
                </a:solidFill>
                <a:effectLst/>
                <a:uFillTx/>
                <a:latin typeface="Satoshi"/>
                <a:ea typeface="Satoshi"/>
              </a:rPr>
              <a:t>Acteur </a:t>
            </a:r>
            <a:r>
              <a:rPr lang="fr-FR" sz="950" b="0" i="1" u="none" strike="noStrike">
                <a:solidFill>
                  <a:srgbClr val="37474F"/>
                </a:solidFill>
                <a:effectLst/>
                <a:uFillTx/>
                <a:latin typeface="Satoshi"/>
                <a:ea typeface="Satoshi"/>
              </a:rPr>
              <a:t>— </a:t>
            </a:r>
            <a:r>
              <a:rPr lang="fr-FR" sz="1100" b="0" i="1" u="none" strike="noStrike">
                <a:solidFill>
                  <a:srgbClr val="37474F"/>
                </a:solidFill>
                <a:effectLst/>
                <a:uFillTx/>
                <a:latin typeface="Satoshi"/>
                <a:ea typeface="Satoshi"/>
              </a:rPr>
              <a:t>Recruteur</a:t>
            </a:r>
            <a:endParaRPr lang="fr-FR" sz="1100" b="0" u="none" strike="noStrike">
              <a:solidFill>
                <a:srgbClr val="000000"/>
              </a:solidFill>
              <a:effectLst/>
              <a:uFillTx/>
              <a:latin typeface="Arial"/>
            </a:endParaRPr>
          </a:p>
        </p:txBody>
      </p:sp>
      <p:sp>
        <p:nvSpPr>
          <p:cNvPr id="1238" name="Text 8"/>
          <p:cNvSpPr/>
          <p:nvPr/>
        </p:nvSpPr>
        <p:spPr>
          <a:xfrm>
            <a:off x="1463040" y="2395800"/>
            <a:ext cx="7308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Flux : Arrivée LinkedIn → Accueil → À propos → Liens CV HTML (PDF) → Contact</a:t>
            </a:r>
            <a:endParaRPr lang="fr-FR" sz="1000" b="0" u="none" strike="noStrike">
              <a:solidFill>
                <a:srgbClr val="000000"/>
              </a:solidFill>
              <a:effectLst/>
              <a:uFillTx/>
              <a:latin typeface="Arial"/>
            </a:endParaRPr>
          </a:p>
        </p:txBody>
      </p:sp>
      <p:sp>
        <p:nvSpPr>
          <p:cNvPr id="1239" name="Shape 9"/>
          <p:cNvSpPr/>
          <p:nvPr/>
        </p:nvSpPr>
        <p:spPr>
          <a:xfrm>
            <a:off x="457200" y="274320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40" name="Text 10"/>
          <p:cNvSpPr/>
          <p:nvPr/>
        </p:nvSpPr>
        <p:spPr>
          <a:xfrm>
            <a:off x="457200" y="281628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UC-02</a:t>
            </a:r>
            <a:endParaRPr lang="fr-FR" sz="1400" b="0" u="none" strike="noStrike">
              <a:solidFill>
                <a:srgbClr val="000000"/>
              </a:solidFill>
              <a:effectLst/>
              <a:uFillTx/>
              <a:latin typeface="Arial"/>
            </a:endParaRPr>
          </a:p>
        </p:txBody>
      </p:sp>
      <p:sp>
        <p:nvSpPr>
          <p:cNvPr id="1241" name="Text 11"/>
          <p:cNvSpPr/>
          <p:nvPr/>
        </p:nvSpPr>
        <p:spPr>
          <a:xfrm>
            <a:off x="1463040" y="2816280"/>
            <a:ext cx="410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0A0A0A"/>
                </a:solidFill>
                <a:effectLst/>
                <a:uFillTx/>
                <a:latin typeface="Satoshi"/>
                <a:ea typeface="Satoshi"/>
              </a:rPr>
              <a:t>Vérification de compétences</a:t>
            </a:r>
            <a:endParaRPr lang="fr-FR" sz="1400" b="0" u="none" strike="noStrike">
              <a:solidFill>
                <a:srgbClr val="000000"/>
              </a:solidFill>
              <a:effectLst/>
              <a:uFillTx/>
              <a:latin typeface="Arial"/>
            </a:endParaRPr>
          </a:p>
        </p:txBody>
      </p:sp>
      <p:sp>
        <p:nvSpPr>
          <p:cNvPr id="1242" name="Text 12"/>
          <p:cNvSpPr/>
          <p:nvPr/>
        </p:nvSpPr>
        <p:spPr>
          <a:xfrm>
            <a:off x="5669280" y="2816280"/>
            <a:ext cx="31017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i="1" u="none" strike="noStrike">
                <a:solidFill>
                  <a:srgbClr val="37474F"/>
                </a:solidFill>
                <a:effectLst/>
                <a:uFillTx/>
                <a:latin typeface="Satoshi"/>
                <a:ea typeface="Satoshi"/>
              </a:rPr>
              <a:t>Acteur </a:t>
            </a:r>
            <a:r>
              <a:rPr lang="fr-FR" sz="950" b="0" i="1" u="none" strike="noStrike">
                <a:solidFill>
                  <a:srgbClr val="37474F"/>
                </a:solidFill>
                <a:effectLst/>
                <a:uFillTx/>
                <a:latin typeface="Satoshi"/>
                <a:ea typeface="Satoshi"/>
              </a:rPr>
              <a:t>—</a:t>
            </a:r>
            <a:r>
              <a:rPr lang="fr-FR" sz="1100" b="0" i="1" u="none" strike="noStrike">
                <a:solidFill>
                  <a:srgbClr val="37474F"/>
                </a:solidFill>
                <a:effectLst/>
                <a:uFillTx/>
                <a:latin typeface="Satoshi"/>
                <a:ea typeface="Satoshi"/>
              </a:rPr>
              <a:t> Client free-lance</a:t>
            </a:r>
            <a:endParaRPr lang="fr-FR" sz="1100" b="0" u="none" strike="noStrike">
              <a:solidFill>
                <a:srgbClr val="000000"/>
              </a:solidFill>
              <a:effectLst/>
              <a:uFillTx/>
              <a:latin typeface="Arial"/>
            </a:endParaRPr>
          </a:p>
        </p:txBody>
      </p:sp>
      <p:sp>
        <p:nvSpPr>
          <p:cNvPr id="1243" name="Text 13"/>
          <p:cNvSpPr/>
          <p:nvPr/>
        </p:nvSpPr>
        <p:spPr>
          <a:xfrm>
            <a:off x="1463040" y="3108960"/>
            <a:ext cx="7308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Flux : Recherche Google → Projets → Étude de cas → Prise de contact par formulaire</a:t>
            </a:r>
            <a:endParaRPr lang="fr-FR" sz="1000" b="0" u="none" strike="noStrike">
              <a:solidFill>
                <a:srgbClr val="000000"/>
              </a:solidFill>
              <a:effectLst/>
              <a:uFillTx/>
              <a:latin typeface="Arial"/>
            </a:endParaRPr>
          </a:p>
        </p:txBody>
      </p:sp>
      <p:sp>
        <p:nvSpPr>
          <p:cNvPr id="1244" name="Shape 14"/>
          <p:cNvSpPr/>
          <p:nvPr/>
        </p:nvSpPr>
        <p:spPr>
          <a:xfrm>
            <a:off x="457200" y="345636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45" name="Text 15"/>
          <p:cNvSpPr/>
          <p:nvPr/>
        </p:nvSpPr>
        <p:spPr>
          <a:xfrm>
            <a:off x="457200" y="352944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UC-03</a:t>
            </a:r>
            <a:endParaRPr lang="fr-FR" sz="1400" b="0" u="none" strike="noStrike">
              <a:solidFill>
                <a:srgbClr val="000000"/>
              </a:solidFill>
              <a:effectLst/>
              <a:uFillTx/>
              <a:latin typeface="Arial"/>
            </a:endParaRPr>
          </a:p>
        </p:txBody>
      </p:sp>
      <p:sp>
        <p:nvSpPr>
          <p:cNvPr id="1246" name="Text 16"/>
          <p:cNvSpPr/>
          <p:nvPr/>
        </p:nvSpPr>
        <p:spPr>
          <a:xfrm>
            <a:off x="1463040" y="3529440"/>
            <a:ext cx="410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0A0A0A"/>
                </a:solidFill>
                <a:effectLst/>
                <a:uFillTx/>
                <a:latin typeface="Satoshi"/>
                <a:ea typeface="Satoshi"/>
              </a:rPr>
              <a:t>Veille technologique</a:t>
            </a:r>
            <a:endParaRPr lang="fr-FR" sz="1400" b="0" u="none" strike="noStrike">
              <a:solidFill>
                <a:srgbClr val="000000"/>
              </a:solidFill>
              <a:effectLst/>
              <a:uFillTx/>
              <a:latin typeface="Arial"/>
            </a:endParaRPr>
          </a:p>
        </p:txBody>
      </p:sp>
      <p:sp>
        <p:nvSpPr>
          <p:cNvPr id="1247" name="Text 17"/>
          <p:cNvSpPr/>
          <p:nvPr/>
        </p:nvSpPr>
        <p:spPr>
          <a:xfrm>
            <a:off x="5669280" y="3529440"/>
            <a:ext cx="31017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i="1" u="none" strike="noStrike">
                <a:solidFill>
                  <a:srgbClr val="37474F"/>
                </a:solidFill>
                <a:effectLst/>
                <a:uFillTx/>
                <a:latin typeface="Satoshi"/>
                <a:ea typeface="Satoshi"/>
              </a:rPr>
              <a:t>Acteur </a:t>
            </a:r>
            <a:r>
              <a:rPr lang="fr-FR" sz="950" b="0" i="1" u="none" strike="noStrike">
                <a:solidFill>
                  <a:srgbClr val="37474F"/>
                </a:solidFill>
                <a:effectLst/>
                <a:uFillTx/>
                <a:latin typeface="Satoshi"/>
                <a:ea typeface="Satoshi"/>
              </a:rPr>
              <a:t>—</a:t>
            </a:r>
            <a:r>
              <a:rPr lang="fr-FR" sz="1100" b="0" i="1" u="none" strike="noStrike">
                <a:solidFill>
                  <a:srgbClr val="37474F"/>
                </a:solidFill>
                <a:effectLst/>
                <a:uFillTx/>
                <a:latin typeface="Satoshi"/>
                <a:ea typeface="Satoshi"/>
              </a:rPr>
              <a:t> Pair développeur</a:t>
            </a:r>
            <a:endParaRPr lang="fr-FR" sz="1100" b="0" u="none" strike="noStrike">
              <a:solidFill>
                <a:srgbClr val="000000"/>
              </a:solidFill>
              <a:effectLst/>
              <a:uFillTx/>
              <a:latin typeface="Arial"/>
            </a:endParaRPr>
          </a:p>
        </p:txBody>
      </p:sp>
      <p:sp>
        <p:nvSpPr>
          <p:cNvPr id="1248" name="Text 18"/>
          <p:cNvSpPr/>
          <p:nvPr/>
        </p:nvSpPr>
        <p:spPr>
          <a:xfrm>
            <a:off x="1463040" y="3822120"/>
            <a:ext cx="7308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Flux : Discord → Projets → GitHub externe → Retour à l’accueil / Réseaux sociaux</a:t>
            </a:r>
            <a:endParaRPr lang="fr-FR" sz="1000" b="0" u="none" strike="noStrike">
              <a:solidFill>
                <a:srgbClr val="000000"/>
              </a:solidFill>
              <a:effectLst/>
              <a:uFillTx/>
              <a:latin typeface="Arial"/>
            </a:endParaRPr>
          </a:p>
        </p:txBody>
      </p:sp>
      <p:sp>
        <p:nvSpPr>
          <p:cNvPr id="1249" name="Shape 19"/>
          <p:cNvSpPr/>
          <p:nvPr/>
        </p:nvSpPr>
        <p:spPr>
          <a:xfrm>
            <a:off x="457200" y="416952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50" name="Text 20"/>
          <p:cNvSpPr/>
          <p:nvPr/>
        </p:nvSpPr>
        <p:spPr>
          <a:xfrm>
            <a:off x="457200" y="4242960"/>
            <a:ext cx="9072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UC-04</a:t>
            </a:r>
            <a:endParaRPr lang="fr-FR" sz="1400" b="0" u="none" strike="noStrike">
              <a:solidFill>
                <a:srgbClr val="000000"/>
              </a:solidFill>
              <a:effectLst/>
              <a:uFillTx/>
              <a:latin typeface="Arial"/>
            </a:endParaRPr>
          </a:p>
        </p:txBody>
      </p:sp>
      <p:sp>
        <p:nvSpPr>
          <p:cNvPr id="1251" name="Text 21"/>
          <p:cNvSpPr/>
          <p:nvPr/>
        </p:nvSpPr>
        <p:spPr>
          <a:xfrm>
            <a:off x="1463040" y="4242960"/>
            <a:ext cx="41076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0A0A0A"/>
                </a:solidFill>
                <a:effectLst/>
                <a:uFillTx/>
                <a:latin typeface="Satoshi"/>
                <a:ea typeface="Satoshi"/>
              </a:rPr>
              <a:t>Consultation multilingue</a:t>
            </a:r>
            <a:endParaRPr lang="fr-FR" sz="1400" b="0" u="none" strike="noStrike">
              <a:solidFill>
                <a:srgbClr val="000000"/>
              </a:solidFill>
              <a:effectLst/>
              <a:uFillTx/>
              <a:latin typeface="Arial"/>
            </a:endParaRPr>
          </a:p>
        </p:txBody>
      </p:sp>
      <p:sp>
        <p:nvSpPr>
          <p:cNvPr id="1252" name="Text 22"/>
          <p:cNvSpPr/>
          <p:nvPr/>
        </p:nvSpPr>
        <p:spPr>
          <a:xfrm>
            <a:off x="5669280" y="4242960"/>
            <a:ext cx="310176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100" b="0" i="1" u="none" strike="noStrike">
                <a:solidFill>
                  <a:srgbClr val="37474F"/>
                </a:solidFill>
                <a:effectLst/>
                <a:uFillTx/>
                <a:latin typeface="Satoshi"/>
                <a:ea typeface="Satoshi"/>
              </a:rPr>
              <a:t>Acteur </a:t>
            </a:r>
            <a:r>
              <a:rPr lang="fr-FR" sz="950" b="0" i="1" u="none" strike="noStrike">
                <a:solidFill>
                  <a:srgbClr val="37474F"/>
                </a:solidFill>
                <a:effectLst/>
                <a:uFillTx/>
                <a:latin typeface="Satoshi"/>
                <a:ea typeface="Satoshi"/>
              </a:rPr>
              <a:t>—</a:t>
            </a:r>
            <a:r>
              <a:rPr lang="fr-FR" sz="1100" b="0" i="1" u="none" strike="noStrike">
                <a:solidFill>
                  <a:srgbClr val="37474F"/>
                </a:solidFill>
                <a:effectLst/>
                <a:uFillTx/>
                <a:latin typeface="Satoshi"/>
                <a:ea typeface="Satoshi"/>
              </a:rPr>
              <a:t> Audience internationale</a:t>
            </a:r>
            <a:endParaRPr lang="fr-FR" sz="1100" b="0" u="none" strike="noStrike">
              <a:solidFill>
                <a:srgbClr val="000000"/>
              </a:solidFill>
              <a:effectLst/>
              <a:uFillTx/>
              <a:latin typeface="Arial"/>
            </a:endParaRPr>
          </a:p>
        </p:txBody>
      </p:sp>
      <p:sp>
        <p:nvSpPr>
          <p:cNvPr id="1253" name="Text 23"/>
          <p:cNvSpPr/>
          <p:nvPr/>
        </p:nvSpPr>
        <p:spPr>
          <a:xfrm>
            <a:off x="1463040" y="4535280"/>
            <a:ext cx="7308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Flux : Switcher langue → Accueil EN/JA/AR → Projets traduits → Contact</a:t>
            </a:r>
            <a:endParaRPr lang="fr-FR" sz="1000" b="0" u="none" strike="noStrike">
              <a:solidFill>
                <a:srgbClr val="000000"/>
              </a:solidFill>
              <a:effectLst/>
              <a:uFillTx/>
              <a:latin typeface="Arial"/>
            </a:endParaRPr>
          </a:p>
        </p:txBody>
      </p:sp>
      <p:sp>
        <p:nvSpPr>
          <p:cNvPr id="1254" name="Shape 2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55" name="Text 2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256" name="Text 2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25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25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25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6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ZONING</a:t>
            </a:r>
            <a:endParaRPr lang="fr-FR" sz="5600" b="0" u="none" strike="noStrike">
              <a:solidFill>
                <a:srgbClr val="000000"/>
              </a:solidFill>
              <a:effectLst/>
              <a:uFillTx/>
              <a:latin typeface="Arial"/>
            </a:endParaRPr>
          </a:p>
        </p:txBody>
      </p:sp>
      <p:sp>
        <p:nvSpPr>
          <p:cNvPr id="126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Découpage fonctionnel de la page d'accueil</a:t>
            </a:r>
            <a:endParaRPr lang="fr-FR" sz="1600" b="0" u="none" strike="noStrike">
              <a:solidFill>
                <a:srgbClr val="000000"/>
              </a:solidFill>
              <a:effectLst/>
              <a:uFillTx/>
              <a:latin typeface="Arial"/>
            </a:endParaRPr>
          </a:p>
        </p:txBody>
      </p:sp>
      <p:sp>
        <p:nvSpPr>
          <p:cNvPr id="1262" name="Shape 5"/>
          <p:cNvSpPr/>
          <p:nvPr/>
        </p:nvSpPr>
        <p:spPr>
          <a:xfrm>
            <a:off x="457200" y="2175120"/>
            <a:ext cx="4107600" cy="3128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63" name="Text 6"/>
          <p:cNvSpPr/>
          <p:nvPr/>
        </p:nvSpPr>
        <p:spPr>
          <a:xfrm>
            <a:off x="457200" y="2229840"/>
            <a:ext cx="4107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F4EFE6"/>
                </a:solidFill>
                <a:effectLst/>
                <a:uFillTx/>
                <a:latin typeface="Satoshi"/>
                <a:ea typeface="Satoshi"/>
              </a:rPr>
              <a:t>1 · HEADER (logo + menu + langues)</a:t>
            </a:r>
            <a:endParaRPr lang="fr-FR" sz="900" b="0" u="none" strike="noStrike">
              <a:solidFill>
                <a:srgbClr val="000000"/>
              </a:solidFill>
              <a:effectLst/>
              <a:uFillTx/>
              <a:latin typeface="Arial"/>
            </a:endParaRPr>
          </a:p>
        </p:txBody>
      </p:sp>
      <p:sp>
        <p:nvSpPr>
          <p:cNvPr id="1264" name="Shape 7"/>
          <p:cNvSpPr/>
          <p:nvPr/>
        </p:nvSpPr>
        <p:spPr>
          <a:xfrm>
            <a:off x="457200" y="2540880"/>
            <a:ext cx="4107600" cy="99864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65" name="Text 8"/>
          <p:cNvSpPr/>
          <p:nvPr/>
        </p:nvSpPr>
        <p:spPr>
          <a:xfrm>
            <a:off x="457200" y="2952360"/>
            <a:ext cx="4107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trike="noStrike">
                <a:solidFill>
                  <a:srgbClr val="0A0A0A"/>
                </a:solidFill>
                <a:effectLst/>
                <a:uFillTx/>
                <a:latin typeface="Satoshi"/>
                <a:ea typeface="Satoshi"/>
              </a:rPr>
              <a:t>2 · HERO (starfield + accroche)</a:t>
            </a:r>
            <a:endParaRPr lang="fr-FR" sz="1000" b="0" u="none" strike="noStrike">
              <a:solidFill>
                <a:srgbClr val="000000"/>
              </a:solidFill>
              <a:effectLst/>
              <a:uFillTx/>
              <a:latin typeface="Arial"/>
            </a:endParaRPr>
          </a:p>
        </p:txBody>
      </p:sp>
      <p:sp>
        <p:nvSpPr>
          <p:cNvPr id="1266" name="Shape 9"/>
          <p:cNvSpPr/>
          <p:nvPr/>
        </p:nvSpPr>
        <p:spPr>
          <a:xfrm>
            <a:off x="457200" y="3592440"/>
            <a:ext cx="1318680" cy="63288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67" name="Shape 10"/>
          <p:cNvSpPr/>
          <p:nvPr/>
        </p:nvSpPr>
        <p:spPr>
          <a:xfrm>
            <a:off x="1874520" y="3592440"/>
            <a:ext cx="1318680" cy="63288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68" name="Shape 11"/>
          <p:cNvSpPr/>
          <p:nvPr/>
        </p:nvSpPr>
        <p:spPr>
          <a:xfrm>
            <a:off x="3291840" y="3592440"/>
            <a:ext cx="1272960" cy="63288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69" name="Text 12"/>
          <p:cNvSpPr/>
          <p:nvPr/>
        </p:nvSpPr>
        <p:spPr>
          <a:xfrm>
            <a:off x="457200" y="3821040"/>
            <a:ext cx="4107600" cy="19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Satoshi"/>
                <a:ea typeface="Satoshi"/>
              </a:rPr>
              <a:t>3 · APERÇU PROJETS</a:t>
            </a:r>
            <a:endParaRPr lang="fr-FR" sz="900" b="0" u="none" strike="noStrike">
              <a:solidFill>
                <a:srgbClr val="000000"/>
              </a:solidFill>
              <a:effectLst/>
              <a:uFillTx/>
              <a:latin typeface="Arial"/>
            </a:endParaRPr>
          </a:p>
        </p:txBody>
      </p:sp>
      <p:sp>
        <p:nvSpPr>
          <p:cNvPr id="1270" name="Shape 15"/>
          <p:cNvSpPr/>
          <p:nvPr/>
        </p:nvSpPr>
        <p:spPr>
          <a:xfrm>
            <a:off x="461160" y="4284000"/>
            <a:ext cx="4107600" cy="2671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71" name="Text 16"/>
          <p:cNvSpPr/>
          <p:nvPr/>
        </p:nvSpPr>
        <p:spPr>
          <a:xfrm>
            <a:off x="461160" y="4329720"/>
            <a:ext cx="4107600" cy="19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F4EFE6"/>
                </a:solidFill>
                <a:effectLst/>
                <a:uFillTx/>
                <a:latin typeface="Satoshi"/>
                <a:ea typeface="Satoshi"/>
              </a:rPr>
              <a:t>4 · FOOTER (réseaux + mentions)</a:t>
            </a:r>
            <a:endParaRPr lang="fr-FR" sz="900" b="0" u="none" strike="noStrike">
              <a:solidFill>
                <a:srgbClr val="000000"/>
              </a:solidFill>
              <a:effectLst/>
              <a:uFillTx/>
              <a:latin typeface="Arial"/>
            </a:endParaRPr>
          </a:p>
        </p:txBody>
      </p:sp>
      <p:sp>
        <p:nvSpPr>
          <p:cNvPr id="1272" name="Text 17"/>
          <p:cNvSpPr/>
          <p:nvPr/>
        </p:nvSpPr>
        <p:spPr>
          <a:xfrm>
            <a:off x="4846320" y="2247120"/>
            <a:ext cx="39247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LECTURE DU ZONING</a:t>
            </a:r>
            <a:endParaRPr lang="fr-FR" sz="1100" b="0" u="none" strike="noStrike">
              <a:solidFill>
                <a:srgbClr val="000000"/>
              </a:solidFill>
              <a:effectLst/>
              <a:uFillTx/>
              <a:latin typeface="Arial"/>
            </a:endParaRPr>
          </a:p>
        </p:txBody>
      </p:sp>
      <p:sp>
        <p:nvSpPr>
          <p:cNvPr id="1273" name="Text 18"/>
          <p:cNvSpPr/>
          <p:nvPr/>
        </p:nvSpPr>
        <p:spPr>
          <a:xfrm>
            <a:off x="4846320" y="256716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01</a:t>
            </a:r>
            <a:endParaRPr lang="fr-FR" sz="1000" b="0" u="none" strike="noStrike">
              <a:solidFill>
                <a:srgbClr val="000000"/>
              </a:solidFill>
              <a:effectLst/>
              <a:uFillTx/>
              <a:latin typeface="Arial"/>
            </a:endParaRPr>
          </a:p>
        </p:txBody>
      </p:sp>
      <p:sp>
        <p:nvSpPr>
          <p:cNvPr id="1274" name="Text 19"/>
          <p:cNvSpPr/>
          <p:nvPr/>
        </p:nvSpPr>
        <p:spPr>
          <a:xfrm>
            <a:off x="5257800" y="2567160"/>
            <a:ext cx="351324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0A0A0A"/>
                </a:solidFill>
                <a:effectLst/>
                <a:uFillTx/>
                <a:latin typeface="Satoshi"/>
                <a:ea typeface="Satoshi"/>
              </a:rPr>
              <a:t>Header classique. Logo à gauche, menu central, sélecteur de langue à droite.</a:t>
            </a:r>
            <a:endParaRPr lang="fr-FR" sz="900" b="0" u="none" strike="noStrike">
              <a:solidFill>
                <a:srgbClr val="000000"/>
              </a:solidFill>
              <a:effectLst/>
              <a:uFillTx/>
              <a:latin typeface="Arial"/>
            </a:endParaRPr>
          </a:p>
        </p:txBody>
      </p:sp>
      <p:sp>
        <p:nvSpPr>
          <p:cNvPr id="1275" name="Text 20"/>
          <p:cNvSpPr/>
          <p:nvPr/>
        </p:nvSpPr>
        <p:spPr>
          <a:xfrm>
            <a:off x="4846320" y="297864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02</a:t>
            </a:r>
            <a:endParaRPr lang="fr-FR" sz="1000" b="0" u="none" strike="noStrike">
              <a:solidFill>
                <a:srgbClr val="000000"/>
              </a:solidFill>
              <a:effectLst/>
              <a:uFillTx/>
              <a:latin typeface="Arial"/>
            </a:endParaRPr>
          </a:p>
        </p:txBody>
      </p:sp>
      <p:sp>
        <p:nvSpPr>
          <p:cNvPr id="1276" name="Text 21"/>
          <p:cNvSpPr/>
          <p:nvPr/>
        </p:nvSpPr>
        <p:spPr>
          <a:xfrm>
            <a:off x="5257800" y="2978640"/>
            <a:ext cx="351324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0A0A0A"/>
                </a:solidFill>
                <a:effectLst/>
                <a:uFillTx/>
                <a:latin typeface="Satoshi"/>
                <a:ea typeface="Satoshi"/>
              </a:rPr>
              <a:t>Section hero Fullscreen immersive avec starfield animé en arrière-plan et accroche typographique forte.</a:t>
            </a:r>
            <a:endParaRPr lang="fr-FR" sz="900" b="0" u="none" strike="noStrike">
              <a:solidFill>
                <a:srgbClr val="000000"/>
              </a:solidFill>
              <a:effectLst/>
              <a:uFillTx/>
              <a:latin typeface="Arial"/>
            </a:endParaRPr>
          </a:p>
        </p:txBody>
      </p:sp>
      <p:sp>
        <p:nvSpPr>
          <p:cNvPr id="1277" name="Text 22"/>
          <p:cNvSpPr/>
          <p:nvPr/>
        </p:nvSpPr>
        <p:spPr>
          <a:xfrm>
            <a:off x="4846320" y="339012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03</a:t>
            </a:r>
            <a:endParaRPr lang="fr-FR" sz="1000" b="0" u="none" strike="noStrike">
              <a:solidFill>
                <a:srgbClr val="000000"/>
              </a:solidFill>
              <a:effectLst/>
              <a:uFillTx/>
              <a:latin typeface="Arial"/>
            </a:endParaRPr>
          </a:p>
        </p:txBody>
      </p:sp>
      <p:sp>
        <p:nvSpPr>
          <p:cNvPr id="1278" name="Text 23"/>
          <p:cNvSpPr/>
          <p:nvPr/>
        </p:nvSpPr>
        <p:spPr>
          <a:xfrm>
            <a:off x="5257800" y="3390120"/>
            <a:ext cx="351324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0A0A0A"/>
                </a:solidFill>
                <a:effectLst/>
                <a:uFillTx/>
                <a:latin typeface="Satoshi"/>
                <a:ea typeface="Satoshi"/>
              </a:rPr>
              <a:t>Aperçu de trois projets phares avec affichage direct du titre et des technologies.</a:t>
            </a:r>
            <a:endParaRPr lang="fr-FR" sz="900" b="0" u="none" strike="noStrike">
              <a:solidFill>
                <a:srgbClr val="000000"/>
              </a:solidFill>
              <a:effectLst/>
              <a:uFillTx/>
              <a:latin typeface="Arial"/>
            </a:endParaRPr>
          </a:p>
        </p:txBody>
      </p:sp>
      <p:sp>
        <p:nvSpPr>
          <p:cNvPr id="1279" name="Text 26"/>
          <p:cNvSpPr/>
          <p:nvPr/>
        </p:nvSpPr>
        <p:spPr>
          <a:xfrm>
            <a:off x="4846320" y="381708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04</a:t>
            </a:r>
            <a:endParaRPr lang="fr-FR" sz="1000" b="0" u="none" strike="noStrike">
              <a:solidFill>
                <a:srgbClr val="000000"/>
              </a:solidFill>
              <a:effectLst/>
              <a:uFillTx/>
              <a:latin typeface="Arial"/>
            </a:endParaRPr>
          </a:p>
        </p:txBody>
      </p:sp>
      <p:sp>
        <p:nvSpPr>
          <p:cNvPr id="1280" name="Text 27"/>
          <p:cNvSpPr/>
          <p:nvPr/>
        </p:nvSpPr>
        <p:spPr>
          <a:xfrm>
            <a:off x="5257800" y="3817080"/>
            <a:ext cx="351324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0A0A0A"/>
                </a:solidFill>
                <a:effectLst/>
                <a:uFillTx/>
                <a:latin typeface="Satoshi"/>
                <a:ea typeface="Satoshi"/>
              </a:rPr>
              <a:t>Footer compact : icônes sociales, mentions légales, liens politique de confidentialité &amp; politique de cookies.</a:t>
            </a:r>
            <a:endParaRPr lang="fr-FR" sz="900" b="0" u="none" strike="noStrike">
              <a:solidFill>
                <a:srgbClr val="000000"/>
              </a:solidFill>
              <a:effectLst/>
              <a:uFillTx/>
              <a:latin typeface="Arial"/>
            </a:endParaRPr>
          </a:p>
        </p:txBody>
      </p:sp>
      <p:sp>
        <p:nvSpPr>
          <p:cNvPr id="1281" name="Shape 2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82" name="Text 2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283" name="Text 3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63</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1284" name=""/>
          <p:cNvPicPr/>
          <p:nvPr/>
        </p:nvPicPr>
        <p:blipFill>
          <a:blip r:embed="rId1"/>
          <a:stretch/>
        </p:blipFill>
        <p:spPr>
          <a:xfrm>
            <a:off x="889200" y="2107080"/>
            <a:ext cx="4726800" cy="2644920"/>
          </a:xfrm>
          <a:prstGeom prst="rect">
            <a:avLst/>
          </a:prstGeom>
          <a:noFill/>
          <a:ln w="0">
            <a:noFill/>
          </a:ln>
        </p:spPr>
      </p:pic>
      <p:sp>
        <p:nvSpPr>
          <p:cNvPr id="1285"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286"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287"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88"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WIREFRAMES I — Livrable 4.1</a:t>
            </a:r>
            <a:endParaRPr lang="fr-FR" sz="4400" b="0" u="none" strike="noStrike">
              <a:solidFill>
                <a:srgbClr val="000000"/>
              </a:solidFill>
              <a:effectLst/>
              <a:uFillTx/>
              <a:latin typeface="Arial"/>
            </a:endParaRPr>
          </a:p>
        </p:txBody>
      </p:sp>
      <p:sp>
        <p:nvSpPr>
          <p:cNvPr id="1289"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Maquette filaire desktop — accueil — niveau de gris (livrable 4.1)</a:t>
            </a:r>
            <a:endParaRPr lang="fr-FR" sz="1600" b="0" u="none" strike="noStrike">
              <a:solidFill>
                <a:srgbClr val="000000"/>
              </a:solidFill>
              <a:effectLst/>
              <a:uFillTx/>
              <a:latin typeface="Arial"/>
            </a:endParaRPr>
          </a:p>
        </p:txBody>
      </p:sp>
      <p:sp>
        <p:nvSpPr>
          <p:cNvPr id="1290" name="Text 9"/>
          <p:cNvSpPr/>
          <p:nvPr/>
        </p:nvSpPr>
        <p:spPr>
          <a:xfrm>
            <a:off x="6217920" y="2103120"/>
            <a:ext cx="25531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ANNOTATIONS</a:t>
            </a:r>
            <a:endParaRPr lang="fr-FR" sz="1100" b="0" u="none" strike="noStrike">
              <a:solidFill>
                <a:srgbClr val="000000"/>
              </a:solidFill>
              <a:effectLst/>
              <a:uFillTx/>
              <a:latin typeface="Arial"/>
            </a:endParaRPr>
          </a:p>
        </p:txBody>
      </p:sp>
      <p:sp>
        <p:nvSpPr>
          <p:cNvPr id="1291" name="Text 10"/>
          <p:cNvSpPr/>
          <p:nvPr/>
        </p:nvSpPr>
        <p:spPr>
          <a:xfrm>
            <a:off x="6217920" y="2423160"/>
            <a:ext cx="2553120" cy="2187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950" b="1" u="none" strike="noStrike">
                <a:solidFill>
                  <a:srgbClr val="0A0A0A"/>
                </a:solidFill>
                <a:effectLst/>
                <a:uFillTx/>
                <a:latin typeface="Satoshi"/>
                <a:ea typeface="Satoshi"/>
              </a:rPr>
              <a:t>Hauteur viewport</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1080 px (référence)</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950" b="1" u="none" strike="noStrike">
                <a:solidFill>
                  <a:srgbClr val="0A0A0A"/>
                </a:solidFill>
                <a:effectLst/>
                <a:uFillTx/>
                <a:latin typeface="Satoshi"/>
                <a:ea typeface="Satoshi"/>
              </a:rPr>
              <a:t>Grille</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12 colonnes, gouttière 24 px</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950" b="1" u="none" strike="noStrike">
                <a:solidFill>
                  <a:srgbClr val="0A0A0A"/>
                </a:solidFill>
                <a:effectLst/>
                <a:uFillTx/>
                <a:latin typeface="Satoshi"/>
                <a:ea typeface="Satoshi"/>
              </a:rPr>
              <a:t>Marges latérales</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max-width 1280 px</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950" b="1" u="none" strike="noStrike">
                <a:solidFill>
                  <a:srgbClr val="0A0A0A"/>
                </a:solidFill>
                <a:effectLst/>
                <a:uFillTx/>
                <a:latin typeface="Satoshi"/>
                <a:ea typeface="Satoshi"/>
              </a:rPr>
              <a:t>Structure Fullscreen</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Plein écran initial, le défilement vertical est volontairement désactivé pour créer une interface immersive</a:t>
            </a:r>
            <a:endParaRPr lang="fr-FR" sz="950" b="0" u="none" strike="noStrike">
              <a:solidFill>
                <a:srgbClr val="000000"/>
              </a:solidFill>
              <a:effectLst/>
              <a:uFillTx/>
              <a:latin typeface="Arial"/>
            </a:endParaRPr>
          </a:p>
        </p:txBody>
      </p:sp>
      <p:sp>
        <p:nvSpPr>
          <p:cNvPr id="1292" name="Shape 1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293" name="Text 12"/>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294" name="Text 13"/>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64</a:t>
            </a:r>
            <a:endParaRPr lang="fr-FR" sz="900" b="0" u="none" strike="noStrike">
              <a:solidFill>
                <a:srgbClr val="000000"/>
              </a:solidFill>
              <a:effectLst/>
              <a:uFillTx/>
              <a:latin typeface="Arial"/>
            </a:endParaRPr>
          </a:p>
        </p:txBody>
      </p:sp>
      <p:sp>
        <p:nvSpPr>
          <p:cNvPr id="1295" name="Text 8"/>
          <p:cNvSpPr/>
          <p:nvPr/>
        </p:nvSpPr>
        <p:spPr>
          <a:xfrm>
            <a:off x="457200" y="4527360"/>
            <a:ext cx="54792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700" b="0" i="1" u="none" strike="noStrike">
                <a:solidFill>
                  <a:srgbClr val="78909C"/>
                </a:solidFill>
                <a:effectLst/>
                <a:uFillTx/>
                <a:latin typeface="Satoshi"/>
                <a:ea typeface="Satoshi"/>
              </a:rPr>
              <a:t>Export Figma — wireframe en niveau de gris (sans charte appliquée)</a:t>
            </a:r>
            <a:endParaRPr lang="fr-FR" sz="700" b="0" u="none" strike="noStrike">
              <a:solidFill>
                <a:srgbClr val="000000"/>
              </a:solidFill>
              <a:effectLst/>
              <a:uFillTx/>
              <a:latin typeface="Arial"/>
            </a:endParaRPr>
          </a:p>
        </p:txBody>
      </p:sp>
      <p:sp>
        <p:nvSpPr>
          <p:cNvPr id="1296" name="Text 7"/>
          <p:cNvSpPr/>
          <p:nvPr/>
        </p:nvSpPr>
        <p:spPr>
          <a:xfrm>
            <a:off x="457200" y="4361040"/>
            <a:ext cx="54792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pc="150" strike="noStrike">
                <a:solidFill>
                  <a:srgbClr val="78909C"/>
                </a:solidFill>
                <a:effectLst/>
                <a:uFillTx/>
                <a:latin typeface="Satoshi"/>
                <a:ea typeface="Satoshi"/>
              </a:rPr>
              <a:t>WIREFRAME ACCUEIL</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29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29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29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0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WIREFRAMES II — Livrable 4.1</a:t>
            </a:r>
            <a:endParaRPr lang="fr-FR" sz="4400" b="0" u="none" strike="noStrike">
              <a:solidFill>
                <a:srgbClr val="000000"/>
              </a:solidFill>
              <a:effectLst/>
              <a:uFillTx/>
              <a:latin typeface="Arial"/>
            </a:endParaRPr>
          </a:p>
        </p:txBody>
      </p:sp>
      <p:sp>
        <p:nvSpPr>
          <p:cNvPr id="130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Maquettes filaires desktop — À propos &amp; Projets — niveau de gris (livrable 4.1)</a:t>
            </a:r>
            <a:endParaRPr lang="fr-FR" sz="1600" b="0" u="none" strike="noStrike">
              <a:solidFill>
                <a:srgbClr val="000000"/>
              </a:solidFill>
              <a:effectLst/>
              <a:uFillTx/>
              <a:latin typeface="Arial"/>
            </a:endParaRPr>
          </a:p>
        </p:txBody>
      </p:sp>
      <p:sp>
        <p:nvSpPr>
          <p:cNvPr id="1302" name="Shape 5"/>
          <p:cNvSpPr/>
          <p:nvPr/>
        </p:nvSpPr>
        <p:spPr>
          <a:xfrm>
            <a:off x="457200" y="1985400"/>
            <a:ext cx="4016160" cy="227880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03" name="Text 7"/>
          <p:cNvSpPr/>
          <p:nvPr/>
        </p:nvSpPr>
        <p:spPr>
          <a:xfrm>
            <a:off x="457200" y="4041000"/>
            <a:ext cx="401616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pc="150" strike="noStrike">
                <a:solidFill>
                  <a:srgbClr val="78909C"/>
                </a:solidFill>
                <a:effectLst/>
                <a:uFillTx/>
                <a:latin typeface="Satoshi"/>
                <a:ea typeface="Satoshi"/>
              </a:rPr>
              <a:t>À PROPOS</a:t>
            </a:r>
            <a:endParaRPr lang="fr-FR" sz="900" b="0" u="none" strike="noStrike">
              <a:solidFill>
                <a:srgbClr val="000000"/>
              </a:solidFill>
              <a:effectLst/>
              <a:uFillTx/>
              <a:latin typeface="Arial"/>
            </a:endParaRPr>
          </a:p>
        </p:txBody>
      </p:sp>
      <p:sp>
        <p:nvSpPr>
          <p:cNvPr id="1304" name="Text 8"/>
          <p:cNvSpPr/>
          <p:nvPr/>
        </p:nvSpPr>
        <p:spPr>
          <a:xfrm>
            <a:off x="640080" y="4265640"/>
            <a:ext cx="36504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700" b="0" i="1" u="none" strike="noStrike">
                <a:solidFill>
                  <a:srgbClr val="37474F"/>
                </a:solidFill>
                <a:effectLst/>
                <a:uFillTx/>
                <a:latin typeface="Satoshi"/>
                <a:ea typeface="Satoshi"/>
              </a:rPr>
              <a:t>Conteneur centré (900px), 3 boutons CV (vers liens HTML en ligne), biographie structurée</a:t>
            </a:r>
            <a:endParaRPr lang="fr-FR" sz="700" b="0" u="none" strike="noStrike">
              <a:solidFill>
                <a:srgbClr val="000000"/>
              </a:solidFill>
              <a:effectLst/>
              <a:uFillTx/>
              <a:latin typeface="Arial"/>
            </a:endParaRPr>
          </a:p>
        </p:txBody>
      </p:sp>
      <p:sp>
        <p:nvSpPr>
          <p:cNvPr id="1305" name="Shape 9"/>
          <p:cNvSpPr/>
          <p:nvPr/>
        </p:nvSpPr>
        <p:spPr>
          <a:xfrm>
            <a:off x="4663440" y="1985400"/>
            <a:ext cx="4016160" cy="227880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06" name="Text 11"/>
          <p:cNvSpPr/>
          <p:nvPr/>
        </p:nvSpPr>
        <p:spPr>
          <a:xfrm>
            <a:off x="4663440" y="4041000"/>
            <a:ext cx="401616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pc="150" strike="noStrike">
                <a:solidFill>
                  <a:srgbClr val="78909C"/>
                </a:solidFill>
                <a:effectLst/>
                <a:uFillTx/>
                <a:latin typeface="Satoshi"/>
                <a:ea typeface="Satoshi"/>
              </a:rPr>
              <a:t>PROJETS</a:t>
            </a:r>
            <a:endParaRPr lang="fr-FR" sz="900" b="0" u="none" strike="noStrike">
              <a:solidFill>
                <a:srgbClr val="000000"/>
              </a:solidFill>
              <a:effectLst/>
              <a:uFillTx/>
              <a:latin typeface="Arial"/>
            </a:endParaRPr>
          </a:p>
        </p:txBody>
      </p:sp>
      <p:sp>
        <p:nvSpPr>
          <p:cNvPr id="1307" name="Text 12"/>
          <p:cNvSpPr/>
          <p:nvPr/>
        </p:nvSpPr>
        <p:spPr>
          <a:xfrm>
            <a:off x="4846320" y="4265640"/>
            <a:ext cx="36504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700" b="0" i="1" u="none" strike="noStrike">
                <a:solidFill>
                  <a:srgbClr val="37474F"/>
                </a:solidFill>
                <a:effectLst/>
                <a:uFillTx/>
                <a:latin typeface="Satoshi"/>
                <a:ea typeface="Satoshi"/>
              </a:rPr>
              <a:t>Grille de cartes de projets avec affichage direct des titres et des badges technologiques</a:t>
            </a:r>
            <a:endParaRPr lang="fr-FR" sz="700" b="0" u="none" strike="noStrike">
              <a:solidFill>
                <a:srgbClr val="000000"/>
              </a:solidFill>
              <a:effectLst/>
              <a:uFillTx/>
              <a:latin typeface="Arial"/>
            </a:endParaRPr>
          </a:p>
        </p:txBody>
      </p:sp>
      <p:sp>
        <p:nvSpPr>
          <p:cNvPr id="1308" name="Text 13"/>
          <p:cNvSpPr/>
          <p:nvPr/>
        </p:nvSpPr>
        <p:spPr>
          <a:xfrm>
            <a:off x="457200" y="4526280"/>
            <a:ext cx="8313840" cy="175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Wireframes Figma en niveau de gris — export PNG haute résolution. La charte sera appliquée dans le livrable 4.2 (prototype graphique complet).</a:t>
            </a:r>
            <a:endParaRPr lang="fr-FR" sz="900" b="0" u="none" strike="noStrike">
              <a:solidFill>
                <a:srgbClr val="000000"/>
              </a:solidFill>
              <a:effectLst/>
              <a:uFillTx/>
              <a:latin typeface="Arial"/>
            </a:endParaRPr>
          </a:p>
        </p:txBody>
      </p:sp>
      <p:sp>
        <p:nvSpPr>
          <p:cNvPr id="1309" name="Shape 1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10" name="Text 15"/>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311" name="Text 16"/>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31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31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31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1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WIREFRAMES III — Livrable 4.1</a:t>
            </a:r>
            <a:endParaRPr lang="fr-FR" sz="4400" b="0" u="none" strike="noStrike">
              <a:solidFill>
                <a:srgbClr val="000000"/>
              </a:solidFill>
              <a:effectLst/>
              <a:uFillTx/>
              <a:latin typeface="Arial"/>
            </a:endParaRPr>
          </a:p>
        </p:txBody>
      </p:sp>
      <p:sp>
        <p:nvSpPr>
          <p:cNvPr id="131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Maquettes filaires mobile — adaptation responsive — niveau de gris (livrable 4.1)</a:t>
            </a:r>
            <a:endParaRPr lang="fr-FR" sz="1600" b="0" u="none" strike="noStrike">
              <a:solidFill>
                <a:srgbClr val="000000"/>
              </a:solidFill>
              <a:effectLst/>
              <a:uFillTx/>
              <a:latin typeface="Arial"/>
            </a:endParaRPr>
          </a:p>
        </p:txBody>
      </p:sp>
      <p:sp>
        <p:nvSpPr>
          <p:cNvPr id="1317" name="Shape 5"/>
          <p:cNvSpPr/>
          <p:nvPr/>
        </p:nvSpPr>
        <p:spPr>
          <a:xfrm>
            <a:off x="640080" y="2103120"/>
            <a:ext cx="1272960" cy="255312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18" name="Text 7"/>
          <p:cNvSpPr/>
          <p:nvPr/>
        </p:nvSpPr>
        <p:spPr>
          <a:xfrm>
            <a:off x="640080" y="4413600"/>
            <a:ext cx="127296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800" b="1" u="none" spc="150" strike="noStrike">
                <a:solidFill>
                  <a:srgbClr val="78909C"/>
                </a:solidFill>
                <a:effectLst/>
                <a:uFillTx/>
                <a:latin typeface="Satoshi"/>
                <a:ea typeface="Satoshi"/>
              </a:rPr>
              <a:t>ACCUEIL</a:t>
            </a:r>
            <a:endParaRPr lang="fr-FR" sz="800" b="0" u="none" strike="noStrike">
              <a:solidFill>
                <a:srgbClr val="000000"/>
              </a:solidFill>
              <a:effectLst/>
              <a:uFillTx/>
              <a:latin typeface="Arial"/>
            </a:endParaRPr>
          </a:p>
        </p:txBody>
      </p:sp>
      <p:sp>
        <p:nvSpPr>
          <p:cNvPr id="1319" name="Shape 8"/>
          <p:cNvSpPr/>
          <p:nvPr/>
        </p:nvSpPr>
        <p:spPr>
          <a:xfrm>
            <a:off x="2194560" y="2103120"/>
            <a:ext cx="1272960" cy="255312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20" name="Text 10"/>
          <p:cNvSpPr/>
          <p:nvPr/>
        </p:nvSpPr>
        <p:spPr>
          <a:xfrm>
            <a:off x="2194560" y="4413600"/>
            <a:ext cx="127296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800" b="1" u="none" spc="150" strike="noStrike">
                <a:solidFill>
                  <a:srgbClr val="78909C"/>
                </a:solidFill>
                <a:effectLst/>
                <a:uFillTx/>
                <a:latin typeface="Satoshi"/>
                <a:ea typeface="Satoshi"/>
              </a:rPr>
              <a:t>PROJETS</a:t>
            </a:r>
            <a:endParaRPr lang="fr-FR" sz="800" b="0" u="none" strike="noStrike">
              <a:solidFill>
                <a:srgbClr val="000000"/>
              </a:solidFill>
              <a:effectLst/>
              <a:uFillTx/>
              <a:latin typeface="Arial"/>
            </a:endParaRPr>
          </a:p>
        </p:txBody>
      </p:sp>
      <p:sp>
        <p:nvSpPr>
          <p:cNvPr id="1321" name="Shape 11"/>
          <p:cNvSpPr/>
          <p:nvPr/>
        </p:nvSpPr>
        <p:spPr>
          <a:xfrm>
            <a:off x="3749040" y="2103120"/>
            <a:ext cx="1272960" cy="2553120"/>
          </a:xfrm>
          <a:prstGeom prst="rect">
            <a:avLst/>
          </a:prstGeom>
          <a:solidFill>
            <a:srgbClr val="EBE4D5"/>
          </a:solidFill>
          <a:ln w="6350">
            <a:solidFill>
              <a:srgbClr val="7890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22" name="Text 13"/>
          <p:cNvSpPr/>
          <p:nvPr/>
        </p:nvSpPr>
        <p:spPr>
          <a:xfrm>
            <a:off x="3749040" y="4413600"/>
            <a:ext cx="127296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800" b="1" u="none" spc="150" strike="noStrike">
                <a:solidFill>
                  <a:srgbClr val="78909C"/>
                </a:solidFill>
                <a:effectLst/>
                <a:uFillTx/>
                <a:latin typeface="Satoshi"/>
                <a:ea typeface="Satoshi"/>
              </a:rPr>
              <a:t>CONTACT</a:t>
            </a:r>
            <a:endParaRPr lang="fr-FR" sz="800" b="0" u="none" strike="noStrike">
              <a:solidFill>
                <a:srgbClr val="000000"/>
              </a:solidFill>
              <a:effectLst/>
              <a:uFillTx/>
              <a:latin typeface="Arial"/>
            </a:endParaRPr>
          </a:p>
        </p:txBody>
      </p:sp>
      <p:sp>
        <p:nvSpPr>
          <p:cNvPr id="1323" name="Text 14"/>
          <p:cNvSpPr/>
          <p:nvPr/>
        </p:nvSpPr>
        <p:spPr>
          <a:xfrm>
            <a:off x="5486400" y="21031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ADAPTATIONS RESPONSIVE</a:t>
            </a:r>
            <a:endParaRPr lang="fr-FR" sz="1100" b="0" u="none" strike="noStrike">
              <a:solidFill>
                <a:srgbClr val="000000"/>
              </a:solidFill>
              <a:effectLst/>
              <a:uFillTx/>
              <a:latin typeface="Arial"/>
            </a:endParaRPr>
          </a:p>
        </p:txBody>
      </p:sp>
      <p:sp>
        <p:nvSpPr>
          <p:cNvPr id="1324" name="Text 15"/>
          <p:cNvSpPr/>
          <p:nvPr/>
        </p:nvSpPr>
        <p:spPr>
          <a:xfrm>
            <a:off x="5486400" y="2423160"/>
            <a:ext cx="3284640" cy="2187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Menu</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Drawer plein écran avec burger animé</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Grille projets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Cartes en pile verticale 1 colonne</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Formulaire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Champs en pleine largeur, clavier adapté</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Breakpoints</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767 px (tablette) · 480 px (mobile)</a:t>
            </a:r>
            <a:endParaRPr lang="fr-FR" sz="950" b="0" u="none" strike="noStrike">
              <a:solidFill>
                <a:srgbClr val="000000"/>
              </a:solidFill>
              <a:effectLst/>
              <a:uFillTx/>
              <a:latin typeface="Arial"/>
            </a:endParaRPr>
          </a:p>
        </p:txBody>
      </p:sp>
      <p:sp>
        <p:nvSpPr>
          <p:cNvPr id="1325" name="Shape 1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26" name="Text 1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327" name="Text 1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328"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08</a:t>
            </a:r>
            <a:endParaRPr lang="fr-FR" sz="28000" b="0" u="none" strike="noStrike">
              <a:solidFill>
                <a:srgbClr val="FFFFFF"/>
              </a:solidFill>
              <a:effectLst/>
              <a:uFillTx/>
              <a:latin typeface="Arial"/>
            </a:endParaRPr>
          </a:p>
        </p:txBody>
      </p:sp>
      <p:sp>
        <p:nvSpPr>
          <p:cNvPr id="1329"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600" b="1" u="none" strike="noStrike">
                <a:solidFill>
                  <a:srgbClr val="F4EFE6"/>
                </a:solidFill>
                <a:effectLst/>
                <a:uFillTx/>
                <a:latin typeface="Arelv"/>
                <a:ea typeface="Arelv"/>
              </a:rPr>
              <a:t>SPÉCIFICATIONS</a:t>
            </a:r>
            <a:endParaRPr lang="fr-FR" sz="2600" b="0" u="none" strike="noStrike">
              <a:solidFill>
                <a:srgbClr val="FFFFFF"/>
              </a:solidFill>
              <a:effectLst/>
              <a:uFillTx/>
              <a:latin typeface="Arial"/>
            </a:endParaRPr>
          </a:p>
        </p:txBody>
      </p:sp>
      <p:sp>
        <p:nvSpPr>
          <p:cNvPr id="1330"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TECHNIQUES</a:t>
            </a:r>
            <a:endParaRPr lang="fr-FR" sz="3200" b="0" u="none" strike="noStrike">
              <a:solidFill>
                <a:srgbClr val="FFFFFF"/>
              </a:solidFill>
              <a:effectLst/>
              <a:uFillTx/>
              <a:latin typeface="Arial"/>
            </a:endParaRPr>
          </a:p>
        </p:txBody>
      </p:sp>
      <p:sp>
        <p:nvSpPr>
          <p:cNvPr id="1331"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Huitième partie · pages 67 → 75</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33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33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33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3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800" b="1" u="none" strike="noStrike">
                <a:solidFill>
                  <a:srgbClr val="0A0A0A"/>
                </a:solidFill>
                <a:effectLst/>
                <a:uFillTx/>
                <a:latin typeface="Arelv"/>
                <a:ea typeface="Arelv"/>
              </a:rPr>
              <a:t>POURQUOI WORDPRESS</a:t>
            </a:r>
            <a:endParaRPr lang="fr-FR" sz="3800" b="0" u="none" strike="noStrike">
              <a:solidFill>
                <a:srgbClr val="000000"/>
              </a:solidFill>
              <a:effectLst/>
              <a:uFillTx/>
              <a:latin typeface="Arial"/>
            </a:endParaRPr>
          </a:p>
        </p:txBody>
      </p:sp>
      <p:sp>
        <p:nvSpPr>
          <p:cNvPr id="133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Justification du choix technique imposé par le cadre pédagogique</a:t>
            </a:r>
            <a:endParaRPr lang="fr-FR" sz="1400" b="0" u="none" strike="noStrike">
              <a:solidFill>
                <a:srgbClr val="000000"/>
              </a:solidFill>
              <a:effectLst/>
              <a:uFillTx/>
              <a:latin typeface="Arial"/>
            </a:endParaRPr>
          </a:p>
        </p:txBody>
      </p:sp>
      <p:sp>
        <p:nvSpPr>
          <p:cNvPr id="1337" name="Text 5"/>
          <p:cNvSpPr/>
          <p:nvPr/>
        </p:nvSpPr>
        <p:spPr>
          <a:xfrm>
            <a:off x="457200" y="2011680"/>
            <a:ext cx="822240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 projet pédagogique impose WordPress comme système de gestion de contenu. Au-delà de cette contrainte, le choix se justifie objectivement par cinq critères opérationnels.</a:t>
            </a:r>
            <a:endParaRPr lang="fr-FR" sz="1100" b="0" u="none" strike="noStrike">
              <a:solidFill>
                <a:srgbClr val="000000"/>
              </a:solidFill>
              <a:effectLst/>
              <a:uFillTx/>
              <a:latin typeface="Arial"/>
            </a:endParaRPr>
          </a:p>
        </p:txBody>
      </p:sp>
      <p:sp>
        <p:nvSpPr>
          <p:cNvPr id="1338" name="Text 6"/>
          <p:cNvSpPr/>
          <p:nvPr/>
        </p:nvSpPr>
        <p:spPr>
          <a:xfrm>
            <a:off x="457200" y="2651760"/>
            <a:ext cx="541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F360C"/>
                </a:solidFill>
                <a:effectLst/>
                <a:uFillTx/>
                <a:latin typeface="Arelv"/>
                <a:ea typeface="Arelv"/>
              </a:rPr>
              <a:t>01</a:t>
            </a:r>
            <a:endParaRPr lang="fr-FR" sz="1600" b="0" u="none" strike="noStrike">
              <a:solidFill>
                <a:srgbClr val="000000"/>
              </a:solidFill>
              <a:effectLst/>
              <a:uFillTx/>
              <a:latin typeface="Arial"/>
            </a:endParaRPr>
          </a:p>
        </p:txBody>
      </p:sp>
      <p:sp>
        <p:nvSpPr>
          <p:cNvPr id="1339" name="Text 7"/>
          <p:cNvSpPr/>
          <p:nvPr/>
        </p:nvSpPr>
        <p:spPr>
          <a:xfrm>
            <a:off x="1051560" y="2679120"/>
            <a:ext cx="20959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Universalité</a:t>
            </a:r>
            <a:endParaRPr lang="fr-FR" sz="1200" b="0" u="none" strike="noStrike">
              <a:solidFill>
                <a:srgbClr val="000000"/>
              </a:solidFill>
              <a:effectLst/>
              <a:uFillTx/>
              <a:latin typeface="Arial"/>
            </a:endParaRPr>
          </a:p>
        </p:txBody>
      </p:sp>
      <p:sp>
        <p:nvSpPr>
          <p:cNvPr id="1340" name="Text 8"/>
          <p:cNvSpPr/>
          <p:nvPr/>
        </p:nvSpPr>
        <p:spPr>
          <a:xfrm>
            <a:off x="3200400" y="2679120"/>
            <a:ext cx="557064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43 % des sites mondiaux tournent sous WordPress. Compétence transversale, valorisable sur tout marché.</a:t>
            </a:r>
            <a:endParaRPr lang="fr-FR" sz="1050" b="0" u="none" strike="noStrike">
              <a:solidFill>
                <a:srgbClr val="000000"/>
              </a:solidFill>
              <a:effectLst/>
              <a:uFillTx/>
              <a:latin typeface="Arial"/>
            </a:endParaRPr>
          </a:p>
        </p:txBody>
      </p:sp>
      <p:sp>
        <p:nvSpPr>
          <p:cNvPr id="1341" name="Shape 9"/>
          <p:cNvSpPr/>
          <p:nvPr/>
        </p:nvSpPr>
        <p:spPr>
          <a:xfrm>
            <a:off x="457200" y="301752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42" name="Text 10"/>
          <p:cNvSpPr/>
          <p:nvPr/>
        </p:nvSpPr>
        <p:spPr>
          <a:xfrm>
            <a:off x="457200" y="3063240"/>
            <a:ext cx="541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F360C"/>
                </a:solidFill>
                <a:effectLst/>
                <a:uFillTx/>
                <a:latin typeface="Arelv"/>
                <a:ea typeface="Arelv"/>
              </a:rPr>
              <a:t>02</a:t>
            </a:r>
            <a:endParaRPr lang="fr-FR" sz="1600" b="0" u="none" strike="noStrike">
              <a:solidFill>
                <a:srgbClr val="000000"/>
              </a:solidFill>
              <a:effectLst/>
              <a:uFillTx/>
              <a:latin typeface="Arial"/>
            </a:endParaRPr>
          </a:p>
        </p:txBody>
      </p:sp>
      <p:sp>
        <p:nvSpPr>
          <p:cNvPr id="1343" name="Text 11"/>
          <p:cNvSpPr/>
          <p:nvPr/>
        </p:nvSpPr>
        <p:spPr>
          <a:xfrm>
            <a:off x="1051560" y="3090600"/>
            <a:ext cx="20959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Écosystème</a:t>
            </a:r>
            <a:endParaRPr lang="fr-FR" sz="1200" b="0" u="none" strike="noStrike">
              <a:solidFill>
                <a:srgbClr val="000000"/>
              </a:solidFill>
              <a:effectLst/>
              <a:uFillTx/>
              <a:latin typeface="Arial"/>
            </a:endParaRPr>
          </a:p>
        </p:txBody>
      </p:sp>
      <p:sp>
        <p:nvSpPr>
          <p:cNvPr id="1344" name="Text 12"/>
          <p:cNvSpPr/>
          <p:nvPr/>
        </p:nvSpPr>
        <p:spPr>
          <a:xfrm>
            <a:off x="3200400" y="3090600"/>
            <a:ext cx="557064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Plus de 60 000 plugins gratuits. Polylang, Contact Form 7, Complianz, Wordfence couvrent tous les besoins du projet.</a:t>
            </a:r>
            <a:endParaRPr lang="fr-FR" sz="1050" b="0" u="none" strike="noStrike">
              <a:solidFill>
                <a:srgbClr val="000000"/>
              </a:solidFill>
              <a:effectLst/>
              <a:uFillTx/>
              <a:latin typeface="Arial"/>
            </a:endParaRPr>
          </a:p>
        </p:txBody>
      </p:sp>
      <p:sp>
        <p:nvSpPr>
          <p:cNvPr id="1345" name="Shape 13"/>
          <p:cNvSpPr/>
          <p:nvPr/>
        </p:nvSpPr>
        <p:spPr>
          <a:xfrm>
            <a:off x="457200" y="342900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46" name="Text 14"/>
          <p:cNvSpPr/>
          <p:nvPr/>
        </p:nvSpPr>
        <p:spPr>
          <a:xfrm>
            <a:off x="457200" y="3474720"/>
            <a:ext cx="541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F360C"/>
                </a:solidFill>
                <a:effectLst/>
                <a:uFillTx/>
                <a:latin typeface="Arelv"/>
                <a:ea typeface="Arelv"/>
              </a:rPr>
              <a:t>03</a:t>
            </a:r>
            <a:endParaRPr lang="fr-FR" sz="1600" b="0" u="none" strike="noStrike">
              <a:solidFill>
                <a:srgbClr val="000000"/>
              </a:solidFill>
              <a:effectLst/>
              <a:uFillTx/>
              <a:latin typeface="Arial"/>
            </a:endParaRPr>
          </a:p>
        </p:txBody>
      </p:sp>
      <p:sp>
        <p:nvSpPr>
          <p:cNvPr id="1347" name="Text 15"/>
          <p:cNvSpPr/>
          <p:nvPr/>
        </p:nvSpPr>
        <p:spPr>
          <a:xfrm>
            <a:off x="1051560" y="3502080"/>
            <a:ext cx="20959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Maintenance</a:t>
            </a:r>
            <a:endParaRPr lang="fr-FR" sz="1200" b="0" u="none" strike="noStrike">
              <a:solidFill>
                <a:srgbClr val="000000"/>
              </a:solidFill>
              <a:effectLst/>
              <a:uFillTx/>
              <a:latin typeface="Arial"/>
            </a:endParaRPr>
          </a:p>
        </p:txBody>
      </p:sp>
      <p:sp>
        <p:nvSpPr>
          <p:cNvPr id="1348" name="Text 16"/>
          <p:cNvSpPr/>
          <p:nvPr/>
        </p:nvSpPr>
        <p:spPr>
          <a:xfrm>
            <a:off x="3200400" y="3502080"/>
            <a:ext cx="557064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Mises à jour automatiques, interface admin accessible. Le portfolio peut évoluer sans intervention du développeur.</a:t>
            </a:r>
            <a:endParaRPr lang="fr-FR" sz="1050" b="0" u="none" strike="noStrike">
              <a:solidFill>
                <a:srgbClr val="000000"/>
              </a:solidFill>
              <a:effectLst/>
              <a:uFillTx/>
              <a:latin typeface="Arial"/>
            </a:endParaRPr>
          </a:p>
        </p:txBody>
      </p:sp>
      <p:sp>
        <p:nvSpPr>
          <p:cNvPr id="1349" name="Shape 17"/>
          <p:cNvSpPr/>
          <p:nvPr/>
        </p:nvSpPr>
        <p:spPr>
          <a:xfrm>
            <a:off x="457200" y="384048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50" name="Text 18"/>
          <p:cNvSpPr/>
          <p:nvPr/>
        </p:nvSpPr>
        <p:spPr>
          <a:xfrm>
            <a:off x="457200" y="3886200"/>
            <a:ext cx="541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F360C"/>
                </a:solidFill>
                <a:effectLst/>
                <a:uFillTx/>
                <a:latin typeface="Arelv"/>
                <a:ea typeface="Arelv"/>
              </a:rPr>
              <a:t>04</a:t>
            </a:r>
            <a:endParaRPr lang="fr-FR" sz="1600" b="0" u="none" strike="noStrike">
              <a:solidFill>
                <a:srgbClr val="000000"/>
              </a:solidFill>
              <a:effectLst/>
              <a:uFillTx/>
              <a:latin typeface="Arial"/>
            </a:endParaRPr>
          </a:p>
        </p:txBody>
      </p:sp>
      <p:sp>
        <p:nvSpPr>
          <p:cNvPr id="1351" name="Text 19"/>
          <p:cNvSpPr/>
          <p:nvPr/>
        </p:nvSpPr>
        <p:spPr>
          <a:xfrm>
            <a:off x="1051560" y="3913560"/>
            <a:ext cx="20959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SEO natif</a:t>
            </a:r>
            <a:endParaRPr lang="fr-FR" sz="1200" b="0" u="none" strike="noStrike">
              <a:solidFill>
                <a:srgbClr val="000000"/>
              </a:solidFill>
              <a:effectLst/>
              <a:uFillTx/>
              <a:latin typeface="Arial"/>
            </a:endParaRPr>
          </a:p>
        </p:txBody>
      </p:sp>
      <p:sp>
        <p:nvSpPr>
          <p:cNvPr id="1352" name="Text 20"/>
          <p:cNvSpPr/>
          <p:nvPr/>
        </p:nvSpPr>
        <p:spPr>
          <a:xfrm>
            <a:off x="3200400" y="3913560"/>
            <a:ext cx="557064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Architecture URL propre, hreflang automatique avec Polylang, intégration Yoast SEO pour optimisation fine.</a:t>
            </a:r>
            <a:endParaRPr lang="fr-FR" sz="1050" b="0" u="none" strike="noStrike">
              <a:solidFill>
                <a:srgbClr val="000000"/>
              </a:solidFill>
              <a:effectLst/>
              <a:uFillTx/>
              <a:latin typeface="Arial"/>
            </a:endParaRPr>
          </a:p>
        </p:txBody>
      </p:sp>
      <p:sp>
        <p:nvSpPr>
          <p:cNvPr id="1353" name="Shape 21"/>
          <p:cNvSpPr/>
          <p:nvPr/>
        </p:nvSpPr>
        <p:spPr>
          <a:xfrm>
            <a:off x="457200" y="425196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54" name="Text 22"/>
          <p:cNvSpPr/>
          <p:nvPr/>
        </p:nvSpPr>
        <p:spPr>
          <a:xfrm>
            <a:off x="457200" y="4297680"/>
            <a:ext cx="541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F360C"/>
                </a:solidFill>
                <a:effectLst/>
                <a:uFillTx/>
                <a:latin typeface="Arelv"/>
                <a:ea typeface="Arelv"/>
              </a:rPr>
              <a:t>05</a:t>
            </a:r>
            <a:endParaRPr lang="fr-FR" sz="1600" b="0" u="none" strike="noStrike">
              <a:solidFill>
                <a:srgbClr val="000000"/>
              </a:solidFill>
              <a:effectLst/>
              <a:uFillTx/>
              <a:latin typeface="Arial"/>
            </a:endParaRPr>
          </a:p>
        </p:txBody>
      </p:sp>
      <p:sp>
        <p:nvSpPr>
          <p:cNvPr id="1355" name="Text 23"/>
          <p:cNvSpPr/>
          <p:nvPr/>
        </p:nvSpPr>
        <p:spPr>
          <a:xfrm>
            <a:off x="1051560" y="4325040"/>
            <a:ext cx="20959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A0A0A"/>
                </a:solidFill>
                <a:effectLst/>
                <a:uFillTx/>
                <a:latin typeface="Satoshi"/>
                <a:ea typeface="Satoshi"/>
              </a:rPr>
              <a:t>Cadre péda.</a:t>
            </a:r>
            <a:endParaRPr lang="fr-FR" sz="1200" b="0" u="none" strike="noStrike">
              <a:solidFill>
                <a:srgbClr val="000000"/>
              </a:solidFill>
              <a:effectLst/>
              <a:uFillTx/>
              <a:latin typeface="Arial"/>
            </a:endParaRPr>
          </a:p>
        </p:txBody>
      </p:sp>
      <p:sp>
        <p:nvSpPr>
          <p:cNvPr id="1356" name="Text 24"/>
          <p:cNvSpPr/>
          <p:nvPr/>
        </p:nvSpPr>
        <p:spPr>
          <a:xfrm>
            <a:off x="3200400" y="4325040"/>
            <a:ext cx="5570640" cy="31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50" b="0" u="none" strike="noStrike">
                <a:solidFill>
                  <a:srgbClr val="37474F"/>
                </a:solidFill>
                <a:effectLst/>
                <a:uFillTx/>
                <a:latin typeface="Satoshi"/>
                <a:ea typeface="Satoshi"/>
              </a:rPr>
              <a:t>Exigence explicite du référent pédagogique Benoît MOTTIN. Évaluation alignée avec les compétences enseignées en formation.</a:t>
            </a:r>
            <a:endParaRPr lang="fr-FR" sz="1050" b="0" u="none" strike="noStrike">
              <a:solidFill>
                <a:srgbClr val="000000"/>
              </a:solidFill>
              <a:effectLst/>
              <a:uFillTx/>
              <a:latin typeface="Arial"/>
            </a:endParaRPr>
          </a:p>
        </p:txBody>
      </p:sp>
      <p:sp>
        <p:nvSpPr>
          <p:cNvPr id="1357" name="Shape 25"/>
          <p:cNvSpPr/>
          <p:nvPr/>
        </p:nvSpPr>
        <p:spPr>
          <a:xfrm>
            <a:off x="457200" y="4663440"/>
            <a:ext cx="8321040" cy="360"/>
          </a:xfrm>
          <a:prstGeom prst="line">
            <a:avLst/>
          </a:prstGeom>
          <a:ln w="508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58" name="Shape 2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59" name="Text 2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360" name="Text 2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36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36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36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36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000" b="1" u="none" strike="noStrike">
                <a:solidFill>
                  <a:srgbClr val="0A0A0A"/>
                </a:solidFill>
                <a:effectLst/>
                <a:uFillTx/>
                <a:latin typeface="Arelv"/>
                <a:ea typeface="Arelv"/>
              </a:rPr>
              <a:t>STACK TECHNIQUE</a:t>
            </a:r>
            <a:endParaRPr lang="fr-FR" sz="4000" b="0" u="none" strike="noStrike">
              <a:solidFill>
                <a:srgbClr val="000000"/>
              </a:solidFill>
              <a:effectLst/>
              <a:uFillTx/>
              <a:latin typeface="Arial"/>
            </a:endParaRPr>
          </a:p>
        </p:txBody>
      </p:sp>
      <p:sp>
        <p:nvSpPr>
          <p:cNvPr id="136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Architecture WordPress et extensions retenues</a:t>
            </a:r>
            <a:endParaRPr lang="fr-FR" sz="1400" b="0" u="none" strike="noStrike">
              <a:solidFill>
                <a:srgbClr val="000000"/>
              </a:solidFill>
              <a:effectLst/>
              <a:uFillTx/>
              <a:latin typeface="Arial"/>
            </a:endParaRPr>
          </a:p>
        </p:txBody>
      </p:sp>
      <p:sp>
        <p:nvSpPr>
          <p:cNvPr id="1366" name="Shape 5"/>
          <p:cNvSpPr/>
          <p:nvPr/>
        </p:nvSpPr>
        <p:spPr>
          <a:xfrm>
            <a:off x="457200" y="2057400"/>
            <a:ext cx="4016160" cy="12272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67" name="Text 6"/>
          <p:cNvSpPr/>
          <p:nvPr/>
        </p:nvSpPr>
        <p:spPr>
          <a:xfrm>
            <a:off x="640080" y="216720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CŒUR</a:t>
            </a:r>
            <a:endParaRPr lang="fr-FR" sz="1200" b="0" u="none" strike="noStrike">
              <a:solidFill>
                <a:srgbClr val="000000"/>
              </a:solidFill>
              <a:effectLst/>
              <a:uFillTx/>
              <a:latin typeface="Arial"/>
            </a:endParaRPr>
          </a:p>
        </p:txBody>
      </p:sp>
      <p:sp>
        <p:nvSpPr>
          <p:cNvPr id="1368" name="Text 7"/>
          <p:cNvSpPr/>
          <p:nvPr/>
        </p:nvSpPr>
        <p:spPr>
          <a:xfrm>
            <a:off x="640080" y="2496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WordPress</a:t>
            </a:r>
            <a:endParaRPr lang="fr-FR" sz="950" b="0" u="none" strike="noStrike">
              <a:solidFill>
                <a:srgbClr val="000000"/>
              </a:solidFill>
              <a:effectLst/>
              <a:uFillTx/>
              <a:latin typeface="Arial"/>
            </a:endParaRPr>
          </a:p>
        </p:txBody>
      </p:sp>
      <p:sp>
        <p:nvSpPr>
          <p:cNvPr id="1369" name="Text 8"/>
          <p:cNvSpPr/>
          <p:nvPr/>
        </p:nvSpPr>
        <p:spPr>
          <a:xfrm>
            <a:off x="640080" y="26791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V 7.0 (dernière MAJ)</a:t>
            </a:r>
            <a:endParaRPr lang="fr-FR" sz="900" b="0" u="none" strike="noStrike">
              <a:solidFill>
                <a:srgbClr val="000000"/>
              </a:solidFill>
              <a:effectLst/>
              <a:uFillTx/>
              <a:latin typeface="Arial"/>
            </a:endParaRPr>
          </a:p>
        </p:txBody>
      </p:sp>
      <p:sp>
        <p:nvSpPr>
          <p:cNvPr id="1370" name="Text 9"/>
          <p:cNvSpPr/>
          <p:nvPr/>
        </p:nvSpPr>
        <p:spPr>
          <a:xfrm>
            <a:off x="2468880" y="2496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PHP</a:t>
            </a:r>
            <a:endParaRPr lang="fr-FR" sz="950" b="0" u="none" strike="noStrike">
              <a:solidFill>
                <a:srgbClr val="000000"/>
              </a:solidFill>
              <a:effectLst/>
              <a:uFillTx/>
              <a:latin typeface="Arial"/>
            </a:endParaRPr>
          </a:p>
        </p:txBody>
      </p:sp>
      <p:sp>
        <p:nvSpPr>
          <p:cNvPr id="1371" name="Text 10"/>
          <p:cNvSpPr/>
          <p:nvPr/>
        </p:nvSpPr>
        <p:spPr>
          <a:xfrm>
            <a:off x="2468880" y="26791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v8.2+</a:t>
            </a:r>
            <a:endParaRPr lang="fr-FR" sz="900" b="0" u="none" strike="noStrike">
              <a:solidFill>
                <a:srgbClr val="000000"/>
              </a:solidFill>
              <a:effectLst/>
              <a:uFillTx/>
              <a:latin typeface="Arial"/>
            </a:endParaRPr>
          </a:p>
        </p:txBody>
      </p:sp>
      <p:sp>
        <p:nvSpPr>
          <p:cNvPr id="1372" name="Text 11"/>
          <p:cNvSpPr/>
          <p:nvPr/>
        </p:nvSpPr>
        <p:spPr>
          <a:xfrm>
            <a:off x="640080" y="29163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MySQL</a:t>
            </a:r>
            <a:endParaRPr lang="fr-FR" sz="950" b="0" u="none" strike="noStrike">
              <a:solidFill>
                <a:srgbClr val="000000"/>
              </a:solidFill>
              <a:effectLst/>
              <a:uFillTx/>
              <a:latin typeface="Arial"/>
            </a:endParaRPr>
          </a:p>
        </p:txBody>
      </p:sp>
      <p:sp>
        <p:nvSpPr>
          <p:cNvPr id="1373" name="Text 12"/>
          <p:cNvSpPr/>
          <p:nvPr/>
        </p:nvSpPr>
        <p:spPr>
          <a:xfrm>
            <a:off x="640080" y="3063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v8.0+</a:t>
            </a:r>
            <a:endParaRPr lang="fr-FR" sz="900" b="0" u="none" strike="noStrike">
              <a:solidFill>
                <a:srgbClr val="000000"/>
              </a:solidFill>
              <a:effectLst/>
              <a:uFillTx/>
              <a:latin typeface="Arial"/>
            </a:endParaRPr>
          </a:p>
        </p:txBody>
      </p:sp>
      <p:sp>
        <p:nvSpPr>
          <p:cNvPr id="1374" name="Text 13"/>
          <p:cNvSpPr/>
          <p:nvPr/>
        </p:nvSpPr>
        <p:spPr>
          <a:xfrm>
            <a:off x="2468880" y="29163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Serveur</a:t>
            </a:r>
            <a:endParaRPr lang="fr-FR" sz="950" b="0" u="none" strike="noStrike">
              <a:solidFill>
                <a:srgbClr val="000000"/>
              </a:solidFill>
              <a:effectLst/>
              <a:uFillTx/>
              <a:latin typeface="Arial"/>
            </a:endParaRPr>
          </a:p>
        </p:txBody>
      </p:sp>
      <p:sp>
        <p:nvSpPr>
          <p:cNvPr id="1375" name="Text 14"/>
          <p:cNvSpPr/>
          <p:nvPr/>
        </p:nvSpPr>
        <p:spPr>
          <a:xfrm>
            <a:off x="2468880" y="3063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Apache</a:t>
            </a:r>
            <a:endParaRPr lang="fr-FR" sz="900" b="0" u="none" strike="noStrike">
              <a:solidFill>
                <a:srgbClr val="000000"/>
              </a:solidFill>
              <a:effectLst/>
              <a:uFillTx/>
              <a:latin typeface="Arial"/>
            </a:endParaRPr>
          </a:p>
        </p:txBody>
      </p:sp>
      <p:sp>
        <p:nvSpPr>
          <p:cNvPr id="1376" name="Shape 15"/>
          <p:cNvSpPr/>
          <p:nvPr/>
        </p:nvSpPr>
        <p:spPr>
          <a:xfrm>
            <a:off x="4663440" y="2057400"/>
            <a:ext cx="4016160" cy="12272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77" name="Text 16"/>
          <p:cNvSpPr/>
          <p:nvPr/>
        </p:nvSpPr>
        <p:spPr>
          <a:xfrm>
            <a:off x="4846320" y="216720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THÈME &amp; DESIGN</a:t>
            </a:r>
            <a:endParaRPr lang="fr-FR" sz="1200" b="0" u="none" strike="noStrike">
              <a:solidFill>
                <a:srgbClr val="000000"/>
              </a:solidFill>
              <a:effectLst/>
              <a:uFillTx/>
              <a:latin typeface="Arial"/>
            </a:endParaRPr>
          </a:p>
        </p:txBody>
      </p:sp>
      <p:sp>
        <p:nvSpPr>
          <p:cNvPr id="1378" name="Text 17"/>
          <p:cNvSpPr/>
          <p:nvPr/>
        </p:nvSpPr>
        <p:spPr>
          <a:xfrm>
            <a:off x="4846320" y="2496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Thème</a:t>
            </a:r>
            <a:endParaRPr lang="fr-FR" sz="950" b="0" u="none" strike="noStrike">
              <a:solidFill>
                <a:srgbClr val="000000"/>
              </a:solidFill>
              <a:effectLst/>
              <a:uFillTx/>
              <a:latin typeface="Arial"/>
            </a:endParaRPr>
          </a:p>
        </p:txBody>
      </p:sp>
      <p:sp>
        <p:nvSpPr>
          <p:cNvPr id="1379" name="Text 18"/>
          <p:cNvSpPr/>
          <p:nvPr/>
        </p:nvSpPr>
        <p:spPr>
          <a:xfrm>
            <a:off x="4846320" y="26791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Astra (free)</a:t>
            </a:r>
            <a:endParaRPr lang="fr-FR" sz="900" b="0" u="none" strike="noStrike">
              <a:solidFill>
                <a:srgbClr val="000000"/>
              </a:solidFill>
              <a:effectLst/>
              <a:uFillTx/>
              <a:latin typeface="Arial"/>
            </a:endParaRPr>
          </a:p>
        </p:txBody>
      </p:sp>
      <p:sp>
        <p:nvSpPr>
          <p:cNvPr id="1380" name="Text 19"/>
          <p:cNvSpPr/>
          <p:nvPr/>
        </p:nvSpPr>
        <p:spPr>
          <a:xfrm>
            <a:off x="6675120" y="2496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Builder</a:t>
            </a:r>
            <a:endParaRPr lang="fr-FR" sz="950" b="0" u="none" strike="noStrike">
              <a:solidFill>
                <a:srgbClr val="000000"/>
              </a:solidFill>
              <a:effectLst/>
              <a:uFillTx/>
              <a:latin typeface="Arial"/>
            </a:endParaRPr>
          </a:p>
        </p:txBody>
      </p:sp>
      <p:sp>
        <p:nvSpPr>
          <p:cNvPr id="1381" name="Text 20"/>
          <p:cNvSpPr/>
          <p:nvPr/>
        </p:nvSpPr>
        <p:spPr>
          <a:xfrm>
            <a:off x="6675120" y="26791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Elementor (free)</a:t>
            </a:r>
            <a:endParaRPr lang="fr-FR" sz="900" b="0" u="none" strike="noStrike">
              <a:solidFill>
                <a:srgbClr val="000000"/>
              </a:solidFill>
              <a:effectLst/>
              <a:uFillTx/>
              <a:latin typeface="Arial"/>
            </a:endParaRPr>
          </a:p>
        </p:txBody>
      </p:sp>
      <p:sp>
        <p:nvSpPr>
          <p:cNvPr id="1382" name="Text 21"/>
          <p:cNvSpPr/>
          <p:nvPr/>
        </p:nvSpPr>
        <p:spPr>
          <a:xfrm>
            <a:off x="4846320" y="29163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CSS custom</a:t>
            </a:r>
            <a:endParaRPr lang="fr-FR" sz="950" b="0" u="none" strike="noStrike">
              <a:solidFill>
                <a:srgbClr val="000000"/>
              </a:solidFill>
              <a:effectLst/>
              <a:uFillTx/>
              <a:latin typeface="Arial"/>
            </a:endParaRPr>
          </a:p>
        </p:txBody>
      </p:sp>
      <p:sp>
        <p:nvSpPr>
          <p:cNvPr id="1383" name="Text 22"/>
          <p:cNvSpPr/>
          <p:nvPr/>
        </p:nvSpPr>
        <p:spPr>
          <a:xfrm>
            <a:off x="4846320" y="3063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via WPCode</a:t>
            </a:r>
            <a:endParaRPr lang="fr-FR" sz="900" b="0" u="none" strike="noStrike">
              <a:solidFill>
                <a:srgbClr val="000000"/>
              </a:solidFill>
              <a:effectLst/>
              <a:uFillTx/>
              <a:latin typeface="Arial"/>
            </a:endParaRPr>
          </a:p>
        </p:txBody>
      </p:sp>
      <p:sp>
        <p:nvSpPr>
          <p:cNvPr id="1384" name="Text 23"/>
          <p:cNvSpPr/>
          <p:nvPr/>
        </p:nvSpPr>
        <p:spPr>
          <a:xfrm>
            <a:off x="6675120" y="29163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Polices</a:t>
            </a:r>
            <a:endParaRPr lang="fr-FR" sz="950" b="0" u="none" strike="noStrike">
              <a:solidFill>
                <a:srgbClr val="000000"/>
              </a:solidFill>
              <a:effectLst/>
              <a:uFillTx/>
              <a:latin typeface="Arial"/>
            </a:endParaRPr>
          </a:p>
        </p:txBody>
      </p:sp>
      <p:sp>
        <p:nvSpPr>
          <p:cNvPr id="1385" name="Text 24"/>
          <p:cNvSpPr/>
          <p:nvPr/>
        </p:nvSpPr>
        <p:spPr>
          <a:xfrm>
            <a:off x="6675120" y="30632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Arelv + Satoshi</a:t>
            </a:r>
            <a:endParaRPr lang="fr-FR" sz="900" b="0" u="none" strike="noStrike">
              <a:solidFill>
                <a:srgbClr val="000000"/>
              </a:solidFill>
              <a:effectLst/>
              <a:uFillTx/>
              <a:latin typeface="Arial"/>
            </a:endParaRPr>
          </a:p>
        </p:txBody>
      </p:sp>
      <p:sp>
        <p:nvSpPr>
          <p:cNvPr id="1386" name="Shape 25"/>
          <p:cNvSpPr/>
          <p:nvPr/>
        </p:nvSpPr>
        <p:spPr>
          <a:xfrm>
            <a:off x="457200" y="3429000"/>
            <a:ext cx="4016160" cy="12272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87" name="Text 26"/>
          <p:cNvSpPr/>
          <p:nvPr/>
        </p:nvSpPr>
        <p:spPr>
          <a:xfrm>
            <a:off x="640080" y="353880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FONCTIONNEL</a:t>
            </a:r>
            <a:endParaRPr lang="fr-FR" sz="1200" b="0" u="none" strike="noStrike">
              <a:solidFill>
                <a:srgbClr val="000000"/>
              </a:solidFill>
              <a:effectLst/>
              <a:uFillTx/>
              <a:latin typeface="Arial"/>
            </a:endParaRPr>
          </a:p>
        </p:txBody>
      </p:sp>
      <p:sp>
        <p:nvSpPr>
          <p:cNvPr id="1388" name="Text 27"/>
          <p:cNvSpPr/>
          <p:nvPr/>
        </p:nvSpPr>
        <p:spPr>
          <a:xfrm>
            <a:off x="640080" y="3867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Multilingue</a:t>
            </a:r>
            <a:endParaRPr lang="fr-FR" sz="950" b="0" u="none" strike="noStrike">
              <a:solidFill>
                <a:srgbClr val="000000"/>
              </a:solidFill>
              <a:effectLst/>
              <a:uFillTx/>
              <a:latin typeface="Arial"/>
            </a:endParaRPr>
          </a:p>
        </p:txBody>
      </p:sp>
      <p:sp>
        <p:nvSpPr>
          <p:cNvPr id="1389" name="Text 28"/>
          <p:cNvSpPr/>
          <p:nvPr/>
        </p:nvSpPr>
        <p:spPr>
          <a:xfrm>
            <a:off x="640080" y="40507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Polylang (FR/EN/JA/AR)</a:t>
            </a:r>
            <a:endParaRPr lang="fr-FR" sz="900" b="0" u="none" strike="noStrike">
              <a:solidFill>
                <a:srgbClr val="000000"/>
              </a:solidFill>
              <a:effectLst/>
              <a:uFillTx/>
              <a:latin typeface="Arial"/>
            </a:endParaRPr>
          </a:p>
        </p:txBody>
      </p:sp>
      <p:sp>
        <p:nvSpPr>
          <p:cNvPr id="1390" name="Text 29"/>
          <p:cNvSpPr/>
          <p:nvPr/>
        </p:nvSpPr>
        <p:spPr>
          <a:xfrm>
            <a:off x="2468880" y="3867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Formulaire</a:t>
            </a:r>
            <a:endParaRPr lang="fr-FR" sz="950" b="0" u="none" strike="noStrike">
              <a:solidFill>
                <a:srgbClr val="000000"/>
              </a:solidFill>
              <a:effectLst/>
              <a:uFillTx/>
              <a:latin typeface="Arial"/>
            </a:endParaRPr>
          </a:p>
        </p:txBody>
      </p:sp>
      <p:sp>
        <p:nvSpPr>
          <p:cNvPr id="1391" name="Text 30"/>
          <p:cNvSpPr/>
          <p:nvPr/>
        </p:nvSpPr>
        <p:spPr>
          <a:xfrm>
            <a:off x="2468880" y="40507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Contact Form 7</a:t>
            </a:r>
            <a:endParaRPr lang="fr-FR" sz="900" b="0" u="none" strike="noStrike">
              <a:solidFill>
                <a:srgbClr val="000000"/>
              </a:solidFill>
              <a:effectLst/>
              <a:uFillTx/>
              <a:latin typeface="Arial"/>
            </a:endParaRPr>
          </a:p>
        </p:txBody>
      </p:sp>
      <p:sp>
        <p:nvSpPr>
          <p:cNvPr id="1392" name="Text 31"/>
          <p:cNvSpPr/>
          <p:nvPr/>
        </p:nvSpPr>
        <p:spPr>
          <a:xfrm>
            <a:off x="640080" y="42879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RGPD</a:t>
            </a:r>
            <a:endParaRPr lang="fr-FR" sz="950" b="0" u="none" strike="noStrike">
              <a:solidFill>
                <a:srgbClr val="000000"/>
              </a:solidFill>
              <a:effectLst/>
              <a:uFillTx/>
              <a:latin typeface="Arial"/>
            </a:endParaRPr>
          </a:p>
        </p:txBody>
      </p:sp>
      <p:sp>
        <p:nvSpPr>
          <p:cNvPr id="1393" name="Text 32"/>
          <p:cNvSpPr/>
          <p:nvPr/>
        </p:nvSpPr>
        <p:spPr>
          <a:xfrm>
            <a:off x="640080" y="4434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Complianz GDPR</a:t>
            </a:r>
            <a:endParaRPr lang="fr-FR" sz="900" b="0" u="none" strike="noStrike">
              <a:solidFill>
                <a:srgbClr val="000000"/>
              </a:solidFill>
              <a:effectLst/>
              <a:uFillTx/>
              <a:latin typeface="Arial"/>
            </a:endParaRPr>
          </a:p>
        </p:txBody>
      </p:sp>
      <p:sp>
        <p:nvSpPr>
          <p:cNvPr id="1394" name="Text 33"/>
          <p:cNvSpPr/>
          <p:nvPr/>
        </p:nvSpPr>
        <p:spPr>
          <a:xfrm>
            <a:off x="2468880" y="42879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SEO</a:t>
            </a:r>
            <a:endParaRPr lang="fr-FR" sz="950" b="0" u="none" strike="noStrike">
              <a:solidFill>
                <a:srgbClr val="000000"/>
              </a:solidFill>
              <a:effectLst/>
              <a:uFillTx/>
              <a:latin typeface="Arial"/>
            </a:endParaRPr>
          </a:p>
        </p:txBody>
      </p:sp>
      <p:sp>
        <p:nvSpPr>
          <p:cNvPr id="1395" name="Text 34"/>
          <p:cNvSpPr/>
          <p:nvPr/>
        </p:nvSpPr>
        <p:spPr>
          <a:xfrm>
            <a:off x="2468880" y="4434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Yaost SEO</a:t>
            </a:r>
            <a:endParaRPr lang="fr-FR" sz="900" b="0" u="none" strike="noStrike">
              <a:solidFill>
                <a:srgbClr val="000000"/>
              </a:solidFill>
              <a:effectLst/>
              <a:uFillTx/>
              <a:latin typeface="Arial"/>
            </a:endParaRPr>
          </a:p>
        </p:txBody>
      </p:sp>
      <p:sp>
        <p:nvSpPr>
          <p:cNvPr id="1396" name="Shape 35"/>
          <p:cNvSpPr/>
          <p:nvPr/>
        </p:nvSpPr>
        <p:spPr>
          <a:xfrm>
            <a:off x="4663440" y="3429000"/>
            <a:ext cx="4016160" cy="122724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97" name="Text 36"/>
          <p:cNvSpPr/>
          <p:nvPr/>
        </p:nvSpPr>
        <p:spPr>
          <a:xfrm>
            <a:off x="4846320" y="3538800"/>
            <a:ext cx="3650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150" strike="noStrike">
                <a:solidFill>
                  <a:srgbClr val="BF360C"/>
                </a:solidFill>
                <a:effectLst/>
                <a:uFillTx/>
                <a:latin typeface="Arelv"/>
                <a:ea typeface="Arelv"/>
              </a:rPr>
              <a:t>SÉCURITÉ &amp; PERFORMANCE</a:t>
            </a:r>
            <a:endParaRPr lang="fr-FR" sz="1200" b="0" u="none" strike="noStrike">
              <a:solidFill>
                <a:srgbClr val="000000"/>
              </a:solidFill>
              <a:effectLst/>
              <a:uFillTx/>
              <a:latin typeface="Arial"/>
            </a:endParaRPr>
          </a:p>
        </p:txBody>
      </p:sp>
      <p:sp>
        <p:nvSpPr>
          <p:cNvPr id="1398" name="Text 37"/>
          <p:cNvSpPr/>
          <p:nvPr/>
        </p:nvSpPr>
        <p:spPr>
          <a:xfrm>
            <a:off x="4846320" y="3867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Firewall</a:t>
            </a:r>
            <a:endParaRPr lang="fr-FR" sz="950" b="0" u="none" strike="noStrike">
              <a:solidFill>
                <a:srgbClr val="000000"/>
              </a:solidFill>
              <a:effectLst/>
              <a:uFillTx/>
              <a:latin typeface="Arial"/>
            </a:endParaRPr>
          </a:p>
        </p:txBody>
      </p:sp>
      <p:sp>
        <p:nvSpPr>
          <p:cNvPr id="1399" name="Text 38"/>
          <p:cNvSpPr/>
          <p:nvPr/>
        </p:nvSpPr>
        <p:spPr>
          <a:xfrm>
            <a:off x="4846320" y="40507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Wordfence Security</a:t>
            </a:r>
            <a:endParaRPr lang="fr-FR" sz="900" b="0" u="none" strike="noStrike">
              <a:solidFill>
                <a:srgbClr val="000000"/>
              </a:solidFill>
              <a:effectLst/>
              <a:uFillTx/>
              <a:latin typeface="Arial"/>
            </a:endParaRPr>
          </a:p>
        </p:txBody>
      </p:sp>
      <p:sp>
        <p:nvSpPr>
          <p:cNvPr id="1400" name="Text 39"/>
          <p:cNvSpPr/>
          <p:nvPr/>
        </p:nvSpPr>
        <p:spPr>
          <a:xfrm>
            <a:off x="6675120" y="3867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Cache</a:t>
            </a:r>
            <a:endParaRPr lang="fr-FR" sz="950" b="0" u="none" strike="noStrike">
              <a:solidFill>
                <a:srgbClr val="000000"/>
              </a:solidFill>
              <a:effectLst/>
              <a:uFillTx/>
              <a:latin typeface="Arial"/>
            </a:endParaRPr>
          </a:p>
        </p:txBody>
      </p:sp>
      <p:sp>
        <p:nvSpPr>
          <p:cNvPr id="1401" name="Text 40"/>
          <p:cNvSpPr/>
          <p:nvPr/>
        </p:nvSpPr>
        <p:spPr>
          <a:xfrm>
            <a:off x="6675120" y="405072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WP Super Cache</a:t>
            </a:r>
            <a:endParaRPr lang="fr-FR" sz="900" b="0" u="none" strike="noStrike">
              <a:solidFill>
                <a:srgbClr val="000000"/>
              </a:solidFill>
              <a:effectLst/>
              <a:uFillTx/>
              <a:latin typeface="Arial"/>
            </a:endParaRPr>
          </a:p>
        </p:txBody>
      </p:sp>
      <p:sp>
        <p:nvSpPr>
          <p:cNvPr id="1402" name="Text 41"/>
          <p:cNvSpPr/>
          <p:nvPr/>
        </p:nvSpPr>
        <p:spPr>
          <a:xfrm>
            <a:off x="4846320" y="42879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Images</a:t>
            </a:r>
            <a:endParaRPr lang="fr-FR" sz="950" b="0" u="none" strike="noStrike">
              <a:solidFill>
                <a:srgbClr val="000000"/>
              </a:solidFill>
              <a:effectLst/>
              <a:uFillTx/>
              <a:latin typeface="Arial"/>
            </a:endParaRPr>
          </a:p>
        </p:txBody>
      </p:sp>
      <p:sp>
        <p:nvSpPr>
          <p:cNvPr id="1403" name="Text 42"/>
          <p:cNvSpPr/>
          <p:nvPr/>
        </p:nvSpPr>
        <p:spPr>
          <a:xfrm>
            <a:off x="4846320" y="4434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WebP + lazy load natif</a:t>
            </a:r>
            <a:endParaRPr lang="fr-FR" sz="900" b="0" u="none" strike="noStrike">
              <a:solidFill>
                <a:srgbClr val="000000"/>
              </a:solidFill>
              <a:effectLst/>
              <a:uFillTx/>
              <a:latin typeface="Arial"/>
            </a:endParaRPr>
          </a:p>
        </p:txBody>
      </p:sp>
      <p:sp>
        <p:nvSpPr>
          <p:cNvPr id="1404" name="Text 43"/>
          <p:cNvSpPr/>
          <p:nvPr/>
        </p:nvSpPr>
        <p:spPr>
          <a:xfrm>
            <a:off x="6675120" y="428796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1" u="none" strike="noStrike">
                <a:solidFill>
                  <a:srgbClr val="0A0A0A"/>
                </a:solidFill>
                <a:effectLst/>
                <a:uFillTx/>
                <a:latin typeface="Satoshi"/>
                <a:ea typeface="Satoshi"/>
              </a:rPr>
              <a:t>SSL</a:t>
            </a:r>
            <a:endParaRPr lang="fr-FR" sz="950" b="0" u="none" strike="noStrike">
              <a:solidFill>
                <a:srgbClr val="000000"/>
              </a:solidFill>
              <a:effectLst/>
              <a:uFillTx/>
              <a:latin typeface="Arial"/>
            </a:endParaRPr>
          </a:p>
        </p:txBody>
      </p:sp>
      <p:sp>
        <p:nvSpPr>
          <p:cNvPr id="1405" name="Text 44"/>
          <p:cNvSpPr/>
          <p:nvPr/>
        </p:nvSpPr>
        <p:spPr>
          <a:xfrm>
            <a:off x="6675120" y="4434840"/>
            <a:ext cx="173016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Let's Encrypt (auto)</a:t>
            </a:r>
            <a:endParaRPr lang="fr-FR" sz="900" b="0" u="none" strike="noStrike">
              <a:solidFill>
                <a:srgbClr val="000000"/>
              </a:solidFill>
              <a:effectLst/>
              <a:uFillTx/>
              <a:latin typeface="Arial"/>
            </a:endParaRPr>
          </a:p>
        </p:txBody>
      </p:sp>
      <p:sp>
        <p:nvSpPr>
          <p:cNvPr id="1406" name="Shape 4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07" name="Text 4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408" name="Text 4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69</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40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41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41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12"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HÉBERGEMENT</a:t>
            </a:r>
            <a:endParaRPr lang="fr-FR" sz="4800" b="0" u="none" strike="noStrike">
              <a:solidFill>
                <a:srgbClr val="000000"/>
              </a:solidFill>
              <a:effectLst/>
              <a:uFillTx/>
              <a:latin typeface="Arial"/>
            </a:endParaRPr>
          </a:p>
        </p:txBody>
      </p:sp>
      <p:sp>
        <p:nvSpPr>
          <p:cNvPr id="1413"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Stratégie en deux temps : pédagogique puis production</a:t>
            </a:r>
            <a:endParaRPr lang="fr-FR" sz="1400" b="0" u="none" strike="noStrike">
              <a:solidFill>
                <a:srgbClr val="000000"/>
              </a:solidFill>
              <a:effectLst/>
              <a:uFillTx/>
              <a:latin typeface="Arial"/>
            </a:endParaRPr>
          </a:p>
        </p:txBody>
      </p:sp>
      <p:sp>
        <p:nvSpPr>
          <p:cNvPr id="1414" name="Shape 5"/>
          <p:cNvSpPr/>
          <p:nvPr/>
        </p:nvSpPr>
        <p:spPr>
          <a:xfrm>
            <a:off x="457200" y="2011680"/>
            <a:ext cx="4016160" cy="127296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15" name="Text 6"/>
          <p:cNvSpPr/>
          <p:nvPr/>
        </p:nvSpPr>
        <p:spPr>
          <a:xfrm>
            <a:off x="594360" y="2103120"/>
            <a:ext cx="37418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PHASE 1 — SOUTENANCE</a:t>
            </a:r>
            <a:endParaRPr lang="fr-FR" sz="900" b="0" u="none" strike="noStrike">
              <a:solidFill>
                <a:srgbClr val="000000"/>
              </a:solidFill>
              <a:effectLst/>
              <a:uFillTx/>
              <a:latin typeface="Arial"/>
            </a:endParaRPr>
          </a:p>
        </p:txBody>
      </p:sp>
      <p:sp>
        <p:nvSpPr>
          <p:cNvPr id="1416" name="Text 7"/>
          <p:cNvSpPr/>
          <p:nvPr/>
        </p:nvSpPr>
        <p:spPr>
          <a:xfrm>
            <a:off x="594360" y="2331720"/>
            <a:ext cx="37418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F4EFE6"/>
                </a:solidFill>
                <a:effectLst/>
                <a:uFillTx/>
                <a:latin typeface="Arelv"/>
                <a:ea typeface="Arelv"/>
              </a:rPr>
              <a:t>Hébergement FIM</a:t>
            </a:r>
            <a:endParaRPr lang="fr-FR" sz="1800" b="0" u="none" strike="noStrike">
              <a:solidFill>
                <a:srgbClr val="000000"/>
              </a:solidFill>
              <a:effectLst/>
              <a:uFillTx/>
              <a:latin typeface="Arial"/>
            </a:endParaRPr>
          </a:p>
        </p:txBody>
      </p:sp>
      <p:sp>
        <p:nvSpPr>
          <p:cNvPr id="1417" name="Text 8"/>
          <p:cNvSpPr/>
          <p:nvPr/>
        </p:nvSpPr>
        <p:spPr>
          <a:xfrm>
            <a:off x="594360" y="2697480"/>
            <a:ext cx="374184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Espace pédagogique fourni par FIM CCI Campus 2 pour les soutenances de fin juin 2026. Déploiement assisté par Benoît MOTTIN.</a:t>
            </a:r>
            <a:endParaRPr lang="fr-FR" sz="1000" b="0" u="none" strike="noStrike">
              <a:solidFill>
                <a:srgbClr val="000000"/>
              </a:solidFill>
              <a:effectLst/>
              <a:uFillTx/>
              <a:latin typeface="Arial"/>
            </a:endParaRPr>
          </a:p>
        </p:txBody>
      </p:sp>
      <p:sp>
        <p:nvSpPr>
          <p:cNvPr id="1418" name="Shape 9"/>
          <p:cNvSpPr/>
          <p:nvPr/>
        </p:nvSpPr>
        <p:spPr>
          <a:xfrm>
            <a:off x="4754880" y="2011680"/>
            <a:ext cx="4016160" cy="12729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19" name="Text 10"/>
          <p:cNvSpPr/>
          <p:nvPr/>
        </p:nvSpPr>
        <p:spPr>
          <a:xfrm>
            <a:off x="4892040" y="2103120"/>
            <a:ext cx="37418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4EFE6"/>
                </a:solidFill>
                <a:effectLst/>
                <a:uFillTx/>
                <a:latin typeface="Satoshi"/>
                <a:ea typeface="Satoshi"/>
              </a:rPr>
              <a:t>PHASE 2 — PRODUCTION</a:t>
            </a:r>
            <a:endParaRPr lang="fr-FR" sz="900" b="0" u="none" strike="noStrike">
              <a:solidFill>
                <a:srgbClr val="000000"/>
              </a:solidFill>
              <a:effectLst/>
              <a:uFillTx/>
              <a:latin typeface="Arial"/>
            </a:endParaRPr>
          </a:p>
        </p:txBody>
      </p:sp>
      <p:sp>
        <p:nvSpPr>
          <p:cNvPr id="1420" name="Text 11"/>
          <p:cNvSpPr/>
          <p:nvPr/>
        </p:nvSpPr>
        <p:spPr>
          <a:xfrm>
            <a:off x="4892040" y="2331720"/>
            <a:ext cx="374184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F4EFE6"/>
                </a:solidFill>
                <a:effectLst/>
                <a:uFillTx/>
                <a:latin typeface="Arelv"/>
                <a:ea typeface="Arelv"/>
              </a:rPr>
              <a:t>OVH — cible</a:t>
            </a:r>
            <a:endParaRPr lang="fr-FR" sz="1800" b="0" u="none" strike="noStrike">
              <a:solidFill>
                <a:srgbClr val="000000"/>
              </a:solidFill>
              <a:effectLst/>
              <a:uFillTx/>
              <a:latin typeface="Arial"/>
            </a:endParaRPr>
          </a:p>
        </p:txBody>
      </p:sp>
      <p:sp>
        <p:nvSpPr>
          <p:cNvPr id="1421" name="Text 12"/>
          <p:cNvSpPr/>
          <p:nvPr/>
        </p:nvSpPr>
        <p:spPr>
          <a:xfrm>
            <a:off x="4892040" y="2697480"/>
            <a:ext cx="374184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F4EFE6"/>
                </a:solidFill>
                <a:effectLst/>
                <a:uFillTx/>
                <a:latin typeface="Satoshi"/>
                <a:ea typeface="Satoshi"/>
              </a:rPr>
              <a:t>Migration prévue à l'issue de la soutenance. Domaine aymen-chaabane.fr ( + redirection 301) et hébergement WordPress optimisé chez l'opérateur français.</a:t>
            </a:r>
            <a:endParaRPr lang="fr-FR" sz="1000" b="0" u="none" strike="noStrike">
              <a:solidFill>
                <a:srgbClr val="000000"/>
              </a:solidFill>
              <a:effectLst/>
              <a:uFillTx/>
              <a:latin typeface="Arial"/>
            </a:endParaRPr>
          </a:p>
        </p:txBody>
      </p:sp>
      <p:sp>
        <p:nvSpPr>
          <p:cNvPr id="1422" name="Text 13"/>
          <p:cNvSpPr/>
          <p:nvPr/>
        </p:nvSpPr>
        <p:spPr>
          <a:xfrm>
            <a:off x="457200" y="338328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COMPARATIF DES OFFRES WP (post-soutenance)</a:t>
            </a:r>
            <a:endParaRPr lang="fr-FR" sz="1000" b="0" u="none" strike="noStrike">
              <a:solidFill>
                <a:srgbClr val="000000"/>
              </a:solidFill>
              <a:effectLst/>
              <a:uFillTx/>
              <a:latin typeface="Arial"/>
            </a:endParaRPr>
          </a:p>
        </p:txBody>
      </p:sp>
      <p:graphicFrame>
        <p:nvGraphicFramePr>
          <p:cNvPr id="1423" name="Table 0"/>
          <p:cNvGraphicFramePr/>
          <p:nvPr/>
        </p:nvGraphicFramePr>
        <p:xfrm>
          <a:off x="457200" y="3657600"/>
          <a:ext cx="8320680" cy="1146600"/>
        </p:xfrm>
        <a:graphic>
          <a:graphicData uri="http://schemas.openxmlformats.org/drawingml/2006/table">
            <a:tbl>
              <a:tblPr/>
              <a:tblGrid>
                <a:gridCol w="1371600"/>
                <a:gridCol w="1265400"/>
                <a:gridCol w="804960"/>
                <a:gridCol w="773640"/>
                <a:gridCol w="876600"/>
                <a:gridCol w="3228840"/>
              </a:tblGrid>
              <a:tr h="182880">
                <a:tc>
                  <a:txBody>
                    <a:bodyPr anchor="t">
                      <a:noAutofit/>
                    </a:bodyPr>
                    <a:p>
                      <a:pPr defTabSz="914400">
                        <a:lnSpc>
                          <a:spcPct val="100000"/>
                        </a:lnSpc>
                        <a:tabLst>
                          <a:tab pos="0" algn="l"/>
                        </a:tabLst>
                      </a:pPr>
                      <a:r>
                        <a:rPr lang="fr-FR" sz="900" b="1" u="none" strike="noStrike">
                          <a:solidFill>
                            <a:srgbClr val="F4EFE6"/>
                          </a:solidFill>
                          <a:effectLst/>
                          <a:uFillTx/>
                          <a:latin typeface="Satoshi"/>
                          <a:ea typeface="Satoshi"/>
                        </a:rPr>
                        <a:t>HÉBERGEUR</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00" b="1" u="none" strike="noStrike">
                          <a:solidFill>
                            <a:srgbClr val="F4EFE6"/>
                          </a:solidFill>
                          <a:effectLst/>
                          <a:uFillTx/>
                          <a:latin typeface="Satoshi"/>
                          <a:ea typeface="Satoshi"/>
                        </a:rPr>
                        <a:t>PRIX/AN</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00" b="1" u="none" strike="noStrike">
                          <a:solidFill>
                            <a:srgbClr val="F4EFE6"/>
                          </a:solidFill>
                          <a:effectLst/>
                          <a:uFillTx/>
                          <a:latin typeface="Satoshi"/>
                          <a:ea typeface="Satoshi"/>
                        </a:rPr>
                        <a:t>STOCKAGE</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00" b="1" u="none" strike="noStrike">
                          <a:solidFill>
                            <a:srgbClr val="F4EFE6"/>
                          </a:solidFill>
                          <a:effectLst/>
                          <a:uFillTx/>
                          <a:latin typeface="Satoshi"/>
                          <a:ea typeface="Satoshi"/>
                        </a:rPr>
                        <a:t>BDD</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00" b="1" u="none" strike="noStrike">
                          <a:solidFill>
                            <a:srgbClr val="F4EFE6"/>
                          </a:solidFill>
                          <a:effectLst/>
                          <a:uFillTx/>
                          <a:latin typeface="Satoshi"/>
                          <a:ea typeface="Satoshi"/>
                        </a:rPr>
                        <a:t>SSL</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00" b="1" u="none" strike="noStrike">
                          <a:solidFill>
                            <a:srgbClr val="F4EFE6"/>
                          </a:solidFill>
                          <a:effectLst/>
                          <a:uFillTx/>
                          <a:latin typeface="Satoshi"/>
                          <a:ea typeface="Satoshi"/>
                        </a:rPr>
                        <a:t>OBSERVATIONS</a:t>
                      </a:r>
                      <a:endParaRPr lang="fr-FR" sz="90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182880">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OVH (cible)</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 72 € (an +2)</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100 Go</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1</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Inclus</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Opérateur français, support 24/7</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182880">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Infomaniak</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 75 €</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250 Go</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Illimité</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Inclus</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Suisse, hébergeur éthique</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182880">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o2switch</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 84 €</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Illimité</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Illimité</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Inclus</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Offre unique, garantie 30j</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182880">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PlanetHoster</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 155 €</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Illimité</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Illimité</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Inclus</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00" b="0" u="none" strike="noStrike">
                          <a:solidFill>
                            <a:srgbClr val="0A0A0A"/>
                          </a:solidFill>
                          <a:effectLst/>
                          <a:uFillTx/>
                          <a:latin typeface="Satoshi"/>
                          <a:ea typeface="Satoshi"/>
                        </a:rPr>
                        <a:t>France + Canada, performance</a:t>
                      </a:r>
                      <a:endParaRPr lang="fr-FR" sz="90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424" name="Shape 1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25" name="Text 15"/>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426" name="Text 16"/>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42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42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42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3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DOMAINE &amp; DNS</a:t>
            </a:r>
            <a:endParaRPr lang="fr-FR" sz="4400" b="0" u="none" strike="noStrike">
              <a:solidFill>
                <a:srgbClr val="000000"/>
              </a:solidFill>
              <a:effectLst/>
              <a:uFillTx/>
              <a:latin typeface="Arial"/>
            </a:endParaRPr>
          </a:p>
        </p:txBody>
      </p:sp>
      <p:sp>
        <p:nvSpPr>
          <p:cNvPr id="143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Identifiant numérique et configuration DNS</a:t>
            </a:r>
            <a:endParaRPr lang="fr-FR" sz="1400" b="0" u="none" strike="noStrike">
              <a:solidFill>
                <a:srgbClr val="000000"/>
              </a:solidFill>
              <a:effectLst/>
              <a:uFillTx/>
              <a:latin typeface="Arial"/>
            </a:endParaRPr>
          </a:p>
        </p:txBody>
      </p:sp>
      <p:sp>
        <p:nvSpPr>
          <p:cNvPr id="1432" name="Shape 5"/>
          <p:cNvSpPr/>
          <p:nvPr/>
        </p:nvSpPr>
        <p:spPr>
          <a:xfrm>
            <a:off x="457200" y="2011680"/>
            <a:ext cx="4016160" cy="25988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33" name="Text 6"/>
          <p:cNvSpPr/>
          <p:nvPr/>
        </p:nvSpPr>
        <p:spPr>
          <a:xfrm>
            <a:off x="640080" y="2148840"/>
            <a:ext cx="3650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DOMAINE PRINCIPAL</a:t>
            </a:r>
            <a:endParaRPr lang="fr-FR" sz="900" b="0" u="none" strike="noStrike">
              <a:solidFill>
                <a:srgbClr val="000000"/>
              </a:solidFill>
              <a:effectLst/>
              <a:uFillTx/>
              <a:latin typeface="Arial"/>
            </a:endParaRPr>
          </a:p>
        </p:txBody>
      </p:sp>
      <p:sp>
        <p:nvSpPr>
          <p:cNvPr id="1434" name="Text 7"/>
          <p:cNvSpPr/>
          <p:nvPr/>
        </p:nvSpPr>
        <p:spPr>
          <a:xfrm>
            <a:off x="640080" y="2423160"/>
            <a:ext cx="365040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F4EFE6"/>
                </a:solidFill>
                <a:effectLst/>
                <a:uFillTx/>
                <a:latin typeface="Arelv"/>
                <a:ea typeface="Arelv"/>
              </a:rPr>
              <a:t>aymen-chaabane.fr</a:t>
            </a:r>
            <a:endParaRPr lang="fr-FR" sz="2200" b="0" u="none" strike="noStrike">
              <a:solidFill>
                <a:srgbClr val="000000"/>
              </a:solidFill>
              <a:effectLst/>
              <a:uFillTx/>
              <a:latin typeface="Arial"/>
            </a:endParaRPr>
          </a:p>
        </p:txBody>
      </p:sp>
      <p:sp>
        <p:nvSpPr>
          <p:cNvPr id="1435" name="Text 8"/>
          <p:cNvSpPr/>
          <p:nvPr/>
        </p:nvSpPr>
        <p:spPr>
          <a:xfrm>
            <a:off x="640080" y="2926080"/>
            <a:ext cx="365040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FFB300"/>
                </a:solidFill>
                <a:effectLst/>
                <a:uFillTx/>
                <a:latin typeface="Satoshi"/>
                <a:ea typeface="Satoshi"/>
              </a:rPr>
              <a:t>Registrar</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F4EFE6"/>
                </a:solidFill>
                <a:effectLst/>
                <a:uFillTx/>
                <a:latin typeface="Satoshi"/>
                <a:ea typeface="Satoshi"/>
              </a:rPr>
              <a:t>OVH (à acquérir post-soutenance)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400" b="0" u="none" strike="noStrike">
                <a:solidFill>
                  <a:srgbClr val="000000"/>
                </a:solidFill>
                <a:effectLst/>
                <a:uFillTx/>
                <a:latin typeface="Satoshi"/>
                <a:ea typeface="Satoshi"/>
              </a:rPr>
              <a:t> </a:t>
            </a:r>
            <a:endParaRPr lang="fr-FR" sz="4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FFB300"/>
                </a:solidFill>
                <a:effectLst/>
                <a:uFillTx/>
                <a:latin typeface="Satoshi"/>
                <a:ea typeface="Satoshi"/>
              </a:rPr>
              <a:t>Extension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F4EFE6"/>
                </a:solidFill>
                <a:effectLst/>
                <a:uFillTx/>
                <a:latin typeface="Satoshi"/>
                <a:ea typeface="Satoshi"/>
              </a:rPr>
              <a:t>.fr (principal) + .com (universelle + sécurité redirection 301)</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400" b="0" u="none" strike="noStrike">
                <a:solidFill>
                  <a:srgbClr val="000000"/>
                </a:solidFill>
                <a:effectLst/>
                <a:uFillTx/>
                <a:latin typeface="Satoshi"/>
                <a:ea typeface="Satoshi"/>
              </a:rPr>
              <a:t> </a:t>
            </a:r>
            <a:endParaRPr lang="fr-FR" sz="4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FFB300"/>
                </a:solidFill>
                <a:effectLst/>
                <a:uFillTx/>
                <a:latin typeface="Satoshi"/>
                <a:ea typeface="Satoshi"/>
              </a:rPr>
              <a:t>Coût annuel</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F4EFE6"/>
                </a:solidFill>
                <a:effectLst/>
                <a:uFillTx/>
                <a:latin typeface="Satoshi"/>
                <a:ea typeface="Satoshi"/>
              </a:rPr>
              <a:t>≈ 13 € / an chez OVH + Hébergement (156 € / an)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400" b="0" u="none" strike="noStrike">
                <a:solidFill>
                  <a:srgbClr val="000000"/>
                </a:solidFill>
                <a:effectLst/>
                <a:uFillTx/>
                <a:latin typeface="Satoshi"/>
                <a:ea typeface="Satoshi"/>
              </a:rPr>
              <a:t> </a:t>
            </a:r>
            <a:endParaRPr lang="fr-FR" sz="4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FFB300"/>
                </a:solidFill>
                <a:effectLst/>
                <a:uFillTx/>
                <a:latin typeface="Satoshi"/>
                <a:ea typeface="Satoshi"/>
              </a:rPr>
              <a:t>Redirection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1000" b="0" u="none" strike="noStrike">
                <a:solidFill>
                  <a:srgbClr val="F4EFE6"/>
                </a:solidFill>
                <a:effectLst/>
                <a:uFillTx/>
                <a:latin typeface="Satoshi"/>
                <a:ea typeface="Satoshi"/>
              </a:rPr>
              <a:t>www. → aymen-chaabane.com (301)</a:t>
            </a:r>
            <a:endParaRPr lang="fr-FR" sz="1000" b="0" u="none" strike="noStrike">
              <a:solidFill>
                <a:srgbClr val="000000"/>
              </a:solidFill>
              <a:effectLst/>
              <a:uFillTx/>
              <a:latin typeface="Arial"/>
            </a:endParaRPr>
          </a:p>
        </p:txBody>
      </p:sp>
      <p:sp>
        <p:nvSpPr>
          <p:cNvPr id="1436" name="Text 9"/>
          <p:cNvSpPr/>
          <p:nvPr/>
        </p:nvSpPr>
        <p:spPr>
          <a:xfrm>
            <a:off x="4754880" y="159912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CONFIGURATION DNS</a:t>
            </a:r>
            <a:endParaRPr lang="fr-FR" sz="1100" b="0" u="none" strike="noStrike">
              <a:solidFill>
                <a:srgbClr val="000000"/>
              </a:solidFill>
              <a:effectLst/>
              <a:uFillTx/>
              <a:latin typeface="Arial"/>
            </a:endParaRPr>
          </a:p>
        </p:txBody>
      </p:sp>
      <p:graphicFrame>
        <p:nvGraphicFramePr>
          <p:cNvPr id="1437" name="Table 0"/>
          <p:cNvGraphicFramePr/>
          <p:nvPr/>
        </p:nvGraphicFramePr>
        <p:xfrm>
          <a:off x="4754880" y="1991160"/>
          <a:ext cx="4244760" cy="2165400"/>
        </p:xfrm>
        <a:graphic>
          <a:graphicData uri="http://schemas.openxmlformats.org/drawingml/2006/table">
            <a:tbl>
              <a:tblPr/>
              <a:tblGrid>
                <a:gridCol w="883800"/>
                <a:gridCol w="666360"/>
                <a:gridCol w="1216440"/>
                <a:gridCol w="1478520"/>
              </a:tblGrid>
              <a:tr h="292320">
                <a:tc>
                  <a:txBody>
                    <a:bodyPr anchor="t">
                      <a:noAutofit/>
                    </a:bodyPr>
                    <a:p>
                      <a:pPr defTabSz="914400">
                        <a:lnSpc>
                          <a:spcPct val="100000"/>
                        </a:lnSpc>
                        <a:tabLst>
                          <a:tab pos="0" algn="l"/>
                        </a:tabLst>
                      </a:pPr>
                      <a:r>
                        <a:rPr lang="fr-FR" sz="950" b="1" u="none" strike="noStrike">
                          <a:solidFill>
                            <a:srgbClr val="F4EFE6"/>
                          </a:solidFill>
                          <a:effectLst/>
                          <a:uFillTx/>
                          <a:latin typeface="Satoshi"/>
                          <a:ea typeface="Satoshi"/>
                        </a:rPr>
                        <a:t>TYPE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NOM</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VALEUR</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OBSERVATION</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92320">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IP serveur</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Pointe le domaine vers l’hébergement du site</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CNAME</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www</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aymen-chaabane.fr</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Redirection « www »</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MX</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mail.ovh.net (10)</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Dirige e-mails pros vers messagerie OVH</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TXT</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SPF / DKIM</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Sécurise les e-mails afin qu’ils ne soient pas des spams</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CAA</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letsencrypt.org</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pos="0" algn="l"/>
                        </a:tabLst>
                      </a:pPr>
                      <a:r>
                        <a:rPr lang="en-US" sz="950" b="0" u="none" strike="noStrike">
                          <a:solidFill>
                            <a:srgbClr val="0A0A0A"/>
                          </a:solidFill>
                          <a:effectLst/>
                          <a:uFillTx/>
                          <a:latin typeface="Satoshi"/>
                          <a:ea typeface="Satoshi"/>
                        </a:rPr>
                        <a:t>Sécurité HTTPS</a:t>
                      </a:r>
                      <a:endParaRPr lang="fr-FR" sz="950" b="0" u="none" strike="noStrike">
                        <a:solidFill>
                          <a:srgbClr val="000000"/>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438" name="Text 10"/>
          <p:cNvSpPr/>
          <p:nvPr/>
        </p:nvSpPr>
        <p:spPr>
          <a:xfrm>
            <a:off x="4754880" y="441540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i="1" u="none" strike="noStrike">
                <a:solidFill>
                  <a:srgbClr val="37474F"/>
                </a:solidFill>
                <a:effectLst/>
                <a:uFillTx/>
                <a:latin typeface="Satoshi"/>
                <a:ea typeface="Satoshi"/>
              </a:rPr>
              <a:t>Configuration via interface OVH Manager. Propagation 4 à 48h. </a:t>
            </a:r>
            <a:br>
              <a:rPr sz="900"/>
            </a:br>
            <a:r>
              <a:rPr lang="fr-FR" sz="900" b="0" i="1" u="none" strike="noStrike">
                <a:solidFill>
                  <a:srgbClr val="37474F"/>
                </a:solidFill>
                <a:effectLst/>
                <a:uFillTx/>
                <a:latin typeface="Satoshi"/>
                <a:ea typeface="Satoshi"/>
              </a:rPr>
              <a:t>Données techniques standard extraites des guides de configuration officiels d'OVH Cloud </a:t>
            </a:r>
            <a:endParaRPr lang="fr-FR" sz="900" b="0" u="none" strike="noStrike">
              <a:solidFill>
                <a:srgbClr val="000000"/>
              </a:solidFill>
              <a:effectLst/>
              <a:uFillTx/>
              <a:latin typeface="Arial"/>
            </a:endParaRPr>
          </a:p>
        </p:txBody>
      </p:sp>
      <p:sp>
        <p:nvSpPr>
          <p:cNvPr id="1439" name="Shape 11"/>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40" name="Text 12"/>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441" name="Text 13"/>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44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44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44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4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SÉCURITÉ</a:t>
            </a:r>
            <a:endParaRPr lang="fr-FR" sz="5600" b="0" u="none" strike="noStrike">
              <a:solidFill>
                <a:srgbClr val="000000"/>
              </a:solidFill>
              <a:effectLst/>
              <a:uFillTx/>
              <a:latin typeface="Arial"/>
            </a:endParaRPr>
          </a:p>
        </p:txBody>
      </p:sp>
      <p:sp>
        <p:nvSpPr>
          <p:cNvPr id="144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Protection en profondeur — quatre lignes de défense</a:t>
            </a:r>
            <a:endParaRPr lang="fr-FR" sz="1400" b="0" u="none" strike="noStrike">
              <a:solidFill>
                <a:srgbClr val="000000"/>
              </a:solidFill>
              <a:effectLst/>
              <a:uFillTx/>
              <a:latin typeface="Arial"/>
            </a:endParaRPr>
          </a:p>
        </p:txBody>
      </p:sp>
      <p:sp>
        <p:nvSpPr>
          <p:cNvPr id="1447" name="Shape 5"/>
          <p:cNvSpPr/>
          <p:nvPr/>
        </p:nvSpPr>
        <p:spPr>
          <a:xfrm>
            <a:off x="457200" y="2057400"/>
            <a:ext cx="1958760" cy="182160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48" name="Text 6"/>
          <p:cNvSpPr/>
          <p:nvPr/>
        </p:nvSpPr>
        <p:spPr>
          <a:xfrm>
            <a:off x="594360" y="214884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01</a:t>
            </a:r>
            <a:endParaRPr lang="fr-FR" sz="1400" b="0" u="none" strike="noStrike">
              <a:solidFill>
                <a:srgbClr val="000000"/>
              </a:solidFill>
              <a:effectLst/>
              <a:uFillTx/>
              <a:latin typeface="Arial"/>
            </a:endParaRPr>
          </a:p>
        </p:txBody>
      </p:sp>
      <p:sp>
        <p:nvSpPr>
          <p:cNvPr id="1449" name="Text 7"/>
          <p:cNvSpPr/>
          <p:nvPr/>
        </p:nvSpPr>
        <p:spPr>
          <a:xfrm>
            <a:off x="594360" y="242316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RÉSEAU</a:t>
            </a:r>
            <a:endParaRPr lang="fr-FR" sz="1200" b="0" u="none" strike="noStrike">
              <a:solidFill>
                <a:srgbClr val="000000"/>
              </a:solidFill>
              <a:effectLst/>
              <a:uFillTx/>
              <a:latin typeface="Arial"/>
            </a:endParaRPr>
          </a:p>
        </p:txBody>
      </p:sp>
      <p:sp>
        <p:nvSpPr>
          <p:cNvPr id="1450" name="Text 8"/>
          <p:cNvSpPr/>
          <p:nvPr/>
        </p:nvSpPr>
        <p:spPr>
          <a:xfrm>
            <a:off x="594360" y="2743200"/>
            <a:ext cx="168444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SSL/TLS forcé (HTTPS uniquement)</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HSTS activé via .htaccess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Firewall applicatif Wordfence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Anti-bruteforce login (5 essais max)</a:t>
            </a:r>
            <a:endParaRPr lang="fr-FR" sz="900" b="0" u="none" strike="noStrike">
              <a:solidFill>
                <a:srgbClr val="000000"/>
              </a:solidFill>
              <a:effectLst/>
              <a:uFillTx/>
              <a:latin typeface="Arial"/>
            </a:endParaRPr>
          </a:p>
        </p:txBody>
      </p:sp>
      <p:sp>
        <p:nvSpPr>
          <p:cNvPr id="1451" name="Shape 9"/>
          <p:cNvSpPr/>
          <p:nvPr/>
        </p:nvSpPr>
        <p:spPr>
          <a:xfrm>
            <a:off x="2541960" y="2057400"/>
            <a:ext cx="1958760" cy="182160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52" name="Text 10"/>
          <p:cNvSpPr/>
          <p:nvPr/>
        </p:nvSpPr>
        <p:spPr>
          <a:xfrm>
            <a:off x="2679120" y="214884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02</a:t>
            </a:r>
            <a:endParaRPr lang="fr-FR" sz="1400" b="0" u="none" strike="noStrike">
              <a:solidFill>
                <a:srgbClr val="000000"/>
              </a:solidFill>
              <a:effectLst/>
              <a:uFillTx/>
              <a:latin typeface="Arial"/>
            </a:endParaRPr>
          </a:p>
        </p:txBody>
      </p:sp>
      <p:sp>
        <p:nvSpPr>
          <p:cNvPr id="1453" name="Text 11"/>
          <p:cNvSpPr/>
          <p:nvPr/>
        </p:nvSpPr>
        <p:spPr>
          <a:xfrm>
            <a:off x="2679120" y="242316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APPLICATION</a:t>
            </a:r>
            <a:endParaRPr lang="fr-FR" sz="1200" b="0" u="none" strike="noStrike">
              <a:solidFill>
                <a:srgbClr val="000000"/>
              </a:solidFill>
              <a:effectLst/>
              <a:uFillTx/>
              <a:latin typeface="Arial"/>
            </a:endParaRPr>
          </a:p>
        </p:txBody>
      </p:sp>
      <p:sp>
        <p:nvSpPr>
          <p:cNvPr id="1454" name="Text 12"/>
          <p:cNvSpPr/>
          <p:nvPr/>
        </p:nvSpPr>
        <p:spPr>
          <a:xfrm>
            <a:off x="2679120" y="2743200"/>
            <a:ext cx="168444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Mises à jour auto WP + plugins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Préfixe table wp_ → personnalisé</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Désactivation édition fichiers admin</a:t>
            </a:r>
            <a:endParaRPr lang="fr-FR" sz="900" b="0" u="none" strike="noStrike">
              <a:solidFill>
                <a:srgbClr val="000000"/>
              </a:solidFill>
              <a:effectLst/>
              <a:uFillTx/>
              <a:latin typeface="Arial"/>
            </a:endParaRPr>
          </a:p>
        </p:txBody>
      </p:sp>
      <p:sp>
        <p:nvSpPr>
          <p:cNvPr id="1455" name="Shape 13"/>
          <p:cNvSpPr/>
          <p:nvPr/>
        </p:nvSpPr>
        <p:spPr>
          <a:xfrm>
            <a:off x="4626720" y="2057400"/>
            <a:ext cx="1958760" cy="182160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56" name="Text 14"/>
          <p:cNvSpPr/>
          <p:nvPr/>
        </p:nvSpPr>
        <p:spPr>
          <a:xfrm>
            <a:off x="4763880" y="214884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03</a:t>
            </a:r>
            <a:endParaRPr lang="fr-FR" sz="1400" b="0" u="none" strike="noStrike">
              <a:solidFill>
                <a:srgbClr val="000000"/>
              </a:solidFill>
              <a:effectLst/>
              <a:uFillTx/>
              <a:latin typeface="Arial"/>
            </a:endParaRPr>
          </a:p>
        </p:txBody>
      </p:sp>
      <p:sp>
        <p:nvSpPr>
          <p:cNvPr id="1457" name="Text 15"/>
          <p:cNvSpPr/>
          <p:nvPr/>
        </p:nvSpPr>
        <p:spPr>
          <a:xfrm>
            <a:off x="4763880" y="242316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AUTHENTIFICATION</a:t>
            </a:r>
            <a:endParaRPr lang="fr-FR" sz="1200" b="0" u="none" strike="noStrike">
              <a:solidFill>
                <a:srgbClr val="000000"/>
              </a:solidFill>
              <a:effectLst/>
              <a:uFillTx/>
              <a:latin typeface="Arial"/>
            </a:endParaRPr>
          </a:p>
        </p:txBody>
      </p:sp>
      <p:sp>
        <p:nvSpPr>
          <p:cNvPr id="1458" name="Text 16"/>
          <p:cNvSpPr/>
          <p:nvPr/>
        </p:nvSpPr>
        <p:spPr>
          <a:xfrm>
            <a:off x="4763880" y="2743200"/>
            <a:ext cx="168444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Mot de passe fort (+12 caractères)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Double authentification (2FA option gratuite Wordfence)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Username admin renommé</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Sessions limitées à 12h</a:t>
            </a:r>
            <a:endParaRPr lang="fr-FR" sz="900" b="0" u="none" strike="noStrike">
              <a:solidFill>
                <a:srgbClr val="000000"/>
              </a:solidFill>
              <a:effectLst/>
              <a:uFillTx/>
              <a:latin typeface="Arial"/>
            </a:endParaRPr>
          </a:p>
        </p:txBody>
      </p:sp>
      <p:sp>
        <p:nvSpPr>
          <p:cNvPr id="1459" name="Shape 17"/>
          <p:cNvSpPr/>
          <p:nvPr/>
        </p:nvSpPr>
        <p:spPr>
          <a:xfrm>
            <a:off x="6711840" y="2057400"/>
            <a:ext cx="1958760" cy="182160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60" name="Text 18"/>
          <p:cNvSpPr/>
          <p:nvPr/>
        </p:nvSpPr>
        <p:spPr>
          <a:xfrm>
            <a:off x="6849000" y="214884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04</a:t>
            </a:r>
            <a:endParaRPr lang="fr-FR" sz="1400" b="0" u="none" strike="noStrike">
              <a:solidFill>
                <a:srgbClr val="000000"/>
              </a:solidFill>
              <a:effectLst/>
              <a:uFillTx/>
              <a:latin typeface="Arial"/>
            </a:endParaRPr>
          </a:p>
        </p:txBody>
      </p:sp>
      <p:sp>
        <p:nvSpPr>
          <p:cNvPr id="1461" name="Text 19"/>
          <p:cNvSpPr/>
          <p:nvPr/>
        </p:nvSpPr>
        <p:spPr>
          <a:xfrm>
            <a:off x="6849000" y="242316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DONNÉES</a:t>
            </a:r>
            <a:endParaRPr lang="fr-FR" sz="1200" b="0" u="none" strike="noStrike">
              <a:solidFill>
                <a:srgbClr val="000000"/>
              </a:solidFill>
              <a:effectLst/>
              <a:uFillTx/>
              <a:latin typeface="Arial"/>
            </a:endParaRPr>
          </a:p>
        </p:txBody>
      </p:sp>
      <p:sp>
        <p:nvSpPr>
          <p:cNvPr id="1462" name="Text 20"/>
          <p:cNvSpPr/>
          <p:nvPr/>
        </p:nvSpPr>
        <p:spPr>
          <a:xfrm>
            <a:off x="6849000" y="2743200"/>
            <a:ext cx="168444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Sauvegardes auto quotidiennes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Rétention 30 jours minimum</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Restauration testée mensuellement</a:t>
            </a:r>
            <a:endParaRPr lang="fr-FR" sz="900" b="0" u="none" strike="noStrike">
              <a:solidFill>
                <a:srgbClr val="000000"/>
              </a:solidFill>
              <a:effectLst/>
              <a:uFillTx/>
              <a:latin typeface="Arial"/>
            </a:endParaRPr>
          </a:p>
        </p:txBody>
      </p:sp>
      <p:sp>
        <p:nvSpPr>
          <p:cNvPr id="1463" name="Text 21"/>
          <p:cNvSpPr/>
          <p:nvPr/>
        </p:nvSpPr>
        <p:spPr>
          <a:xfrm>
            <a:off x="460080" y="4213080"/>
            <a:ext cx="82224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201" strike="noStrike">
                <a:solidFill>
                  <a:srgbClr val="BF360C"/>
                </a:solidFill>
                <a:effectLst/>
                <a:uFillTx/>
                <a:latin typeface="Satoshi"/>
                <a:ea typeface="Satoshi"/>
              </a:rPr>
              <a:t>OBJECTIF : 0 INCIDENT DE SÉCURITÉ SUR LES 12 PREMIERS MOIS DE PRODUCTION</a:t>
            </a:r>
            <a:endParaRPr lang="fr-FR" sz="1000" b="0" u="none" strike="noStrike">
              <a:solidFill>
                <a:srgbClr val="000000"/>
              </a:solidFill>
              <a:effectLst/>
              <a:uFillTx/>
              <a:latin typeface="Arial"/>
            </a:endParaRPr>
          </a:p>
        </p:txBody>
      </p:sp>
      <p:sp>
        <p:nvSpPr>
          <p:cNvPr id="1464"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65"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466"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46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46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46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47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PERFORMANCES</a:t>
            </a:r>
            <a:endParaRPr lang="fr-FR" sz="4800" b="0" u="none" strike="noStrike">
              <a:solidFill>
                <a:srgbClr val="000000"/>
              </a:solidFill>
              <a:effectLst/>
              <a:uFillTx/>
              <a:latin typeface="Arial"/>
            </a:endParaRPr>
          </a:p>
        </p:txBody>
      </p:sp>
      <p:sp>
        <p:nvSpPr>
          <p:cNvPr id="147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Core Web Vitals — objectifs et leviers d'optimisation</a:t>
            </a:r>
            <a:endParaRPr lang="fr-FR" sz="1400" b="0" u="none" strike="noStrike">
              <a:solidFill>
                <a:srgbClr val="000000"/>
              </a:solidFill>
              <a:effectLst/>
              <a:uFillTx/>
              <a:latin typeface="Arial"/>
            </a:endParaRPr>
          </a:p>
        </p:txBody>
      </p:sp>
      <p:sp>
        <p:nvSpPr>
          <p:cNvPr id="1472" name="Shape 5"/>
          <p:cNvSpPr/>
          <p:nvPr/>
        </p:nvSpPr>
        <p:spPr>
          <a:xfrm>
            <a:off x="457200" y="1985400"/>
            <a:ext cx="2644560" cy="11815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73" name="Text 6"/>
          <p:cNvSpPr/>
          <p:nvPr/>
        </p:nvSpPr>
        <p:spPr>
          <a:xfrm>
            <a:off x="640080" y="2122560"/>
            <a:ext cx="10900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FFB300"/>
                </a:solidFill>
                <a:effectLst/>
                <a:uFillTx/>
                <a:latin typeface="Arelv"/>
                <a:ea typeface="Arelv"/>
              </a:rPr>
              <a:t>LCP</a:t>
            </a:r>
            <a:endParaRPr lang="fr-FR" sz="2200" b="0" u="none" strike="noStrike">
              <a:solidFill>
                <a:srgbClr val="000000"/>
              </a:solidFill>
              <a:effectLst/>
              <a:uFillTx/>
              <a:latin typeface="Arial"/>
            </a:endParaRPr>
          </a:p>
        </p:txBody>
      </p:sp>
      <p:sp>
        <p:nvSpPr>
          <p:cNvPr id="1474" name="Text 7"/>
          <p:cNvSpPr/>
          <p:nvPr/>
        </p:nvSpPr>
        <p:spPr>
          <a:xfrm>
            <a:off x="1828800" y="2168280"/>
            <a:ext cx="109008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800" b="1" u="none" strike="noStrike">
                <a:solidFill>
                  <a:srgbClr val="F4EFE6"/>
                </a:solidFill>
                <a:effectLst/>
                <a:uFillTx/>
                <a:latin typeface="Arelv"/>
                <a:ea typeface="Arelv"/>
              </a:rPr>
              <a:t>&lt; 2.5s</a:t>
            </a:r>
            <a:endParaRPr lang="fr-FR" sz="1800" b="0" u="none" strike="noStrike">
              <a:solidFill>
                <a:srgbClr val="000000"/>
              </a:solidFill>
              <a:effectLst/>
              <a:uFillTx/>
              <a:latin typeface="Arial"/>
            </a:endParaRPr>
          </a:p>
        </p:txBody>
      </p:sp>
      <p:sp>
        <p:nvSpPr>
          <p:cNvPr id="1475" name="Text 8"/>
          <p:cNvSpPr/>
          <p:nvPr/>
        </p:nvSpPr>
        <p:spPr>
          <a:xfrm>
            <a:off x="640080" y="248832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FFB300"/>
                </a:solidFill>
                <a:effectLst/>
                <a:uFillTx/>
                <a:latin typeface="Satoshi"/>
                <a:ea typeface="Satoshi"/>
              </a:rPr>
              <a:t>Largest Contentful Paint</a:t>
            </a:r>
            <a:endParaRPr lang="fr-FR" sz="1000" b="0" u="none" strike="noStrike">
              <a:solidFill>
                <a:srgbClr val="000000"/>
              </a:solidFill>
              <a:effectLst/>
              <a:uFillTx/>
              <a:latin typeface="Arial"/>
            </a:endParaRPr>
          </a:p>
        </p:txBody>
      </p:sp>
      <p:sp>
        <p:nvSpPr>
          <p:cNvPr id="1476" name="Text 9"/>
          <p:cNvSpPr/>
          <p:nvPr/>
        </p:nvSpPr>
        <p:spPr>
          <a:xfrm>
            <a:off x="640080" y="2762640"/>
            <a:ext cx="227880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Temps de chargement du plus gros élément visible.</a:t>
            </a:r>
            <a:endParaRPr lang="fr-FR" sz="950" b="0" u="none" strike="noStrike">
              <a:solidFill>
                <a:srgbClr val="000000"/>
              </a:solidFill>
              <a:effectLst/>
              <a:uFillTx/>
              <a:latin typeface="Arial"/>
            </a:endParaRPr>
          </a:p>
        </p:txBody>
      </p:sp>
      <p:sp>
        <p:nvSpPr>
          <p:cNvPr id="1477" name="Shape 10"/>
          <p:cNvSpPr/>
          <p:nvPr/>
        </p:nvSpPr>
        <p:spPr>
          <a:xfrm>
            <a:off x="3246120" y="1985400"/>
            <a:ext cx="2644560" cy="11815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78" name="Text 11"/>
          <p:cNvSpPr/>
          <p:nvPr/>
        </p:nvSpPr>
        <p:spPr>
          <a:xfrm>
            <a:off x="3429000" y="2122560"/>
            <a:ext cx="10900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FFB300"/>
                </a:solidFill>
                <a:effectLst/>
                <a:uFillTx/>
                <a:latin typeface="Arelv"/>
                <a:ea typeface="Arelv"/>
              </a:rPr>
              <a:t>INP</a:t>
            </a:r>
            <a:endParaRPr lang="fr-FR" sz="2200" b="0" u="none" strike="noStrike">
              <a:solidFill>
                <a:srgbClr val="000000"/>
              </a:solidFill>
              <a:effectLst/>
              <a:uFillTx/>
              <a:latin typeface="Arial"/>
            </a:endParaRPr>
          </a:p>
        </p:txBody>
      </p:sp>
      <p:sp>
        <p:nvSpPr>
          <p:cNvPr id="1479" name="Text 12"/>
          <p:cNvSpPr/>
          <p:nvPr/>
        </p:nvSpPr>
        <p:spPr>
          <a:xfrm>
            <a:off x="4617720" y="2168280"/>
            <a:ext cx="109008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800" b="1" u="none" strike="noStrike">
                <a:solidFill>
                  <a:srgbClr val="F4EFE6"/>
                </a:solidFill>
                <a:effectLst/>
                <a:uFillTx/>
                <a:latin typeface="Arelv"/>
                <a:ea typeface="Arelv"/>
              </a:rPr>
              <a:t>&lt; 200ms</a:t>
            </a:r>
            <a:endParaRPr lang="fr-FR" sz="1800" b="0" u="none" strike="noStrike">
              <a:solidFill>
                <a:srgbClr val="000000"/>
              </a:solidFill>
              <a:effectLst/>
              <a:uFillTx/>
              <a:latin typeface="Arial"/>
            </a:endParaRPr>
          </a:p>
        </p:txBody>
      </p:sp>
      <p:sp>
        <p:nvSpPr>
          <p:cNvPr id="1480" name="Text 13"/>
          <p:cNvSpPr/>
          <p:nvPr/>
        </p:nvSpPr>
        <p:spPr>
          <a:xfrm>
            <a:off x="3429000" y="248832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FFB300"/>
                </a:solidFill>
                <a:effectLst/>
                <a:uFillTx/>
                <a:latin typeface="Satoshi"/>
                <a:ea typeface="Satoshi"/>
              </a:rPr>
              <a:t>Interaction to Next Paint</a:t>
            </a:r>
            <a:endParaRPr lang="fr-FR" sz="1000" b="0" u="none" strike="noStrike">
              <a:solidFill>
                <a:srgbClr val="000000"/>
              </a:solidFill>
              <a:effectLst/>
              <a:uFillTx/>
              <a:latin typeface="Arial"/>
            </a:endParaRPr>
          </a:p>
        </p:txBody>
      </p:sp>
      <p:sp>
        <p:nvSpPr>
          <p:cNvPr id="1481" name="Text 14"/>
          <p:cNvSpPr/>
          <p:nvPr/>
        </p:nvSpPr>
        <p:spPr>
          <a:xfrm>
            <a:off x="3429000" y="2762640"/>
            <a:ext cx="227880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Réactivité de l'interface aux clics et tap.</a:t>
            </a:r>
            <a:endParaRPr lang="fr-FR" sz="950" b="0" u="none" strike="noStrike">
              <a:solidFill>
                <a:srgbClr val="000000"/>
              </a:solidFill>
              <a:effectLst/>
              <a:uFillTx/>
              <a:latin typeface="Arial"/>
            </a:endParaRPr>
          </a:p>
        </p:txBody>
      </p:sp>
      <p:sp>
        <p:nvSpPr>
          <p:cNvPr id="1482" name="Shape 15"/>
          <p:cNvSpPr/>
          <p:nvPr/>
        </p:nvSpPr>
        <p:spPr>
          <a:xfrm>
            <a:off x="6035040" y="1985400"/>
            <a:ext cx="2644560" cy="11815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83" name="Text 16"/>
          <p:cNvSpPr/>
          <p:nvPr/>
        </p:nvSpPr>
        <p:spPr>
          <a:xfrm>
            <a:off x="6217920" y="2122560"/>
            <a:ext cx="109008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200" b="1" u="none" strike="noStrike">
                <a:solidFill>
                  <a:srgbClr val="FFB300"/>
                </a:solidFill>
                <a:effectLst/>
                <a:uFillTx/>
                <a:latin typeface="Arelv"/>
                <a:ea typeface="Arelv"/>
              </a:rPr>
              <a:t>CLS</a:t>
            </a:r>
            <a:endParaRPr lang="fr-FR" sz="2200" b="0" u="none" strike="noStrike">
              <a:solidFill>
                <a:srgbClr val="000000"/>
              </a:solidFill>
              <a:effectLst/>
              <a:uFillTx/>
              <a:latin typeface="Arial"/>
            </a:endParaRPr>
          </a:p>
        </p:txBody>
      </p:sp>
      <p:sp>
        <p:nvSpPr>
          <p:cNvPr id="1484" name="Text 17"/>
          <p:cNvSpPr/>
          <p:nvPr/>
        </p:nvSpPr>
        <p:spPr>
          <a:xfrm>
            <a:off x="7406640" y="2168280"/>
            <a:ext cx="109008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800" b="1" u="none" strike="noStrike">
                <a:solidFill>
                  <a:srgbClr val="F4EFE6"/>
                </a:solidFill>
                <a:effectLst/>
                <a:uFillTx/>
                <a:latin typeface="Arelv"/>
                <a:ea typeface="Arelv"/>
              </a:rPr>
              <a:t>&lt; 0.1</a:t>
            </a:r>
            <a:endParaRPr lang="fr-FR" sz="1800" b="0" u="none" strike="noStrike">
              <a:solidFill>
                <a:srgbClr val="000000"/>
              </a:solidFill>
              <a:effectLst/>
              <a:uFillTx/>
              <a:latin typeface="Arial"/>
            </a:endParaRPr>
          </a:p>
        </p:txBody>
      </p:sp>
      <p:sp>
        <p:nvSpPr>
          <p:cNvPr id="1485" name="Text 18"/>
          <p:cNvSpPr/>
          <p:nvPr/>
        </p:nvSpPr>
        <p:spPr>
          <a:xfrm>
            <a:off x="6217920" y="248832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FFB300"/>
                </a:solidFill>
                <a:effectLst/>
                <a:uFillTx/>
                <a:latin typeface="Satoshi"/>
                <a:ea typeface="Satoshi"/>
              </a:rPr>
              <a:t>Cumulative Layout Shift</a:t>
            </a:r>
            <a:endParaRPr lang="fr-FR" sz="1000" b="0" u="none" strike="noStrike">
              <a:solidFill>
                <a:srgbClr val="000000"/>
              </a:solidFill>
              <a:effectLst/>
              <a:uFillTx/>
              <a:latin typeface="Arial"/>
            </a:endParaRPr>
          </a:p>
        </p:txBody>
      </p:sp>
      <p:sp>
        <p:nvSpPr>
          <p:cNvPr id="1486" name="Text 19"/>
          <p:cNvSpPr/>
          <p:nvPr/>
        </p:nvSpPr>
        <p:spPr>
          <a:xfrm>
            <a:off x="6217920" y="2762640"/>
            <a:ext cx="2278800" cy="358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Stabilité visuelle pendant le chargement.</a:t>
            </a:r>
            <a:endParaRPr lang="fr-FR" sz="950" b="0" u="none" strike="noStrike">
              <a:solidFill>
                <a:srgbClr val="000000"/>
              </a:solidFill>
              <a:effectLst/>
              <a:uFillTx/>
              <a:latin typeface="Arial"/>
            </a:endParaRPr>
          </a:p>
        </p:txBody>
      </p:sp>
      <p:sp>
        <p:nvSpPr>
          <p:cNvPr id="1487" name="Text 20"/>
          <p:cNvSpPr/>
          <p:nvPr/>
        </p:nvSpPr>
        <p:spPr>
          <a:xfrm>
            <a:off x="457200" y="350100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LEVIERS MOBILISÉS</a:t>
            </a:r>
            <a:endParaRPr lang="fr-FR" sz="1100" b="0" u="none" strike="noStrike">
              <a:solidFill>
                <a:srgbClr val="000000"/>
              </a:solidFill>
              <a:effectLst/>
              <a:uFillTx/>
              <a:latin typeface="Arial"/>
            </a:endParaRPr>
          </a:p>
        </p:txBody>
      </p:sp>
      <p:sp>
        <p:nvSpPr>
          <p:cNvPr id="1488" name="Shape 21"/>
          <p:cNvSpPr/>
          <p:nvPr/>
        </p:nvSpPr>
        <p:spPr>
          <a:xfrm>
            <a:off x="457200" y="3794760"/>
            <a:ext cx="29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89" name="Text 22"/>
          <p:cNvSpPr/>
          <p:nvPr/>
        </p:nvSpPr>
        <p:spPr>
          <a:xfrm>
            <a:off x="594360" y="3749040"/>
            <a:ext cx="1364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Images</a:t>
            </a:r>
            <a:endParaRPr lang="fr-FR" sz="1100" b="0" u="none" strike="noStrike">
              <a:solidFill>
                <a:srgbClr val="000000"/>
              </a:solidFill>
              <a:effectLst/>
              <a:uFillTx/>
              <a:latin typeface="Arial"/>
            </a:endParaRPr>
          </a:p>
        </p:txBody>
      </p:sp>
      <p:sp>
        <p:nvSpPr>
          <p:cNvPr id="1490" name="Text 23"/>
          <p:cNvSpPr/>
          <p:nvPr/>
        </p:nvSpPr>
        <p:spPr>
          <a:xfrm>
            <a:off x="1828800" y="3749040"/>
            <a:ext cx="69422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Format WebP (plus léger) + compression automatique des images</a:t>
            </a:r>
            <a:endParaRPr lang="fr-FR" sz="1000" b="0" u="none" strike="noStrike">
              <a:solidFill>
                <a:srgbClr val="000000"/>
              </a:solidFill>
              <a:effectLst/>
              <a:uFillTx/>
              <a:latin typeface="Arial"/>
            </a:endParaRPr>
          </a:p>
        </p:txBody>
      </p:sp>
      <p:sp>
        <p:nvSpPr>
          <p:cNvPr id="1491" name="Shape 24"/>
          <p:cNvSpPr/>
          <p:nvPr/>
        </p:nvSpPr>
        <p:spPr>
          <a:xfrm>
            <a:off x="457200" y="4041720"/>
            <a:ext cx="29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92" name="Text 25"/>
          <p:cNvSpPr/>
          <p:nvPr/>
        </p:nvSpPr>
        <p:spPr>
          <a:xfrm>
            <a:off x="594360" y="3996000"/>
            <a:ext cx="1364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JS/CSS</a:t>
            </a:r>
            <a:endParaRPr lang="fr-FR" sz="1100" b="0" u="none" strike="noStrike">
              <a:solidFill>
                <a:srgbClr val="000000"/>
              </a:solidFill>
              <a:effectLst/>
              <a:uFillTx/>
              <a:latin typeface="Arial"/>
            </a:endParaRPr>
          </a:p>
        </p:txBody>
      </p:sp>
      <p:sp>
        <p:nvSpPr>
          <p:cNvPr id="1493" name="Text 26"/>
          <p:cNvSpPr/>
          <p:nvPr/>
        </p:nvSpPr>
        <p:spPr>
          <a:xfrm>
            <a:off x="1828800" y="3996000"/>
            <a:ext cx="69422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Minification (nettoyage du code inutile) via Elementor</a:t>
            </a:r>
            <a:endParaRPr lang="fr-FR" sz="1000" b="0" u="none" strike="noStrike">
              <a:solidFill>
                <a:srgbClr val="000000"/>
              </a:solidFill>
              <a:effectLst/>
              <a:uFillTx/>
              <a:latin typeface="Arial"/>
            </a:endParaRPr>
          </a:p>
        </p:txBody>
      </p:sp>
      <p:sp>
        <p:nvSpPr>
          <p:cNvPr id="1494" name="Shape 27"/>
          <p:cNvSpPr/>
          <p:nvPr/>
        </p:nvSpPr>
        <p:spPr>
          <a:xfrm>
            <a:off x="457200" y="4288680"/>
            <a:ext cx="29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95" name="Text 28"/>
          <p:cNvSpPr/>
          <p:nvPr/>
        </p:nvSpPr>
        <p:spPr>
          <a:xfrm>
            <a:off x="594360" y="4242960"/>
            <a:ext cx="1364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Cache</a:t>
            </a:r>
            <a:endParaRPr lang="fr-FR" sz="1100" b="0" u="none" strike="noStrike">
              <a:solidFill>
                <a:srgbClr val="000000"/>
              </a:solidFill>
              <a:effectLst/>
              <a:uFillTx/>
              <a:latin typeface="Arial"/>
            </a:endParaRPr>
          </a:p>
        </p:txBody>
      </p:sp>
      <p:sp>
        <p:nvSpPr>
          <p:cNvPr id="1496" name="Text 29"/>
          <p:cNvSpPr/>
          <p:nvPr/>
        </p:nvSpPr>
        <p:spPr>
          <a:xfrm>
            <a:off x="1828800" y="4242960"/>
            <a:ext cx="69422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Activation d’une extension de cache standard (WP Super Cache)</a:t>
            </a:r>
            <a:endParaRPr lang="fr-FR" sz="1000" b="0" u="none" strike="noStrike">
              <a:solidFill>
                <a:srgbClr val="000000"/>
              </a:solidFill>
              <a:effectLst/>
              <a:uFillTx/>
              <a:latin typeface="Arial"/>
            </a:endParaRPr>
          </a:p>
        </p:txBody>
      </p:sp>
      <p:sp>
        <p:nvSpPr>
          <p:cNvPr id="1497" name="Shape 30"/>
          <p:cNvSpPr/>
          <p:nvPr/>
        </p:nvSpPr>
        <p:spPr>
          <a:xfrm>
            <a:off x="457200" y="4535280"/>
            <a:ext cx="29520" cy="2214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498" name="Text 31"/>
          <p:cNvSpPr/>
          <p:nvPr/>
        </p:nvSpPr>
        <p:spPr>
          <a:xfrm>
            <a:off x="594360" y="4489560"/>
            <a:ext cx="1364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trike="noStrike">
                <a:solidFill>
                  <a:srgbClr val="0A0A0A"/>
                </a:solidFill>
                <a:effectLst/>
                <a:uFillTx/>
                <a:latin typeface="Satoshi"/>
                <a:ea typeface="Satoshi"/>
              </a:rPr>
              <a:t>Polices</a:t>
            </a:r>
            <a:endParaRPr lang="fr-FR" sz="1100" b="0" u="none" strike="noStrike">
              <a:solidFill>
                <a:srgbClr val="000000"/>
              </a:solidFill>
              <a:effectLst/>
              <a:uFillTx/>
              <a:latin typeface="Arial"/>
            </a:endParaRPr>
          </a:p>
        </p:txBody>
      </p:sp>
      <p:sp>
        <p:nvSpPr>
          <p:cNvPr id="1499" name="Text 32"/>
          <p:cNvSpPr/>
          <p:nvPr/>
        </p:nvSpPr>
        <p:spPr>
          <a:xfrm>
            <a:off x="1828800" y="4489560"/>
            <a:ext cx="69422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u="none" strike="noStrike">
                <a:solidFill>
                  <a:srgbClr val="37474F"/>
                </a:solidFill>
                <a:effectLst/>
                <a:uFillTx/>
                <a:latin typeface="Satoshi"/>
                <a:ea typeface="Satoshi"/>
              </a:rPr>
              <a:t>Utilisation de polices optimisées au format moderne WOFF2</a:t>
            </a:r>
            <a:endParaRPr lang="fr-FR" sz="1000" b="0" u="none" strike="noStrike">
              <a:solidFill>
                <a:srgbClr val="000000"/>
              </a:solidFill>
              <a:effectLst/>
              <a:uFillTx/>
              <a:latin typeface="Arial"/>
            </a:endParaRPr>
          </a:p>
        </p:txBody>
      </p:sp>
      <p:sp>
        <p:nvSpPr>
          <p:cNvPr id="1500" name="Shape 3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01" name="Text 3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502" name="Text 3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73</a:t>
            </a:r>
            <a:endParaRPr lang="fr-FR" sz="900" b="0" u="none" strike="noStrike">
              <a:solidFill>
                <a:srgbClr val="000000"/>
              </a:solidFill>
              <a:effectLst/>
              <a:uFillTx/>
              <a:latin typeface="Arial"/>
            </a:endParaRPr>
          </a:p>
        </p:txBody>
      </p:sp>
      <p:sp>
        <p:nvSpPr>
          <p:cNvPr id="1503" name="Text 90"/>
          <p:cNvSpPr/>
          <p:nvPr/>
        </p:nvSpPr>
        <p:spPr>
          <a:xfrm>
            <a:off x="360000" y="3240000"/>
            <a:ext cx="8277840" cy="22140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spcBef>
                <a:spcPts val="1191"/>
              </a:spcBef>
              <a:spcAft>
                <a:spcPts val="992"/>
              </a:spcAft>
              <a:tabLst>
                <a:tab pos="0" algn="l"/>
              </a:tabLst>
            </a:pPr>
            <a:r>
              <a:rPr lang="fr-FR" sz="900" b="0" i="1" u="none" strike="noStrike">
                <a:solidFill>
                  <a:srgbClr val="37474F"/>
                </a:solidFill>
                <a:effectLst/>
                <a:uFillTx/>
                <a:latin typeface="Satoshi"/>
                <a:ea typeface="Satoshi"/>
              </a:rPr>
              <a:t>Indicateurs de performance et seuils réglementaires basés sur la documentation officielle Google Core Web Vitals (web.dev 2026).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504"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505"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506"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07"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ACCESSIBILITÉ</a:t>
            </a:r>
            <a:endParaRPr lang="fr-FR" sz="4800" b="0" u="none" strike="noStrike">
              <a:solidFill>
                <a:srgbClr val="000000"/>
              </a:solidFill>
              <a:effectLst/>
              <a:uFillTx/>
              <a:latin typeface="Arial"/>
            </a:endParaRPr>
          </a:p>
        </p:txBody>
      </p:sp>
      <p:sp>
        <p:nvSpPr>
          <p:cNvPr id="1508"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Conformité WCAG 2.1 niveau AA — engagement et critères</a:t>
            </a:r>
            <a:endParaRPr lang="fr-FR" sz="1400" b="0" u="none" strike="noStrike">
              <a:solidFill>
                <a:srgbClr val="000000"/>
              </a:solidFill>
              <a:effectLst/>
              <a:uFillTx/>
              <a:latin typeface="Arial"/>
            </a:endParaRPr>
          </a:p>
        </p:txBody>
      </p:sp>
      <p:sp>
        <p:nvSpPr>
          <p:cNvPr id="1509" name="Text 5"/>
          <p:cNvSpPr/>
          <p:nvPr/>
        </p:nvSpPr>
        <p:spPr>
          <a:xfrm>
            <a:off x="457200" y="2011680"/>
            <a:ext cx="8222400" cy="450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L'accessibilité n'est pas un ajout cosmétique : elle est intégrée dès la conception. Le portfolio cible le niveau AA (norme légale professionnelle standard 2026) des Web Content Accessibility Guidelines 2.1.</a:t>
            </a:r>
            <a:endParaRPr lang="fr-FR" sz="1100" b="0" u="none" strike="noStrike">
              <a:solidFill>
                <a:srgbClr val="000000"/>
              </a:solidFill>
              <a:effectLst/>
              <a:uFillTx/>
              <a:latin typeface="Arial"/>
            </a:endParaRPr>
          </a:p>
        </p:txBody>
      </p:sp>
      <p:sp>
        <p:nvSpPr>
          <p:cNvPr id="1510" name="Shape 6"/>
          <p:cNvSpPr/>
          <p:nvPr/>
        </p:nvSpPr>
        <p:spPr>
          <a:xfrm>
            <a:off x="457200" y="2534040"/>
            <a:ext cx="1958760" cy="19587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511" name="Text 7"/>
          <p:cNvSpPr/>
          <p:nvPr/>
        </p:nvSpPr>
        <p:spPr>
          <a:xfrm>
            <a:off x="594360" y="2625480"/>
            <a:ext cx="450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600" b="1" u="none" strike="noStrike">
                <a:solidFill>
                  <a:srgbClr val="FFB300"/>
                </a:solidFill>
                <a:effectLst/>
                <a:uFillTx/>
                <a:latin typeface="Arelv"/>
                <a:ea typeface="Arelv"/>
              </a:rPr>
              <a:t>P</a:t>
            </a:r>
            <a:endParaRPr lang="fr-FR" sz="2600" b="0" u="none" strike="noStrike">
              <a:solidFill>
                <a:srgbClr val="000000"/>
              </a:solidFill>
              <a:effectLst/>
              <a:uFillTx/>
              <a:latin typeface="Arial"/>
            </a:endParaRPr>
          </a:p>
        </p:txBody>
      </p:sp>
      <p:sp>
        <p:nvSpPr>
          <p:cNvPr id="1512" name="Text 8"/>
          <p:cNvSpPr/>
          <p:nvPr/>
        </p:nvSpPr>
        <p:spPr>
          <a:xfrm>
            <a:off x="1051560" y="2698560"/>
            <a:ext cx="13186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PERCEPTIBLE</a:t>
            </a:r>
            <a:endParaRPr lang="fr-FR" sz="1100" b="0" u="none" strike="noStrike">
              <a:solidFill>
                <a:srgbClr val="000000"/>
              </a:solidFill>
              <a:effectLst/>
              <a:uFillTx/>
              <a:latin typeface="Arial"/>
            </a:endParaRPr>
          </a:p>
        </p:txBody>
      </p:sp>
      <p:sp>
        <p:nvSpPr>
          <p:cNvPr id="1513" name="Text 9"/>
          <p:cNvSpPr/>
          <p:nvPr/>
        </p:nvSpPr>
        <p:spPr>
          <a:xfrm>
            <a:off x="594360" y="3082680"/>
            <a:ext cx="1684440" cy="1318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Bon contrastes de couleurs entre le texte et le fond</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textes alternatifs sur les images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Sous-titres si vidéo</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Pas d'info portée par couleur seule</a:t>
            </a:r>
            <a:endParaRPr lang="fr-FR" sz="900" b="0" u="none" strike="noStrike">
              <a:solidFill>
                <a:srgbClr val="000000"/>
              </a:solidFill>
              <a:effectLst/>
              <a:uFillTx/>
              <a:latin typeface="Arial"/>
            </a:endParaRPr>
          </a:p>
        </p:txBody>
      </p:sp>
      <p:sp>
        <p:nvSpPr>
          <p:cNvPr id="1514" name="Shape 10"/>
          <p:cNvSpPr/>
          <p:nvPr/>
        </p:nvSpPr>
        <p:spPr>
          <a:xfrm>
            <a:off x="2541960" y="2534040"/>
            <a:ext cx="1958760" cy="19587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515" name="Text 11"/>
          <p:cNvSpPr/>
          <p:nvPr/>
        </p:nvSpPr>
        <p:spPr>
          <a:xfrm>
            <a:off x="2679120" y="2625480"/>
            <a:ext cx="450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600" b="1" u="none" strike="noStrike">
                <a:solidFill>
                  <a:srgbClr val="FFB300"/>
                </a:solidFill>
                <a:effectLst/>
                <a:uFillTx/>
                <a:latin typeface="Arelv"/>
                <a:ea typeface="Arelv"/>
              </a:rPr>
              <a:t>O</a:t>
            </a:r>
            <a:endParaRPr lang="fr-FR" sz="2600" b="0" u="none" strike="noStrike">
              <a:solidFill>
                <a:srgbClr val="000000"/>
              </a:solidFill>
              <a:effectLst/>
              <a:uFillTx/>
              <a:latin typeface="Arial"/>
            </a:endParaRPr>
          </a:p>
        </p:txBody>
      </p:sp>
      <p:sp>
        <p:nvSpPr>
          <p:cNvPr id="1516" name="Text 12"/>
          <p:cNvSpPr/>
          <p:nvPr/>
        </p:nvSpPr>
        <p:spPr>
          <a:xfrm>
            <a:off x="3136320" y="2698560"/>
            <a:ext cx="13186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OPÉRABLE</a:t>
            </a:r>
            <a:endParaRPr lang="fr-FR" sz="1100" b="0" u="none" strike="noStrike">
              <a:solidFill>
                <a:srgbClr val="000000"/>
              </a:solidFill>
              <a:effectLst/>
              <a:uFillTx/>
              <a:latin typeface="Arial"/>
            </a:endParaRPr>
          </a:p>
        </p:txBody>
      </p:sp>
      <p:sp>
        <p:nvSpPr>
          <p:cNvPr id="1517" name="Text 13"/>
          <p:cNvSpPr/>
          <p:nvPr/>
        </p:nvSpPr>
        <p:spPr>
          <a:xfrm>
            <a:off x="2679120" y="3082680"/>
            <a:ext cx="1684440" cy="1318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Navigation clavier complète</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Indicateur visuel clair lors de la navigation au clavier</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Animations désactivables</a:t>
            </a:r>
            <a:endParaRPr lang="fr-FR" sz="900" b="0" u="none" strike="noStrike">
              <a:solidFill>
                <a:srgbClr val="000000"/>
              </a:solidFill>
              <a:effectLst/>
              <a:uFillTx/>
              <a:latin typeface="Arial"/>
            </a:endParaRPr>
          </a:p>
        </p:txBody>
      </p:sp>
      <p:sp>
        <p:nvSpPr>
          <p:cNvPr id="1518" name="Shape 14"/>
          <p:cNvSpPr/>
          <p:nvPr/>
        </p:nvSpPr>
        <p:spPr>
          <a:xfrm>
            <a:off x="4626720" y="2534040"/>
            <a:ext cx="1958760" cy="19587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519" name="Text 15"/>
          <p:cNvSpPr/>
          <p:nvPr/>
        </p:nvSpPr>
        <p:spPr>
          <a:xfrm>
            <a:off x="4763880" y="2625480"/>
            <a:ext cx="450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600" b="1" u="none" strike="noStrike">
                <a:solidFill>
                  <a:srgbClr val="FFB300"/>
                </a:solidFill>
                <a:effectLst/>
                <a:uFillTx/>
                <a:latin typeface="Arelv"/>
                <a:ea typeface="Arelv"/>
              </a:rPr>
              <a:t>U</a:t>
            </a:r>
            <a:endParaRPr lang="fr-FR" sz="2600" b="0" u="none" strike="noStrike">
              <a:solidFill>
                <a:srgbClr val="000000"/>
              </a:solidFill>
              <a:effectLst/>
              <a:uFillTx/>
              <a:latin typeface="Arial"/>
            </a:endParaRPr>
          </a:p>
        </p:txBody>
      </p:sp>
      <p:sp>
        <p:nvSpPr>
          <p:cNvPr id="1520" name="Text 16"/>
          <p:cNvSpPr/>
          <p:nvPr/>
        </p:nvSpPr>
        <p:spPr>
          <a:xfrm>
            <a:off x="5184000" y="2698560"/>
            <a:ext cx="14997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COMPRÉHENSIBLE</a:t>
            </a:r>
            <a:endParaRPr lang="fr-FR" sz="1100" b="0" u="none" strike="noStrike">
              <a:solidFill>
                <a:srgbClr val="000000"/>
              </a:solidFill>
              <a:effectLst/>
              <a:uFillTx/>
              <a:latin typeface="Arial"/>
            </a:endParaRPr>
          </a:p>
        </p:txBody>
      </p:sp>
      <p:sp>
        <p:nvSpPr>
          <p:cNvPr id="1521" name="Text 17"/>
          <p:cNvSpPr/>
          <p:nvPr/>
        </p:nvSpPr>
        <p:spPr>
          <a:xfrm>
            <a:off x="4763880" y="3082680"/>
            <a:ext cx="1684440" cy="1318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Lang défini par page (lang="fr")</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Labels formulaire explicites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Messages d'erreur clairs</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Vocabulaire technique expliqué</a:t>
            </a:r>
            <a:endParaRPr lang="fr-FR" sz="900" b="0" u="none" strike="noStrike">
              <a:solidFill>
                <a:srgbClr val="000000"/>
              </a:solidFill>
              <a:effectLst/>
              <a:uFillTx/>
              <a:latin typeface="Arial"/>
            </a:endParaRPr>
          </a:p>
        </p:txBody>
      </p:sp>
      <p:sp>
        <p:nvSpPr>
          <p:cNvPr id="1522" name="Shape 18"/>
          <p:cNvSpPr/>
          <p:nvPr/>
        </p:nvSpPr>
        <p:spPr>
          <a:xfrm>
            <a:off x="6711840" y="2534040"/>
            <a:ext cx="1958760" cy="19587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523" name="Text 19"/>
          <p:cNvSpPr/>
          <p:nvPr/>
        </p:nvSpPr>
        <p:spPr>
          <a:xfrm>
            <a:off x="6849000" y="2625480"/>
            <a:ext cx="4500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600" b="1" u="none" strike="noStrike">
                <a:solidFill>
                  <a:srgbClr val="FFB300"/>
                </a:solidFill>
                <a:effectLst/>
                <a:uFillTx/>
                <a:latin typeface="Arelv"/>
                <a:ea typeface="Arelv"/>
              </a:rPr>
              <a:t>R</a:t>
            </a:r>
            <a:endParaRPr lang="fr-FR" sz="2600" b="0" u="none" strike="noStrike">
              <a:solidFill>
                <a:srgbClr val="000000"/>
              </a:solidFill>
              <a:effectLst/>
              <a:uFillTx/>
              <a:latin typeface="Arial"/>
            </a:endParaRPr>
          </a:p>
        </p:txBody>
      </p:sp>
      <p:sp>
        <p:nvSpPr>
          <p:cNvPr id="1524" name="Text 20"/>
          <p:cNvSpPr/>
          <p:nvPr/>
        </p:nvSpPr>
        <p:spPr>
          <a:xfrm>
            <a:off x="7306200" y="2698560"/>
            <a:ext cx="131868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F4EFE6"/>
                </a:solidFill>
                <a:effectLst/>
                <a:uFillTx/>
                <a:latin typeface="Arelv"/>
                <a:ea typeface="Arelv"/>
              </a:rPr>
              <a:t>ROBUSTE</a:t>
            </a:r>
            <a:endParaRPr lang="fr-FR" sz="1100" b="0" u="none" strike="noStrike">
              <a:solidFill>
                <a:srgbClr val="000000"/>
              </a:solidFill>
              <a:effectLst/>
              <a:uFillTx/>
              <a:latin typeface="Arial"/>
            </a:endParaRPr>
          </a:p>
        </p:txBody>
      </p:sp>
      <p:sp>
        <p:nvSpPr>
          <p:cNvPr id="1525" name="Text 21"/>
          <p:cNvSpPr/>
          <p:nvPr/>
        </p:nvSpPr>
        <p:spPr>
          <a:xfrm>
            <a:off x="6849000" y="3082680"/>
            <a:ext cx="1684440" cy="1318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HTML5 sémantique strict</a:t>
            </a:r>
            <a:endParaRPr lang="fr-FR" sz="900" b="0" u="none" strike="noStrike">
              <a:solidFill>
                <a:srgbClr val="000000"/>
              </a:solidFill>
              <a:effectLst/>
              <a:uFillTx/>
              <a:latin typeface="Arial"/>
            </a:endParaRPr>
          </a:p>
          <a:p>
            <a:pPr defTabSz="914400">
              <a:lnSpc>
                <a:spcPct val="100000"/>
              </a:lnSpc>
              <a:spcAft>
                <a:spcPts val="300"/>
              </a:spcAft>
              <a:tabLst>
                <a:tab pos="0" algn="l"/>
              </a:tabLst>
            </a:pPr>
            <a:r>
              <a:rPr lang="fr-FR" sz="900" b="0" u="none" strike="noStrike">
                <a:solidFill>
                  <a:srgbClr val="F4EFE6"/>
                </a:solidFill>
                <a:effectLst/>
                <a:uFillTx/>
                <a:latin typeface="Satoshi"/>
                <a:ea typeface="Satoshi"/>
              </a:rPr>
              <a:t>✓ Site compatible avec les lecteurs d’écran (aveugles / malvoyants)</a:t>
            </a:r>
            <a:endParaRPr lang="fr-FR" sz="900" b="0" u="none" strike="noStrike">
              <a:solidFill>
                <a:srgbClr val="000000"/>
              </a:solidFill>
              <a:effectLst/>
              <a:uFillTx/>
              <a:latin typeface="Arial"/>
            </a:endParaRPr>
          </a:p>
        </p:txBody>
      </p:sp>
      <p:sp>
        <p:nvSpPr>
          <p:cNvPr id="1526"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27"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528"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74</a:t>
            </a:r>
            <a:endParaRPr lang="fr-FR" sz="900" b="0" u="none" strike="noStrike">
              <a:solidFill>
                <a:srgbClr val="000000"/>
              </a:solidFill>
              <a:effectLst/>
              <a:uFillTx/>
              <a:latin typeface="Arial"/>
            </a:endParaRPr>
          </a:p>
        </p:txBody>
      </p:sp>
      <p:sp>
        <p:nvSpPr>
          <p:cNvPr id="1529" name="Text 91"/>
          <p:cNvSpPr/>
          <p:nvPr/>
        </p:nvSpPr>
        <p:spPr>
          <a:xfrm>
            <a:off x="522000" y="4536000"/>
            <a:ext cx="8097840" cy="22140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spcBef>
                <a:spcPts val="1191"/>
              </a:spcBef>
              <a:spcAft>
                <a:spcPts val="992"/>
              </a:spcAft>
              <a:tabLst>
                <a:tab pos="0" algn="l"/>
              </a:tabLst>
            </a:pPr>
            <a:r>
              <a:rPr lang="fr-FR" sz="900" b="0" i="1" u="none" strike="noStrike">
                <a:solidFill>
                  <a:srgbClr val="37474F"/>
                </a:solidFill>
                <a:effectLst/>
                <a:uFillTx/>
                <a:latin typeface="Satoshi"/>
                <a:ea typeface="Satoshi"/>
              </a:rPr>
              <a:t>Critères d’accessibilité numérique basés sur le standard international WCAG 2.1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530" name="Shape 5"/>
          <p:cNvSpPr/>
          <p:nvPr/>
        </p:nvSpPr>
        <p:spPr>
          <a:xfrm>
            <a:off x="45720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3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53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53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3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ENVIRONNEMENT</a:t>
            </a:r>
            <a:endParaRPr lang="fr-FR" sz="4400" b="0" u="none" strike="noStrike">
              <a:solidFill>
                <a:srgbClr val="000000"/>
              </a:solidFill>
              <a:effectLst/>
              <a:uFillTx/>
              <a:latin typeface="Arial"/>
            </a:endParaRPr>
          </a:p>
        </p:txBody>
      </p:sp>
      <p:sp>
        <p:nvSpPr>
          <p:cNvPr id="153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Workflow de développement et versioning</a:t>
            </a:r>
            <a:endParaRPr lang="fr-FR" sz="1400" b="0" u="none" strike="noStrike">
              <a:solidFill>
                <a:srgbClr val="000000"/>
              </a:solidFill>
              <a:effectLst/>
              <a:uFillTx/>
              <a:latin typeface="Arial"/>
            </a:endParaRPr>
          </a:p>
        </p:txBody>
      </p:sp>
      <p:sp>
        <p:nvSpPr>
          <p:cNvPr id="1536" name="Text 6"/>
          <p:cNvSpPr/>
          <p:nvPr/>
        </p:nvSpPr>
        <p:spPr>
          <a:xfrm>
            <a:off x="54864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01</a:t>
            </a:r>
            <a:endParaRPr lang="fr-FR" sz="1400" b="0" u="none" strike="noStrike">
              <a:solidFill>
                <a:srgbClr val="000000"/>
              </a:solidFill>
              <a:effectLst/>
              <a:uFillTx/>
              <a:latin typeface="Arial"/>
            </a:endParaRPr>
          </a:p>
        </p:txBody>
      </p:sp>
      <p:sp>
        <p:nvSpPr>
          <p:cNvPr id="1537" name="Text 7"/>
          <p:cNvSpPr/>
          <p:nvPr/>
        </p:nvSpPr>
        <p:spPr>
          <a:xfrm>
            <a:off x="54864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VS CODE</a:t>
            </a:r>
            <a:br>
              <a:rPr sz="1100"/>
            </a:br>
            <a:r>
              <a:rPr lang="fr-FR" sz="1100" b="1" u="none" spc="99" strike="noStrike">
                <a:solidFill>
                  <a:srgbClr val="0A0A0A"/>
                </a:solidFill>
                <a:effectLst/>
                <a:uFillTx/>
                <a:latin typeface="Arelv"/>
                <a:ea typeface="Arelv"/>
              </a:rPr>
              <a:t>LOCALWP WAMP</a:t>
            </a:r>
            <a:endParaRPr lang="fr-FR" sz="1100" b="0" u="none" strike="noStrike">
              <a:solidFill>
                <a:srgbClr val="000000"/>
              </a:solidFill>
              <a:effectLst/>
              <a:uFillTx/>
              <a:latin typeface="Arial"/>
            </a:endParaRPr>
          </a:p>
        </p:txBody>
      </p:sp>
      <p:sp>
        <p:nvSpPr>
          <p:cNvPr id="1538" name="Text 8"/>
          <p:cNvSpPr/>
          <p:nvPr/>
        </p:nvSpPr>
        <p:spPr>
          <a:xfrm>
            <a:off x="54864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Édition du code source personnalisé et gestion des bases de données locales</a:t>
            </a:r>
            <a:endParaRPr lang="fr-FR" sz="850" b="0" u="none" strike="noStrike">
              <a:solidFill>
                <a:srgbClr val="000000"/>
              </a:solidFill>
              <a:effectLst/>
              <a:uFillTx/>
              <a:latin typeface="Arial"/>
            </a:endParaRPr>
          </a:p>
        </p:txBody>
      </p:sp>
      <p:sp>
        <p:nvSpPr>
          <p:cNvPr id="1539" name="Shape 10"/>
          <p:cNvSpPr/>
          <p:nvPr/>
        </p:nvSpPr>
        <p:spPr>
          <a:xfrm>
            <a:off x="185616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40" name="Text 9"/>
          <p:cNvSpPr/>
          <p:nvPr/>
        </p:nvSpPr>
        <p:spPr>
          <a:xfrm>
            <a:off x="1737360" y="2606040"/>
            <a:ext cx="17568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78909C"/>
                </a:solidFill>
                <a:effectLst/>
                <a:uFillTx/>
                <a:latin typeface="Arelv"/>
                <a:ea typeface="Arelv"/>
              </a:rPr>
              <a:t>→</a:t>
            </a:r>
            <a:endParaRPr lang="fr-FR" sz="1400" b="0" u="none" strike="noStrike">
              <a:solidFill>
                <a:srgbClr val="000000"/>
              </a:solidFill>
              <a:effectLst/>
              <a:uFillTx/>
              <a:latin typeface="Arial"/>
            </a:endParaRPr>
          </a:p>
        </p:txBody>
      </p:sp>
      <p:sp>
        <p:nvSpPr>
          <p:cNvPr id="1541" name="Text 11"/>
          <p:cNvSpPr/>
          <p:nvPr/>
        </p:nvSpPr>
        <p:spPr>
          <a:xfrm>
            <a:off x="194760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02</a:t>
            </a:r>
            <a:endParaRPr lang="fr-FR" sz="1400" b="0" u="none" strike="noStrike">
              <a:solidFill>
                <a:srgbClr val="000000"/>
              </a:solidFill>
              <a:effectLst/>
              <a:uFillTx/>
              <a:latin typeface="Arial"/>
            </a:endParaRPr>
          </a:p>
        </p:txBody>
      </p:sp>
      <p:sp>
        <p:nvSpPr>
          <p:cNvPr id="1542" name="Text 12"/>
          <p:cNvSpPr/>
          <p:nvPr/>
        </p:nvSpPr>
        <p:spPr>
          <a:xfrm>
            <a:off x="194760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GIT</a:t>
            </a:r>
            <a:endParaRPr lang="fr-FR" sz="1100" b="0" u="none" strike="noStrike">
              <a:solidFill>
                <a:srgbClr val="000000"/>
              </a:solidFill>
              <a:effectLst/>
              <a:uFillTx/>
              <a:latin typeface="Arial"/>
            </a:endParaRPr>
          </a:p>
        </p:txBody>
      </p:sp>
      <p:sp>
        <p:nvSpPr>
          <p:cNvPr id="1543" name="Text 13"/>
          <p:cNvSpPr/>
          <p:nvPr/>
        </p:nvSpPr>
        <p:spPr>
          <a:xfrm>
            <a:off x="194760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Installation du projet et suivi de l’historique du code</a:t>
            </a:r>
            <a:endParaRPr lang="fr-FR" sz="850" b="0" u="none" strike="noStrike">
              <a:solidFill>
                <a:srgbClr val="000000"/>
              </a:solidFill>
              <a:effectLst/>
              <a:uFillTx/>
              <a:latin typeface="Arial"/>
            </a:endParaRPr>
          </a:p>
        </p:txBody>
      </p:sp>
      <p:sp>
        <p:nvSpPr>
          <p:cNvPr id="1544" name="Shape 15"/>
          <p:cNvSpPr/>
          <p:nvPr/>
        </p:nvSpPr>
        <p:spPr>
          <a:xfrm>
            <a:off x="325512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45" name="Text 14"/>
          <p:cNvSpPr/>
          <p:nvPr/>
        </p:nvSpPr>
        <p:spPr>
          <a:xfrm>
            <a:off x="3136320" y="2606040"/>
            <a:ext cx="17568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78909C"/>
                </a:solidFill>
                <a:effectLst/>
                <a:uFillTx/>
                <a:latin typeface="Arelv"/>
                <a:ea typeface="Arelv"/>
              </a:rPr>
              <a:t>→</a:t>
            </a:r>
            <a:endParaRPr lang="fr-FR" sz="1400" b="0" u="none" strike="noStrike">
              <a:solidFill>
                <a:srgbClr val="000000"/>
              </a:solidFill>
              <a:effectLst/>
              <a:uFillTx/>
              <a:latin typeface="Arial"/>
            </a:endParaRPr>
          </a:p>
        </p:txBody>
      </p:sp>
      <p:sp>
        <p:nvSpPr>
          <p:cNvPr id="1546" name="Text 16"/>
          <p:cNvSpPr/>
          <p:nvPr/>
        </p:nvSpPr>
        <p:spPr>
          <a:xfrm>
            <a:off x="334656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03</a:t>
            </a:r>
            <a:endParaRPr lang="fr-FR" sz="1400" b="0" u="none" strike="noStrike">
              <a:solidFill>
                <a:srgbClr val="000000"/>
              </a:solidFill>
              <a:effectLst/>
              <a:uFillTx/>
              <a:latin typeface="Arial"/>
            </a:endParaRPr>
          </a:p>
        </p:txBody>
      </p:sp>
      <p:sp>
        <p:nvSpPr>
          <p:cNvPr id="1547" name="Text 17"/>
          <p:cNvSpPr/>
          <p:nvPr/>
        </p:nvSpPr>
        <p:spPr>
          <a:xfrm>
            <a:off x="334656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GITHUB</a:t>
            </a:r>
            <a:endParaRPr lang="fr-FR" sz="1100" b="0" u="none" strike="noStrike">
              <a:solidFill>
                <a:srgbClr val="000000"/>
              </a:solidFill>
              <a:effectLst/>
              <a:uFillTx/>
              <a:latin typeface="Arial"/>
            </a:endParaRPr>
          </a:p>
        </p:txBody>
      </p:sp>
      <p:sp>
        <p:nvSpPr>
          <p:cNvPr id="1548" name="Text 18"/>
          <p:cNvSpPr/>
          <p:nvPr/>
        </p:nvSpPr>
        <p:spPr>
          <a:xfrm>
            <a:off x="334656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Dépôt distant sécurisé LEMON-216/portfolio pour archiver le projet</a:t>
            </a:r>
            <a:endParaRPr lang="fr-FR" sz="850" b="0" u="none" strike="noStrike">
              <a:solidFill>
                <a:srgbClr val="000000"/>
              </a:solidFill>
              <a:effectLst/>
              <a:uFillTx/>
              <a:latin typeface="Arial"/>
            </a:endParaRPr>
          </a:p>
        </p:txBody>
      </p:sp>
      <p:sp>
        <p:nvSpPr>
          <p:cNvPr id="1549" name="Shape 20"/>
          <p:cNvSpPr/>
          <p:nvPr/>
        </p:nvSpPr>
        <p:spPr>
          <a:xfrm>
            <a:off x="465444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50" name="Text 19"/>
          <p:cNvSpPr/>
          <p:nvPr/>
        </p:nvSpPr>
        <p:spPr>
          <a:xfrm>
            <a:off x="4535280" y="2606040"/>
            <a:ext cx="17568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78909C"/>
                </a:solidFill>
                <a:effectLst/>
                <a:uFillTx/>
                <a:latin typeface="Arelv"/>
                <a:ea typeface="Arelv"/>
              </a:rPr>
              <a:t>→</a:t>
            </a:r>
            <a:endParaRPr lang="fr-FR" sz="1400" b="0" u="none" strike="noStrike">
              <a:solidFill>
                <a:srgbClr val="000000"/>
              </a:solidFill>
              <a:effectLst/>
              <a:uFillTx/>
              <a:latin typeface="Arial"/>
            </a:endParaRPr>
          </a:p>
        </p:txBody>
      </p:sp>
      <p:sp>
        <p:nvSpPr>
          <p:cNvPr id="1551" name="Text 21"/>
          <p:cNvSpPr/>
          <p:nvPr/>
        </p:nvSpPr>
        <p:spPr>
          <a:xfrm>
            <a:off x="474588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04</a:t>
            </a:r>
            <a:endParaRPr lang="fr-FR" sz="1400" b="0" u="none" strike="noStrike">
              <a:solidFill>
                <a:srgbClr val="000000"/>
              </a:solidFill>
              <a:effectLst/>
              <a:uFillTx/>
              <a:latin typeface="Arial"/>
            </a:endParaRPr>
          </a:p>
        </p:txBody>
      </p:sp>
      <p:sp>
        <p:nvSpPr>
          <p:cNvPr id="1552" name="Text 22"/>
          <p:cNvSpPr/>
          <p:nvPr/>
        </p:nvSpPr>
        <p:spPr>
          <a:xfrm>
            <a:off x="474588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NETLIFY</a:t>
            </a:r>
            <a:endParaRPr lang="fr-FR" sz="1100" b="0" u="none" strike="noStrike">
              <a:solidFill>
                <a:srgbClr val="000000"/>
              </a:solidFill>
              <a:effectLst/>
              <a:uFillTx/>
              <a:latin typeface="Arial"/>
            </a:endParaRPr>
          </a:p>
        </p:txBody>
      </p:sp>
      <p:sp>
        <p:nvSpPr>
          <p:cNvPr id="1553" name="Text 23"/>
          <p:cNvSpPr/>
          <p:nvPr/>
        </p:nvSpPr>
        <p:spPr>
          <a:xfrm>
            <a:off x="474588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Hébergement automatisé et synchronisé avec GitHub</a:t>
            </a:r>
            <a:endParaRPr lang="fr-FR" sz="850" b="0" u="none" strike="noStrike">
              <a:solidFill>
                <a:srgbClr val="000000"/>
              </a:solidFill>
              <a:effectLst/>
              <a:uFillTx/>
              <a:latin typeface="Arial"/>
            </a:endParaRPr>
          </a:p>
        </p:txBody>
      </p:sp>
      <p:sp>
        <p:nvSpPr>
          <p:cNvPr id="1554" name="Shape 25"/>
          <p:cNvSpPr/>
          <p:nvPr/>
        </p:nvSpPr>
        <p:spPr>
          <a:xfrm>
            <a:off x="605340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55" name="Text 24"/>
          <p:cNvSpPr/>
          <p:nvPr/>
        </p:nvSpPr>
        <p:spPr>
          <a:xfrm>
            <a:off x="5934600" y="2606040"/>
            <a:ext cx="17568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78909C"/>
                </a:solidFill>
                <a:effectLst/>
                <a:uFillTx/>
                <a:latin typeface="Arelv"/>
                <a:ea typeface="Arelv"/>
              </a:rPr>
              <a:t>→</a:t>
            </a:r>
            <a:endParaRPr lang="fr-FR" sz="1400" b="0" u="none" strike="noStrike">
              <a:solidFill>
                <a:srgbClr val="000000"/>
              </a:solidFill>
              <a:effectLst/>
              <a:uFillTx/>
              <a:latin typeface="Arial"/>
            </a:endParaRPr>
          </a:p>
        </p:txBody>
      </p:sp>
      <p:sp>
        <p:nvSpPr>
          <p:cNvPr id="1556" name="Text 26"/>
          <p:cNvSpPr/>
          <p:nvPr/>
        </p:nvSpPr>
        <p:spPr>
          <a:xfrm>
            <a:off x="614484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05</a:t>
            </a:r>
            <a:endParaRPr lang="fr-FR" sz="1400" b="0" u="none" strike="noStrike">
              <a:solidFill>
                <a:srgbClr val="000000"/>
              </a:solidFill>
              <a:effectLst/>
              <a:uFillTx/>
              <a:latin typeface="Arial"/>
            </a:endParaRPr>
          </a:p>
        </p:txBody>
      </p:sp>
      <p:sp>
        <p:nvSpPr>
          <p:cNvPr id="1557" name="Text 27"/>
          <p:cNvSpPr/>
          <p:nvPr/>
        </p:nvSpPr>
        <p:spPr>
          <a:xfrm>
            <a:off x="614484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STAGING</a:t>
            </a:r>
            <a:endParaRPr lang="fr-FR" sz="1100" b="0" u="none" strike="noStrike">
              <a:solidFill>
                <a:srgbClr val="000000"/>
              </a:solidFill>
              <a:effectLst/>
              <a:uFillTx/>
              <a:latin typeface="Arial"/>
            </a:endParaRPr>
          </a:p>
        </p:txBody>
      </p:sp>
      <p:sp>
        <p:nvSpPr>
          <p:cNvPr id="1558" name="Text 28"/>
          <p:cNvSpPr/>
          <p:nvPr/>
        </p:nvSpPr>
        <p:spPr>
          <a:xfrm>
            <a:off x="614484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Validation et tests intermédiaires sur serveur pédagogique FIM (phase 1)</a:t>
            </a:r>
            <a:endParaRPr lang="fr-FR" sz="850" b="0" u="none" strike="noStrike">
              <a:solidFill>
                <a:srgbClr val="000000"/>
              </a:solidFill>
              <a:effectLst/>
              <a:uFillTx/>
              <a:latin typeface="Arial"/>
            </a:endParaRPr>
          </a:p>
        </p:txBody>
      </p:sp>
      <p:sp>
        <p:nvSpPr>
          <p:cNvPr id="1559" name="Shape 30"/>
          <p:cNvSpPr/>
          <p:nvPr/>
        </p:nvSpPr>
        <p:spPr>
          <a:xfrm>
            <a:off x="7452360" y="2103120"/>
            <a:ext cx="1318680" cy="1364400"/>
          </a:xfrm>
          <a:prstGeom prst="rect">
            <a:avLst/>
          </a:prstGeom>
          <a:solidFill>
            <a:srgbClr val="EBE4D5"/>
          </a:solidFill>
          <a:ln w="635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60" name="Text 29"/>
          <p:cNvSpPr/>
          <p:nvPr/>
        </p:nvSpPr>
        <p:spPr>
          <a:xfrm>
            <a:off x="7333560" y="2606040"/>
            <a:ext cx="175680" cy="358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78909C"/>
                </a:solidFill>
                <a:effectLst/>
                <a:uFillTx/>
                <a:latin typeface="Arelv"/>
                <a:ea typeface="Arelv"/>
              </a:rPr>
              <a:t>→</a:t>
            </a:r>
            <a:endParaRPr lang="fr-FR" sz="1400" b="0" u="none" strike="noStrike">
              <a:solidFill>
                <a:srgbClr val="000000"/>
              </a:solidFill>
              <a:effectLst/>
              <a:uFillTx/>
              <a:latin typeface="Arial"/>
            </a:endParaRPr>
          </a:p>
        </p:txBody>
      </p:sp>
      <p:sp>
        <p:nvSpPr>
          <p:cNvPr id="1561" name="Text 31"/>
          <p:cNvSpPr/>
          <p:nvPr/>
        </p:nvSpPr>
        <p:spPr>
          <a:xfrm>
            <a:off x="7543800" y="2194560"/>
            <a:ext cx="11358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06</a:t>
            </a:r>
            <a:endParaRPr lang="fr-FR" sz="1400" b="0" u="none" strike="noStrike">
              <a:solidFill>
                <a:srgbClr val="000000"/>
              </a:solidFill>
              <a:effectLst/>
              <a:uFillTx/>
              <a:latin typeface="Arial"/>
            </a:endParaRPr>
          </a:p>
        </p:txBody>
      </p:sp>
      <p:sp>
        <p:nvSpPr>
          <p:cNvPr id="1562" name="Text 32"/>
          <p:cNvSpPr/>
          <p:nvPr/>
        </p:nvSpPr>
        <p:spPr>
          <a:xfrm>
            <a:off x="7543800" y="2514600"/>
            <a:ext cx="113580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PRODUCTION</a:t>
            </a:r>
            <a:endParaRPr lang="fr-FR" sz="1100" b="0" u="none" strike="noStrike">
              <a:solidFill>
                <a:srgbClr val="000000"/>
              </a:solidFill>
              <a:effectLst/>
              <a:uFillTx/>
              <a:latin typeface="Arial"/>
            </a:endParaRPr>
          </a:p>
        </p:txBody>
      </p:sp>
      <p:sp>
        <p:nvSpPr>
          <p:cNvPr id="1563" name="Text 33"/>
          <p:cNvSpPr/>
          <p:nvPr/>
        </p:nvSpPr>
        <p:spPr>
          <a:xfrm>
            <a:off x="7543800" y="2952360"/>
            <a:ext cx="1135800" cy="49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Mise en ligne officielle sur aymen-chaabane.fr (OVH CLOUD phase 2)</a:t>
            </a:r>
            <a:endParaRPr lang="fr-FR" sz="850" b="0" u="none" strike="noStrike">
              <a:solidFill>
                <a:srgbClr val="000000"/>
              </a:solidFill>
              <a:effectLst/>
              <a:uFillTx/>
              <a:latin typeface="Arial"/>
            </a:endParaRPr>
          </a:p>
        </p:txBody>
      </p:sp>
      <p:sp>
        <p:nvSpPr>
          <p:cNvPr id="1564" name="Text 34"/>
          <p:cNvSpPr/>
          <p:nvPr/>
        </p:nvSpPr>
        <p:spPr>
          <a:xfrm>
            <a:off x="457200" y="380160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MÉTHODOLOGIE DE DÉPLOIEMENT </a:t>
            </a:r>
            <a:endParaRPr lang="fr-FR" sz="1000" b="0" u="none" strike="noStrike">
              <a:solidFill>
                <a:srgbClr val="000000"/>
              </a:solidFill>
              <a:effectLst/>
              <a:uFillTx/>
              <a:latin typeface="Arial"/>
            </a:endParaRPr>
          </a:p>
        </p:txBody>
      </p:sp>
      <p:sp>
        <p:nvSpPr>
          <p:cNvPr id="1565" name="Shape 3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66" name="Text 3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567" name="Text 3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75</a:t>
            </a:r>
            <a:endParaRPr lang="fr-FR" sz="900" b="0" u="none" strike="noStrike">
              <a:solidFill>
                <a:srgbClr val="000000"/>
              </a:solidFill>
              <a:effectLst/>
              <a:uFillTx/>
              <a:latin typeface="Arial"/>
            </a:endParaRPr>
          </a:p>
        </p:txBody>
      </p:sp>
      <p:sp>
        <p:nvSpPr>
          <p:cNvPr id="1568" name=""/>
          <p:cNvSpPr/>
          <p:nvPr/>
        </p:nvSpPr>
        <p:spPr>
          <a:xfrm>
            <a:off x="360000" y="4020120"/>
            <a:ext cx="8277840" cy="3949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fr-FR" sz="1000" b="0" i="1" u="none" strike="noStrike">
                <a:solidFill>
                  <a:srgbClr val="0A0A0A"/>
                </a:solidFill>
                <a:effectLst/>
                <a:uFillTx/>
                <a:latin typeface="Satoshi"/>
                <a:ea typeface="Satoshi"/>
              </a:rPr>
              <a:t>Gestion Git : Centralisation du code stable sur la branche principale (main) avec sauvegarde synchrone (Push) sur GitHub en fin de session. Déploiement : Liaison automatisée entre GitHub et Netlify permettant la mise à jour immédiate du site en ligne sans action manuelle.</a:t>
            </a:r>
            <a:r>
              <a:rPr lang="fr-FR" sz="1000" b="0" i="1" u="none" strike="noStrike">
                <a:solidFill>
                  <a:srgbClr val="000000"/>
                </a:solidFill>
                <a:effectLst/>
                <a:uFillTx/>
                <a:latin typeface="Arial"/>
                <a:ea typeface="Satoshi"/>
              </a:rPr>
              <a:t> </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569"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09</a:t>
            </a:r>
            <a:endParaRPr lang="fr-FR" sz="28000" b="0" u="none" strike="noStrike">
              <a:solidFill>
                <a:srgbClr val="FFFFFF"/>
              </a:solidFill>
              <a:effectLst/>
              <a:uFillTx/>
              <a:latin typeface="Arial"/>
            </a:endParaRPr>
          </a:p>
        </p:txBody>
      </p:sp>
      <p:sp>
        <p:nvSpPr>
          <p:cNvPr id="1570"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SEO &amp;</a:t>
            </a:r>
            <a:endParaRPr lang="fr-FR" sz="3200" b="0" u="none" strike="noStrike">
              <a:solidFill>
                <a:srgbClr val="FFFFFF"/>
              </a:solidFill>
              <a:effectLst/>
              <a:uFillTx/>
              <a:latin typeface="Arial"/>
            </a:endParaRPr>
          </a:p>
        </p:txBody>
      </p:sp>
      <p:sp>
        <p:nvSpPr>
          <p:cNvPr id="1571"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MARKETING</a:t>
            </a:r>
            <a:endParaRPr lang="fr-FR" sz="3200" b="0" u="none" strike="noStrike">
              <a:solidFill>
                <a:srgbClr val="FFFFFF"/>
              </a:solidFill>
              <a:effectLst/>
              <a:uFillTx/>
              <a:latin typeface="Arial"/>
            </a:endParaRPr>
          </a:p>
        </p:txBody>
      </p:sp>
      <p:sp>
        <p:nvSpPr>
          <p:cNvPr id="1572"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Neuvième partie · pages 76 → 81</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573"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574"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575"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76"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SEO ON-PAGE</a:t>
            </a:r>
            <a:endParaRPr lang="fr-FR" sz="5000" b="0" u="none" strike="noStrike">
              <a:solidFill>
                <a:srgbClr val="000000"/>
              </a:solidFill>
              <a:effectLst/>
              <a:uFillTx/>
              <a:latin typeface="Arial"/>
            </a:endParaRPr>
          </a:p>
        </p:txBody>
      </p:sp>
      <p:sp>
        <p:nvSpPr>
          <p:cNvPr id="1577"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Référencement naturel — fondamentaux techniques</a:t>
            </a:r>
            <a:endParaRPr lang="fr-FR" sz="1400" b="0" u="none" strike="noStrike">
              <a:solidFill>
                <a:srgbClr val="000000"/>
              </a:solidFill>
              <a:effectLst/>
              <a:uFillTx/>
              <a:latin typeface="Arial"/>
            </a:endParaRPr>
          </a:p>
        </p:txBody>
      </p:sp>
      <p:sp>
        <p:nvSpPr>
          <p:cNvPr id="1578" name="Text 5"/>
          <p:cNvSpPr/>
          <p:nvPr/>
        </p:nvSpPr>
        <p:spPr>
          <a:xfrm>
            <a:off x="457200" y="20116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L'objectif n'est pas le trafic massif — un portfolio personnel ne vise pas le grand public. Il s'agit d'apparaître dans les requêtes ciblées des recruteurs et clients potentiels lorsqu'ils cherchent un Chef de projet digital en Normandie.</a:t>
            </a:r>
            <a:endParaRPr lang="fr-FR" sz="1100" b="0" u="none" strike="noStrike">
              <a:solidFill>
                <a:srgbClr val="000000"/>
              </a:solidFill>
              <a:effectLst/>
              <a:uFillTx/>
              <a:latin typeface="Arial"/>
            </a:endParaRPr>
          </a:p>
        </p:txBody>
      </p:sp>
      <p:sp>
        <p:nvSpPr>
          <p:cNvPr id="1579" name="Shape 6"/>
          <p:cNvSpPr/>
          <p:nvPr/>
        </p:nvSpPr>
        <p:spPr>
          <a:xfrm>
            <a:off x="457200" y="278892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80" name="Text 7"/>
          <p:cNvSpPr/>
          <p:nvPr/>
        </p:nvSpPr>
        <p:spPr>
          <a:xfrm>
            <a:off x="594360" y="28803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01</a:t>
            </a:r>
            <a:endParaRPr lang="fr-FR" sz="1400" b="0" u="none" strike="noStrike">
              <a:solidFill>
                <a:srgbClr val="000000"/>
              </a:solidFill>
              <a:effectLst/>
              <a:uFillTx/>
              <a:latin typeface="Arial"/>
            </a:endParaRPr>
          </a:p>
        </p:txBody>
      </p:sp>
      <p:sp>
        <p:nvSpPr>
          <p:cNvPr id="1581" name="Text 8"/>
          <p:cNvSpPr/>
          <p:nvPr/>
        </p:nvSpPr>
        <p:spPr>
          <a:xfrm>
            <a:off x="594360" y="317304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TECHNIQUE</a:t>
            </a:r>
            <a:endParaRPr lang="fr-FR" sz="1200" b="0" u="none" strike="noStrike">
              <a:solidFill>
                <a:srgbClr val="000000"/>
              </a:solidFill>
              <a:effectLst/>
              <a:uFillTx/>
              <a:latin typeface="Arial"/>
            </a:endParaRPr>
          </a:p>
        </p:txBody>
      </p:sp>
      <p:sp>
        <p:nvSpPr>
          <p:cNvPr id="1582" name="Text 9"/>
          <p:cNvSpPr/>
          <p:nvPr/>
        </p:nvSpPr>
        <p:spPr>
          <a:xfrm>
            <a:off x="594360" y="3502080"/>
            <a:ext cx="1684440" cy="998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Sitemap.xml généré par Yoast</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Données structurées pour le profil professionnel</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URLs propres et lisibles</a:t>
            </a:r>
            <a:endParaRPr lang="fr-FR" sz="900" b="0" u="none" strike="noStrike">
              <a:solidFill>
                <a:srgbClr val="000000"/>
              </a:solidFill>
              <a:effectLst/>
              <a:uFillTx/>
              <a:latin typeface="Arial"/>
            </a:endParaRPr>
          </a:p>
        </p:txBody>
      </p:sp>
      <p:sp>
        <p:nvSpPr>
          <p:cNvPr id="1583" name="Shape 10"/>
          <p:cNvSpPr/>
          <p:nvPr/>
        </p:nvSpPr>
        <p:spPr>
          <a:xfrm>
            <a:off x="2541960" y="278892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84" name="Text 11"/>
          <p:cNvSpPr/>
          <p:nvPr/>
        </p:nvSpPr>
        <p:spPr>
          <a:xfrm>
            <a:off x="2679120" y="28803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02</a:t>
            </a:r>
            <a:endParaRPr lang="fr-FR" sz="1400" b="0" u="none" strike="noStrike">
              <a:solidFill>
                <a:srgbClr val="000000"/>
              </a:solidFill>
              <a:effectLst/>
              <a:uFillTx/>
              <a:latin typeface="Arial"/>
            </a:endParaRPr>
          </a:p>
        </p:txBody>
      </p:sp>
      <p:sp>
        <p:nvSpPr>
          <p:cNvPr id="1585" name="Text 12"/>
          <p:cNvSpPr/>
          <p:nvPr/>
        </p:nvSpPr>
        <p:spPr>
          <a:xfrm>
            <a:off x="2679120" y="317304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CONTENU</a:t>
            </a:r>
            <a:endParaRPr lang="fr-FR" sz="1200" b="0" u="none" strike="noStrike">
              <a:solidFill>
                <a:srgbClr val="000000"/>
              </a:solidFill>
              <a:effectLst/>
              <a:uFillTx/>
              <a:latin typeface="Arial"/>
            </a:endParaRPr>
          </a:p>
        </p:txBody>
      </p:sp>
      <p:sp>
        <p:nvSpPr>
          <p:cNvPr id="1586" name="Text 13"/>
          <p:cNvSpPr/>
          <p:nvPr/>
        </p:nvSpPr>
        <p:spPr>
          <a:xfrm>
            <a:off x="2679120" y="3502080"/>
            <a:ext cx="1684440" cy="998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Mots-clés ciblés par page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Balises H1 → H3 hiérarchisées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Meta description par page (155 caractères)</a:t>
            </a:r>
            <a:endParaRPr lang="fr-FR" sz="900" b="0" u="none" strike="noStrike">
              <a:solidFill>
                <a:srgbClr val="000000"/>
              </a:solidFill>
              <a:effectLst/>
              <a:uFillTx/>
              <a:latin typeface="Arial"/>
            </a:endParaRPr>
          </a:p>
        </p:txBody>
      </p:sp>
      <p:sp>
        <p:nvSpPr>
          <p:cNvPr id="1587" name="Shape 14"/>
          <p:cNvSpPr/>
          <p:nvPr/>
        </p:nvSpPr>
        <p:spPr>
          <a:xfrm>
            <a:off x="4626720" y="278892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88" name="Text 15"/>
          <p:cNvSpPr/>
          <p:nvPr/>
        </p:nvSpPr>
        <p:spPr>
          <a:xfrm>
            <a:off x="4763880" y="28803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03</a:t>
            </a:r>
            <a:endParaRPr lang="fr-FR" sz="1400" b="0" u="none" strike="noStrike">
              <a:solidFill>
                <a:srgbClr val="000000"/>
              </a:solidFill>
              <a:effectLst/>
              <a:uFillTx/>
              <a:latin typeface="Arial"/>
            </a:endParaRPr>
          </a:p>
        </p:txBody>
      </p:sp>
      <p:sp>
        <p:nvSpPr>
          <p:cNvPr id="1589" name="Text 16"/>
          <p:cNvSpPr/>
          <p:nvPr/>
        </p:nvSpPr>
        <p:spPr>
          <a:xfrm>
            <a:off x="4763880" y="317304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MULTILINGUE</a:t>
            </a:r>
            <a:endParaRPr lang="fr-FR" sz="1200" b="0" u="none" strike="noStrike">
              <a:solidFill>
                <a:srgbClr val="000000"/>
              </a:solidFill>
              <a:effectLst/>
              <a:uFillTx/>
              <a:latin typeface="Arial"/>
            </a:endParaRPr>
          </a:p>
        </p:txBody>
      </p:sp>
      <p:sp>
        <p:nvSpPr>
          <p:cNvPr id="1590" name="Text 17"/>
          <p:cNvSpPr/>
          <p:nvPr/>
        </p:nvSpPr>
        <p:spPr>
          <a:xfrm>
            <a:off x="4763880" y="3502080"/>
            <a:ext cx="1684440" cy="998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Gestion automatique des langues pour les moteurs de recherche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URLs distinctes par langue</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Sitemap multilingue (Polylang)</a:t>
            </a:r>
            <a:endParaRPr lang="fr-FR" sz="900" b="0" u="none" strike="noStrike">
              <a:solidFill>
                <a:srgbClr val="000000"/>
              </a:solidFill>
              <a:effectLst/>
              <a:uFillTx/>
              <a:latin typeface="Arial"/>
            </a:endParaRPr>
          </a:p>
        </p:txBody>
      </p:sp>
      <p:sp>
        <p:nvSpPr>
          <p:cNvPr id="1591" name="Shape 18"/>
          <p:cNvSpPr/>
          <p:nvPr/>
        </p:nvSpPr>
        <p:spPr>
          <a:xfrm>
            <a:off x="6711840" y="2788920"/>
            <a:ext cx="1958760" cy="177588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92" name="Text 19"/>
          <p:cNvSpPr/>
          <p:nvPr/>
        </p:nvSpPr>
        <p:spPr>
          <a:xfrm>
            <a:off x="6849000" y="28803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BF360C"/>
                </a:solidFill>
                <a:effectLst/>
                <a:uFillTx/>
                <a:latin typeface="Arelv"/>
                <a:ea typeface="Arelv"/>
              </a:rPr>
              <a:t>04</a:t>
            </a:r>
            <a:endParaRPr lang="fr-FR" sz="1400" b="0" u="none" strike="noStrike">
              <a:solidFill>
                <a:srgbClr val="000000"/>
              </a:solidFill>
              <a:effectLst/>
              <a:uFillTx/>
              <a:latin typeface="Arial"/>
            </a:endParaRPr>
          </a:p>
        </p:txBody>
      </p:sp>
      <p:sp>
        <p:nvSpPr>
          <p:cNvPr id="1593" name="Text 20"/>
          <p:cNvSpPr/>
          <p:nvPr/>
        </p:nvSpPr>
        <p:spPr>
          <a:xfrm>
            <a:off x="6849000" y="3173040"/>
            <a:ext cx="16844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99" strike="noStrike">
                <a:solidFill>
                  <a:srgbClr val="0A0A0A"/>
                </a:solidFill>
                <a:effectLst/>
                <a:uFillTx/>
                <a:latin typeface="Arelv"/>
                <a:ea typeface="Arelv"/>
              </a:rPr>
              <a:t>BACKLINKS</a:t>
            </a:r>
            <a:endParaRPr lang="fr-FR" sz="1200" b="0" u="none" strike="noStrike">
              <a:solidFill>
                <a:srgbClr val="000000"/>
              </a:solidFill>
              <a:effectLst/>
              <a:uFillTx/>
              <a:latin typeface="Arial"/>
            </a:endParaRPr>
          </a:p>
        </p:txBody>
      </p:sp>
      <p:sp>
        <p:nvSpPr>
          <p:cNvPr id="1594" name="Text 21"/>
          <p:cNvSpPr/>
          <p:nvPr/>
        </p:nvSpPr>
        <p:spPr>
          <a:xfrm>
            <a:off x="6849000" y="3502080"/>
            <a:ext cx="1684440" cy="998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Profil LinkedIn → portfolio</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GitHub README → portfolio</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Malt → portfolio</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Mention sur sites partenaires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37474F"/>
                </a:solidFill>
                <a:effectLst/>
                <a:uFillTx/>
                <a:latin typeface="Satoshi"/>
                <a:ea typeface="Satoshi"/>
              </a:rPr>
              <a:t>› Intégration de liens HTML vers mes CV</a:t>
            </a:r>
            <a:endParaRPr lang="fr-FR" sz="900" b="0" u="none" strike="noStrike">
              <a:solidFill>
                <a:srgbClr val="000000"/>
              </a:solidFill>
              <a:effectLst/>
              <a:uFillTx/>
              <a:latin typeface="Arial"/>
            </a:endParaRPr>
          </a:p>
        </p:txBody>
      </p:sp>
      <p:sp>
        <p:nvSpPr>
          <p:cNvPr id="1595"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596"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597"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59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59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60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0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200" b="1" u="none" strike="noStrike">
                <a:solidFill>
                  <a:srgbClr val="0A0A0A"/>
                </a:solidFill>
                <a:effectLst/>
                <a:uFillTx/>
                <a:latin typeface="Arelv"/>
                <a:ea typeface="Arelv"/>
              </a:rPr>
              <a:t>MOTS-CLÉS</a:t>
            </a:r>
            <a:endParaRPr lang="fr-FR" sz="5200" b="0" u="none" strike="noStrike">
              <a:solidFill>
                <a:srgbClr val="000000"/>
              </a:solidFill>
              <a:effectLst/>
              <a:uFillTx/>
              <a:latin typeface="Arial"/>
            </a:endParaRPr>
          </a:p>
        </p:txBody>
      </p:sp>
      <p:sp>
        <p:nvSpPr>
          <p:cNvPr id="160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Univers sémantique cible — segmentation par intention</a:t>
            </a:r>
            <a:endParaRPr lang="fr-FR" sz="1400" b="0" u="none" strike="noStrike">
              <a:solidFill>
                <a:srgbClr val="000000"/>
              </a:solidFill>
              <a:effectLst/>
              <a:uFillTx/>
              <a:latin typeface="Arial"/>
            </a:endParaRPr>
          </a:p>
        </p:txBody>
      </p:sp>
      <p:graphicFrame>
        <p:nvGraphicFramePr>
          <p:cNvPr id="1603" name="Table 0"/>
          <p:cNvGraphicFramePr/>
          <p:nvPr/>
        </p:nvGraphicFramePr>
        <p:xfrm>
          <a:off x="457200" y="2103120"/>
          <a:ext cx="8320680" cy="2266560"/>
        </p:xfrm>
        <a:graphic>
          <a:graphicData uri="http://schemas.openxmlformats.org/drawingml/2006/table">
            <a:tbl>
              <a:tblPr/>
              <a:tblGrid>
                <a:gridCol w="3017520"/>
                <a:gridCol w="1280160"/>
                <a:gridCol w="1280160"/>
                <a:gridCol w="1280160"/>
                <a:gridCol w="1463040"/>
              </a:tblGrid>
              <a:tr h="283320">
                <a:tc>
                  <a:txBody>
                    <a:bodyPr anchor="t">
                      <a:noAutofit/>
                    </a:bodyPr>
                    <a:p>
                      <a:pPr defTabSz="914400">
                        <a:lnSpc>
                          <a:spcPct val="100000"/>
                        </a:lnSpc>
                        <a:tabLst>
                          <a:tab pos="0" algn="l"/>
                        </a:tabLst>
                      </a:pPr>
                      <a:r>
                        <a:rPr lang="fr-FR" sz="950" b="1" u="none" strike="noStrike">
                          <a:solidFill>
                            <a:srgbClr val="F4EFE6"/>
                          </a:solidFill>
                          <a:effectLst/>
                          <a:uFillTx/>
                          <a:latin typeface="Satoshi"/>
                          <a:ea typeface="Satoshi"/>
                        </a:rPr>
                        <a:t>MOT-CLÉ</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TYPE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VOL./MOIS</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COMPÉTITION</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PRIORITÉ</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Aymen CHAABANE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Marque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10-50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Faible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Chef de projet digital Normandie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Local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200-500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Moyenne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Développeur web Saint-Lô</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Local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100-300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Faible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Portfolio WordPress chef de projet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Niche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50-100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Faible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Reconversion développeur web</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Profil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1000-2000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Forte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Anthropologie digitale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Hybride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20-50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Très faible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8332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Développeur multilingue FR EN JA AR</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Compétence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10-30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Très faible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1" u="none" strike="noStrike">
                          <a:solidFill>
                            <a:srgbClr val="BF360C"/>
                          </a:solidFill>
                          <a:effectLst/>
                          <a:uFillTx/>
                          <a:latin typeface="Satoshi"/>
                          <a:ea typeface="Satoshi"/>
                        </a:rPr>
                        <a: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604" name="Text 5"/>
          <p:cNvSpPr/>
          <p:nvPr/>
        </p:nvSpPr>
        <p:spPr>
          <a:xfrm>
            <a:off x="457200" y="4526280"/>
            <a:ext cx="82224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Estimations indicatives basées sur Google Keyword Planner et Ubersuggest, mars 2026.</a:t>
            </a:r>
            <a:endParaRPr lang="fr-FR" sz="900" b="0" u="none" strike="noStrike">
              <a:solidFill>
                <a:srgbClr val="000000"/>
              </a:solidFill>
              <a:effectLst/>
              <a:uFillTx/>
              <a:latin typeface="Arial"/>
            </a:endParaRPr>
          </a:p>
        </p:txBody>
      </p:sp>
      <p:sp>
        <p:nvSpPr>
          <p:cNvPr id="1605"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06"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607"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60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60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61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1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800" b="1" u="none" strike="noStrike">
                <a:solidFill>
                  <a:srgbClr val="0A0A0A"/>
                </a:solidFill>
                <a:effectLst/>
                <a:uFillTx/>
                <a:latin typeface="Arelv"/>
                <a:ea typeface="Arelv"/>
              </a:rPr>
              <a:t>BALISES MÉTA</a:t>
            </a:r>
            <a:endParaRPr lang="fr-FR" sz="4800" b="0" u="none" strike="noStrike">
              <a:solidFill>
                <a:srgbClr val="000000"/>
              </a:solidFill>
              <a:effectLst/>
              <a:uFillTx/>
              <a:latin typeface="Arial"/>
            </a:endParaRPr>
          </a:p>
        </p:txBody>
      </p:sp>
      <p:sp>
        <p:nvSpPr>
          <p:cNvPr id="161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Optimisation des balises pour les moteurs et le partage social</a:t>
            </a:r>
            <a:endParaRPr lang="fr-FR" sz="1400" b="0" u="none" strike="noStrike">
              <a:solidFill>
                <a:srgbClr val="000000"/>
              </a:solidFill>
              <a:effectLst/>
              <a:uFillTx/>
              <a:latin typeface="Arial"/>
            </a:endParaRPr>
          </a:p>
        </p:txBody>
      </p:sp>
      <p:sp>
        <p:nvSpPr>
          <p:cNvPr id="1613" name="Shape 5"/>
          <p:cNvSpPr/>
          <p:nvPr/>
        </p:nvSpPr>
        <p:spPr>
          <a:xfrm>
            <a:off x="457200" y="2011680"/>
            <a:ext cx="5022000" cy="25988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14" name="Text 6"/>
          <p:cNvSpPr/>
          <p:nvPr/>
        </p:nvSpPr>
        <p:spPr>
          <a:xfrm>
            <a:off x="640080" y="2103120"/>
            <a:ext cx="46562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EXEMPLE — PAGE D'ACCUEIL FR</a:t>
            </a:r>
            <a:endParaRPr lang="fr-FR" sz="900" b="0" u="none" strike="noStrike">
              <a:solidFill>
                <a:srgbClr val="000000"/>
              </a:solidFill>
              <a:effectLst/>
              <a:uFillTx/>
              <a:latin typeface="Arial"/>
            </a:endParaRPr>
          </a:p>
        </p:txBody>
      </p:sp>
      <p:sp>
        <p:nvSpPr>
          <p:cNvPr id="1615" name="Text 7"/>
          <p:cNvSpPr/>
          <p:nvPr/>
        </p:nvSpPr>
        <p:spPr>
          <a:xfrm>
            <a:off x="640080" y="2377440"/>
            <a:ext cx="4656240" cy="2187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fr-FR" sz="900" b="0" u="none" strike="noStrike">
                <a:solidFill>
                  <a:srgbClr val="8DAE9C"/>
                </a:solidFill>
                <a:effectLst/>
                <a:uFillTx/>
                <a:latin typeface="Courier New"/>
                <a:ea typeface="Courier New"/>
              </a:rPr>
              <a:t>&lt;title&gt;</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F4EFE6"/>
                </a:solidFill>
                <a:effectLst/>
                <a:uFillTx/>
                <a:latin typeface="Courier New"/>
                <a:ea typeface="Courier New"/>
              </a:rPr>
              <a:t>Aymen CHAABANE — Chef de Projet Digital</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8DAE9C"/>
                </a:solidFill>
                <a:effectLst/>
                <a:uFillTx/>
                <a:latin typeface="Courier New"/>
                <a:ea typeface="Courier New"/>
              </a:rPr>
              <a:t>&lt;/title&gt;</a:t>
            </a:r>
            <a:endParaRPr lang="fr-FR" sz="900" b="0" u="none" strike="noStrike">
              <a:solidFill>
                <a:srgbClr val="000000"/>
              </a:solidFill>
              <a:effectLst/>
              <a:uFillTx/>
              <a:latin typeface="Arial"/>
            </a:endParaRPr>
          </a:p>
          <a:p>
            <a:pPr defTabSz="914400">
              <a:lnSpc>
                <a:spcPct val="100000"/>
              </a:lnSpc>
              <a:tabLst>
                <a:tab pos="0" algn="l"/>
              </a:tabLst>
            </a:pPr>
            <a:r>
              <a:rPr lang="fr-FR" sz="400" b="0" u="none" strike="noStrike">
                <a:solidFill>
                  <a:srgbClr val="000000"/>
                </a:solidFill>
                <a:effectLst/>
                <a:uFillTx/>
                <a:latin typeface="Calibri"/>
                <a:ea typeface="Courier New"/>
              </a:rPr>
              <a:t> </a:t>
            </a:r>
            <a:endParaRPr lang="fr-FR" sz="4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8DAE9C"/>
                </a:solidFill>
                <a:effectLst/>
                <a:uFillTx/>
                <a:latin typeface="Courier New"/>
                <a:ea typeface="Courier New"/>
              </a:rPr>
              <a:t>&lt;meta name="description" content="</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F4EFE6"/>
                </a:solidFill>
                <a:effectLst/>
                <a:uFillTx/>
                <a:latin typeface="Courier New"/>
                <a:ea typeface="Courier New"/>
              </a:rPr>
              <a:t>Portfolio d'Aymen CHAABANE, chef de</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F4EFE6"/>
                </a:solidFill>
                <a:effectLst/>
                <a:uFillTx/>
                <a:latin typeface="Courier New"/>
                <a:ea typeface="Courier New"/>
              </a:rPr>
              <a:t>projet digital basé en Normandie.</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F4EFE6"/>
                </a:solidFill>
                <a:effectLst/>
                <a:uFillTx/>
                <a:latin typeface="Courier New"/>
                <a:ea typeface="Courier New"/>
              </a:rPr>
              <a:t>Reconversion réussie de la recherche</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8DAE9C"/>
                </a:solidFill>
                <a:effectLst/>
                <a:uFillTx/>
                <a:latin typeface="Courier New"/>
                <a:ea typeface="Courier New"/>
              </a:rPr>
              <a:t>doctorale vers le développement web."&gt;</a:t>
            </a:r>
            <a:endParaRPr lang="fr-FR" sz="900" b="0" u="none" strike="noStrike">
              <a:solidFill>
                <a:srgbClr val="000000"/>
              </a:solidFill>
              <a:effectLst/>
              <a:uFillTx/>
              <a:latin typeface="Arial"/>
            </a:endParaRPr>
          </a:p>
          <a:p>
            <a:pPr defTabSz="914400">
              <a:lnSpc>
                <a:spcPct val="100000"/>
              </a:lnSpc>
              <a:tabLst>
                <a:tab pos="0" algn="l"/>
              </a:tabLst>
            </a:pPr>
            <a:r>
              <a:rPr lang="fr-FR" sz="400" b="0" u="none" strike="noStrike">
                <a:solidFill>
                  <a:srgbClr val="000000"/>
                </a:solidFill>
                <a:effectLst/>
                <a:uFillTx/>
                <a:latin typeface="Calibri"/>
                <a:ea typeface="Courier New"/>
              </a:rPr>
              <a:t> </a:t>
            </a:r>
            <a:endParaRPr lang="fr-FR" sz="4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8DAE9C"/>
                </a:solidFill>
                <a:effectLst/>
                <a:uFillTx/>
                <a:latin typeface="Courier New"/>
                <a:ea typeface="Courier New"/>
              </a:rPr>
              <a:t>&lt;link rel="alternate" hreflang="en"</a:t>
            </a:r>
            <a:endParaRPr lang="fr-FR" sz="900" b="0" u="none" strike="noStrike">
              <a:solidFill>
                <a:srgbClr val="000000"/>
              </a:solidFill>
              <a:effectLst/>
              <a:uFillTx/>
              <a:latin typeface="Arial"/>
            </a:endParaRPr>
          </a:p>
          <a:p>
            <a:pPr defTabSz="914400">
              <a:lnSpc>
                <a:spcPct val="100000"/>
              </a:lnSpc>
              <a:tabLst>
                <a:tab pos="0" algn="l"/>
              </a:tabLst>
            </a:pPr>
            <a:r>
              <a:rPr lang="fr-FR" sz="900" b="0" u="none" strike="noStrike">
                <a:solidFill>
                  <a:srgbClr val="F4EFE6"/>
                </a:solidFill>
                <a:effectLst/>
                <a:uFillTx/>
                <a:latin typeface="Courier New"/>
                <a:ea typeface="Courier New"/>
              </a:rPr>
              <a:t>  href="https://aymen-chaabane.fr/en/"&gt;</a:t>
            </a:r>
            <a:endParaRPr lang="fr-FR" sz="900" b="0" u="none" strike="noStrike">
              <a:solidFill>
                <a:srgbClr val="000000"/>
              </a:solidFill>
              <a:effectLst/>
              <a:uFillTx/>
              <a:latin typeface="Arial"/>
            </a:endParaRPr>
          </a:p>
        </p:txBody>
      </p:sp>
      <p:sp>
        <p:nvSpPr>
          <p:cNvPr id="1616" name="Text 8"/>
          <p:cNvSpPr/>
          <p:nvPr/>
        </p:nvSpPr>
        <p:spPr>
          <a:xfrm>
            <a:off x="5760720" y="2103120"/>
            <a:ext cx="30103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BONNES PRATIQUES</a:t>
            </a:r>
            <a:endParaRPr lang="fr-FR" sz="1100" b="0" u="none" strike="noStrike">
              <a:solidFill>
                <a:srgbClr val="000000"/>
              </a:solidFill>
              <a:effectLst/>
              <a:uFillTx/>
              <a:latin typeface="Arial"/>
            </a:endParaRPr>
          </a:p>
        </p:txBody>
      </p:sp>
      <p:sp>
        <p:nvSpPr>
          <p:cNvPr id="1617" name="Text 9"/>
          <p:cNvSpPr/>
          <p:nvPr/>
        </p:nvSpPr>
        <p:spPr>
          <a:xfrm>
            <a:off x="5760720" y="2377440"/>
            <a:ext cx="3010320" cy="2278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Title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50–60 caractères, mot-clé en début</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Méta description</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150–160 caractères, incitative</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Hreflang</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Automatique avec Polylang</a:t>
            </a:r>
            <a:endParaRPr lang="fr-FR" sz="95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Partage social (OpenGraph)</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50" b="0" u="none" strike="noStrike">
                <a:solidFill>
                  <a:srgbClr val="37474F"/>
                </a:solidFill>
                <a:effectLst/>
                <a:uFillTx/>
                <a:latin typeface="Satoshi"/>
                <a:ea typeface="Satoshi"/>
              </a:rPr>
              <a:t>Image optimisée pour l’affichage sur LinkedIn et les réseaux</a:t>
            </a:r>
            <a:endParaRPr lang="fr-FR" sz="950" b="0" u="none" strike="noStrike">
              <a:solidFill>
                <a:srgbClr val="000000"/>
              </a:solidFill>
              <a:effectLst/>
              <a:uFillTx/>
              <a:latin typeface="Arial"/>
            </a:endParaRPr>
          </a:p>
        </p:txBody>
      </p:sp>
      <p:sp>
        <p:nvSpPr>
          <p:cNvPr id="1618" name="Shape 1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19" name="Text 1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620" name="Text 1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79</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62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62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62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2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KPI &amp; ANALYTICS</a:t>
            </a:r>
            <a:endParaRPr lang="fr-FR" sz="4400" b="0" u="none" strike="noStrike">
              <a:solidFill>
                <a:srgbClr val="000000"/>
              </a:solidFill>
              <a:effectLst/>
              <a:uFillTx/>
              <a:latin typeface="Arial"/>
            </a:endParaRPr>
          </a:p>
        </p:txBody>
      </p:sp>
      <p:sp>
        <p:nvSpPr>
          <p:cNvPr id="162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Indicateurs de performance et outils de mesure</a:t>
            </a:r>
            <a:endParaRPr lang="fr-FR" sz="1400" b="0" u="none" strike="noStrike">
              <a:solidFill>
                <a:srgbClr val="000000"/>
              </a:solidFill>
              <a:effectLst/>
              <a:uFillTx/>
              <a:latin typeface="Arial"/>
            </a:endParaRPr>
          </a:p>
        </p:txBody>
      </p:sp>
      <p:sp>
        <p:nvSpPr>
          <p:cNvPr id="1626" name="Shape 5"/>
          <p:cNvSpPr/>
          <p:nvPr/>
        </p:nvSpPr>
        <p:spPr>
          <a:xfrm>
            <a:off x="457200" y="2057400"/>
            <a:ext cx="2004480" cy="136440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27" name="Text 6"/>
          <p:cNvSpPr/>
          <p:nvPr/>
        </p:nvSpPr>
        <p:spPr>
          <a:xfrm>
            <a:off x="457200" y="2240280"/>
            <a:ext cx="2004480" cy="45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3000" b="1" u="none" strike="noStrike">
                <a:solidFill>
                  <a:srgbClr val="FFB300"/>
                </a:solidFill>
                <a:effectLst/>
                <a:uFillTx/>
                <a:latin typeface="Arelv"/>
                <a:ea typeface="Arelv"/>
              </a:rPr>
              <a:t>180 s</a:t>
            </a:r>
            <a:endParaRPr lang="fr-FR" sz="3000" b="0" u="none" strike="noStrike">
              <a:solidFill>
                <a:srgbClr val="000000"/>
              </a:solidFill>
              <a:effectLst/>
              <a:uFillTx/>
              <a:latin typeface="Arial"/>
            </a:endParaRPr>
          </a:p>
        </p:txBody>
      </p:sp>
      <p:sp>
        <p:nvSpPr>
          <p:cNvPr id="1628" name="Text 7"/>
          <p:cNvSpPr/>
          <p:nvPr/>
        </p:nvSpPr>
        <p:spPr>
          <a:xfrm>
            <a:off x="548640" y="2743200"/>
            <a:ext cx="1821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150" strike="noStrike">
                <a:solidFill>
                  <a:srgbClr val="F4EFE6"/>
                </a:solidFill>
                <a:effectLst/>
                <a:uFillTx/>
                <a:latin typeface="Satoshi"/>
                <a:ea typeface="Satoshi"/>
              </a:rPr>
              <a:t>DURÉE SESSION</a:t>
            </a:r>
            <a:endParaRPr lang="fr-FR" sz="1000" b="0" u="none" strike="noStrike">
              <a:solidFill>
                <a:srgbClr val="000000"/>
              </a:solidFill>
              <a:effectLst/>
              <a:uFillTx/>
              <a:latin typeface="Arial"/>
            </a:endParaRPr>
          </a:p>
        </p:txBody>
      </p:sp>
      <p:sp>
        <p:nvSpPr>
          <p:cNvPr id="1629" name="Text 8"/>
          <p:cNvSpPr/>
          <p:nvPr/>
        </p:nvSpPr>
        <p:spPr>
          <a:xfrm>
            <a:off x="594360" y="3017520"/>
            <a:ext cx="1730160" cy="358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850" b="0" i="1" u="none" strike="noStrike">
                <a:solidFill>
                  <a:srgbClr val="F4EFE6"/>
                </a:solidFill>
                <a:effectLst/>
                <a:uFillTx/>
                <a:latin typeface="Satoshi"/>
                <a:ea typeface="Satoshi"/>
              </a:rPr>
              <a:t>Temps moyen passé par visiteur. Cible : &gt; 90 s.</a:t>
            </a:r>
            <a:endParaRPr lang="fr-FR" sz="850" b="0" u="none" strike="noStrike">
              <a:solidFill>
                <a:srgbClr val="000000"/>
              </a:solidFill>
              <a:effectLst/>
              <a:uFillTx/>
              <a:latin typeface="Arial"/>
            </a:endParaRPr>
          </a:p>
        </p:txBody>
      </p:sp>
      <p:sp>
        <p:nvSpPr>
          <p:cNvPr id="1630" name="Shape 9"/>
          <p:cNvSpPr/>
          <p:nvPr/>
        </p:nvSpPr>
        <p:spPr>
          <a:xfrm>
            <a:off x="2560320" y="2057400"/>
            <a:ext cx="2004480" cy="136440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31" name="Text 10"/>
          <p:cNvSpPr/>
          <p:nvPr/>
        </p:nvSpPr>
        <p:spPr>
          <a:xfrm>
            <a:off x="2560320" y="2240280"/>
            <a:ext cx="2004480" cy="45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3000" b="1" u="none" strike="noStrike">
                <a:solidFill>
                  <a:srgbClr val="FFB300"/>
                </a:solidFill>
                <a:effectLst/>
                <a:uFillTx/>
                <a:latin typeface="Arelv"/>
                <a:ea typeface="Arelv"/>
              </a:rPr>
              <a:t>≥ 25%</a:t>
            </a:r>
            <a:endParaRPr lang="fr-FR" sz="3000" b="0" u="none" strike="noStrike">
              <a:solidFill>
                <a:srgbClr val="000000"/>
              </a:solidFill>
              <a:effectLst/>
              <a:uFillTx/>
              <a:latin typeface="Arial"/>
            </a:endParaRPr>
          </a:p>
        </p:txBody>
      </p:sp>
      <p:sp>
        <p:nvSpPr>
          <p:cNvPr id="1632" name="Text 11"/>
          <p:cNvSpPr/>
          <p:nvPr/>
        </p:nvSpPr>
        <p:spPr>
          <a:xfrm>
            <a:off x="2651760" y="2743200"/>
            <a:ext cx="1821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150" strike="noStrike">
                <a:solidFill>
                  <a:srgbClr val="F4EFE6"/>
                </a:solidFill>
                <a:effectLst/>
                <a:uFillTx/>
                <a:latin typeface="Satoshi"/>
                <a:ea typeface="Satoshi"/>
              </a:rPr>
              <a:t>TAUX CONTACT</a:t>
            </a:r>
            <a:endParaRPr lang="fr-FR" sz="1000" b="0" u="none" strike="noStrike">
              <a:solidFill>
                <a:srgbClr val="000000"/>
              </a:solidFill>
              <a:effectLst/>
              <a:uFillTx/>
              <a:latin typeface="Arial"/>
            </a:endParaRPr>
          </a:p>
        </p:txBody>
      </p:sp>
      <p:sp>
        <p:nvSpPr>
          <p:cNvPr id="1633" name="Text 12"/>
          <p:cNvSpPr/>
          <p:nvPr/>
        </p:nvSpPr>
        <p:spPr>
          <a:xfrm>
            <a:off x="2697480" y="3017520"/>
            <a:ext cx="1730160" cy="358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850" b="0" i="1" u="none" strike="noStrike">
                <a:solidFill>
                  <a:srgbClr val="F4EFE6"/>
                </a:solidFill>
                <a:effectLst/>
                <a:uFillTx/>
                <a:latin typeface="Satoshi"/>
                <a:ea typeface="Satoshi"/>
              </a:rPr>
              <a:t>Visiteurs atteignant la page Contact.</a:t>
            </a:r>
            <a:endParaRPr lang="fr-FR" sz="850" b="0" u="none" strike="noStrike">
              <a:solidFill>
                <a:srgbClr val="000000"/>
              </a:solidFill>
              <a:effectLst/>
              <a:uFillTx/>
              <a:latin typeface="Arial"/>
            </a:endParaRPr>
          </a:p>
        </p:txBody>
      </p:sp>
      <p:sp>
        <p:nvSpPr>
          <p:cNvPr id="1634" name="Shape 13"/>
          <p:cNvSpPr/>
          <p:nvPr/>
        </p:nvSpPr>
        <p:spPr>
          <a:xfrm>
            <a:off x="4663440" y="2057400"/>
            <a:ext cx="2004480" cy="136440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35" name="Text 14"/>
          <p:cNvSpPr/>
          <p:nvPr/>
        </p:nvSpPr>
        <p:spPr>
          <a:xfrm>
            <a:off x="4663440" y="2240280"/>
            <a:ext cx="2004480" cy="45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3000" b="1" u="none" strike="noStrike">
                <a:solidFill>
                  <a:srgbClr val="FFB300"/>
                </a:solidFill>
                <a:effectLst/>
                <a:uFillTx/>
                <a:latin typeface="Arelv"/>
                <a:ea typeface="Arelv"/>
              </a:rPr>
              <a:t>≥ 15%</a:t>
            </a:r>
            <a:endParaRPr lang="fr-FR" sz="3000" b="0" u="none" strike="noStrike">
              <a:solidFill>
                <a:srgbClr val="000000"/>
              </a:solidFill>
              <a:effectLst/>
              <a:uFillTx/>
              <a:latin typeface="Arial"/>
            </a:endParaRPr>
          </a:p>
        </p:txBody>
      </p:sp>
      <p:sp>
        <p:nvSpPr>
          <p:cNvPr id="1636" name="Text 15"/>
          <p:cNvSpPr/>
          <p:nvPr/>
        </p:nvSpPr>
        <p:spPr>
          <a:xfrm>
            <a:off x="4754880" y="2743200"/>
            <a:ext cx="1821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150" strike="noStrike">
                <a:solidFill>
                  <a:srgbClr val="F4EFE6"/>
                </a:solidFill>
                <a:effectLst/>
                <a:uFillTx/>
                <a:latin typeface="Satoshi"/>
                <a:ea typeface="Satoshi"/>
              </a:rPr>
              <a:t>TÉLÉCHARGEMENT CV</a:t>
            </a:r>
            <a:endParaRPr lang="fr-FR" sz="1000" b="0" u="none" strike="noStrike">
              <a:solidFill>
                <a:srgbClr val="000000"/>
              </a:solidFill>
              <a:effectLst/>
              <a:uFillTx/>
              <a:latin typeface="Arial"/>
            </a:endParaRPr>
          </a:p>
        </p:txBody>
      </p:sp>
      <p:sp>
        <p:nvSpPr>
          <p:cNvPr id="1637" name="Text 16"/>
          <p:cNvSpPr/>
          <p:nvPr/>
        </p:nvSpPr>
        <p:spPr>
          <a:xfrm>
            <a:off x="4800600" y="3017520"/>
            <a:ext cx="1730160" cy="358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850" b="0" i="1" u="none" strike="noStrike">
                <a:solidFill>
                  <a:srgbClr val="F4EFE6"/>
                </a:solidFill>
                <a:effectLst/>
                <a:uFillTx/>
                <a:latin typeface="Satoshi"/>
                <a:ea typeface="Satoshi"/>
              </a:rPr>
              <a:t>Conversion clé du parcours recruteur.</a:t>
            </a:r>
            <a:endParaRPr lang="fr-FR" sz="850" b="0" u="none" strike="noStrike">
              <a:solidFill>
                <a:srgbClr val="000000"/>
              </a:solidFill>
              <a:effectLst/>
              <a:uFillTx/>
              <a:latin typeface="Arial"/>
            </a:endParaRPr>
          </a:p>
        </p:txBody>
      </p:sp>
      <p:sp>
        <p:nvSpPr>
          <p:cNvPr id="1638" name="Shape 17"/>
          <p:cNvSpPr/>
          <p:nvPr/>
        </p:nvSpPr>
        <p:spPr>
          <a:xfrm>
            <a:off x="6766560" y="2057400"/>
            <a:ext cx="2004480" cy="136440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39" name="Text 18"/>
          <p:cNvSpPr/>
          <p:nvPr/>
        </p:nvSpPr>
        <p:spPr>
          <a:xfrm>
            <a:off x="6766560" y="2240280"/>
            <a:ext cx="2004480" cy="45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3000" b="1" u="none" strike="noStrike">
                <a:solidFill>
                  <a:srgbClr val="FFB300"/>
                </a:solidFill>
                <a:effectLst/>
                <a:uFillTx/>
                <a:latin typeface="Arelv"/>
                <a:ea typeface="Arelv"/>
              </a:rPr>
              <a:t>≥ 80</a:t>
            </a:r>
            <a:endParaRPr lang="fr-FR" sz="3000" b="0" u="none" strike="noStrike">
              <a:solidFill>
                <a:srgbClr val="000000"/>
              </a:solidFill>
              <a:effectLst/>
              <a:uFillTx/>
              <a:latin typeface="Arial"/>
            </a:endParaRPr>
          </a:p>
        </p:txBody>
      </p:sp>
      <p:sp>
        <p:nvSpPr>
          <p:cNvPr id="1640" name="Text 19"/>
          <p:cNvSpPr/>
          <p:nvPr/>
        </p:nvSpPr>
        <p:spPr>
          <a:xfrm>
            <a:off x="6858000" y="2743200"/>
            <a:ext cx="18216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1" u="none" spc="150" strike="noStrike">
                <a:solidFill>
                  <a:srgbClr val="F4EFE6"/>
                </a:solidFill>
                <a:effectLst/>
                <a:uFillTx/>
                <a:latin typeface="Satoshi"/>
                <a:ea typeface="Satoshi"/>
              </a:rPr>
              <a:t>SCORE LIGHTHOUSE</a:t>
            </a:r>
            <a:endParaRPr lang="fr-FR" sz="1000" b="0" u="none" strike="noStrike">
              <a:solidFill>
                <a:srgbClr val="000000"/>
              </a:solidFill>
              <a:effectLst/>
              <a:uFillTx/>
              <a:latin typeface="Arial"/>
            </a:endParaRPr>
          </a:p>
        </p:txBody>
      </p:sp>
      <p:sp>
        <p:nvSpPr>
          <p:cNvPr id="1641" name="Text 20"/>
          <p:cNvSpPr/>
          <p:nvPr/>
        </p:nvSpPr>
        <p:spPr>
          <a:xfrm>
            <a:off x="6903720" y="3017520"/>
            <a:ext cx="1730160" cy="358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850" b="0" i="1" u="none" strike="noStrike">
                <a:solidFill>
                  <a:srgbClr val="F4EFE6"/>
                </a:solidFill>
                <a:effectLst/>
                <a:uFillTx/>
                <a:latin typeface="Satoshi"/>
                <a:ea typeface="Satoshi"/>
              </a:rPr>
              <a:t>Performance, accessibilité, SEO, best practices.</a:t>
            </a:r>
            <a:endParaRPr lang="fr-FR" sz="850" b="0" u="none" strike="noStrike">
              <a:solidFill>
                <a:srgbClr val="000000"/>
              </a:solidFill>
              <a:effectLst/>
              <a:uFillTx/>
              <a:latin typeface="Arial"/>
            </a:endParaRPr>
          </a:p>
        </p:txBody>
      </p:sp>
      <p:sp>
        <p:nvSpPr>
          <p:cNvPr id="1642" name="Text 21"/>
          <p:cNvSpPr/>
          <p:nvPr/>
        </p:nvSpPr>
        <p:spPr>
          <a:xfrm>
            <a:off x="457200" y="380160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OUTILS DE MESURE</a:t>
            </a:r>
            <a:endParaRPr lang="fr-FR" sz="1100" b="0" u="none" strike="noStrike">
              <a:solidFill>
                <a:srgbClr val="000000"/>
              </a:solidFill>
              <a:effectLst/>
              <a:uFillTx/>
              <a:latin typeface="Arial"/>
            </a:endParaRPr>
          </a:p>
        </p:txBody>
      </p:sp>
      <p:sp>
        <p:nvSpPr>
          <p:cNvPr id="1643" name="Shape 22"/>
          <p:cNvSpPr/>
          <p:nvPr/>
        </p:nvSpPr>
        <p:spPr>
          <a:xfrm>
            <a:off x="457200" y="4112640"/>
            <a:ext cx="29520" cy="1756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44" name="Text 23"/>
          <p:cNvSpPr/>
          <p:nvPr/>
        </p:nvSpPr>
        <p:spPr>
          <a:xfrm>
            <a:off x="594360" y="407592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Plausible (alt.)</a:t>
            </a:r>
            <a:endParaRPr lang="fr-FR" sz="1000" b="0" u="none" strike="noStrike">
              <a:solidFill>
                <a:srgbClr val="000000"/>
              </a:solidFill>
              <a:effectLst/>
              <a:uFillTx/>
              <a:latin typeface="Arial"/>
            </a:endParaRPr>
          </a:p>
        </p:txBody>
      </p:sp>
      <p:sp>
        <p:nvSpPr>
          <p:cNvPr id="1645" name="Text 24"/>
          <p:cNvSpPr/>
          <p:nvPr/>
        </p:nvSpPr>
        <p:spPr>
          <a:xfrm>
            <a:off x="2926080" y="4075920"/>
            <a:ext cx="58449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Alternative respectueuse RGPD, sans cookies, données européennes</a:t>
            </a:r>
            <a:endParaRPr lang="fr-FR" sz="950" b="0" u="none" strike="noStrike">
              <a:solidFill>
                <a:srgbClr val="000000"/>
              </a:solidFill>
              <a:effectLst/>
              <a:uFillTx/>
              <a:latin typeface="Arial"/>
            </a:endParaRPr>
          </a:p>
        </p:txBody>
      </p:sp>
      <p:sp>
        <p:nvSpPr>
          <p:cNvPr id="1646" name="Shape 25"/>
          <p:cNvSpPr/>
          <p:nvPr/>
        </p:nvSpPr>
        <p:spPr>
          <a:xfrm>
            <a:off x="457200" y="4295520"/>
            <a:ext cx="29520" cy="1756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47" name="Text 26"/>
          <p:cNvSpPr/>
          <p:nvPr/>
        </p:nvSpPr>
        <p:spPr>
          <a:xfrm>
            <a:off x="594360" y="425880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Google Search Console</a:t>
            </a:r>
            <a:endParaRPr lang="fr-FR" sz="1000" b="0" u="none" strike="noStrike">
              <a:solidFill>
                <a:srgbClr val="000000"/>
              </a:solidFill>
              <a:effectLst/>
              <a:uFillTx/>
              <a:latin typeface="Arial"/>
            </a:endParaRPr>
          </a:p>
        </p:txBody>
      </p:sp>
      <p:sp>
        <p:nvSpPr>
          <p:cNvPr id="1648" name="Text 27"/>
          <p:cNvSpPr/>
          <p:nvPr/>
        </p:nvSpPr>
        <p:spPr>
          <a:xfrm>
            <a:off x="2926080" y="4258800"/>
            <a:ext cx="58449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Positionnement, impressions, CTR, erreurs d'indexation</a:t>
            </a:r>
            <a:endParaRPr lang="fr-FR" sz="950" b="0" u="none" strike="noStrike">
              <a:solidFill>
                <a:srgbClr val="000000"/>
              </a:solidFill>
              <a:effectLst/>
              <a:uFillTx/>
              <a:latin typeface="Arial"/>
            </a:endParaRPr>
          </a:p>
        </p:txBody>
      </p:sp>
      <p:sp>
        <p:nvSpPr>
          <p:cNvPr id="1649" name="Shape 28"/>
          <p:cNvSpPr/>
          <p:nvPr/>
        </p:nvSpPr>
        <p:spPr>
          <a:xfrm>
            <a:off x="457200" y="4478400"/>
            <a:ext cx="29520" cy="1756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50" name="Text 29"/>
          <p:cNvSpPr/>
          <p:nvPr/>
        </p:nvSpPr>
        <p:spPr>
          <a:xfrm>
            <a:off x="594360" y="4441680"/>
            <a:ext cx="22788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PageSpeed Insights</a:t>
            </a:r>
            <a:endParaRPr lang="fr-FR" sz="1000" b="0" u="none" strike="noStrike">
              <a:solidFill>
                <a:srgbClr val="000000"/>
              </a:solidFill>
              <a:effectLst/>
              <a:uFillTx/>
              <a:latin typeface="Arial"/>
            </a:endParaRPr>
          </a:p>
        </p:txBody>
      </p:sp>
      <p:sp>
        <p:nvSpPr>
          <p:cNvPr id="1651" name="Text 30"/>
          <p:cNvSpPr/>
          <p:nvPr/>
        </p:nvSpPr>
        <p:spPr>
          <a:xfrm>
            <a:off x="2926080" y="4441680"/>
            <a:ext cx="58449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Mesure du temps de chargement et de la fluidité de navigation</a:t>
            </a:r>
            <a:endParaRPr lang="fr-FR" sz="950" b="0" u="none" strike="noStrike">
              <a:solidFill>
                <a:srgbClr val="000000"/>
              </a:solidFill>
              <a:effectLst/>
              <a:uFillTx/>
              <a:latin typeface="Arial"/>
            </a:endParaRPr>
          </a:p>
        </p:txBody>
      </p:sp>
      <p:sp>
        <p:nvSpPr>
          <p:cNvPr id="1652" name="Shape 31"/>
          <p:cNvSpPr/>
          <p:nvPr/>
        </p:nvSpPr>
        <p:spPr>
          <a:xfrm>
            <a:off x="457200" y="4517280"/>
            <a:ext cx="29520" cy="1756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53" name="Text 32"/>
          <p:cNvSpPr/>
          <p:nvPr/>
        </p:nvSpPr>
        <p:spPr>
          <a:xfrm>
            <a:off x="594360" y="4480560"/>
            <a:ext cx="2278800" cy="221400"/>
          </a:xfrm>
          <a:prstGeom prst="rect">
            <a:avLst/>
          </a:prstGeom>
          <a:noFill/>
          <a:ln w="0">
            <a:noFill/>
          </a:ln>
        </p:spPr>
        <p:style>
          <a:lnRef idx="0"/>
          <a:fillRef idx="0"/>
          <a:effectRef idx="0"/>
          <a:fontRef idx="minor"/>
        </p:style>
        <p:txBody>
          <a:bodyPr lIns="0" tIns="0" rIns="0" bIns="0" anchor="ctr">
            <a:noAutofit/>
          </a:bodyPr>
          <a:p>
            <a:endParaRPr lang="fr-FR" sz="1800" b="0" u="none" strike="noStrike">
              <a:solidFill>
                <a:srgbClr val="000000"/>
              </a:solidFill>
              <a:effectLst/>
              <a:uFillTx/>
              <a:latin typeface="Arial"/>
            </a:endParaRPr>
          </a:p>
        </p:txBody>
      </p:sp>
      <p:sp>
        <p:nvSpPr>
          <p:cNvPr id="1654" name="Shape 3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55" name="Text 35"/>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656" name="Text 36"/>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80</a:t>
            </a:r>
            <a:endParaRPr lang="fr-FR" sz="900" b="0" u="none" strike="noStrike">
              <a:solidFill>
                <a:srgbClr val="000000"/>
              </a:solidFill>
              <a:effectLst/>
              <a:uFillTx/>
              <a:latin typeface="Arial"/>
            </a:endParaRPr>
          </a:p>
        </p:txBody>
      </p:sp>
      <p:sp>
        <p:nvSpPr>
          <p:cNvPr id="1657" name="Text 92"/>
          <p:cNvSpPr/>
          <p:nvPr/>
        </p:nvSpPr>
        <p:spPr>
          <a:xfrm>
            <a:off x="450000" y="3492360"/>
            <a:ext cx="80978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i="1" u="none" strike="noStrike">
                <a:solidFill>
                  <a:srgbClr val="37474F"/>
                </a:solidFill>
                <a:effectLst/>
                <a:uFillTx/>
                <a:latin typeface="Satoshi"/>
                <a:ea typeface="Satoshi"/>
              </a:rPr>
              <a:t>Note : Ces indicateurs (KPI) représentent les objectifs cibles fixés pour valider l'efficacité technique et le potentiel de conversion du portfolio après son lancement.</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65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65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66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6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200" b="1" u="none" strike="noStrike">
                <a:solidFill>
                  <a:srgbClr val="0A0A0A"/>
                </a:solidFill>
                <a:effectLst/>
                <a:uFillTx/>
                <a:latin typeface="Arelv"/>
                <a:ea typeface="Arelv"/>
              </a:rPr>
              <a:t>RÉSEAUX SOCIAUX</a:t>
            </a:r>
            <a:endParaRPr lang="fr-FR" sz="4200" b="0" u="none" strike="noStrike">
              <a:solidFill>
                <a:srgbClr val="000000"/>
              </a:solidFill>
              <a:effectLst/>
              <a:uFillTx/>
              <a:latin typeface="Arial"/>
            </a:endParaRPr>
          </a:p>
        </p:txBody>
      </p:sp>
      <p:sp>
        <p:nvSpPr>
          <p:cNvPr id="166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Stratégie de présence et intégration au portfolio</a:t>
            </a:r>
            <a:endParaRPr lang="fr-FR" sz="1400" b="0" u="none" strike="noStrike">
              <a:solidFill>
                <a:srgbClr val="000000"/>
              </a:solidFill>
              <a:effectLst/>
              <a:uFillTx/>
              <a:latin typeface="Arial"/>
            </a:endParaRPr>
          </a:p>
        </p:txBody>
      </p:sp>
      <p:sp>
        <p:nvSpPr>
          <p:cNvPr id="1663" name="Shape 5"/>
          <p:cNvSpPr/>
          <p:nvPr/>
        </p:nvSpPr>
        <p:spPr>
          <a:xfrm>
            <a:off x="457200" y="2057400"/>
            <a:ext cx="2690280" cy="2553120"/>
          </a:xfrm>
          <a:prstGeom prst="rect">
            <a:avLst/>
          </a:prstGeom>
          <a:solidFill>
            <a:srgbClr val="1A237E"/>
          </a:solidFill>
          <a:ln w="12700">
            <a:solidFill>
              <a:srgbClr val="1A237E"/>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64" name="Text 6"/>
          <p:cNvSpPr/>
          <p:nvPr/>
        </p:nvSpPr>
        <p:spPr>
          <a:xfrm>
            <a:off x="640080" y="2194560"/>
            <a:ext cx="23245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FB300"/>
                </a:solidFill>
                <a:effectLst/>
                <a:uFillTx/>
                <a:latin typeface="Arelv"/>
                <a:ea typeface="Arelv"/>
              </a:rPr>
              <a:t>LINKEDIN</a:t>
            </a:r>
            <a:endParaRPr lang="fr-FR" sz="1600" b="0" u="none" strike="noStrike">
              <a:solidFill>
                <a:srgbClr val="000000"/>
              </a:solidFill>
              <a:effectLst/>
              <a:uFillTx/>
              <a:latin typeface="Arial"/>
            </a:endParaRPr>
          </a:p>
        </p:txBody>
      </p:sp>
      <p:sp>
        <p:nvSpPr>
          <p:cNvPr id="1665" name="Text 7"/>
          <p:cNvSpPr/>
          <p:nvPr/>
        </p:nvSpPr>
        <p:spPr>
          <a:xfrm>
            <a:off x="640080" y="251460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F4EFE6"/>
                </a:solidFill>
                <a:effectLst/>
                <a:uFillTx/>
                <a:latin typeface="Satoshi"/>
                <a:ea typeface="Satoshi"/>
              </a:rPr>
              <a:t>Plateforme principale</a:t>
            </a:r>
            <a:endParaRPr lang="fr-FR" sz="950" b="0" u="none" strike="noStrike">
              <a:solidFill>
                <a:srgbClr val="000000"/>
              </a:solidFill>
              <a:effectLst/>
              <a:uFillTx/>
              <a:latin typeface="Arial"/>
            </a:endParaRPr>
          </a:p>
        </p:txBody>
      </p:sp>
      <p:sp>
        <p:nvSpPr>
          <p:cNvPr id="1666" name="Shape 8"/>
          <p:cNvSpPr/>
          <p:nvPr/>
        </p:nvSpPr>
        <p:spPr>
          <a:xfrm>
            <a:off x="640080" y="2788920"/>
            <a:ext cx="2331720" cy="360"/>
          </a:xfrm>
          <a:prstGeom prst="line">
            <a:avLst/>
          </a:prstGeom>
          <a:ln w="6350">
            <a:solidFill>
              <a:srgbClr val="F4EFE6"/>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67" name="Text 9"/>
          <p:cNvSpPr/>
          <p:nvPr/>
        </p:nvSpPr>
        <p:spPr>
          <a:xfrm>
            <a:off x="640080" y="2880360"/>
            <a:ext cx="232452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Réseau professionnel B2B francophone. Source principale du trafic recruteurs vers le portfolio.</a:t>
            </a:r>
            <a:endParaRPr lang="fr-FR" sz="950" b="0" u="none" strike="noStrike">
              <a:solidFill>
                <a:srgbClr val="000000"/>
              </a:solidFill>
              <a:effectLst/>
              <a:uFillTx/>
              <a:latin typeface="Arial"/>
            </a:endParaRPr>
          </a:p>
        </p:txBody>
      </p:sp>
      <p:sp>
        <p:nvSpPr>
          <p:cNvPr id="1668" name="Text 10"/>
          <p:cNvSpPr/>
          <p:nvPr/>
        </p:nvSpPr>
        <p:spPr>
          <a:xfrm>
            <a:off x="640080" y="3474720"/>
            <a:ext cx="232452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1 post / semaine sur projets en cours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Articles longs trimestriels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Engagement actif avec pairs</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Liens portfolio dans chaque post</a:t>
            </a:r>
            <a:endParaRPr lang="fr-FR" sz="900" b="0" u="none" strike="noStrike">
              <a:solidFill>
                <a:srgbClr val="000000"/>
              </a:solidFill>
              <a:effectLst/>
              <a:uFillTx/>
              <a:latin typeface="Arial"/>
            </a:endParaRPr>
          </a:p>
        </p:txBody>
      </p:sp>
      <p:sp>
        <p:nvSpPr>
          <p:cNvPr id="1669" name="Shape 11"/>
          <p:cNvSpPr/>
          <p:nvPr/>
        </p:nvSpPr>
        <p:spPr>
          <a:xfrm>
            <a:off x="3273480" y="2057400"/>
            <a:ext cx="2690280" cy="255312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70" name="Text 12"/>
          <p:cNvSpPr/>
          <p:nvPr/>
        </p:nvSpPr>
        <p:spPr>
          <a:xfrm>
            <a:off x="3456360" y="2194560"/>
            <a:ext cx="23245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FB300"/>
                </a:solidFill>
                <a:effectLst/>
                <a:uFillTx/>
                <a:latin typeface="Arelv"/>
                <a:ea typeface="Arelv"/>
              </a:rPr>
              <a:t>GITHUB</a:t>
            </a:r>
            <a:endParaRPr lang="fr-FR" sz="1600" b="0" u="none" strike="noStrike">
              <a:solidFill>
                <a:srgbClr val="000000"/>
              </a:solidFill>
              <a:effectLst/>
              <a:uFillTx/>
              <a:latin typeface="Arial"/>
            </a:endParaRPr>
          </a:p>
        </p:txBody>
      </p:sp>
      <p:sp>
        <p:nvSpPr>
          <p:cNvPr id="1671" name="Text 13"/>
          <p:cNvSpPr/>
          <p:nvPr/>
        </p:nvSpPr>
        <p:spPr>
          <a:xfrm>
            <a:off x="3456360" y="251460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F4EFE6"/>
                </a:solidFill>
                <a:effectLst/>
                <a:uFillTx/>
                <a:latin typeface="Satoshi"/>
                <a:ea typeface="Satoshi"/>
              </a:rPr>
              <a:t>Vitrine technique</a:t>
            </a:r>
            <a:endParaRPr lang="fr-FR" sz="950" b="0" u="none" strike="noStrike">
              <a:solidFill>
                <a:srgbClr val="000000"/>
              </a:solidFill>
              <a:effectLst/>
              <a:uFillTx/>
              <a:latin typeface="Arial"/>
            </a:endParaRPr>
          </a:p>
        </p:txBody>
      </p:sp>
      <p:sp>
        <p:nvSpPr>
          <p:cNvPr id="1672" name="Shape 14"/>
          <p:cNvSpPr/>
          <p:nvPr/>
        </p:nvSpPr>
        <p:spPr>
          <a:xfrm>
            <a:off x="3456360" y="2788920"/>
            <a:ext cx="2331720" cy="360"/>
          </a:xfrm>
          <a:prstGeom prst="line">
            <a:avLst/>
          </a:prstGeom>
          <a:ln w="6350">
            <a:solidFill>
              <a:srgbClr val="F4EFE6"/>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73" name="Text 15"/>
          <p:cNvSpPr/>
          <p:nvPr/>
        </p:nvSpPr>
        <p:spPr>
          <a:xfrm>
            <a:off x="3456360" y="2880360"/>
            <a:ext cx="232452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Profil GetHub personnel. Démonstration du code via dépôts publics, README détaillés, contributions.</a:t>
            </a:r>
            <a:endParaRPr lang="fr-FR" sz="950" b="0" u="none" strike="noStrike">
              <a:solidFill>
                <a:srgbClr val="000000"/>
              </a:solidFill>
              <a:effectLst/>
              <a:uFillTx/>
              <a:latin typeface="Arial"/>
            </a:endParaRPr>
          </a:p>
        </p:txBody>
      </p:sp>
      <p:sp>
        <p:nvSpPr>
          <p:cNvPr id="1674" name="Text 16"/>
          <p:cNvSpPr/>
          <p:nvPr/>
        </p:nvSpPr>
        <p:spPr>
          <a:xfrm>
            <a:off x="3456360" y="3474720"/>
            <a:ext cx="232452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README signature en page profil</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Lien portfolio en bio</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Contributions régulières visibles</a:t>
            </a:r>
            <a:endParaRPr lang="fr-FR" sz="900" b="0" u="none" strike="noStrike">
              <a:solidFill>
                <a:srgbClr val="000000"/>
              </a:solidFill>
              <a:effectLst/>
              <a:uFillTx/>
              <a:latin typeface="Arial"/>
            </a:endParaRPr>
          </a:p>
        </p:txBody>
      </p:sp>
      <p:sp>
        <p:nvSpPr>
          <p:cNvPr id="1675" name="Shape 17"/>
          <p:cNvSpPr/>
          <p:nvPr/>
        </p:nvSpPr>
        <p:spPr>
          <a:xfrm>
            <a:off x="6089760" y="2057400"/>
            <a:ext cx="2690280" cy="2553120"/>
          </a:xfrm>
          <a:prstGeom prst="rect">
            <a:avLst/>
          </a:prstGeom>
          <a:solidFill>
            <a:srgbClr val="37474F"/>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76" name="Text 18"/>
          <p:cNvSpPr/>
          <p:nvPr/>
        </p:nvSpPr>
        <p:spPr>
          <a:xfrm>
            <a:off x="6272640" y="2194560"/>
            <a:ext cx="2324520" cy="312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pc="150" strike="noStrike">
                <a:solidFill>
                  <a:srgbClr val="FFB300"/>
                </a:solidFill>
                <a:effectLst/>
                <a:uFillTx/>
                <a:latin typeface="Arelv"/>
                <a:ea typeface="Arelv"/>
              </a:rPr>
              <a:t>MALT</a:t>
            </a:r>
            <a:endParaRPr lang="fr-FR" sz="1600" b="0" u="none" strike="noStrike">
              <a:solidFill>
                <a:srgbClr val="000000"/>
              </a:solidFill>
              <a:effectLst/>
              <a:uFillTx/>
              <a:latin typeface="Arial"/>
            </a:endParaRPr>
          </a:p>
        </p:txBody>
      </p:sp>
      <p:sp>
        <p:nvSpPr>
          <p:cNvPr id="1677" name="Text 19"/>
          <p:cNvSpPr/>
          <p:nvPr/>
        </p:nvSpPr>
        <p:spPr>
          <a:xfrm>
            <a:off x="6272640" y="251460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F4EFE6"/>
                </a:solidFill>
                <a:effectLst/>
                <a:uFillTx/>
                <a:latin typeface="Satoshi"/>
                <a:ea typeface="Satoshi"/>
              </a:rPr>
              <a:t>Plateforme free-lance &amp; visibilité</a:t>
            </a:r>
            <a:endParaRPr lang="fr-FR" sz="950" b="0" u="none" strike="noStrike">
              <a:solidFill>
                <a:srgbClr val="000000"/>
              </a:solidFill>
              <a:effectLst/>
              <a:uFillTx/>
              <a:latin typeface="Arial"/>
            </a:endParaRPr>
          </a:p>
        </p:txBody>
      </p:sp>
      <p:sp>
        <p:nvSpPr>
          <p:cNvPr id="1678" name="Shape 20"/>
          <p:cNvSpPr/>
          <p:nvPr/>
        </p:nvSpPr>
        <p:spPr>
          <a:xfrm>
            <a:off x="6272640" y="2788920"/>
            <a:ext cx="2331720" cy="360"/>
          </a:xfrm>
          <a:prstGeom prst="line">
            <a:avLst/>
          </a:prstGeom>
          <a:ln w="6350">
            <a:solidFill>
              <a:srgbClr val="F4EFE6"/>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79" name="Text 21"/>
          <p:cNvSpPr/>
          <p:nvPr/>
        </p:nvSpPr>
        <p:spPr>
          <a:xfrm>
            <a:off x="6272640" y="2880360"/>
            <a:ext cx="232452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F4EFE6"/>
                </a:solidFill>
                <a:effectLst/>
                <a:uFillTx/>
                <a:latin typeface="Satoshi"/>
                <a:ea typeface="Satoshi"/>
              </a:rPr>
              <a:t>Vitrine commerciale et professionnelle pour saisir des opportunités de missions locales en Normandie et optimiser mon référencement (backlinks)</a:t>
            </a:r>
            <a:endParaRPr lang="fr-FR" sz="950" b="0" u="none" strike="noStrike">
              <a:solidFill>
                <a:srgbClr val="000000"/>
              </a:solidFill>
              <a:effectLst/>
              <a:uFillTx/>
              <a:latin typeface="Arial"/>
            </a:endParaRPr>
          </a:p>
        </p:txBody>
      </p:sp>
      <p:sp>
        <p:nvSpPr>
          <p:cNvPr id="1680" name="Text 22"/>
          <p:cNvSpPr/>
          <p:nvPr/>
        </p:nvSpPr>
        <p:spPr>
          <a:xfrm>
            <a:off x="6272640" y="3474720"/>
            <a:ext cx="2324520" cy="1044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Profil de Chef de Projet optimisé</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Tarification claire et transparente (TJM)</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Présence active sur le marché régional</a:t>
            </a:r>
            <a:endParaRPr lang="fr-FR" sz="900" b="0" u="none" strike="noStrike">
              <a:solidFill>
                <a:srgbClr val="000000"/>
              </a:solidFill>
              <a:effectLst/>
              <a:uFillTx/>
              <a:latin typeface="Arial"/>
            </a:endParaRPr>
          </a:p>
          <a:p>
            <a:pPr defTabSz="914400">
              <a:lnSpc>
                <a:spcPct val="100000"/>
              </a:lnSpc>
              <a:spcAft>
                <a:spcPts val="201"/>
              </a:spcAft>
              <a:tabLst>
                <a:tab pos="0" algn="l"/>
              </a:tabLst>
            </a:pPr>
            <a:r>
              <a:rPr lang="fr-FR" sz="900" b="0" u="none" strike="noStrike">
                <a:solidFill>
                  <a:srgbClr val="F4EFE6"/>
                </a:solidFill>
                <a:effectLst/>
                <a:uFillTx/>
                <a:latin typeface="Satoshi"/>
                <a:ea typeface="Satoshi"/>
              </a:rPr>
              <a:t>› Bio + lien portfolio</a:t>
            </a:r>
            <a:endParaRPr lang="fr-FR" sz="900" b="0" u="none" strike="noStrike">
              <a:solidFill>
                <a:srgbClr val="000000"/>
              </a:solidFill>
              <a:effectLst/>
              <a:uFillTx/>
              <a:latin typeface="Arial"/>
            </a:endParaRPr>
          </a:p>
        </p:txBody>
      </p:sp>
      <p:sp>
        <p:nvSpPr>
          <p:cNvPr id="1681"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82"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683"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684"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10</a:t>
            </a:r>
            <a:endParaRPr lang="fr-FR" sz="28000" b="0" u="none" strike="noStrike">
              <a:solidFill>
                <a:srgbClr val="FFFFFF"/>
              </a:solidFill>
              <a:effectLst/>
              <a:uFillTx/>
              <a:latin typeface="Arial"/>
            </a:endParaRPr>
          </a:p>
        </p:txBody>
      </p:sp>
      <p:sp>
        <p:nvSpPr>
          <p:cNvPr id="1685"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GESTION</a:t>
            </a:r>
            <a:endParaRPr lang="fr-FR" sz="3200" b="0" u="none" strike="noStrike">
              <a:solidFill>
                <a:srgbClr val="FFFFFF"/>
              </a:solidFill>
              <a:effectLst/>
              <a:uFillTx/>
              <a:latin typeface="Arial"/>
            </a:endParaRPr>
          </a:p>
        </p:txBody>
      </p:sp>
      <p:sp>
        <p:nvSpPr>
          <p:cNvPr id="1686"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DE PROJET</a:t>
            </a:r>
            <a:endParaRPr lang="fr-FR" sz="3200" b="0" u="none" strike="noStrike">
              <a:solidFill>
                <a:srgbClr val="FFFFFF"/>
              </a:solidFill>
              <a:effectLst/>
              <a:uFillTx/>
              <a:latin typeface="Arial"/>
            </a:endParaRPr>
          </a:p>
        </p:txBody>
      </p:sp>
      <p:sp>
        <p:nvSpPr>
          <p:cNvPr id="1687"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Dixième partie · pages 82 → 87</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68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68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69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69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6000" b="1" u="none" strike="noStrike">
                <a:solidFill>
                  <a:srgbClr val="0A0A0A"/>
                </a:solidFill>
                <a:effectLst/>
                <a:uFillTx/>
                <a:latin typeface="Arelv"/>
                <a:ea typeface="Arelv"/>
              </a:rPr>
              <a:t>GANTT</a:t>
            </a:r>
            <a:endParaRPr lang="fr-FR" sz="6000" b="0" u="none" strike="noStrike">
              <a:solidFill>
                <a:srgbClr val="000000"/>
              </a:solidFill>
              <a:effectLst/>
              <a:uFillTx/>
              <a:latin typeface="Arial"/>
            </a:endParaRPr>
          </a:p>
        </p:txBody>
      </p:sp>
      <p:sp>
        <p:nvSpPr>
          <p:cNvPr id="169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Planning visuel — septembre 2025 → juin 2026</a:t>
            </a:r>
            <a:endParaRPr lang="fr-FR" sz="1400" b="0" u="none" strike="noStrike">
              <a:solidFill>
                <a:srgbClr val="000000"/>
              </a:solidFill>
              <a:effectLst/>
              <a:uFillTx/>
              <a:latin typeface="Arial"/>
            </a:endParaRPr>
          </a:p>
        </p:txBody>
      </p:sp>
      <p:sp>
        <p:nvSpPr>
          <p:cNvPr id="1693" name="Text 5"/>
          <p:cNvSpPr/>
          <p:nvPr/>
        </p:nvSpPr>
        <p:spPr>
          <a:xfrm>
            <a:off x="246888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SEP</a:t>
            </a:r>
            <a:endParaRPr lang="fr-FR" sz="900" b="0" u="none" strike="noStrike">
              <a:solidFill>
                <a:srgbClr val="000000"/>
              </a:solidFill>
              <a:effectLst/>
              <a:uFillTx/>
              <a:latin typeface="Arial"/>
            </a:endParaRPr>
          </a:p>
        </p:txBody>
      </p:sp>
      <p:sp>
        <p:nvSpPr>
          <p:cNvPr id="1694" name="Text 6"/>
          <p:cNvSpPr/>
          <p:nvPr/>
        </p:nvSpPr>
        <p:spPr>
          <a:xfrm>
            <a:off x="301752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OCT</a:t>
            </a:r>
            <a:endParaRPr lang="fr-FR" sz="900" b="0" u="none" strike="noStrike">
              <a:solidFill>
                <a:srgbClr val="000000"/>
              </a:solidFill>
              <a:effectLst/>
              <a:uFillTx/>
              <a:latin typeface="Arial"/>
            </a:endParaRPr>
          </a:p>
        </p:txBody>
      </p:sp>
      <p:sp>
        <p:nvSpPr>
          <p:cNvPr id="1695" name="Text 7"/>
          <p:cNvSpPr/>
          <p:nvPr/>
        </p:nvSpPr>
        <p:spPr>
          <a:xfrm>
            <a:off x="356616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NOV</a:t>
            </a:r>
            <a:endParaRPr lang="fr-FR" sz="900" b="0" u="none" strike="noStrike">
              <a:solidFill>
                <a:srgbClr val="000000"/>
              </a:solidFill>
              <a:effectLst/>
              <a:uFillTx/>
              <a:latin typeface="Arial"/>
            </a:endParaRPr>
          </a:p>
        </p:txBody>
      </p:sp>
      <p:sp>
        <p:nvSpPr>
          <p:cNvPr id="1696" name="Text 8"/>
          <p:cNvSpPr/>
          <p:nvPr/>
        </p:nvSpPr>
        <p:spPr>
          <a:xfrm>
            <a:off x="411480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DÉC</a:t>
            </a:r>
            <a:endParaRPr lang="fr-FR" sz="900" b="0" u="none" strike="noStrike">
              <a:solidFill>
                <a:srgbClr val="000000"/>
              </a:solidFill>
              <a:effectLst/>
              <a:uFillTx/>
              <a:latin typeface="Arial"/>
            </a:endParaRPr>
          </a:p>
        </p:txBody>
      </p:sp>
      <p:sp>
        <p:nvSpPr>
          <p:cNvPr id="1697" name="Text 9"/>
          <p:cNvSpPr/>
          <p:nvPr/>
        </p:nvSpPr>
        <p:spPr>
          <a:xfrm>
            <a:off x="466344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JAN</a:t>
            </a:r>
            <a:endParaRPr lang="fr-FR" sz="900" b="0" u="none" strike="noStrike">
              <a:solidFill>
                <a:srgbClr val="000000"/>
              </a:solidFill>
              <a:effectLst/>
              <a:uFillTx/>
              <a:latin typeface="Arial"/>
            </a:endParaRPr>
          </a:p>
        </p:txBody>
      </p:sp>
      <p:sp>
        <p:nvSpPr>
          <p:cNvPr id="1698" name="Text 10"/>
          <p:cNvSpPr/>
          <p:nvPr/>
        </p:nvSpPr>
        <p:spPr>
          <a:xfrm>
            <a:off x="521208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FÉV</a:t>
            </a:r>
            <a:endParaRPr lang="fr-FR" sz="900" b="0" u="none" strike="noStrike">
              <a:solidFill>
                <a:srgbClr val="000000"/>
              </a:solidFill>
              <a:effectLst/>
              <a:uFillTx/>
              <a:latin typeface="Arial"/>
            </a:endParaRPr>
          </a:p>
        </p:txBody>
      </p:sp>
      <p:sp>
        <p:nvSpPr>
          <p:cNvPr id="1699" name="Text 11"/>
          <p:cNvSpPr/>
          <p:nvPr/>
        </p:nvSpPr>
        <p:spPr>
          <a:xfrm>
            <a:off x="576072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MAR</a:t>
            </a:r>
            <a:endParaRPr lang="fr-FR" sz="900" b="0" u="none" strike="noStrike">
              <a:solidFill>
                <a:srgbClr val="000000"/>
              </a:solidFill>
              <a:effectLst/>
              <a:uFillTx/>
              <a:latin typeface="Arial"/>
            </a:endParaRPr>
          </a:p>
        </p:txBody>
      </p:sp>
      <p:sp>
        <p:nvSpPr>
          <p:cNvPr id="1700" name="Text 12"/>
          <p:cNvSpPr/>
          <p:nvPr/>
        </p:nvSpPr>
        <p:spPr>
          <a:xfrm>
            <a:off x="630936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AVR</a:t>
            </a:r>
            <a:endParaRPr lang="fr-FR" sz="900" b="0" u="none" strike="noStrike">
              <a:solidFill>
                <a:srgbClr val="000000"/>
              </a:solidFill>
              <a:effectLst/>
              <a:uFillTx/>
              <a:latin typeface="Arial"/>
            </a:endParaRPr>
          </a:p>
        </p:txBody>
      </p:sp>
      <p:sp>
        <p:nvSpPr>
          <p:cNvPr id="1701" name="Text 13"/>
          <p:cNvSpPr/>
          <p:nvPr/>
        </p:nvSpPr>
        <p:spPr>
          <a:xfrm>
            <a:off x="685800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MAI</a:t>
            </a:r>
            <a:endParaRPr lang="fr-FR" sz="900" b="0" u="none" strike="noStrike">
              <a:solidFill>
                <a:srgbClr val="000000"/>
              </a:solidFill>
              <a:effectLst/>
              <a:uFillTx/>
              <a:latin typeface="Arial"/>
            </a:endParaRPr>
          </a:p>
        </p:txBody>
      </p:sp>
      <p:sp>
        <p:nvSpPr>
          <p:cNvPr id="1702" name="Text 14"/>
          <p:cNvSpPr/>
          <p:nvPr/>
        </p:nvSpPr>
        <p:spPr>
          <a:xfrm>
            <a:off x="740664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JUN</a:t>
            </a:r>
            <a:endParaRPr lang="fr-FR" sz="900" b="0" u="none" strike="noStrike">
              <a:solidFill>
                <a:srgbClr val="000000"/>
              </a:solidFill>
              <a:effectLst/>
              <a:uFillTx/>
              <a:latin typeface="Arial"/>
            </a:endParaRPr>
          </a:p>
        </p:txBody>
      </p:sp>
      <p:sp>
        <p:nvSpPr>
          <p:cNvPr id="1703" name="Text 15"/>
          <p:cNvSpPr/>
          <p:nvPr/>
        </p:nvSpPr>
        <p:spPr>
          <a:xfrm>
            <a:off x="7955280" y="2067120"/>
            <a:ext cx="54144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JUL</a:t>
            </a:r>
            <a:endParaRPr lang="fr-FR" sz="900" b="0" u="none" strike="noStrike">
              <a:solidFill>
                <a:srgbClr val="000000"/>
              </a:solidFill>
              <a:effectLst/>
              <a:uFillTx/>
              <a:latin typeface="Arial"/>
            </a:endParaRPr>
          </a:p>
        </p:txBody>
      </p:sp>
      <p:sp>
        <p:nvSpPr>
          <p:cNvPr id="1704" name="Shape 16"/>
          <p:cNvSpPr/>
          <p:nvPr/>
        </p:nvSpPr>
        <p:spPr>
          <a:xfrm>
            <a:off x="246888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05" name="Shape 17"/>
          <p:cNvSpPr/>
          <p:nvPr/>
        </p:nvSpPr>
        <p:spPr>
          <a:xfrm>
            <a:off x="301752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06" name="Shape 18"/>
          <p:cNvSpPr/>
          <p:nvPr/>
        </p:nvSpPr>
        <p:spPr>
          <a:xfrm>
            <a:off x="356616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07" name="Shape 19"/>
          <p:cNvSpPr/>
          <p:nvPr/>
        </p:nvSpPr>
        <p:spPr>
          <a:xfrm>
            <a:off x="411480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08" name="Shape 20"/>
          <p:cNvSpPr/>
          <p:nvPr/>
        </p:nvSpPr>
        <p:spPr>
          <a:xfrm>
            <a:off x="466344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09" name="Shape 21"/>
          <p:cNvSpPr/>
          <p:nvPr/>
        </p:nvSpPr>
        <p:spPr>
          <a:xfrm>
            <a:off x="521208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0" name="Shape 22"/>
          <p:cNvSpPr/>
          <p:nvPr/>
        </p:nvSpPr>
        <p:spPr>
          <a:xfrm>
            <a:off x="576072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1" name="Shape 23"/>
          <p:cNvSpPr/>
          <p:nvPr/>
        </p:nvSpPr>
        <p:spPr>
          <a:xfrm>
            <a:off x="630936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2" name="Shape 24"/>
          <p:cNvSpPr/>
          <p:nvPr/>
        </p:nvSpPr>
        <p:spPr>
          <a:xfrm>
            <a:off x="685800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3" name="Shape 25"/>
          <p:cNvSpPr/>
          <p:nvPr/>
        </p:nvSpPr>
        <p:spPr>
          <a:xfrm>
            <a:off x="740664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4" name="Shape 26"/>
          <p:cNvSpPr/>
          <p:nvPr/>
        </p:nvSpPr>
        <p:spPr>
          <a:xfrm>
            <a:off x="795528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5" name="Shape 27"/>
          <p:cNvSpPr/>
          <p:nvPr/>
        </p:nvSpPr>
        <p:spPr>
          <a:xfrm>
            <a:off x="8503920" y="2377440"/>
            <a:ext cx="360" cy="2377440"/>
          </a:xfrm>
          <a:prstGeom prst="line">
            <a:avLst/>
          </a:prstGeom>
          <a:ln w="3810">
            <a:solidFill>
              <a:srgbClr val="78909C"/>
            </a:solidFill>
            <a:round/>
          </a:ln>
        </p:spPr>
        <p:style>
          <a:lnRef idx="0"/>
          <a:fillRef idx="0"/>
          <a:effectRef idx="0"/>
          <a:fontRef idx="minor"/>
        </p:style>
        <p:txBody>
          <a:bodyPr lIns="90000" tIns="45000" rIns="90000" bIns="45000" anchor="t" anchorCtr="1">
            <a:noAutofit/>
          </a:bodyPr>
          <a:p>
            <a:endParaRPr lang="fr-FR" sz="1800" b="0" u="none" strike="noStrike">
              <a:solidFill>
                <a:srgbClr val="000000"/>
              </a:solidFill>
              <a:effectLst/>
              <a:uFillTx/>
              <a:latin typeface="Arial"/>
            </a:endParaRPr>
          </a:p>
        </p:txBody>
      </p:sp>
      <p:sp>
        <p:nvSpPr>
          <p:cNvPr id="1716" name="Text 28"/>
          <p:cNvSpPr/>
          <p:nvPr/>
        </p:nvSpPr>
        <p:spPr>
          <a:xfrm>
            <a:off x="457200" y="24231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Recherche &amp; analyse</a:t>
            </a:r>
            <a:endParaRPr lang="fr-FR" sz="900" b="0" u="none" strike="noStrike">
              <a:solidFill>
                <a:srgbClr val="000000"/>
              </a:solidFill>
              <a:effectLst/>
              <a:uFillTx/>
              <a:latin typeface="Arial"/>
            </a:endParaRPr>
          </a:p>
        </p:txBody>
      </p:sp>
      <p:sp>
        <p:nvSpPr>
          <p:cNvPr id="1717" name="Shape 29"/>
          <p:cNvSpPr/>
          <p:nvPr/>
        </p:nvSpPr>
        <p:spPr>
          <a:xfrm>
            <a:off x="2487240" y="2468880"/>
            <a:ext cx="1053360" cy="129960"/>
          </a:xfrm>
          <a:prstGeom prst="rect">
            <a:avLst/>
          </a:prstGeom>
          <a:solidFill>
            <a:srgbClr val="8DAE9C"/>
          </a:solidFill>
          <a:ln w="12700">
            <a:solidFill>
              <a:srgbClr val="8DAE9C"/>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18" name="Text 30"/>
          <p:cNvSpPr/>
          <p:nvPr/>
        </p:nvSpPr>
        <p:spPr>
          <a:xfrm>
            <a:off x="457200" y="26517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Charte graphique</a:t>
            </a:r>
            <a:endParaRPr lang="fr-FR" sz="900" b="0" u="none" strike="noStrike">
              <a:solidFill>
                <a:srgbClr val="000000"/>
              </a:solidFill>
              <a:effectLst/>
              <a:uFillTx/>
              <a:latin typeface="Arial"/>
            </a:endParaRPr>
          </a:p>
        </p:txBody>
      </p:sp>
      <p:sp>
        <p:nvSpPr>
          <p:cNvPr id="1719" name="Shape 31"/>
          <p:cNvSpPr/>
          <p:nvPr/>
        </p:nvSpPr>
        <p:spPr>
          <a:xfrm>
            <a:off x="3035880" y="2697480"/>
            <a:ext cx="1823400" cy="129960"/>
          </a:xfrm>
          <a:prstGeom prst="rect">
            <a:avLst/>
          </a:prstGeom>
          <a:solidFill>
            <a:srgbClr val="B6CCBE"/>
          </a:solidFill>
          <a:ln w="12700">
            <a:solidFill>
              <a:srgbClr val="B6CCBE"/>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20" name="Text 32"/>
          <p:cNvSpPr/>
          <p:nvPr/>
        </p:nvSpPr>
        <p:spPr>
          <a:xfrm>
            <a:off x="457200" y="28803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21" name="Shape 33"/>
          <p:cNvSpPr/>
          <p:nvPr/>
        </p:nvSpPr>
        <p:spPr>
          <a:xfrm>
            <a:off x="3584520" y="2926080"/>
            <a:ext cx="2894760" cy="1299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22" name="Text 34"/>
          <p:cNvSpPr/>
          <p:nvPr/>
        </p:nvSpPr>
        <p:spPr>
          <a:xfrm>
            <a:off x="457200" y="31089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Maquettage (figma &amp; wireframes)</a:t>
            </a:r>
            <a:endParaRPr lang="fr-FR" sz="900" b="0" u="none" strike="noStrike">
              <a:solidFill>
                <a:srgbClr val="000000"/>
              </a:solidFill>
              <a:effectLst/>
              <a:uFillTx/>
              <a:latin typeface="Arial"/>
            </a:endParaRPr>
          </a:p>
        </p:txBody>
      </p:sp>
      <p:sp>
        <p:nvSpPr>
          <p:cNvPr id="1723" name="Text 36"/>
          <p:cNvSpPr/>
          <p:nvPr/>
        </p:nvSpPr>
        <p:spPr>
          <a:xfrm>
            <a:off x="457200" y="33375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Intégration WordPress local / WAMP</a:t>
            </a:r>
            <a:endParaRPr lang="fr-FR" sz="900" b="0" u="none" strike="noStrike">
              <a:solidFill>
                <a:srgbClr val="000000"/>
              </a:solidFill>
              <a:effectLst/>
              <a:uFillTx/>
              <a:latin typeface="Arial"/>
            </a:endParaRPr>
          </a:p>
        </p:txBody>
      </p:sp>
      <p:sp>
        <p:nvSpPr>
          <p:cNvPr id="1724" name="Text 38"/>
          <p:cNvSpPr/>
          <p:nvPr/>
        </p:nvSpPr>
        <p:spPr>
          <a:xfrm>
            <a:off x="457200" y="35661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Contenu &amp; traductions</a:t>
            </a:r>
            <a:endParaRPr lang="fr-FR" sz="900" b="0" u="none" strike="noStrike">
              <a:solidFill>
                <a:srgbClr val="000000"/>
              </a:solidFill>
              <a:effectLst/>
              <a:uFillTx/>
              <a:latin typeface="Arial"/>
            </a:endParaRPr>
          </a:p>
        </p:txBody>
      </p:sp>
      <p:sp>
        <p:nvSpPr>
          <p:cNvPr id="1725" name="Shape 39"/>
          <p:cNvSpPr/>
          <p:nvPr/>
        </p:nvSpPr>
        <p:spPr>
          <a:xfrm>
            <a:off x="5230440" y="3611880"/>
            <a:ext cx="2508840" cy="129960"/>
          </a:xfrm>
          <a:prstGeom prst="rect">
            <a:avLst/>
          </a:prstGeom>
          <a:solidFill>
            <a:srgbClr val="37474F"/>
          </a:solidFill>
          <a:ln w="12700">
            <a:solidFill>
              <a:srgbClr val="37474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26" name="Text 40"/>
          <p:cNvSpPr/>
          <p:nvPr/>
        </p:nvSpPr>
        <p:spPr>
          <a:xfrm>
            <a:off x="457200" y="37947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Tests &amp; accessibilité</a:t>
            </a:r>
            <a:endParaRPr lang="fr-FR" sz="900" b="0" u="none" strike="noStrike">
              <a:solidFill>
                <a:srgbClr val="000000"/>
              </a:solidFill>
              <a:effectLst/>
              <a:uFillTx/>
              <a:latin typeface="Arial"/>
            </a:endParaRPr>
          </a:p>
        </p:txBody>
      </p:sp>
      <p:sp>
        <p:nvSpPr>
          <p:cNvPr id="1727" name="Shape 41"/>
          <p:cNvSpPr/>
          <p:nvPr/>
        </p:nvSpPr>
        <p:spPr>
          <a:xfrm>
            <a:off x="6327720" y="3840480"/>
            <a:ext cx="1405440" cy="12996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28" name="Text 42"/>
          <p:cNvSpPr/>
          <p:nvPr/>
        </p:nvSpPr>
        <p:spPr>
          <a:xfrm>
            <a:off x="457200" y="40233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Déploiement / hébergement FIM</a:t>
            </a:r>
            <a:endParaRPr lang="fr-FR" sz="900" b="0" u="none" strike="noStrike">
              <a:solidFill>
                <a:srgbClr val="000000"/>
              </a:solidFill>
              <a:effectLst/>
              <a:uFillTx/>
              <a:latin typeface="Arial"/>
            </a:endParaRPr>
          </a:p>
        </p:txBody>
      </p:sp>
      <p:sp>
        <p:nvSpPr>
          <p:cNvPr id="1729" name="Text 44"/>
          <p:cNvSpPr/>
          <p:nvPr/>
        </p:nvSpPr>
        <p:spPr>
          <a:xfrm>
            <a:off x="457200" y="42519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Soutenance &amp; retours</a:t>
            </a:r>
            <a:endParaRPr lang="fr-FR" sz="900" b="0" u="none" strike="noStrike">
              <a:solidFill>
                <a:srgbClr val="000000"/>
              </a:solidFill>
              <a:effectLst/>
              <a:uFillTx/>
              <a:latin typeface="Arial"/>
            </a:endParaRPr>
          </a:p>
        </p:txBody>
      </p:sp>
      <p:sp>
        <p:nvSpPr>
          <p:cNvPr id="1730" name="Shape 45"/>
          <p:cNvSpPr/>
          <p:nvPr/>
        </p:nvSpPr>
        <p:spPr>
          <a:xfrm>
            <a:off x="7425000" y="4297680"/>
            <a:ext cx="504720" cy="12996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31" name="Text 46"/>
          <p:cNvSpPr/>
          <p:nvPr/>
        </p:nvSpPr>
        <p:spPr>
          <a:xfrm>
            <a:off x="457200" y="4480560"/>
            <a:ext cx="19587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Migration OVH</a:t>
            </a:r>
            <a:endParaRPr lang="fr-FR" sz="900" b="0" u="none" strike="noStrike">
              <a:solidFill>
                <a:srgbClr val="000000"/>
              </a:solidFill>
              <a:effectLst/>
              <a:uFillTx/>
              <a:latin typeface="Arial"/>
            </a:endParaRPr>
          </a:p>
        </p:txBody>
      </p:sp>
      <p:sp>
        <p:nvSpPr>
          <p:cNvPr id="1732" name="Shape 47"/>
          <p:cNvSpPr/>
          <p:nvPr/>
        </p:nvSpPr>
        <p:spPr>
          <a:xfrm>
            <a:off x="7973640" y="4526280"/>
            <a:ext cx="504720" cy="129960"/>
          </a:xfrm>
          <a:prstGeom prst="rect">
            <a:avLst/>
          </a:prstGeom>
          <a:solidFill>
            <a:srgbClr val="FFB300"/>
          </a:solidFill>
          <a:ln w="12700">
            <a:solidFill>
              <a:srgbClr val="FFB300"/>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33" name="Shape 4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34" name="Text 5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735" name="Text 5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83</a:t>
            </a:r>
            <a:endParaRPr lang="fr-FR" sz="900" b="0" u="none" strike="noStrike">
              <a:solidFill>
                <a:srgbClr val="000000"/>
              </a:solidFill>
              <a:effectLst/>
              <a:uFillTx/>
              <a:latin typeface="Arial"/>
            </a:endParaRPr>
          </a:p>
        </p:txBody>
      </p:sp>
      <p:sp>
        <p:nvSpPr>
          <p:cNvPr id="1736" name="Shape 62"/>
          <p:cNvSpPr/>
          <p:nvPr/>
        </p:nvSpPr>
        <p:spPr>
          <a:xfrm>
            <a:off x="7425360" y="4069080"/>
            <a:ext cx="504720" cy="12996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37" name="Shape 53"/>
          <p:cNvSpPr/>
          <p:nvPr/>
        </p:nvSpPr>
        <p:spPr>
          <a:xfrm>
            <a:off x="5230440" y="3384000"/>
            <a:ext cx="2508840" cy="129960"/>
          </a:xfrm>
          <a:prstGeom prst="rect">
            <a:avLst/>
          </a:prstGeom>
          <a:solidFill>
            <a:srgbClr val="1A237E"/>
          </a:solidFill>
          <a:ln w="12700">
            <a:solidFill>
              <a:srgbClr val="1A237E"/>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38" name="Shape 63"/>
          <p:cNvSpPr/>
          <p:nvPr/>
        </p:nvSpPr>
        <p:spPr>
          <a:xfrm>
            <a:off x="4140000" y="3154680"/>
            <a:ext cx="3419280" cy="129960"/>
          </a:xfrm>
          <a:prstGeom prst="rect">
            <a:avLst/>
          </a:prstGeom>
          <a:solidFill>
            <a:srgbClr val="FFB300"/>
          </a:solidFill>
          <a:ln w="12700">
            <a:solidFill>
              <a:srgbClr val="FFB3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73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4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74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42"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CASCADE</a:t>
            </a:r>
            <a:endParaRPr lang="fr-FR" sz="5600" b="0" u="none" strike="noStrike">
              <a:solidFill>
                <a:srgbClr val="000000"/>
              </a:solidFill>
              <a:effectLst/>
              <a:uFillTx/>
              <a:latin typeface="Arial"/>
            </a:endParaRPr>
          </a:p>
        </p:txBody>
      </p:sp>
      <p:sp>
        <p:nvSpPr>
          <p:cNvPr id="1743"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Cycles courts alignés sur les 6 jalons prédéfinis par le FIM</a:t>
            </a:r>
            <a:endParaRPr lang="fr-FR" sz="1400" b="0" u="none" strike="noStrike">
              <a:solidFill>
                <a:srgbClr val="000000"/>
              </a:solidFill>
              <a:effectLst/>
              <a:uFillTx/>
              <a:latin typeface="Arial"/>
            </a:endParaRPr>
          </a:p>
        </p:txBody>
      </p:sp>
      <p:graphicFrame>
        <p:nvGraphicFramePr>
          <p:cNvPr id="1744" name="Table 0"/>
          <p:cNvGraphicFramePr/>
          <p:nvPr/>
        </p:nvGraphicFramePr>
        <p:xfrm>
          <a:off x="457200" y="2201400"/>
          <a:ext cx="8320680" cy="2214360"/>
        </p:xfrm>
        <a:graphic>
          <a:graphicData uri="http://schemas.openxmlformats.org/drawingml/2006/table">
            <a:tbl>
              <a:tblPr/>
              <a:tblGrid>
                <a:gridCol w="624960"/>
                <a:gridCol w="1654560"/>
                <a:gridCol w="2351880"/>
                <a:gridCol w="2683440"/>
                <a:gridCol w="1006200"/>
              </a:tblGrid>
              <a:tr h="232920">
                <a:tc>
                  <a:txBody>
                    <a:bodyPr anchor="t">
                      <a:noAutofit/>
                    </a:bodyPr>
                    <a:p>
                      <a:pPr algn="ctr" defTabSz="914400">
                        <a:lnSpc>
                          <a:spcPct val="100000"/>
                        </a:lnSpc>
                        <a:tabLst>
                          <a:tab pos="0" algn="l"/>
                        </a:tabLst>
                      </a:pPr>
                      <a:r>
                        <a:rPr lang="fr-FR" sz="850" b="1" u="none" strike="noStrike">
                          <a:solidFill>
                            <a:srgbClr val="F4EFE6"/>
                          </a:solidFill>
                          <a:effectLst/>
                          <a:uFillTx/>
                          <a:latin typeface="Satoshi"/>
                          <a:ea typeface="Satoshi"/>
                        </a:rPr>
                        <a:t>SPRINT</a:t>
                      </a:r>
                      <a:endParaRPr lang="fr-FR" sz="8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850" b="1" u="none" strike="noStrike">
                          <a:solidFill>
                            <a:srgbClr val="F4EFE6"/>
                          </a:solidFill>
                          <a:effectLst/>
                          <a:uFillTx/>
                          <a:latin typeface="Satoshi"/>
                          <a:ea typeface="Satoshi"/>
                        </a:rPr>
                        <a:t>PÉRIODE</a:t>
                      </a:r>
                      <a:endParaRPr lang="fr-FR" sz="8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850" b="1" u="none" strike="noStrike">
                          <a:solidFill>
                            <a:srgbClr val="F4EFE6"/>
                          </a:solidFill>
                          <a:effectLst/>
                          <a:uFillTx/>
                          <a:latin typeface="Satoshi"/>
                          <a:ea typeface="Satoshi"/>
                        </a:rPr>
                        <a:t>OBJECTIF</a:t>
                      </a:r>
                      <a:endParaRPr lang="fr-FR" sz="8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850" b="1" u="none" strike="noStrike">
                          <a:solidFill>
                            <a:srgbClr val="F4EFE6"/>
                          </a:solidFill>
                          <a:effectLst/>
                          <a:uFillTx/>
                          <a:latin typeface="Satoshi"/>
                          <a:ea typeface="Satoshi"/>
                        </a:rPr>
                        <a:t>LIVRABLE</a:t>
                      </a:r>
                      <a:endParaRPr lang="fr-FR" sz="8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850" b="1" u="none" strike="noStrike">
                          <a:solidFill>
                            <a:srgbClr val="F4EFE6"/>
                          </a:solidFill>
                          <a:effectLst/>
                          <a:uFillTx/>
                          <a:latin typeface="Satoshi"/>
                          <a:ea typeface="Satoshi"/>
                        </a:rPr>
                        <a:t>STATUT</a:t>
                      </a:r>
                      <a:endParaRPr lang="fr-FR" sz="8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S00</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0" u="none" strike="noStrike">
                          <a:solidFill>
                            <a:srgbClr val="0A0A0A"/>
                          </a:solidFill>
                          <a:effectLst/>
                          <a:uFillTx/>
                          <a:latin typeface="Satoshi"/>
                          <a:ea typeface="Satoshi"/>
                        </a:rPr>
                        <a:t>15 sept → 31 oct. 2025</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0" u="none" strike="noStrike">
                          <a:solidFill>
                            <a:srgbClr val="0A0A0A"/>
                          </a:solidFill>
                          <a:effectLst/>
                          <a:uFillTx/>
                          <a:latin typeface="Satoshi"/>
                          <a:ea typeface="Satoshi"/>
                        </a:rPr>
                        <a:t>Recherche et cadrage</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0" u="none" strike="noStrike">
                          <a:solidFill>
                            <a:srgbClr val="0A0A0A"/>
                          </a:solidFill>
                          <a:effectLst/>
                          <a:uFillTx/>
                          <a:latin typeface="Satoshi"/>
                          <a:ea typeface="Satoshi"/>
                        </a:rPr>
                        <a:t>Brief initial</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2C5F2D"/>
                          </a:solidFill>
                          <a:effectLst/>
                          <a:uFillTx/>
                          <a:latin typeface="Satoshi"/>
                          <a:ea typeface="Satoshi"/>
                        </a:rPr>
                        <a:t>✓ Terminé</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S01</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i="1" u="none" strike="noStrike">
                          <a:solidFill>
                            <a:srgbClr val="0A0A0A"/>
                          </a:solidFill>
                          <a:effectLst/>
                          <a:uFillTx/>
                          <a:latin typeface="Satoshi"/>
                          <a:ea typeface="Satoshi"/>
                        </a:rPr>
                        <a:t>15 sept → 08 </a:t>
                      </a:r>
                      <a:r>
                        <a:rPr lang="en-US" sz="850" b="1" i="1" u="none" strike="noStrike">
                          <a:solidFill>
                            <a:srgbClr val="0A0A0A"/>
                          </a:solidFill>
                          <a:effectLst/>
                          <a:uFillTx/>
                          <a:latin typeface="Satoshi"/>
                          <a:ea typeface="Satoshi"/>
                        </a:rPr>
                        <a:t>déc</a:t>
                      </a:r>
                      <a:r>
                        <a:rPr lang="fr-FR" sz="850" b="1" i="1" u="none" strike="noStrike">
                          <a:solidFill>
                            <a:srgbClr val="0A0A0A"/>
                          </a:solidFill>
                          <a:effectLst/>
                          <a:uFillTx/>
                          <a:latin typeface="Satoshi"/>
                          <a:ea typeface="Satoshi"/>
                        </a:rPr>
                        <a:t>. 2025</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Jalon 1 — CONTEXTE DU PROJET</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Dossier contexte + benchmark + personas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2C5F2D"/>
                          </a:solidFill>
                          <a:effectLst/>
                          <a:uFillTx/>
                          <a:latin typeface="Satoshi"/>
                          <a:ea typeface="Satoshi"/>
                        </a:rPr>
                        <a:t>✓ Terminé</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S02</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i="1" u="none" strike="noStrike">
                          <a:solidFill>
                            <a:srgbClr val="0A0A0A"/>
                          </a:solidFill>
                          <a:effectLst/>
                          <a:uFillTx/>
                          <a:latin typeface="Satoshi"/>
                          <a:ea typeface="Satoshi"/>
                        </a:rPr>
                        <a:t>13 oct 2025 → 06 fév.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rPr>
                        <a:t>Jalon 2 — CONCEPTION GRAPHIQUE</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u="none" strike="noStrike">
                          <a:solidFill>
                            <a:srgbClr val="0A0A0A"/>
                          </a:solidFill>
                          <a:effectLst/>
                          <a:uFillTx/>
                          <a:latin typeface="Satoshi"/>
                          <a:ea typeface="Satoshi"/>
                        </a:rPr>
                        <a:t>Moodboard + logotype + style guide + choix typo</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2C5F2D"/>
                          </a:solidFill>
                          <a:effectLst/>
                          <a:uFillTx/>
                          <a:latin typeface="Satoshi"/>
                          <a:ea typeface="Satoshi"/>
                        </a:rPr>
                        <a:t>✓ Terminé</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S03</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i="1" u="none" strike="noStrike">
                          <a:solidFill>
                            <a:srgbClr val="0A0A0A"/>
                          </a:solidFill>
                          <a:effectLst/>
                          <a:uFillTx/>
                          <a:latin typeface="Satoshi"/>
                          <a:ea typeface="Satoshi"/>
                        </a:rPr>
                        <a:t>10 nov 2025 → 10 avril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Jalon 3 — CAHIER DES CHARGES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u="none" strike="noStrike">
                          <a:solidFill>
                            <a:srgbClr val="0A0A0A"/>
                          </a:solidFill>
                          <a:effectLst/>
                          <a:uFillTx/>
                          <a:latin typeface="Satoshi"/>
                          <a:ea typeface="Satoshi"/>
                        </a:rPr>
                        <a:t>Spécifications fonctionnelles &amp; techniques + arborescence + planning</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2C5F2D"/>
                          </a:solidFill>
                          <a:effectLst/>
                          <a:uFillTx/>
                          <a:latin typeface="Satoshi"/>
                          <a:ea typeface="Satoshi"/>
                        </a:rPr>
                        <a:t>✓ Terminé</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S04</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i="1" u="none" strike="noStrike">
                          <a:solidFill>
                            <a:srgbClr val="0A0A0A"/>
                          </a:solidFill>
                          <a:effectLst/>
                          <a:uFillTx/>
                          <a:latin typeface="Satoshi"/>
                          <a:ea typeface="Satoshi"/>
                        </a:rPr>
                        <a:t>05 jan → 15 juin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Jalon 4 — PROTOTYPE GRAPHIQUE</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u="none" strike="noStrike">
                          <a:solidFill>
                            <a:srgbClr val="0A0A0A"/>
                          </a:solidFill>
                          <a:effectLst/>
                          <a:uFillTx/>
                          <a:latin typeface="Satoshi"/>
                          <a:ea typeface="Satoshi"/>
                        </a:rPr>
                        <a:t>Maquettes Figma + prototype interactif</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0A0A0A"/>
                          </a:solidFill>
                          <a:effectLst/>
                          <a:uFillTx/>
                          <a:latin typeface="Satoshi"/>
                          <a:ea typeface="Satoshi"/>
                        </a:rPr>
                        <a:t>● En cours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S05</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i="1" u="none" strike="noStrike">
                          <a:solidFill>
                            <a:srgbClr val="0A0A0A"/>
                          </a:solidFill>
                          <a:effectLst/>
                          <a:uFillTx/>
                          <a:latin typeface="Satoshi"/>
                          <a:ea typeface="Satoshi"/>
                        </a:rPr>
                        <a:t>01 mai → 15 juin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Jalon 5 — INTÉGRATION WORDPRESS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u="none" strike="noStrike">
                          <a:solidFill>
                            <a:srgbClr val="0A0A0A"/>
                          </a:solidFill>
                          <a:effectLst/>
                          <a:uFillTx/>
                          <a:latin typeface="Satoshi"/>
                          <a:ea typeface="Satoshi"/>
                        </a:rPr>
                        <a:t>Site complet sur hébergement FIM</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0A0A0A"/>
                          </a:solidFill>
                          <a:effectLst/>
                          <a:uFillTx/>
                          <a:latin typeface="Satoshi"/>
                          <a:ea typeface="Satoshi"/>
                        </a:rPr>
                        <a:t>● En cours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0" i="1" u="none" strike="noStrike">
                          <a:solidFill>
                            <a:srgbClr val="0A0A0A"/>
                          </a:solidFill>
                          <a:effectLst/>
                          <a:uFillTx/>
                          <a:latin typeface="Satoshi"/>
                          <a:ea typeface="Satoshi"/>
                        </a:rPr>
                        <a:t>22 → 24 juin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0" u="none" strike="noStrike">
                          <a:solidFill>
                            <a:srgbClr val="0A0A0A"/>
                          </a:solidFill>
                          <a:effectLst/>
                          <a:uFillTx/>
                          <a:latin typeface="Satoshi"/>
                          <a:ea typeface="Satoshi"/>
                        </a:rPr>
                        <a:t>Préparation soutenance</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0" u="none" strike="noStrike">
                          <a:solidFill>
                            <a:srgbClr val="0A0A0A"/>
                          </a:solidFill>
                          <a:effectLst/>
                          <a:uFillTx/>
                          <a:latin typeface="Satoshi"/>
                          <a:ea typeface="Satoshi"/>
                        </a:rPr>
                        <a:t>Slides de présentation + répétitions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fr-FR" sz="850" b="0" u="none" strike="noStrike">
                          <a:solidFill>
                            <a:srgbClr val="0A0A0A"/>
                          </a:solidFill>
                          <a:effectLst/>
                          <a:uFillTx/>
                          <a:latin typeface="Satoshi"/>
                          <a:ea typeface="Satoshi"/>
                        </a:rPr>
                        <a:t>● En cours</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32920">
                <a:tc>
                  <a:txBody>
                    <a:bodyPr anchor="ctr">
                      <a:noAutofit/>
                    </a:bodyPr>
                    <a:p>
                      <a:pPr algn="ctr" defTabSz="914400">
                        <a:lnSpc>
                          <a:spcPct val="100000"/>
                        </a:lnSpc>
                        <a:tabLst>
                          <a:tab pos="0" algn="l"/>
                        </a:tabLst>
                      </a:pPr>
                      <a:r>
                        <a:rPr lang="en-US" sz="850" b="1" u="none" strike="noStrike">
                          <a:solidFill>
                            <a:srgbClr val="0A0A0A"/>
                          </a:solidFill>
                          <a:effectLst/>
                          <a:uFillTx/>
                          <a:latin typeface="Satoshi"/>
                          <a:ea typeface="Satoshi"/>
                        </a:rPr>
                        <a:t>S06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850" b="1" i="1" u="none" strike="noStrike">
                          <a:solidFill>
                            <a:srgbClr val="0A0A0A"/>
                          </a:solidFill>
                          <a:effectLst/>
                          <a:uFillTx/>
                          <a:latin typeface="Satoshi"/>
                          <a:ea typeface="Satoshi"/>
                        </a:rPr>
                        <a:t>25- juin 2026</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Jalon 6 — SOUTENANCE FINALE</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fr-FR" sz="850" b="1" u="none" strike="noStrike">
                          <a:solidFill>
                            <a:srgbClr val="0A0A0A"/>
                          </a:solidFill>
                          <a:effectLst/>
                          <a:uFillTx/>
                          <a:latin typeface="Satoshi"/>
                          <a:ea typeface="Satoshi"/>
                        </a:rPr>
                        <a:t>Présentation (20 + 20 + 10 min)</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850" b="0" u="none" strike="noStrike">
                          <a:solidFill>
                            <a:srgbClr val="0A0A0A"/>
                          </a:solidFill>
                          <a:effectLst/>
                          <a:uFillTx/>
                          <a:latin typeface="Satoshi"/>
                          <a:ea typeface="Satoshi"/>
                        </a:rPr>
                        <a:t>○ À venir</a:t>
                      </a:r>
                      <a:endParaRPr lang="fr-FR" sz="8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745" name="Shape 5"/>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46" name="Text 6"/>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747" name="Text 7"/>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84</a:t>
            </a:r>
            <a:endParaRPr lang="fr-FR" sz="900" b="0" u="none" strike="noStrike">
              <a:solidFill>
                <a:srgbClr val="000000"/>
              </a:solidFill>
              <a:effectLst/>
              <a:uFillTx/>
              <a:latin typeface="Arial"/>
            </a:endParaRPr>
          </a:p>
        </p:txBody>
      </p:sp>
      <p:sp>
        <p:nvSpPr>
          <p:cNvPr id="1748" name="Text 93"/>
          <p:cNvSpPr/>
          <p:nvPr/>
        </p:nvSpPr>
        <p:spPr>
          <a:xfrm>
            <a:off x="457200" y="1963440"/>
            <a:ext cx="82224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150" strike="noStrike">
                <a:solidFill>
                  <a:srgbClr val="BF360C"/>
                </a:solidFill>
                <a:effectLst/>
                <a:uFillTx/>
                <a:latin typeface="Satoshi"/>
                <a:ea typeface="Satoshi"/>
              </a:rPr>
              <a:t>JALONS CLÉS</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74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5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75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52"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BUDGET</a:t>
            </a:r>
            <a:endParaRPr lang="fr-FR" sz="5600" b="0" u="none" strike="noStrike">
              <a:solidFill>
                <a:srgbClr val="000000"/>
              </a:solidFill>
              <a:effectLst/>
              <a:uFillTx/>
              <a:latin typeface="Arial"/>
            </a:endParaRPr>
          </a:p>
        </p:txBody>
      </p:sp>
      <p:sp>
        <p:nvSpPr>
          <p:cNvPr id="1753"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Coûts réels du projet et équivalent free-lance</a:t>
            </a:r>
            <a:endParaRPr lang="fr-FR" sz="1400" b="0" u="none" strike="noStrike">
              <a:solidFill>
                <a:srgbClr val="000000"/>
              </a:solidFill>
              <a:effectLst/>
              <a:uFillTx/>
              <a:latin typeface="Arial"/>
            </a:endParaRPr>
          </a:p>
        </p:txBody>
      </p:sp>
      <p:graphicFrame>
        <p:nvGraphicFramePr>
          <p:cNvPr id="1754" name="Table 0"/>
          <p:cNvGraphicFramePr/>
          <p:nvPr/>
        </p:nvGraphicFramePr>
        <p:xfrm>
          <a:off x="457200" y="2057400"/>
          <a:ext cx="8320680" cy="2512800"/>
        </p:xfrm>
        <a:graphic>
          <a:graphicData uri="http://schemas.openxmlformats.org/drawingml/2006/table">
            <a:tbl>
              <a:tblPr/>
              <a:tblGrid>
                <a:gridCol w="3017520"/>
                <a:gridCol w="1554480"/>
                <a:gridCol w="1737360"/>
                <a:gridCol w="2011680"/>
              </a:tblGrid>
              <a:tr h="251280">
                <a:tc>
                  <a:txBody>
                    <a:bodyPr anchor="t">
                      <a:noAutofit/>
                    </a:bodyPr>
                    <a:p>
                      <a:pPr defTabSz="914400">
                        <a:lnSpc>
                          <a:spcPct val="100000"/>
                        </a:lnSpc>
                        <a:tabLst>
                          <a:tab pos="0" algn="l"/>
                        </a:tabLst>
                      </a:pPr>
                      <a:r>
                        <a:rPr lang="fr-FR" sz="950" b="1" u="none" strike="noStrike">
                          <a:solidFill>
                            <a:srgbClr val="F4EFE6"/>
                          </a:solidFill>
                          <a:effectLst/>
                          <a:uFillTx/>
                          <a:latin typeface="Satoshi"/>
                          <a:ea typeface="Satoshi"/>
                        </a:rPr>
                        <a:t>POSTE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r" defTabSz="914400">
                        <a:lnSpc>
                          <a:spcPct val="100000"/>
                        </a:lnSpc>
                        <a:tabLst>
                          <a:tab pos="0" algn="l"/>
                        </a:tabLst>
                      </a:pPr>
                      <a:r>
                        <a:rPr lang="en-US" sz="950" b="1" u="none" strike="noStrike">
                          <a:solidFill>
                            <a:srgbClr val="F4EFE6"/>
                          </a:solidFill>
                          <a:effectLst/>
                          <a:uFillTx/>
                          <a:latin typeface="Satoshi"/>
                          <a:ea typeface="Satoshi"/>
                        </a:rPr>
                        <a:t>RÉEL (PERSO)</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r" defTabSz="914400">
                        <a:lnSpc>
                          <a:spcPct val="100000"/>
                        </a:lnSpc>
                        <a:tabLst>
                          <a:tab pos="0" algn="l"/>
                        </a:tabLst>
                      </a:pPr>
                      <a:r>
                        <a:rPr lang="en-US" sz="950" b="1" u="none" strike="noStrike">
                          <a:solidFill>
                            <a:srgbClr val="F4EFE6"/>
                          </a:solidFill>
                          <a:effectLst/>
                          <a:uFillTx/>
                          <a:latin typeface="Satoshi"/>
                          <a:ea typeface="Satoshi"/>
                        </a:rPr>
                        <a:t>ÉQUIV. FREELANCE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DÉTAIL</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Conception (UX/UI, charte)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2 400 €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40h × 60 €/h</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Développement WordPress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4 200 €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70h × 60 €/h</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Intégration multilingue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1 200 €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20h × 60 €/h</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Rédaction contenus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900 €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15h × 60 €/h</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Traductions (EN/JA/AR)</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750 €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Auto-traduction relue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Domaine .fr (an 1)</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13 €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13 €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OVH</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Hébergement WP (an 1)</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36 €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36 €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OVH offre Perso</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Licences typo Arelv + Satoshi</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60 €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Licences </a:t>
                      </a:r>
                      <a:r>
                        <a:rPr lang="fr-FR" sz="950" b="0" u="none" strike="noStrike">
                          <a:solidFill>
                            <a:srgbClr val="0A0A0A"/>
                          </a:solidFill>
                          <a:effectLst/>
                          <a:uFillTx/>
                          <a:latin typeface="Satoshi"/>
                          <a:ea typeface="Satoshi"/>
                        </a:rPr>
                        <a:t>utilisations</a:t>
                      </a:r>
                      <a:r>
                        <a:rPr lang="en-US" sz="950" b="0" u="none" strike="noStrike">
                          <a:solidFill>
                            <a:srgbClr val="0A0A0A"/>
                          </a:solidFill>
                          <a:effectLst/>
                          <a:uFillTx/>
                          <a:latin typeface="Satoshi"/>
                          <a:ea typeface="Satoshi"/>
                        </a:rPr>
                        <a:t> perso</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BF360C"/>
                          </a:solidFill>
                          <a:effectLst/>
                          <a:uFillTx/>
                          <a:latin typeface="Satoshi"/>
                          <a:ea typeface="Satoshi"/>
                        </a:rPr>
                        <a:t>TOTAL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EBE4D5"/>
                    </a:solidFill>
                  </a:tcPr>
                </a:tc>
                <a:tc>
                  <a:txBody>
                    <a:bodyPr anchor="ctr">
                      <a:noAutofit/>
                    </a:bodyPr>
                    <a:p>
                      <a:pPr algn="r" defTabSz="914400">
                        <a:lnSpc>
                          <a:spcPct val="100000"/>
                        </a:lnSpc>
                        <a:tabLst>
                          <a:tab pos="0" algn="l"/>
                        </a:tabLst>
                      </a:pPr>
                      <a:r>
                        <a:rPr lang="en-US" sz="950" b="1" u="none" strike="noStrike">
                          <a:solidFill>
                            <a:srgbClr val="BF360C"/>
                          </a:solidFill>
                          <a:effectLst/>
                          <a:uFillTx/>
                          <a:latin typeface="Satoshi"/>
                          <a:ea typeface="Satoshi"/>
                        </a:rPr>
                        <a:t>49 €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EBE4D5"/>
                    </a:solidFill>
                  </a:tcPr>
                </a:tc>
                <a:tc>
                  <a:txBody>
                    <a:bodyPr anchor="ctr">
                      <a:noAutofit/>
                    </a:bodyPr>
                    <a:p>
                      <a:pPr algn="r" defTabSz="914400">
                        <a:lnSpc>
                          <a:spcPct val="100000"/>
                        </a:lnSpc>
                        <a:tabLst>
                          <a:tab pos="0" algn="l"/>
                        </a:tabLst>
                      </a:pPr>
                      <a:r>
                        <a:rPr lang="en-US" sz="950" b="1" u="none" strike="noStrike">
                          <a:solidFill>
                            <a:srgbClr val="BF360C"/>
                          </a:solidFill>
                          <a:effectLst/>
                          <a:uFillTx/>
                          <a:latin typeface="Satoshi"/>
                          <a:ea typeface="Satoshi"/>
                        </a:rPr>
                        <a:t>9 559 €</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EBE4D5"/>
                    </a:solidFill>
                  </a:tcPr>
                </a:tc>
                <a:tc>
                  <a:txBody>
                    <a:bodyPr anchor="ctr">
                      <a:noAutofit/>
                    </a:bodyPr>
                    <a:p>
                      <a:pPr defTabSz="914400">
                        <a:lnSpc>
                          <a:spcPct val="100000"/>
                        </a:lnSpc>
                        <a:tabLst>
                          <a:tab pos="0" algn="l"/>
                        </a:tabLst>
                      </a:pPr>
                      <a:r>
                        <a:rPr lang="en-US" sz="950" b="1" u="none" strike="noStrike">
                          <a:solidFill>
                            <a:srgbClr val="BF360C"/>
                          </a:solidFill>
                          <a:effectLst/>
                          <a:uFillTx/>
                          <a:latin typeface="Satoshi"/>
                          <a:ea typeface="Satoshi"/>
                        </a:rPr>
                        <a:t>Soutenance + an 1</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EBE4D5"/>
                    </a:solidFill>
                  </a:tcPr>
                </a:tc>
              </a:tr>
            </a:tbl>
          </a:graphicData>
        </a:graphic>
      </p:graphicFrame>
      <p:sp>
        <p:nvSpPr>
          <p:cNvPr id="1755" name="Text 5"/>
          <p:cNvSpPr/>
          <p:nvPr/>
        </p:nvSpPr>
        <p:spPr>
          <a:xfrm>
            <a:off x="457200" y="4562280"/>
            <a:ext cx="82224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800" b="0" i="1" u="none" strike="noStrike">
                <a:solidFill>
                  <a:srgbClr val="37474F"/>
                </a:solidFill>
                <a:effectLst/>
                <a:uFillTx/>
                <a:latin typeface="Satoshi"/>
                <a:ea typeface="Satoshi"/>
              </a:rPr>
              <a:t>Le coût équivalent free-lance illustre la valeur ajoutée produite — argument pour de futurs devis commerciaux post-formation.</a:t>
            </a:r>
            <a:endParaRPr lang="fr-FR" sz="800" b="0" u="none" strike="noStrike">
              <a:solidFill>
                <a:srgbClr val="000000"/>
              </a:solidFill>
              <a:effectLst/>
              <a:uFillTx/>
              <a:latin typeface="Arial"/>
            </a:endParaRPr>
          </a:p>
        </p:txBody>
      </p:sp>
      <p:sp>
        <p:nvSpPr>
          <p:cNvPr id="1756"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57"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758"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759"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760"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761"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762"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RISQUES</a:t>
            </a:r>
            <a:endParaRPr lang="fr-FR" sz="5600" b="0" u="none" strike="noStrike">
              <a:solidFill>
                <a:srgbClr val="000000"/>
              </a:solidFill>
              <a:effectLst/>
              <a:uFillTx/>
              <a:latin typeface="Arial"/>
            </a:endParaRPr>
          </a:p>
        </p:txBody>
      </p:sp>
      <p:sp>
        <p:nvSpPr>
          <p:cNvPr id="1763"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Matrice probabilité × impact — gestion proactive des aléas du projet</a:t>
            </a:r>
            <a:endParaRPr lang="fr-FR" sz="1400" b="0" u="none" strike="noStrike">
              <a:solidFill>
                <a:srgbClr val="000000"/>
              </a:solidFill>
              <a:effectLst/>
              <a:uFillTx/>
              <a:latin typeface="Arial"/>
            </a:endParaRPr>
          </a:p>
        </p:txBody>
      </p:sp>
      <p:sp>
        <p:nvSpPr>
          <p:cNvPr id="1764" name="Text 5"/>
          <p:cNvSpPr/>
          <p:nvPr/>
        </p:nvSpPr>
        <p:spPr>
          <a:xfrm>
            <a:off x="1005840" y="1900800"/>
            <a:ext cx="3650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0A0A0A"/>
                </a:solidFill>
                <a:effectLst/>
                <a:uFillTx/>
                <a:latin typeface="Satoshi"/>
                <a:ea typeface="Satoshi"/>
              </a:rPr>
              <a:t>IMPACT →</a:t>
            </a:r>
            <a:endParaRPr lang="fr-FR" sz="1000" b="0" u="none" strike="noStrike">
              <a:solidFill>
                <a:srgbClr val="000000"/>
              </a:solidFill>
              <a:effectLst/>
              <a:uFillTx/>
              <a:latin typeface="Arial"/>
            </a:endParaRPr>
          </a:p>
        </p:txBody>
      </p:sp>
      <p:sp>
        <p:nvSpPr>
          <p:cNvPr id="1765" name="Text 6"/>
          <p:cNvSpPr/>
          <p:nvPr/>
        </p:nvSpPr>
        <p:spPr>
          <a:xfrm>
            <a:off x="72000" y="2596320"/>
            <a:ext cx="533160" cy="54144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tabLst>
                <a:tab pos="0" algn="l"/>
              </a:tabLst>
            </a:pPr>
            <a:r>
              <a:rPr lang="fr-FR" sz="1000" b="1" u="none" spc="150" strike="noStrike">
                <a:solidFill>
                  <a:srgbClr val="0A0A0A"/>
                </a:solidFill>
                <a:effectLst/>
                <a:uFillTx/>
                <a:latin typeface="Satoshi"/>
                <a:ea typeface="Satoshi"/>
              </a:rPr>
              <a:t>PROB.</a:t>
            </a:r>
            <a:endParaRPr lang="fr-FR" sz="1000" b="0" u="none" strike="noStrike">
              <a:solidFill>
                <a:srgbClr val="000000"/>
              </a:solidFill>
              <a:effectLst/>
              <a:uFillTx/>
              <a:latin typeface="Arial"/>
            </a:endParaRPr>
          </a:p>
          <a:p>
            <a:pPr algn="ctr" defTabSz="914400">
              <a:lnSpc>
                <a:spcPct val="100000"/>
              </a:lnSpc>
              <a:tabLst>
                <a:tab pos="0" algn="l"/>
              </a:tabLst>
            </a:pPr>
            <a:r>
              <a:rPr lang="fr-FR" sz="1000" b="1" u="none" spc="150" strike="noStrike">
                <a:solidFill>
                  <a:srgbClr val="0A0A0A"/>
                </a:solidFill>
                <a:effectLst/>
                <a:uFillTx/>
                <a:latin typeface="Satoshi"/>
                <a:ea typeface="Satoshi"/>
              </a:rPr>
              <a:t>↓</a:t>
            </a:r>
            <a:endParaRPr lang="fr-FR" sz="1000" b="0" u="none" strike="noStrike">
              <a:solidFill>
                <a:srgbClr val="000000"/>
              </a:solidFill>
              <a:effectLst/>
              <a:uFillTx/>
              <a:latin typeface="Arial"/>
            </a:endParaRPr>
          </a:p>
        </p:txBody>
      </p:sp>
      <p:sp>
        <p:nvSpPr>
          <p:cNvPr id="1766" name="Text 7"/>
          <p:cNvSpPr/>
          <p:nvPr/>
        </p:nvSpPr>
        <p:spPr>
          <a:xfrm>
            <a:off x="1005840" y="2103120"/>
            <a:ext cx="9072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Faible</a:t>
            </a:r>
            <a:endParaRPr lang="fr-FR" sz="900" b="0" u="none" strike="noStrike">
              <a:solidFill>
                <a:srgbClr val="000000"/>
              </a:solidFill>
              <a:effectLst/>
              <a:uFillTx/>
              <a:latin typeface="Arial"/>
            </a:endParaRPr>
          </a:p>
        </p:txBody>
      </p:sp>
      <p:sp>
        <p:nvSpPr>
          <p:cNvPr id="1767" name="Text 8"/>
          <p:cNvSpPr/>
          <p:nvPr/>
        </p:nvSpPr>
        <p:spPr>
          <a:xfrm>
            <a:off x="1920240" y="2103120"/>
            <a:ext cx="9072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Modéré</a:t>
            </a:r>
            <a:endParaRPr lang="fr-FR" sz="900" b="0" u="none" strike="noStrike">
              <a:solidFill>
                <a:srgbClr val="000000"/>
              </a:solidFill>
              <a:effectLst/>
              <a:uFillTx/>
              <a:latin typeface="Arial"/>
            </a:endParaRPr>
          </a:p>
        </p:txBody>
      </p:sp>
      <p:sp>
        <p:nvSpPr>
          <p:cNvPr id="1768" name="Text 9"/>
          <p:cNvSpPr/>
          <p:nvPr/>
        </p:nvSpPr>
        <p:spPr>
          <a:xfrm>
            <a:off x="2834640" y="2103120"/>
            <a:ext cx="9072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Fort</a:t>
            </a:r>
            <a:endParaRPr lang="fr-FR" sz="900" b="0" u="none" strike="noStrike">
              <a:solidFill>
                <a:srgbClr val="000000"/>
              </a:solidFill>
              <a:effectLst/>
              <a:uFillTx/>
              <a:latin typeface="Arial"/>
            </a:endParaRPr>
          </a:p>
        </p:txBody>
      </p:sp>
      <p:sp>
        <p:nvSpPr>
          <p:cNvPr id="1769" name="Text 10"/>
          <p:cNvSpPr/>
          <p:nvPr/>
        </p:nvSpPr>
        <p:spPr>
          <a:xfrm>
            <a:off x="3749040" y="2103120"/>
            <a:ext cx="9072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37474F"/>
                </a:solidFill>
                <a:effectLst/>
                <a:uFillTx/>
                <a:latin typeface="Satoshi"/>
                <a:ea typeface="Satoshi"/>
              </a:rPr>
              <a:t>Critique</a:t>
            </a:r>
            <a:endParaRPr lang="fr-FR" sz="900" b="0" u="none" strike="noStrike">
              <a:solidFill>
                <a:srgbClr val="000000"/>
              </a:solidFill>
              <a:effectLst/>
              <a:uFillTx/>
              <a:latin typeface="Arial"/>
            </a:endParaRPr>
          </a:p>
        </p:txBody>
      </p:sp>
      <p:sp>
        <p:nvSpPr>
          <p:cNvPr id="1770" name="Text 11"/>
          <p:cNvSpPr/>
          <p:nvPr/>
        </p:nvSpPr>
        <p:spPr>
          <a:xfrm>
            <a:off x="55440" y="2377440"/>
            <a:ext cx="907200" cy="587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37474F"/>
                </a:solidFill>
                <a:effectLst/>
                <a:uFillTx/>
                <a:latin typeface="Satoshi"/>
                <a:ea typeface="Satoshi"/>
              </a:rPr>
              <a:t>Élevée</a:t>
            </a:r>
            <a:endParaRPr lang="fr-FR" sz="900" b="0" u="none" strike="noStrike">
              <a:solidFill>
                <a:srgbClr val="000000"/>
              </a:solidFill>
              <a:effectLst/>
              <a:uFillTx/>
              <a:latin typeface="Arial"/>
            </a:endParaRPr>
          </a:p>
        </p:txBody>
      </p:sp>
      <p:sp>
        <p:nvSpPr>
          <p:cNvPr id="1771" name="Text 12"/>
          <p:cNvSpPr/>
          <p:nvPr/>
        </p:nvSpPr>
        <p:spPr>
          <a:xfrm>
            <a:off x="55440" y="2971800"/>
            <a:ext cx="907200" cy="587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37474F"/>
                </a:solidFill>
                <a:effectLst/>
                <a:uFillTx/>
                <a:latin typeface="Satoshi"/>
                <a:ea typeface="Satoshi"/>
              </a:rPr>
              <a:t>Moyenne</a:t>
            </a:r>
            <a:endParaRPr lang="fr-FR" sz="900" b="0" u="none" strike="noStrike">
              <a:solidFill>
                <a:srgbClr val="000000"/>
              </a:solidFill>
              <a:effectLst/>
              <a:uFillTx/>
              <a:latin typeface="Arial"/>
            </a:endParaRPr>
          </a:p>
        </p:txBody>
      </p:sp>
      <p:sp>
        <p:nvSpPr>
          <p:cNvPr id="1772" name="Text 13"/>
          <p:cNvSpPr/>
          <p:nvPr/>
        </p:nvSpPr>
        <p:spPr>
          <a:xfrm>
            <a:off x="55440" y="3566160"/>
            <a:ext cx="907200" cy="587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37474F"/>
                </a:solidFill>
                <a:effectLst/>
                <a:uFillTx/>
                <a:latin typeface="Satoshi"/>
                <a:ea typeface="Satoshi"/>
              </a:rPr>
              <a:t>Faible</a:t>
            </a:r>
            <a:endParaRPr lang="fr-FR" sz="900" b="0" u="none" strike="noStrike">
              <a:solidFill>
                <a:srgbClr val="000000"/>
              </a:solidFill>
              <a:effectLst/>
              <a:uFillTx/>
              <a:latin typeface="Arial"/>
            </a:endParaRPr>
          </a:p>
        </p:txBody>
      </p:sp>
      <p:sp>
        <p:nvSpPr>
          <p:cNvPr id="1773" name="Text 14"/>
          <p:cNvSpPr/>
          <p:nvPr/>
        </p:nvSpPr>
        <p:spPr>
          <a:xfrm>
            <a:off x="55440" y="4160520"/>
            <a:ext cx="907200" cy="587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37474F"/>
                </a:solidFill>
                <a:effectLst/>
                <a:uFillTx/>
                <a:latin typeface="Satoshi"/>
                <a:ea typeface="Satoshi"/>
              </a:rPr>
              <a:t>Très faible</a:t>
            </a:r>
            <a:endParaRPr lang="fr-FR" sz="900" b="0" u="none" strike="noStrike">
              <a:solidFill>
                <a:srgbClr val="000000"/>
              </a:solidFill>
              <a:effectLst/>
              <a:uFillTx/>
              <a:latin typeface="Arial"/>
            </a:endParaRPr>
          </a:p>
        </p:txBody>
      </p:sp>
      <p:sp>
        <p:nvSpPr>
          <p:cNvPr id="1774" name="Shape 15"/>
          <p:cNvSpPr/>
          <p:nvPr/>
        </p:nvSpPr>
        <p:spPr>
          <a:xfrm>
            <a:off x="1005840" y="2377440"/>
            <a:ext cx="870480" cy="550440"/>
          </a:xfrm>
          <a:prstGeom prst="rect">
            <a:avLst/>
          </a:prstGeom>
          <a:solidFill>
            <a:srgbClr val="FFC107"/>
          </a:solidFill>
          <a:ln w="12700">
            <a:solidFill>
              <a:srgbClr val="FFC107"/>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75" name="Shape 16"/>
          <p:cNvSpPr/>
          <p:nvPr/>
        </p:nvSpPr>
        <p:spPr>
          <a:xfrm>
            <a:off x="1920240" y="237744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76" name="Shape 17"/>
          <p:cNvSpPr/>
          <p:nvPr/>
        </p:nvSpPr>
        <p:spPr>
          <a:xfrm>
            <a:off x="2834640" y="2377440"/>
            <a:ext cx="870480" cy="5504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77" name="Shape 18"/>
          <p:cNvSpPr/>
          <p:nvPr/>
        </p:nvSpPr>
        <p:spPr>
          <a:xfrm>
            <a:off x="3749040" y="2377440"/>
            <a:ext cx="870480" cy="5504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78" name="Shape 19"/>
          <p:cNvSpPr/>
          <p:nvPr/>
        </p:nvSpPr>
        <p:spPr>
          <a:xfrm>
            <a:off x="1005840" y="2971800"/>
            <a:ext cx="870480" cy="550440"/>
          </a:xfrm>
          <a:prstGeom prst="rect">
            <a:avLst/>
          </a:prstGeom>
          <a:solidFill>
            <a:srgbClr val="FFC107"/>
          </a:solidFill>
          <a:ln w="12700">
            <a:solidFill>
              <a:srgbClr val="FFC107"/>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79" name="Shape 20"/>
          <p:cNvSpPr/>
          <p:nvPr/>
        </p:nvSpPr>
        <p:spPr>
          <a:xfrm>
            <a:off x="1920240" y="297180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0" name="Shape 21"/>
          <p:cNvSpPr/>
          <p:nvPr/>
        </p:nvSpPr>
        <p:spPr>
          <a:xfrm>
            <a:off x="2834640" y="297180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1" name="Shape 22"/>
          <p:cNvSpPr/>
          <p:nvPr/>
        </p:nvSpPr>
        <p:spPr>
          <a:xfrm>
            <a:off x="3749040" y="2971800"/>
            <a:ext cx="870480" cy="5504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2" name="Shape 23"/>
          <p:cNvSpPr/>
          <p:nvPr/>
        </p:nvSpPr>
        <p:spPr>
          <a:xfrm>
            <a:off x="1005840" y="3566160"/>
            <a:ext cx="870480" cy="55044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3" name="Shape 24"/>
          <p:cNvSpPr/>
          <p:nvPr/>
        </p:nvSpPr>
        <p:spPr>
          <a:xfrm>
            <a:off x="1920240" y="3566160"/>
            <a:ext cx="870480" cy="550440"/>
          </a:xfrm>
          <a:prstGeom prst="rect">
            <a:avLst/>
          </a:prstGeom>
          <a:solidFill>
            <a:srgbClr val="FFC107"/>
          </a:solidFill>
          <a:ln w="12700">
            <a:solidFill>
              <a:srgbClr val="FFC107"/>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84" name="Shape 25"/>
          <p:cNvSpPr/>
          <p:nvPr/>
        </p:nvSpPr>
        <p:spPr>
          <a:xfrm>
            <a:off x="2834640" y="356616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5" name="Shape 26"/>
          <p:cNvSpPr/>
          <p:nvPr/>
        </p:nvSpPr>
        <p:spPr>
          <a:xfrm>
            <a:off x="3749040" y="356616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6" name="Shape 27"/>
          <p:cNvSpPr/>
          <p:nvPr/>
        </p:nvSpPr>
        <p:spPr>
          <a:xfrm>
            <a:off x="1005840" y="4160520"/>
            <a:ext cx="870480" cy="55044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7" name="Shape 28"/>
          <p:cNvSpPr/>
          <p:nvPr/>
        </p:nvSpPr>
        <p:spPr>
          <a:xfrm>
            <a:off x="1920240" y="4160520"/>
            <a:ext cx="870480" cy="550440"/>
          </a:xfrm>
          <a:prstGeom prst="rect">
            <a:avLst/>
          </a:prstGeom>
          <a:solidFill>
            <a:srgbClr val="2C5F2D"/>
          </a:solidFill>
          <a:ln w="12700">
            <a:solidFill>
              <a:srgbClr val="2C5F2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88" name="Shape 29"/>
          <p:cNvSpPr/>
          <p:nvPr/>
        </p:nvSpPr>
        <p:spPr>
          <a:xfrm>
            <a:off x="2834640" y="4160520"/>
            <a:ext cx="870480" cy="550440"/>
          </a:xfrm>
          <a:prstGeom prst="rect">
            <a:avLst/>
          </a:prstGeom>
          <a:solidFill>
            <a:srgbClr val="FFC107"/>
          </a:solidFill>
          <a:ln w="12700">
            <a:solidFill>
              <a:srgbClr val="FFC107"/>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89" name="Shape 30"/>
          <p:cNvSpPr/>
          <p:nvPr/>
        </p:nvSpPr>
        <p:spPr>
          <a:xfrm>
            <a:off x="3749040" y="4160520"/>
            <a:ext cx="870480" cy="550440"/>
          </a:xfrm>
          <a:prstGeom prst="rect">
            <a:avLst/>
          </a:prstGeom>
          <a:solidFill>
            <a:srgbClr val="E65100"/>
          </a:solidFill>
          <a:ln w="12700">
            <a:solidFill>
              <a:srgbClr val="E65100"/>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90" name="Shape 31"/>
          <p:cNvSpPr/>
          <p:nvPr/>
        </p:nvSpPr>
        <p:spPr>
          <a:xfrm>
            <a:off x="3063240" y="310896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91" name="Text 32"/>
          <p:cNvSpPr/>
          <p:nvPr/>
        </p:nvSpPr>
        <p:spPr>
          <a:xfrm>
            <a:off x="3063240" y="310896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R1</a:t>
            </a:r>
            <a:endParaRPr lang="fr-FR" sz="900" b="0" u="none" strike="noStrike">
              <a:solidFill>
                <a:srgbClr val="000000"/>
              </a:solidFill>
              <a:effectLst/>
              <a:uFillTx/>
              <a:latin typeface="Arial"/>
            </a:endParaRPr>
          </a:p>
        </p:txBody>
      </p:sp>
      <p:sp>
        <p:nvSpPr>
          <p:cNvPr id="1792" name="Shape 33"/>
          <p:cNvSpPr/>
          <p:nvPr/>
        </p:nvSpPr>
        <p:spPr>
          <a:xfrm>
            <a:off x="2148840" y="251460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93" name="Text 34"/>
          <p:cNvSpPr/>
          <p:nvPr/>
        </p:nvSpPr>
        <p:spPr>
          <a:xfrm>
            <a:off x="2148840" y="251460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R2</a:t>
            </a:r>
            <a:endParaRPr lang="fr-FR" sz="900" b="0" u="none" strike="noStrike">
              <a:solidFill>
                <a:srgbClr val="000000"/>
              </a:solidFill>
              <a:effectLst/>
              <a:uFillTx/>
              <a:latin typeface="Arial"/>
            </a:endParaRPr>
          </a:p>
        </p:txBody>
      </p:sp>
      <p:sp>
        <p:nvSpPr>
          <p:cNvPr id="1794" name="Shape 35"/>
          <p:cNvSpPr/>
          <p:nvPr/>
        </p:nvSpPr>
        <p:spPr>
          <a:xfrm>
            <a:off x="1234440" y="370332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95" name="Text 36"/>
          <p:cNvSpPr/>
          <p:nvPr/>
        </p:nvSpPr>
        <p:spPr>
          <a:xfrm>
            <a:off x="1234440" y="370332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R3</a:t>
            </a:r>
            <a:endParaRPr lang="fr-FR" sz="900" b="0" u="none" strike="noStrike">
              <a:solidFill>
                <a:srgbClr val="000000"/>
              </a:solidFill>
              <a:effectLst/>
              <a:uFillTx/>
              <a:latin typeface="Arial"/>
            </a:endParaRPr>
          </a:p>
        </p:txBody>
      </p:sp>
      <p:sp>
        <p:nvSpPr>
          <p:cNvPr id="1796" name="Shape 37"/>
          <p:cNvSpPr/>
          <p:nvPr/>
        </p:nvSpPr>
        <p:spPr>
          <a:xfrm>
            <a:off x="3977640" y="429768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97" name="Text 38"/>
          <p:cNvSpPr/>
          <p:nvPr/>
        </p:nvSpPr>
        <p:spPr>
          <a:xfrm>
            <a:off x="3977640" y="429768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R4</a:t>
            </a:r>
            <a:endParaRPr lang="fr-FR" sz="900" b="0" u="none" strike="noStrike">
              <a:solidFill>
                <a:srgbClr val="000000"/>
              </a:solidFill>
              <a:effectLst/>
              <a:uFillTx/>
              <a:latin typeface="Arial"/>
            </a:endParaRPr>
          </a:p>
        </p:txBody>
      </p:sp>
      <p:sp>
        <p:nvSpPr>
          <p:cNvPr id="1798" name="Shape 39"/>
          <p:cNvSpPr/>
          <p:nvPr/>
        </p:nvSpPr>
        <p:spPr>
          <a:xfrm>
            <a:off x="3063240" y="370332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99" name="Text 40"/>
          <p:cNvSpPr/>
          <p:nvPr/>
        </p:nvSpPr>
        <p:spPr>
          <a:xfrm>
            <a:off x="3063240" y="370332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R5</a:t>
            </a:r>
            <a:endParaRPr lang="fr-FR" sz="900" b="0" u="none" strike="noStrike">
              <a:solidFill>
                <a:srgbClr val="000000"/>
              </a:solidFill>
              <a:effectLst/>
              <a:uFillTx/>
              <a:latin typeface="Arial"/>
            </a:endParaRPr>
          </a:p>
        </p:txBody>
      </p:sp>
      <p:sp>
        <p:nvSpPr>
          <p:cNvPr id="1800" name="Text 41"/>
          <p:cNvSpPr/>
          <p:nvPr/>
        </p:nvSpPr>
        <p:spPr>
          <a:xfrm>
            <a:off x="5029200" y="2139120"/>
            <a:ext cx="37418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RISQUES IDENTIFIÉS</a:t>
            </a:r>
            <a:endParaRPr lang="fr-FR" sz="1000" b="0" u="none" strike="noStrike">
              <a:solidFill>
                <a:srgbClr val="000000"/>
              </a:solidFill>
              <a:effectLst/>
              <a:uFillTx/>
              <a:latin typeface="Arial"/>
            </a:endParaRPr>
          </a:p>
        </p:txBody>
      </p:sp>
      <p:sp>
        <p:nvSpPr>
          <p:cNvPr id="1801" name="Text 42"/>
          <p:cNvSpPr/>
          <p:nvPr/>
        </p:nvSpPr>
        <p:spPr>
          <a:xfrm>
            <a:off x="5029200" y="241344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R1</a:t>
            </a:r>
            <a:endParaRPr lang="fr-FR" sz="1000" b="0" u="none" strike="noStrike">
              <a:solidFill>
                <a:srgbClr val="000000"/>
              </a:solidFill>
              <a:effectLst/>
              <a:uFillTx/>
              <a:latin typeface="Arial"/>
            </a:endParaRPr>
          </a:p>
        </p:txBody>
      </p:sp>
      <p:sp>
        <p:nvSpPr>
          <p:cNvPr id="1802" name="Text 43"/>
          <p:cNvSpPr/>
          <p:nvPr/>
        </p:nvSpPr>
        <p:spPr>
          <a:xfrm>
            <a:off x="5440680" y="241344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Retard rédactionnel (traductions)</a:t>
            </a:r>
            <a:endParaRPr lang="fr-FR" sz="950" b="0" u="none" strike="noStrike">
              <a:solidFill>
                <a:srgbClr val="000000"/>
              </a:solidFill>
              <a:effectLst/>
              <a:uFillTx/>
              <a:latin typeface="Arial"/>
            </a:endParaRPr>
          </a:p>
        </p:txBody>
      </p:sp>
      <p:sp>
        <p:nvSpPr>
          <p:cNvPr id="1803" name="Text 44"/>
          <p:cNvSpPr/>
          <p:nvPr/>
        </p:nvSpPr>
        <p:spPr>
          <a:xfrm>
            <a:off x="5029200" y="266040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R2</a:t>
            </a:r>
            <a:endParaRPr lang="fr-FR" sz="1000" b="0" u="none" strike="noStrike">
              <a:solidFill>
                <a:srgbClr val="000000"/>
              </a:solidFill>
              <a:effectLst/>
              <a:uFillTx/>
              <a:latin typeface="Arial"/>
            </a:endParaRPr>
          </a:p>
        </p:txBody>
      </p:sp>
      <p:sp>
        <p:nvSpPr>
          <p:cNvPr id="1804" name="Text 45"/>
          <p:cNvSpPr/>
          <p:nvPr/>
        </p:nvSpPr>
        <p:spPr>
          <a:xfrm>
            <a:off x="5440680" y="266040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Bugs affichage mobile</a:t>
            </a:r>
            <a:endParaRPr lang="fr-FR" sz="950" b="0" u="none" strike="noStrike">
              <a:solidFill>
                <a:srgbClr val="000000"/>
              </a:solidFill>
              <a:effectLst/>
              <a:uFillTx/>
              <a:latin typeface="Arial"/>
            </a:endParaRPr>
          </a:p>
        </p:txBody>
      </p:sp>
      <p:sp>
        <p:nvSpPr>
          <p:cNvPr id="1805" name="Text 46"/>
          <p:cNvSpPr/>
          <p:nvPr/>
        </p:nvSpPr>
        <p:spPr>
          <a:xfrm>
            <a:off x="5029200" y="290736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R3</a:t>
            </a:r>
            <a:endParaRPr lang="fr-FR" sz="1000" b="0" u="none" strike="noStrike">
              <a:solidFill>
                <a:srgbClr val="000000"/>
              </a:solidFill>
              <a:effectLst/>
              <a:uFillTx/>
              <a:latin typeface="Arial"/>
            </a:endParaRPr>
          </a:p>
        </p:txBody>
      </p:sp>
      <p:sp>
        <p:nvSpPr>
          <p:cNvPr id="1806" name="Text 47"/>
          <p:cNvSpPr/>
          <p:nvPr/>
        </p:nvSpPr>
        <p:spPr>
          <a:xfrm>
            <a:off x="5440680" y="290736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Coquilles orthographiques</a:t>
            </a:r>
            <a:endParaRPr lang="fr-FR" sz="950" b="0" u="none" strike="noStrike">
              <a:solidFill>
                <a:srgbClr val="000000"/>
              </a:solidFill>
              <a:effectLst/>
              <a:uFillTx/>
              <a:latin typeface="Arial"/>
            </a:endParaRPr>
          </a:p>
        </p:txBody>
      </p:sp>
      <p:sp>
        <p:nvSpPr>
          <p:cNvPr id="1807" name="Text 48"/>
          <p:cNvSpPr/>
          <p:nvPr/>
        </p:nvSpPr>
        <p:spPr>
          <a:xfrm>
            <a:off x="5029200" y="315396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R4</a:t>
            </a:r>
            <a:endParaRPr lang="fr-FR" sz="1000" b="0" u="none" strike="noStrike">
              <a:solidFill>
                <a:srgbClr val="000000"/>
              </a:solidFill>
              <a:effectLst/>
              <a:uFillTx/>
              <a:latin typeface="Arial"/>
            </a:endParaRPr>
          </a:p>
        </p:txBody>
      </p:sp>
      <p:sp>
        <p:nvSpPr>
          <p:cNvPr id="1808" name="Text 49"/>
          <p:cNvSpPr/>
          <p:nvPr/>
        </p:nvSpPr>
        <p:spPr>
          <a:xfrm>
            <a:off x="5440680" y="315396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Piratage / attaque</a:t>
            </a:r>
            <a:endParaRPr lang="fr-FR" sz="950" b="0" u="none" strike="noStrike">
              <a:solidFill>
                <a:srgbClr val="000000"/>
              </a:solidFill>
              <a:effectLst/>
              <a:uFillTx/>
              <a:latin typeface="Arial"/>
            </a:endParaRPr>
          </a:p>
        </p:txBody>
      </p:sp>
      <p:sp>
        <p:nvSpPr>
          <p:cNvPr id="1809" name="Text 50"/>
          <p:cNvSpPr/>
          <p:nvPr/>
        </p:nvSpPr>
        <p:spPr>
          <a:xfrm>
            <a:off x="5029200" y="340092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R5</a:t>
            </a:r>
            <a:endParaRPr lang="fr-FR" sz="1000" b="0" u="none" strike="noStrike">
              <a:solidFill>
                <a:srgbClr val="000000"/>
              </a:solidFill>
              <a:effectLst/>
              <a:uFillTx/>
              <a:latin typeface="Arial"/>
            </a:endParaRPr>
          </a:p>
        </p:txBody>
      </p:sp>
      <p:sp>
        <p:nvSpPr>
          <p:cNvPr id="1810" name="Text 51"/>
          <p:cNvSpPr/>
          <p:nvPr/>
        </p:nvSpPr>
        <p:spPr>
          <a:xfrm>
            <a:off x="5440680" y="340092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Perte données (pas de backup)</a:t>
            </a:r>
            <a:endParaRPr lang="fr-FR" sz="950" b="0" u="none" strike="noStrike">
              <a:solidFill>
                <a:srgbClr val="000000"/>
              </a:solidFill>
              <a:effectLst/>
              <a:uFillTx/>
              <a:latin typeface="Arial"/>
            </a:endParaRPr>
          </a:p>
        </p:txBody>
      </p:sp>
      <p:sp>
        <p:nvSpPr>
          <p:cNvPr id="1811" name="Text 52"/>
          <p:cNvSpPr/>
          <p:nvPr/>
        </p:nvSpPr>
        <p:spPr>
          <a:xfrm>
            <a:off x="5029200" y="3981600"/>
            <a:ext cx="37418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MESURES DE MITIGATION</a:t>
            </a:r>
            <a:endParaRPr lang="fr-FR" sz="1000" b="0" u="none" strike="noStrike">
              <a:solidFill>
                <a:srgbClr val="000000"/>
              </a:solidFill>
              <a:effectLst/>
              <a:uFillTx/>
              <a:latin typeface="Arial"/>
            </a:endParaRPr>
          </a:p>
        </p:txBody>
      </p:sp>
      <p:sp>
        <p:nvSpPr>
          <p:cNvPr id="1812" name="Text 53"/>
          <p:cNvSpPr/>
          <p:nvPr/>
        </p:nvSpPr>
        <p:spPr>
          <a:xfrm>
            <a:off x="5029200" y="4255920"/>
            <a:ext cx="374184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37474F"/>
                </a:solidFill>
                <a:effectLst/>
                <a:uFillTx/>
                <a:latin typeface="Satoshi"/>
                <a:ea typeface="Satoshi"/>
              </a:rPr>
              <a:t>› Installation et test WAMP avant le 20/06/2026 (R6) — › Sauvegardes auto quotidiennes (R5) — › Wordfence Security + authentification 2FA (R4) — › Vérification orthographiques et corrections (R3) — › Vérification de l’affichage sur différents navigateurs (R2) — › Marges de planning (R1)</a:t>
            </a:r>
            <a:endParaRPr lang="fr-FR" sz="850" b="0" u="none" strike="noStrike">
              <a:solidFill>
                <a:srgbClr val="000000"/>
              </a:solidFill>
              <a:effectLst/>
              <a:uFillTx/>
              <a:latin typeface="Arial"/>
            </a:endParaRPr>
          </a:p>
        </p:txBody>
      </p:sp>
      <p:sp>
        <p:nvSpPr>
          <p:cNvPr id="1813" name="Shape 54"/>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14" name="Text 55"/>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815" name="Text 56"/>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86</a:t>
            </a:r>
            <a:endParaRPr lang="fr-FR" sz="900" b="0" u="none" strike="noStrike">
              <a:solidFill>
                <a:srgbClr val="000000"/>
              </a:solidFill>
              <a:effectLst/>
              <a:uFillTx/>
              <a:latin typeface="Arial"/>
            </a:endParaRPr>
          </a:p>
        </p:txBody>
      </p:sp>
      <p:sp>
        <p:nvSpPr>
          <p:cNvPr id="1816" name="Text 94"/>
          <p:cNvSpPr/>
          <p:nvPr/>
        </p:nvSpPr>
        <p:spPr>
          <a:xfrm>
            <a:off x="5029200" y="3653280"/>
            <a:ext cx="3585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Arelv"/>
                <a:ea typeface="Arelv"/>
              </a:rPr>
              <a:t>R6</a:t>
            </a:r>
            <a:endParaRPr lang="fr-FR" sz="1000" b="0" u="none" strike="noStrike">
              <a:solidFill>
                <a:srgbClr val="000000"/>
              </a:solidFill>
              <a:effectLst/>
              <a:uFillTx/>
              <a:latin typeface="Arial"/>
            </a:endParaRPr>
          </a:p>
        </p:txBody>
      </p:sp>
      <p:sp>
        <p:nvSpPr>
          <p:cNvPr id="1817" name="Text 95"/>
          <p:cNvSpPr/>
          <p:nvPr/>
        </p:nvSpPr>
        <p:spPr>
          <a:xfrm>
            <a:off x="5441040" y="3653280"/>
            <a:ext cx="33303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0A0A0A"/>
                </a:solidFill>
                <a:effectLst/>
                <a:uFillTx/>
                <a:latin typeface="Satoshi"/>
                <a:ea typeface="Satoshi"/>
              </a:rPr>
              <a:t>Migration WAMP non finalisée avant soutenance</a:t>
            </a:r>
            <a:endParaRPr lang="fr-FR" sz="950" b="0" u="none" strike="noStrike">
              <a:solidFill>
                <a:srgbClr val="000000"/>
              </a:solidFill>
              <a:effectLst/>
              <a:uFillTx/>
              <a:latin typeface="Arial"/>
            </a:endParaRPr>
          </a:p>
        </p:txBody>
      </p:sp>
      <p:sp>
        <p:nvSpPr>
          <p:cNvPr id="1818" name="Shape 65"/>
          <p:cNvSpPr/>
          <p:nvPr/>
        </p:nvSpPr>
        <p:spPr>
          <a:xfrm>
            <a:off x="2148840" y="3126600"/>
            <a:ext cx="267120" cy="267120"/>
          </a:xfrm>
          <a:prstGeom prst="ellipse">
            <a:avLst/>
          </a:prstGeom>
          <a:solidFill>
            <a:srgbClr val="F4EFE6"/>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19" name="Text 96"/>
          <p:cNvSpPr/>
          <p:nvPr/>
        </p:nvSpPr>
        <p:spPr>
          <a:xfrm>
            <a:off x="2148840" y="3126600"/>
            <a:ext cx="26712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1" u="none" strike="noStrike">
                <a:solidFill>
                  <a:srgbClr val="0A0A0A"/>
                </a:solidFill>
                <a:effectLst/>
                <a:uFillTx/>
                <a:latin typeface="Arelv"/>
                <a:ea typeface="Arelv"/>
              </a:rPr>
              <a:t>R6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82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82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82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2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600" b="1" u="none" strike="noStrike">
                <a:solidFill>
                  <a:srgbClr val="0A0A0A"/>
                </a:solidFill>
                <a:effectLst/>
                <a:uFillTx/>
                <a:latin typeface="Arelv"/>
                <a:ea typeface="Arelv"/>
              </a:rPr>
              <a:t>TESTS &amp; MAINTENANCE</a:t>
            </a:r>
            <a:endParaRPr lang="fr-FR" sz="3600" b="0" u="none" strike="noStrike">
              <a:solidFill>
                <a:srgbClr val="000000"/>
              </a:solidFill>
              <a:effectLst/>
              <a:uFillTx/>
              <a:latin typeface="Arial"/>
            </a:endParaRPr>
          </a:p>
        </p:txBody>
      </p:sp>
      <p:sp>
        <p:nvSpPr>
          <p:cNvPr id="182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Validation pré-livraison et stratégie d'évolution</a:t>
            </a:r>
            <a:endParaRPr lang="fr-FR" sz="1400" b="0" u="none" strike="noStrike">
              <a:solidFill>
                <a:srgbClr val="000000"/>
              </a:solidFill>
              <a:effectLst/>
              <a:uFillTx/>
              <a:latin typeface="Arial"/>
            </a:endParaRPr>
          </a:p>
        </p:txBody>
      </p:sp>
      <p:sp>
        <p:nvSpPr>
          <p:cNvPr id="1825" name="Text 5"/>
          <p:cNvSpPr/>
          <p:nvPr/>
        </p:nvSpPr>
        <p:spPr>
          <a:xfrm>
            <a:off x="457200" y="205740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PLAN DE TESTS</a:t>
            </a:r>
            <a:endParaRPr lang="fr-FR" sz="1100" b="0" u="none" strike="noStrike">
              <a:solidFill>
                <a:srgbClr val="000000"/>
              </a:solidFill>
              <a:effectLst/>
              <a:uFillTx/>
              <a:latin typeface="Arial"/>
            </a:endParaRPr>
          </a:p>
        </p:txBody>
      </p:sp>
      <p:sp>
        <p:nvSpPr>
          <p:cNvPr id="1826" name="Shape 6"/>
          <p:cNvSpPr/>
          <p:nvPr/>
        </p:nvSpPr>
        <p:spPr>
          <a:xfrm>
            <a:off x="457200" y="249588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27" name="Text 7"/>
          <p:cNvSpPr/>
          <p:nvPr/>
        </p:nvSpPr>
        <p:spPr>
          <a:xfrm>
            <a:off x="594360" y="24591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fonctionnels</a:t>
            </a:r>
            <a:endParaRPr lang="fr-FR" sz="1000" b="0" u="none" strike="noStrike">
              <a:solidFill>
                <a:srgbClr val="000000"/>
              </a:solidFill>
              <a:effectLst/>
              <a:uFillTx/>
              <a:latin typeface="Arial"/>
            </a:endParaRPr>
          </a:p>
        </p:txBody>
      </p:sp>
      <p:sp>
        <p:nvSpPr>
          <p:cNvPr id="1828" name="Text 8"/>
          <p:cNvSpPr/>
          <p:nvPr/>
        </p:nvSpPr>
        <p:spPr>
          <a:xfrm>
            <a:off x="594360" y="26244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Formulaire, sélecteur langue, téléchargement CV, navigation menus</a:t>
            </a:r>
            <a:endParaRPr lang="fr-FR" sz="900" b="0" u="none" strike="noStrike">
              <a:solidFill>
                <a:srgbClr val="000000"/>
              </a:solidFill>
              <a:effectLst/>
              <a:uFillTx/>
              <a:latin typeface="Arial"/>
            </a:endParaRPr>
          </a:p>
        </p:txBody>
      </p:sp>
      <p:sp>
        <p:nvSpPr>
          <p:cNvPr id="1829" name="Shape 9"/>
          <p:cNvSpPr/>
          <p:nvPr/>
        </p:nvSpPr>
        <p:spPr>
          <a:xfrm>
            <a:off x="457200" y="286164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30" name="Text 10"/>
          <p:cNvSpPr/>
          <p:nvPr/>
        </p:nvSpPr>
        <p:spPr>
          <a:xfrm>
            <a:off x="594360" y="282492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cross-browser</a:t>
            </a:r>
            <a:endParaRPr lang="fr-FR" sz="1000" b="0" u="none" strike="noStrike">
              <a:solidFill>
                <a:srgbClr val="000000"/>
              </a:solidFill>
              <a:effectLst/>
              <a:uFillTx/>
              <a:latin typeface="Arial"/>
            </a:endParaRPr>
          </a:p>
        </p:txBody>
      </p:sp>
      <p:sp>
        <p:nvSpPr>
          <p:cNvPr id="1831" name="Text 11"/>
          <p:cNvSpPr/>
          <p:nvPr/>
        </p:nvSpPr>
        <p:spPr>
          <a:xfrm>
            <a:off x="594360" y="29901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Chrome, Firefox, Edge (tests multi-navigateurs)</a:t>
            </a:r>
            <a:endParaRPr lang="fr-FR" sz="900" b="0" u="none" strike="noStrike">
              <a:solidFill>
                <a:srgbClr val="000000"/>
              </a:solidFill>
              <a:effectLst/>
              <a:uFillTx/>
              <a:latin typeface="Arial"/>
            </a:endParaRPr>
          </a:p>
        </p:txBody>
      </p:sp>
      <p:sp>
        <p:nvSpPr>
          <p:cNvPr id="1832" name="Shape 12"/>
          <p:cNvSpPr/>
          <p:nvPr/>
        </p:nvSpPr>
        <p:spPr>
          <a:xfrm>
            <a:off x="457200" y="322740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33" name="Text 13"/>
          <p:cNvSpPr/>
          <p:nvPr/>
        </p:nvSpPr>
        <p:spPr>
          <a:xfrm>
            <a:off x="594360" y="319068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responsive</a:t>
            </a:r>
            <a:endParaRPr lang="fr-FR" sz="1000" b="0" u="none" strike="noStrike">
              <a:solidFill>
                <a:srgbClr val="000000"/>
              </a:solidFill>
              <a:effectLst/>
              <a:uFillTx/>
              <a:latin typeface="Arial"/>
            </a:endParaRPr>
          </a:p>
        </p:txBody>
      </p:sp>
      <p:sp>
        <p:nvSpPr>
          <p:cNvPr id="1834" name="Text 14"/>
          <p:cNvSpPr/>
          <p:nvPr/>
        </p:nvSpPr>
        <p:spPr>
          <a:xfrm>
            <a:off x="594360" y="335592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Desktop 1920px → Mobile 320px, tablette 768px, tailles intermédiaires</a:t>
            </a:r>
            <a:endParaRPr lang="fr-FR" sz="900" b="0" u="none" strike="noStrike">
              <a:solidFill>
                <a:srgbClr val="000000"/>
              </a:solidFill>
              <a:effectLst/>
              <a:uFillTx/>
              <a:latin typeface="Arial"/>
            </a:endParaRPr>
          </a:p>
        </p:txBody>
      </p:sp>
      <p:sp>
        <p:nvSpPr>
          <p:cNvPr id="1835" name="Shape 15"/>
          <p:cNvSpPr/>
          <p:nvPr/>
        </p:nvSpPr>
        <p:spPr>
          <a:xfrm>
            <a:off x="457200" y="359316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36" name="Text 16"/>
          <p:cNvSpPr/>
          <p:nvPr/>
        </p:nvSpPr>
        <p:spPr>
          <a:xfrm>
            <a:off x="594360" y="355644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accessibilité</a:t>
            </a:r>
            <a:endParaRPr lang="fr-FR" sz="1000" b="0" u="none" strike="noStrike">
              <a:solidFill>
                <a:srgbClr val="000000"/>
              </a:solidFill>
              <a:effectLst/>
              <a:uFillTx/>
              <a:latin typeface="Arial"/>
            </a:endParaRPr>
          </a:p>
        </p:txBody>
      </p:sp>
      <p:sp>
        <p:nvSpPr>
          <p:cNvPr id="1837" name="Text 17"/>
          <p:cNvSpPr/>
          <p:nvPr/>
        </p:nvSpPr>
        <p:spPr>
          <a:xfrm>
            <a:off x="594360" y="372168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Vérification de la lisibilité pour les personnes en situation de handicap </a:t>
            </a:r>
            <a:endParaRPr lang="fr-FR" sz="900" b="0" u="none" strike="noStrike">
              <a:solidFill>
                <a:srgbClr val="000000"/>
              </a:solidFill>
              <a:effectLst/>
              <a:uFillTx/>
              <a:latin typeface="Arial"/>
            </a:endParaRPr>
          </a:p>
        </p:txBody>
      </p:sp>
      <p:sp>
        <p:nvSpPr>
          <p:cNvPr id="1838" name="Shape 18"/>
          <p:cNvSpPr/>
          <p:nvPr/>
        </p:nvSpPr>
        <p:spPr>
          <a:xfrm>
            <a:off x="457200" y="395892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39" name="Text 19"/>
          <p:cNvSpPr/>
          <p:nvPr/>
        </p:nvSpPr>
        <p:spPr>
          <a:xfrm>
            <a:off x="594360" y="39222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performance</a:t>
            </a:r>
            <a:endParaRPr lang="fr-FR" sz="1000" b="0" u="none" strike="noStrike">
              <a:solidFill>
                <a:srgbClr val="000000"/>
              </a:solidFill>
              <a:effectLst/>
              <a:uFillTx/>
              <a:latin typeface="Arial"/>
            </a:endParaRPr>
          </a:p>
        </p:txBody>
      </p:sp>
      <p:sp>
        <p:nvSpPr>
          <p:cNvPr id="1840" name="Text 20"/>
          <p:cNvSpPr/>
          <p:nvPr/>
        </p:nvSpPr>
        <p:spPr>
          <a:xfrm>
            <a:off x="594360" y="408744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Mesure de la vitesse de chargement via des outils d'analyse en ligne </a:t>
            </a:r>
            <a:endParaRPr lang="fr-FR" sz="900" b="0" u="none" strike="noStrike">
              <a:solidFill>
                <a:srgbClr val="000000"/>
              </a:solidFill>
              <a:effectLst/>
              <a:uFillTx/>
              <a:latin typeface="Arial"/>
            </a:endParaRPr>
          </a:p>
        </p:txBody>
      </p:sp>
      <p:sp>
        <p:nvSpPr>
          <p:cNvPr id="1841" name="Shape 21"/>
          <p:cNvSpPr/>
          <p:nvPr/>
        </p:nvSpPr>
        <p:spPr>
          <a:xfrm>
            <a:off x="457200" y="432468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42" name="Text 22"/>
          <p:cNvSpPr/>
          <p:nvPr/>
        </p:nvSpPr>
        <p:spPr>
          <a:xfrm>
            <a:off x="594360" y="42879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Tests utilisateurs</a:t>
            </a:r>
            <a:endParaRPr lang="fr-FR" sz="1000" b="0" u="none" strike="noStrike">
              <a:solidFill>
                <a:srgbClr val="000000"/>
              </a:solidFill>
              <a:effectLst/>
              <a:uFillTx/>
              <a:latin typeface="Arial"/>
            </a:endParaRPr>
          </a:p>
        </p:txBody>
      </p:sp>
      <p:sp>
        <p:nvSpPr>
          <p:cNvPr id="1843" name="Text 23"/>
          <p:cNvSpPr/>
          <p:nvPr/>
        </p:nvSpPr>
        <p:spPr>
          <a:xfrm>
            <a:off x="594360" y="44532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Panel informel de 3 à 5 personnes (recruteurs, pairs)</a:t>
            </a:r>
            <a:endParaRPr lang="fr-FR" sz="900" b="0" u="none" strike="noStrike">
              <a:solidFill>
                <a:srgbClr val="000000"/>
              </a:solidFill>
              <a:effectLst/>
              <a:uFillTx/>
              <a:latin typeface="Arial"/>
            </a:endParaRPr>
          </a:p>
        </p:txBody>
      </p:sp>
      <p:sp>
        <p:nvSpPr>
          <p:cNvPr id="1844" name="Text 24"/>
          <p:cNvSpPr/>
          <p:nvPr/>
        </p:nvSpPr>
        <p:spPr>
          <a:xfrm>
            <a:off x="4754880" y="205740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MAINTENANCE &amp; ÉVOLUTION</a:t>
            </a:r>
            <a:endParaRPr lang="fr-FR" sz="1100" b="0" u="none" strike="noStrike">
              <a:solidFill>
                <a:srgbClr val="000000"/>
              </a:solidFill>
              <a:effectLst/>
              <a:uFillTx/>
              <a:latin typeface="Arial"/>
            </a:endParaRPr>
          </a:p>
        </p:txBody>
      </p:sp>
      <p:sp>
        <p:nvSpPr>
          <p:cNvPr id="1845" name="Shape 25"/>
          <p:cNvSpPr/>
          <p:nvPr/>
        </p:nvSpPr>
        <p:spPr>
          <a:xfrm>
            <a:off x="4754880" y="249588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46" name="Text 26"/>
          <p:cNvSpPr/>
          <p:nvPr/>
        </p:nvSpPr>
        <p:spPr>
          <a:xfrm>
            <a:off x="4892040" y="24591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Maintenance corrective</a:t>
            </a:r>
            <a:endParaRPr lang="fr-FR" sz="1000" b="0" u="none" strike="noStrike">
              <a:solidFill>
                <a:srgbClr val="000000"/>
              </a:solidFill>
              <a:effectLst/>
              <a:uFillTx/>
              <a:latin typeface="Arial"/>
            </a:endParaRPr>
          </a:p>
        </p:txBody>
      </p:sp>
      <p:sp>
        <p:nvSpPr>
          <p:cNvPr id="1847" name="Text 27"/>
          <p:cNvSpPr/>
          <p:nvPr/>
        </p:nvSpPr>
        <p:spPr>
          <a:xfrm>
            <a:off x="4892040" y="26244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Correction de bugs identifiés post-déploiement (continu)</a:t>
            </a:r>
            <a:endParaRPr lang="fr-FR" sz="900" b="0" u="none" strike="noStrike">
              <a:solidFill>
                <a:srgbClr val="000000"/>
              </a:solidFill>
              <a:effectLst/>
              <a:uFillTx/>
              <a:latin typeface="Arial"/>
            </a:endParaRPr>
          </a:p>
        </p:txBody>
      </p:sp>
      <p:sp>
        <p:nvSpPr>
          <p:cNvPr id="1848" name="Shape 28"/>
          <p:cNvSpPr/>
          <p:nvPr/>
        </p:nvSpPr>
        <p:spPr>
          <a:xfrm>
            <a:off x="4754880" y="286164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49" name="Text 29"/>
          <p:cNvSpPr/>
          <p:nvPr/>
        </p:nvSpPr>
        <p:spPr>
          <a:xfrm>
            <a:off x="4892040" y="282492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Maintenance évolutive</a:t>
            </a:r>
            <a:endParaRPr lang="fr-FR" sz="1000" b="0" u="none" strike="noStrike">
              <a:solidFill>
                <a:srgbClr val="000000"/>
              </a:solidFill>
              <a:effectLst/>
              <a:uFillTx/>
              <a:latin typeface="Arial"/>
            </a:endParaRPr>
          </a:p>
        </p:txBody>
      </p:sp>
      <p:sp>
        <p:nvSpPr>
          <p:cNvPr id="1850" name="Text 30"/>
          <p:cNvSpPr/>
          <p:nvPr/>
        </p:nvSpPr>
        <p:spPr>
          <a:xfrm>
            <a:off x="4892040" y="29901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Ajout de nouveaux projets et compétences</a:t>
            </a:r>
            <a:endParaRPr lang="fr-FR" sz="900" b="0" u="none" strike="noStrike">
              <a:solidFill>
                <a:srgbClr val="000000"/>
              </a:solidFill>
              <a:effectLst/>
              <a:uFillTx/>
              <a:latin typeface="Arial"/>
            </a:endParaRPr>
          </a:p>
        </p:txBody>
      </p:sp>
      <p:sp>
        <p:nvSpPr>
          <p:cNvPr id="1851" name="Shape 31"/>
          <p:cNvSpPr/>
          <p:nvPr/>
        </p:nvSpPr>
        <p:spPr>
          <a:xfrm>
            <a:off x="4754880" y="322740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52" name="Text 32"/>
          <p:cNvSpPr/>
          <p:nvPr/>
        </p:nvSpPr>
        <p:spPr>
          <a:xfrm>
            <a:off x="4892040" y="319068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Maintenance adaptative</a:t>
            </a:r>
            <a:endParaRPr lang="fr-FR" sz="1000" b="0" u="none" strike="noStrike">
              <a:solidFill>
                <a:srgbClr val="000000"/>
              </a:solidFill>
              <a:effectLst/>
              <a:uFillTx/>
              <a:latin typeface="Arial"/>
            </a:endParaRPr>
          </a:p>
        </p:txBody>
      </p:sp>
      <p:sp>
        <p:nvSpPr>
          <p:cNvPr id="1853" name="Text 33"/>
          <p:cNvSpPr/>
          <p:nvPr/>
        </p:nvSpPr>
        <p:spPr>
          <a:xfrm>
            <a:off x="4892040" y="335592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Mises à jour WordPress + plugins (auto, vérifié)</a:t>
            </a:r>
            <a:endParaRPr lang="fr-FR" sz="900" b="0" u="none" strike="noStrike">
              <a:solidFill>
                <a:srgbClr val="000000"/>
              </a:solidFill>
              <a:effectLst/>
              <a:uFillTx/>
              <a:latin typeface="Arial"/>
            </a:endParaRPr>
          </a:p>
        </p:txBody>
      </p:sp>
      <p:sp>
        <p:nvSpPr>
          <p:cNvPr id="1854" name="Shape 34"/>
          <p:cNvSpPr/>
          <p:nvPr/>
        </p:nvSpPr>
        <p:spPr>
          <a:xfrm>
            <a:off x="4754880" y="359316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55" name="Text 35"/>
          <p:cNvSpPr/>
          <p:nvPr/>
        </p:nvSpPr>
        <p:spPr>
          <a:xfrm>
            <a:off x="4892040" y="355644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Roadmap V2 (2027)</a:t>
            </a:r>
            <a:endParaRPr lang="fr-FR" sz="1000" b="0" u="none" strike="noStrike">
              <a:solidFill>
                <a:srgbClr val="000000"/>
              </a:solidFill>
              <a:effectLst/>
              <a:uFillTx/>
              <a:latin typeface="Arial"/>
            </a:endParaRPr>
          </a:p>
        </p:txBody>
      </p:sp>
      <p:sp>
        <p:nvSpPr>
          <p:cNvPr id="1856" name="Text 36"/>
          <p:cNvSpPr/>
          <p:nvPr/>
        </p:nvSpPr>
        <p:spPr>
          <a:xfrm>
            <a:off x="4892040" y="372168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37474F"/>
                </a:solidFill>
                <a:effectLst/>
                <a:uFillTx/>
                <a:latin typeface="Satoshi"/>
                <a:ea typeface="Satoshi"/>
              </a:rPr>
              <a:t>Blog technique, articles d’expérimentation</a:t>
            </a:r>
            <a:endParaRPr lang="fr-FR" sz="900" b="0" u="none" strike="noStrike">
              <a:solidFill>
                <a:srgbClr val="000000"/>
              </a:solidFill>
              <a:effectLst/>
              <a:uFillTx/>
              <a:latin typeface="Arial"/>
            </a:endParaRPr>
          </a:p>
        </p:txBody>
      </p:sp>
      <p:sp>
        <p:nvSpPr>
          <p:cNvPr id="1857" name="Shape 37"/>
          <p:cNvSpPr/>
          <p:nvPr/>
        </p:nvSpPr>
        <p:spPr>
          <a:xfrm>
            <a:off x="4754880" y="395892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58" name="Text 38"/>
          <p:cNvSpPr/>
          <p:nvPr/>
        </p:nvSpPr>
        <p:spPr>
          <a:xfrm>
            <a:off x="4892040" y="39222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Roadmap V3 (2028+)</a:t>
            </a:r>
            <a:endParaRPr lang="fr-FR" sz="1000" b="0" u="none" strike="noStrike">
              <a:solidFill>
                <a:srgbClr val="000000"/>
              </a:solidFill>
              <a:effectLst/>
              <a:uFillTx/>
              <a:latin typeface="Arial"/>
            </a:endParaRPr>
          </a:p>
        </p:txBody>
      </p:sp>
      <p:sp>
        <p:nvSpPr>
          <p:cNvPr id="1859" name="Text 39"/>
          <p:cNvSpPr/>
          <p:nvPr/>
        </p:nvSpPr>
        <p:spPr>
          <a:xfrm>
            <a:off x="4892040" y="408744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Espace personnel sécurisé accessible après connexion (contacts &amp; demandes)</a:t>
            </a:r>
            <a:endParaRPr lang="fr-FR" sz="900" b="0" u="none" strike="noStrike">
              <a:solidFill>
                <a:srgbClr val="000000"/>
              </a:solidFill>
              <a:effectLst/>
              <a:uFillTx/>
              <a:latin typeface="Arial"/>
            </a:endParaRPr>
          </a:p>
        </p:txBody>
      </p:sp>
      <p:sp>
        <p:nvSpPr>
          <p:cNvPr id="1860" name="Shape 40"/>
          <p:cNvSpPr/>
          <p:nvPr/>
        </p:nvSpPr>
        <p:spPr>
          <a:xfrm>
            <a:off x="4754880" y="4324680"/>
            <a:ext cx="29520" cy="19404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61" name="Text 41"/>
          <p:cNvSpPr/>
          <p:nvPr/>
        </p:nvSpPr>
        <p:spPr>
          <a:xfrm>
            <a:off x="4892040" y="428796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KPIs revus</a:t>
            </a:r>
            <a:endParaRPr lang="fr-FR" sz="1000" b="0" u="none" strike="noStrike">
              <a:solidFill>
                <a:srgbClr val="000000"/>
              </a:solidFill>
              <a:effectLst/>
              <a:uFillTx/>
              <a:latin typeface="Arial"/>
            </a:endParaRPr>
          </a:p>
        </p:txBody>
      </p:sp>
      <p:sp>
        <p:nvSpPr>
          <p:cNvPr id="1862" name="Text 42"/>
          <p:cNvSpPr/>
          <p:nvPr/>
        </p:nvSpPr>
        <p:spPr>
          <a:xfrm>
            <a:off x="4892040" y="4453200"/>
            <a:ext cx="38790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900" b="0" u="none" strike="noStrike">
                <a:solidFill>
                  <a:srgbClr val="37474F"/>
                </a:solidFill>
                <a:effectLst/>
                <a:uFillTx/>
                <a:latin typeface="Satoshi"/>
                <a:ea typeface="Satoshi"/>
              </a:rPr>
              <a:t>Révision trimestrielle des KPIs définis p.80</a:t>
            </a:r>
            <a:endParaRPr lang="fr-FR" sz="900" b="0" u="none" strike="noStrike">
              <a:solidFill>
                <a:srgbClr val="000000"/>
              </a:solidFill>
              <a:effectLst/>
              <a:uFillTx/>
              <a:latin typeface="Arial"/>
            </a:endParaRPr>
          </a:p>
        </p:txBody>
      </p:sp>
      <p:sp>
        <p:nvSpPr>
          <p:cNvPr id="1863" name="Shape 4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64" name="Text 4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865" name="Text 4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1866"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11</a:t>
            </a:r>
            <a:endParaRPr lang="fr-FR" sz="28000" b="0" u="none" strike="noStrike">
              <a:solidFill>
                <a:srgbClr val="FFFFFF"/>
              </a:solidFill>
              <a:effectLst/>
              <a:uFillTx/>
              <a:latin typeface="Arial"/>
            </a:endParaRPr>
          </a:p>
        </p:txBody>
      </p:sp>
      <p:sp>
        <p:nvSpPr>
          <p:cNvPr id="1867"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400" b="1" u="none" strike="noStrike">
                <a:solidFill>
                  <a:srgbClr val="F4EFE6"/>
                </a:solidFill>
                <a:effectLst/>
                <a:uFillTx/>
                <a:latin typeface="Arelv"/>
                <a:ea typeface="Arelv"/>
              </a:rPr>
              <a:t>PROJETS</a:t>
            </a:r>
            <a:endParaRPr lang="fr-FR" sz="3400" b="0" u="none" strike="noStrike">
              <a:solidFill>
                <a:srgbClr val="FFFFFF"/>
              </a:solidFill>
              <a:effectLst/>
              <a:uFillTx/>
              <a:latin typeface="Arial"/>
            </a:endParaRPr>
          </a:p>
        </p:txBody>
      </p:sp>
      <p:sp>
        <p:nvSpPr>
          <p:cNvPr id="1868"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400" b="1" u="none" strike="noStrike">
                <a:solidFill>
                  <a:srgbClr val="FFB300"/>
                </a:solidFill>
                <a:effectLst/>
                <a:uFillTx/>
                <a:latin typeface="Arelv"/>
                <a:ea typeface="Arelv"/>
              </a:rPr>
              <a:t>EXPOSÉS</a:t>
            </a:r>
            <a:endParaRPr lang="fr-FR" sz="3400" b="0" u="none" strike="noStrike">
              <a:solidFill>
                <a:srgbClr val="FFFFFF"/>
              </a:solidFill>
              <a:effectLst/>
              <a:uFillTx/>
              <a:latin typeface="Arial"/>
            </a:endParaRPr>
          </a:p>
        </p:txBody>
      </p:sp>
      <p:sp>
        <p:nvSpPr>
          <p:cNvPr id="1869"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Onzième partie · pages 88 → 98</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87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87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87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7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LA MATIÈRE</a:t>
            </a:r>
            <a:endParaRPr lang="fr-FR" sz="5000" b="0" u="none" strike="noStrike">
              <a:solidFill>
                <a:srgbClr val="000000"/>
              </a:solidFill>
              <a:effectLst/>
              <a:uFillTx/>
              <a:latin typeface="Arial"/>
            </a:endParaRPr>
          </a:p>
        </p:txBody>
      </p:sp>
      <p:sp>
        <p:nvSpPr>
          <p:cNvPr id="187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Ce que la section /projets du portfolio donnera à voir</a:t>
            </a:r>
            <a:endParaRPr lang="fr-FR" sz="1400" b="0" u="none" strike="noStrike">
              <a:solidFill>
                <a:srgbClr val="000000"/>
              </a:solidFill>
              <a:effectLst/>
              <a:uFillTx/>
              <a:latin typeface="Arial"/>
            </a:endParaRPr>
          </a:p>
        </p:txBody>
      </p:sp>
      <p:sp>
        <p:nvSpPr>
          <p:cNvPr id="1875" name="Text 5"/>
          <p:cNvSpPr/>
          <p:nvPr/>
        </p:nvSpPr>
        <p:spPr>
          <a:xfrm>
            <a:off x="457200" y="20116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50" b="0" u="none" strike="noStrike">
                <a:solidFill>
                  <a:srgbClr val="0A0A0A"/>
                </a:solidFill>
                <a:effectLst/>
                <a:uFillTx/>
                <a:latin typeface="Satoshi"/>
                <a:ea typeface="Satoshi"/>
              </a:rPr>
              <a:t>Un portfolio vaut par ce qu'il expose. La section qui suit recense les réalisations qui peupleront /projets — un mélange volontaire de travaux professionnels et de projets personnels, à des stades d'avancement inégaux. Je préfère présenter moins de projets, mais des projets que j'assume entièrement, plutôt que de remplir la page avec des esquisses.</a:t>
            </a:r>
            <a:endParaRPr lang="fr-FR" sz="1150" b="0" u="none" strike="noStrike">
              <a:solidFill>
                <a:srgbClr val="000000"/>
              </a:solidFill>
              <a:effectLst/>
              <a:uFillTx/>
              <a:latin typeface="Arial"/>
            </a:endParaRPr>
          </a:p>
        </p:txBody>
      </p:sp>
      <p:graphicFrame>
        <p:nvGraphicFramePr>
          <p:cNvPr id="1876" name="Table 0"/>
          <p:cNvGraphicFramePr/>
          <p:nvPr/>
        </p:nvGraphicFramePr>
        <p:xfrm>
          <a:off x="457200" y="2788920"/>
          <a:ext cx="8320680" cy="1661400"/>
        </p:xfrm>
        <a:graphic>
          <a:graphicData uri="http://schemas.openxmlformats.org/drawingml/2006/table">
            <a:tbl>
              <a:tblPr/>
              <a:tblGrid>
                <a:gridCol w="2286000"/>
                <a:gridCol w="1188720"/>
                <a:gridCol w="1188720"/>
                <a:gridCol w="2103120"/>
                <a:gridCol w="1554480"/>
              </a:tblGrid>
              <a:tr h="320040">
                <a:tc>
                  <a:txBody>
                    <a:bodyPr anchor="t">
                      <a:noAutofit/>
                    </a:bodyPr>
                    <a:p>
                      <a:pPr defTabSz="914400">
                        <a:lnSpc>
                          <a:spcPct val="100000"/>
                        </a:lnSpc>
                        <a:tabLst>
                          <a:tab pos="0" algn="l"/>
                        </a:tabLst>
                      </a:pPr>
                      <a:r>
                        <a:rPr lang="fr-FR" sz="950" b="1" u="none" strike="noStrike">
                          <a:solidFill>
                            <a:srgbClr val="F4EFE6"/>
                          </a:solidFill>
                          <a:effectLst/>
                          <a:uFillTx/>
                          <a:latin typeface="Satoshi"/>
                          <a:ea typeface="Satoshi"/>
                        </a:rPr>
                        <a:t>PROJET</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NATURE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ctr" defTabSz="914400">
                        <a:lnSpc>
                          <a:spcPct val="100000"/>
                        </a:lnSpc>
                        <a:tabLst>
                          <a:tab pos="0" algn="l"/>
                        </a:tabLst>
                      </a:pPr>
                      <a:r>
                        <a:rPr lang="en-US" sz="950" b="1" u="none" strike="noStrike">
                          <a:solidFill>
                            <a:srgbClr val="F4EFE6"/>
                          </a:solidFill>
                          <a:effectLst/>
                          <a:uFillTx/>
                          <a:latin typeface="Satoshi"/>
                          <a:ea typeface="Satoshi"/>
                        </a:rPr>
                        <a:t>STATUT</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STACK</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RÔLE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32004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Le portfolio (ce site)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Personnel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En conception</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WordPress + Polylang</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Conception complète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32004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Les Tourelles · Gîte XVIᵉ 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Personnel</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Phase 1 livrée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HTML/CSS/JavaScript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Conception complète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32004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Saobio · secretdecoton.fr</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Stage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En production</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PrestaShop multiboutique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Intégration · UX · catalogue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32004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Recherche &amp; Scène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Méthodologique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ctr" defTabSz="914400">
                        <a:lnSpc>
                          <a:spcPct val="100000"/>
                        </a:lnSpc>
                        <a:tabLst>
                          <a:tab pos="0" algn="l"/>
                        </a:tabLst>
                      </a:pPr>
                      <a:r>
                        <a:rPr lang="en-US" sz="950" b="0" u="none" strike="noStrike">
                          <a:solidFill>
                            <a:srgbClr val="0A0A0A"/>
                          </a:solidFill>
                          <a:effectLst/>
                          <a:uFillTx/>
                          <a:latin typeface="Satoshi"/>
                          <a:ea typeface="Satoshi"/>
                        </a:rPr>
                        <a:t>Itératif</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HTML/CSS/JavaScript</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Conception et rédaction</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877" name="Text 6"/>
          <p:cNvSpPr/>
          <p:nvPr/>
        </p:nvSpPr>
        <p:spPr>
          <a:xfrm>
            <a:off x="457200" y="4526280"/>
            <a:ext cx="82224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La sélection privilégie la cohérence sur l'exhaustivité. Aucune réalisation n'apparaît si elle n'est pas livrée ou en production effective.</a:t>
            </a:r>
            <a:endParaRPr lang="fr-FR" sz="900" b="0" u="none" strike="noStrike">
              <a:solidFill>
                <a:srgbClr val="000000"/>
              </a:solidFill>
              <a:effectLst/>
              <a:uFillTx/>
              <a:latin typeface="Arial"/>
            </a:endParaRPr>
          </a:p>
        </p:txBody>
      </p:sp>
      <p:sp>
        <p:nvSpPr>
          <p:cNvPr id="1878" name="Shape 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79" name="Text 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880" name="Text 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89</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88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88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88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884" name="Text 3"/>
          <p:cNvSpPr/>
          <p:nvPr/>
        </p:nvSpPr>
        <p:spPr>
          <a:xfrm>
            <a:off x="457200" y="77724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201" strike="noStrike">
                <a:solidFill>
                  <a:srgbClr val="BF360C"/>
                </a:solidFill>
                <a:effectLst/>
                <a:uFillTx/>
                <a:latin typeface="Satoshi"/>
                <a:ea typeface="Satoshi"/>
              </a:rPr>
              <a:t>PROJET · 01</a:t>
            </a:r>
            <a:endParaRPr lang="fr-FR" sz="1100" b="0" u="none" strike="noStrike">
              <a:solidFill>
                <a:srgbClr val="000000"/>
              </a:solidFill>
              <a:effectLst/>
              <a:uFillTx/>
              <a:latin typeface="Arial"/>
            </a:endParaRPr>
          </a:p>
        </p:txBody>
      </p:sp>
      <p:sp>
        <p:nvSpPr>
          <p:cNvPr id="1885" name="Text 4"/>
          <p:cNvSpPr/>
          <p:nvPr/>
        </p:nvSpPr>
        <p:spPr>
          <a:xfrm>
            <a:off x="457200" y="109728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Les Tourelles</a:t>
            </a:r>
            <a:endParaRPr lang="fr-FR" sz="5600" b="0" u="none" strike="noStrike">
              <a:solidFill>
                <a:srgbClr val="000000"/>
              </a:solidFill>
              <a:effectLst/>
              <a:uFillTx/>
              <a:latin typeface="Arial"/>
            </a:endParaRPr>
          </a:p>
        </p:txBody>
      </p:sp>
      <p:sp>
        <p:nvSpPr>
          <p:cNvPr id="1886" name="Text 5"/>
          <p:cNvSpPr/>
          <p:nvPr/>
        </p:nvSpPr>
        <p:spPr>
          <a:xfrm>
            <a:off x="457200" y="182880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Site d'un gîte normand du XVIᵉ siècle</a:t>
            </a:r>
            <a:endParaRPr lang="fr-FR" sz="1500" b="0" u="none" strike="noStrike">
              <a:solidFill>
                <a:srgbClr val="000000"/>
              </a:solidFill>
              <a:effectLst/>
              <a:uFillTx/>
              <a:latin typeface="Arial"/>
            </a:endParaRPr>
          </a:p>
        </p:txBody>
      </p:sp>
      <p:sp>
        <p:nvSpPr>
          <p:cNvPr id="1887" name="Text 6"/>
          <p:cNvSpPr/>
          <p:nvPr/>
        </p:nvSpPr>
        <p:spPr>
          <a:xfrm>
            <a:off x="457200" y="2286000"/>
            <a:ext cx="4930560" cy="23702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Les Tourelles est un gîte familial à Hotot-en-Auge, dans le Calvados. La bâtisse remonte au XVIᵉ siècle. Je conçois et développe son site, qui doit servir à la communication et, à terme, à la réservation directe.</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Le projet n'a pas de commanditaire au sens classique. Je le mène hors temps de stage, sur mes soirées et week-ends. C'est cette liberté qui le rend précieux pour le portfolio : je peux y tester des hypothèses techniques que mon poste à Saobio ne permet pas — un développement sans framework, un design system propre, une attention à l'accessibilité que les contraintes commerciales ne laisseraient pas le temps de mener.</a:t>
            </a:r>
            <a:endParaRPr lang="fr-FR" sz="1100" b="0" u="none" strike="noStrike">
              <a:solidFill>
                <a:srgbClr val="000000"/>
              </a:solidFill>
              <a:effectLst/>
              <a:uFillTx/>
              <a:latin typeface="Arial"/>
            </a:endParaRPr>
          </a:p>
        </p:txBody>
      </p:sp>
      <p:sp>
        <p:nvSpPr>
          <p:cNvPr id="1888" name="Shape 7"/>
          <p:cNvSpPr/>
          <p:nvPr/>
        </p:nvSpPr>
        <p:spPr>
          <a:xfrm>
            <a:off x="5669280" y="2286000"/>
            <a:ext cx="3101760" cy="23702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89" name="Text 8"/>
          <p:cNvSpPr/>
          <p:nvPr/>
        </p:nvSpPr>
        <p:spPr>
          <a:xfrm>
            <a:off x="5852160" y="2423160"/>
            <a:ext cx="27360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FICHE</a:t>
            </a:r>
            <a:endParaRPr lang="fr-FR" sz="900" b="0" u="none" strike="noStrike">
              <a:solidFill>
                <a:srgbClr val="000000"/>
              </a:solidFill>
              <a:effectLst/>
              <a:uFillTx/>
              <a:latin typeface="Arial"/>
            </a:endParaRPr>
          </a:p>
        </p:txBody>
      </p:sp>
      <p:sp>
        <p:nvSpPr>
          <p:cNvPr id="1890" name="Text 9"/>
          <p:cNvSpPr/>
          <p:nvPr/>
        </p:nvSpPr>
        <p:spPr>
          <a:xfrm>
            <a:off x="5852160" y="27432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LOCALISATION</a:t>
            </a:r>
            <a:endParaRPr lang="fr-FR" sz="800" b="0" u="none" strike="noStrike">
              <a:solidFill>
                <a:srgbClr val="000000"/>
              </a:solidFill>
              <a:effectLst/>
              <a:uFillTx/>
              <a:latin typeface="Arial"/>
            </a:endParaRPr>
          </a:p>
        </p:txBody>
      </p:sp>
      <p:sp>
        <p:nvSpPr>
          <p:cNvPr id="1891" name="Text 10"/>
          <p:cNvSpPr/>
          <p:nvPr/>
        </p:nvSpPr>
        <p:spPr>
          <a:xfrm>
            <a:off x="6949440" y="274320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Hotot-en-Auge (14)</a:t>
            </a:r>
            <a:endParaRPr lang="fr-FR" sz="950" b="0" u="none" strike="noStrike">
              <a:solidFill>
                <a:srgbClr val="000000"/>
              </a:solidFill>
              <a:effectLst/>
              <a:uFillTx/>
              <a:latin typeface="Arial"/>
            </a:endParaRPr>
          </a:p>
        </p:txBody>
      </p:sp>
      <p:sp>
        <p:nvSpPr>
          <p:cNvPr id="1892" name="Text 11"/>
          <p:cNvSpPr/>
          <p:nvPr/>
        </p:nvSpPr>
        <p:spPr>
          <a:xfrm>
            <a:off x="5852160" y="29901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TYPE</a:t>
            </a:r>
            <a:endParaRPr lang="fr-FR" sz="800" b="0" u="none" strike="noStrike">
              <a:solidFill>
                <a:srgbClr val="000000"/>
              </a:solidFill>
              <a:effectLst/>
              <a:uFillTx/>
              <a:latin typeface="Arial"/>
            </a:endParaRPr>
          </a:p>
        </p:txBody>
      </p:sp>
      <p:sp>
        <p:nvSpPr>
          <p:cNvPr id="1893" name="Text 12"/>
          <p:cNvSpPr/>
          <p:nvPr/>
        </p:nvSpPr>
        <p:spPr>
          <a:xfrm>
            <a:off x="6949440" y="299016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Site vitrine + réservation</a:t>
            </a:r>
            <a:endParaRPr lang="fr-FR" sz="950" b="0" u="none" strike="noStrike">
              <a:solidFill>
                <a:srgbClr val="000000"/>
              </a:solidFill>
              <a:effectLst/>
              <a:uFillTx/>
              <a:latin typeface="Arial"/>
            </a:endParaRPr>
          </a:p>
        </p:txBody>
      </p:sp>
      <p:sp>
        <p:nvSpPr>
          <p:cNvPr id="1894" name="Text 13"/>
          <p:cNvSpPr/>
          <p:nvPr/>
        </p:nvSpPr>
        <p:spPr>
          <a:xfrm>
            <a:off x="5852160" y="3237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LANGUES</a:t>
            </a:r>
            <a:endParaRPr lang="fr-FR" sz="800" b="0" u="none" strike="noStrike">
              <a:solidFill>
                <a:srgbClr val="000000"/>
              </a:solidFill>
              <a:effectLst/>
              <a:uFillTx/>
              <a:latin typeface="Arial"/>
            </a:endParaRPr>
          </a:p>
        </p:txBody>
      </p:sp>
      <p:sp>
        <p:nvSpPr>
          <p:cNvPr id="1895" name="Text 14"/>
          <p:cNvSpPr/>
          <p:nvPr/>
        </p:nvSpPr>
        <p:spPr>
          <a:xfrm>
            <a:off x="6949440" y="323712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FR / EN / NL</a:t>
            </a:r>
            <a:endParaRPr lang="fr-FR" sz="950" b="0" u="none" strike="noStrike">
              <a:solidFill>
                <a:srgbClr val="000000"/>
              </a:solidFill>
              <a:effectLst/>
              <a:uFillTx/>
              <a:latin typeface="Arial"/>
            </a:endParaRPr>
          </a:p>
        </p:txBody>
      </p:sp>
      <p:sp>
        <p:nvSpPr>
          <p:cNvPr id="1896" name="Text 15"/>
          <p:cNvSpPr/>
          <p:nvPr/>
        </p:nvSpPr>
        <p:spPr>
          <a:xfrm>
            <a:off x="5852160" y="34837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STATUT</a:t>
            </a:r>
            <a:endParaRPr lang="fr-FR" sz="800" b="0" u="none" strike="noStrike">
              <a:solidFill>
                <a:srgbClr val="000000"/>
              </a:solidFill>
              <a:effectLst/>
              <a:uFillTx/>
              <a:latin typeface="Arial"/>
            </a:endParaRPr>
          </a:p>
        </p:txBody>
      </p:sp>
      <p:sp>
        <p:nvSpPr>
          <p:cNvPr id="1897" name="Text 16"/>
          <p:cNvSpPr/>
          <p:nvPr/>
        </p:nvSpPr>
        <p:spPr>
          <a:xfrm>
            <a:off x="6949440" y="348372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Phase 1 livrée</a:t>
            </a:r>
            <a:endParaRPr lang="fr-FR" sz="950" b="0" u="none" strike="noStrike">
              <a:solidFill>
                <a:srgbClr val="000000"/>
              </a:solidFill>
              <a:effectLst/>
              <a:uFillTx/>
              <a:latin typeface="Arial"/>
            </a:endParaRPr>
          </a:p>
        </p:txBody>
      </p:sp>
      <p:sp>
        <p:nvSpPr>
          <p:cNvPr id="1898" name="Text 17"/>
          <p:cNvSpPr/>
          <p:nvPr/>
        </p:nvSpPr>
        <p:spPr>
          <a:xfrm>
            <a:off x="5852160" y="373068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PÉRIODE</a:t>
            </a:r>
            <a:endParaRPr lang="fr-FR" sz="800" b="0" u="none" strike="noStrike">
              <a:solidFill>
                <a:srgbClr val="000000"/>
              </a:solidFill>
              <a:effectLst/>
              <a:uFillTx/>
              <a:latin typeface="Arial"/>
            </a:endParaRPr>
          </a:p>
        </p:txBody>
      </p:sp>
      <p:sp>
        <p:nvSpPr>
          <p:cNvPr id="1899" name="Text 18"/>
          <p:cNvSpPr/>
          <p:nvPr/>
        </p:nvSpPr>
        <p:spPr>
          <a:xfrm>
            <a:off x="6949440" y="373068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Démarré début 2026</a:t>
            </a:r>
            <a:endParaRPr lang="fr-FR" sz="950" b="0" u="none" strike="noStrike">
              <a:solidFill>
                <a:srgbClr val="000000"/>
              </a:solidFill>
              <a:effectLst/>
              <a:uFillTx/>
              <a:latin typeface="Arial"/>
            </a:endParaRPr>
          </a:p>
        </p:txBody>
      </p:sp>
      <p:sp>
        <p:nvSpPr>
          <p:cNvPr id="1900" name="Text 19"/>
          <p:cNvSpPr/>
          <p:nvPr/>
        </p:nvSpPr>
        <p:spPr>
          <a:xfrm>
            <a:off x="5852160" y="397764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PHOTOS</a:t>
            </a:r>
            <a:endParaRPr lang="fr-FR" sz="800" b="0" u="none" strike="noStrike">
              <a:solidFill>
                <a:srgbClr val="000000"/>
              </a:solidFill>
              <a:effectLst/>
              <a:uFillTx/>
              <a:latin typeface="Arial"/>
            </a:endParaRPr>
          </a:p>
        </p:txBody>
      </p:sp>
      <p:sp>
        <p:nvSpPr>
          <p:cNvPr id="1901" name="Text 20"/>
          <p:cNvSpPr/>
          <p:nvPr/>
        </p:nvSpPr>
        <p:spPr>
          <a:xfrm>
            <a:off x="6949440" y="397764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47 images intégrées</a:t>
            </a:r>
            <a:endParaRPr lang="fr-FR" sz="950" b="0" u="none" strike="noStrike">
              <a:solidFill>
                <a:srgbClr val="000000"/>
              </a:solidFill>
              <a:effectLst/>
              <a:uFillTx/>
              <a:latin typeface="Arial"/>
            </a:endParaRPr>
          </a:p>
        </p:txBody>
      </p:sp>
      <p:sp>
        <p:nvSpPr>
          <p:cNvPr id="1902" name="Text 21"/>
          <p:cNvSpPr/>
          <p:nvPr/>
        </p:nvSpPr>
        <p:spPr>
          <a:xfrm>
            <a:off x="5852160" y="42246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AUTEUR</a:t>
            </a:r>
            <a:endParaRPr lang="fr-FR" sz="800" b="0" u="none" strike="noStrike">
              <a:solidFill>
                <a:srgbClr val="000000"/>
              </a:solidFill>
              <a:effectLst/>
              <a:uFillTx/>
              <a:latin typeface="Arial"/>
            </a:endParaRPr>
          </a:p>
        </p:txBody>
      </p:sp>
      <p:sp>
        <p:nvSpPr>
          <p:cNvPr id="1903" name="Text 22"/>
          <p:cNvSpPr/>
          <p:nvPr/>
        </p:nvSpPr>
        <p:spPr>
          <a:xfrm>
            <a:off x="6949440" y="422460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Aymen CHAABANE</a:t>
            </a:r>
            <a:endParaRPr lang="fr-FR" sz="950" b="0" u="none" strike="noStrike">
              <a:solidFill>
                <a:srgbClr val="000000"/>
              </a:solidFill>
              <a:effectLst/>
              <a:uFillTx/>
              <a:latin typeface="Arial"/>
            </a:endParaRPr>
          </a:p>
        </p:txBody>
      </p:sp>
      <p:sp>
        <p:nvSpPr>
          <p:cNvPr id="1904"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05"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906"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90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90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90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1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LES TOURELLES — TECHNIQUE</a:t>
            </a:r>
            <a:endParaRPr lang="fr-FR" sz="3200" b="0" u="none" strike="noStrike">
              <a:solidFill>
                <a:srgbClr val="000000"/>
              </a:solidFill>
              <a:effectLst/>
              <a:uFillTx/>
              <a:latin typeface="Arial"/>
            </a:endParaRPr>
          </a:p>
        </p:txBody>
      </p:sp>
      <p:sp>
        <p:nvSpPr>
          <p:cNvPr id="191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Pourquoi le vanilla, et ce qu'il faut savoir pour comprendre le code</a:t>
            </a:r>
            <a:endParaRPr lang="fr-FR" sz="1300" b="0" u="none" strike="noStrike">
              <a:solidFill>
                <a:srgbClr val="000000"/>
              </a:solidFill>
              <a:effectLst/>
              <a:uFillTx/>
              <a:latin typeface="Arial"/>
            </a:endParaRPr>
          </a:p>
        </p:txBody>
      </p:sp>
      <p:sp>
        <p:nvSpPr>
          <p:cNvPr id="1912" name="Text 5"/>
          <p:cNvSpPr/>
          <p:nvPr/>
        </p:nvSpPr>
        <p:spPr>
          <a:xfrm>
            <a:off x="457200" y="20116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 choix du HTML/CSS/JavaScript — sans framework, sans build, sans dépendance — est délibéré. Saobio me familiarise déjà avec PrestaShop ; le portfolio sera fait sous WordPress. Les Tourelles me permet de garder une prise directe sur les fondamentaux du web : aucune couche entre le code et ce que voit le navigateur.</a:t>
            </a:r>
            <a:endParaRPr lang="fr-FR" sz="1100" b="0" u="none" strike="noStrike">
              <a:solidFill>
                <a:srgbClr val="000000"/>
              </a:solidFill>
              <a:effectLst/>
              <a:uFillTx/>
              <a:latin typeface="Arial"/>
            </a:endParaRPr>
          </a:p>
        </p:txBody>
      </p:sp>
      <p:sp>
        <p:nvSpPr>
          <p:cNvPr id="1913" name="Text 6"/>
          <p:cNvSpPr/>
          <p:nvPr/>
        </p:nvSpPr>
        <p:spPr>
          <a:xfrm>
            <a:off x="457200" y="274320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ORGANISATION DU CODE</a:t>
            </a:r>
            <a:endParaRPr lang="fr-FR" sz="1000" b="0" u="none" strike="noStrike">
              <a:solidFill>
                <a:srgbClr val="000000"/>
              </a:solidFill>
              <a:effectLst/>
              <a:uFillTx/>
              <a:latin typeface="Arial"/>
            </a:endParaRPr>
          </a:p>
        </p:txBody>
      </p:sp>
      <p:sp>
        <p:nvSpPr>
          <p:cNvPr id="1914" name="Text 7"/>
          <p:cNvSpPr/>
          <p:nvPr/>
        </p:nvSpPr>
        <p:spPr>
          <a:xfrm>
            <a:off x="457200" y="2971800"/>
            <a:ext cx="456480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fr-FR" sz="1000" b="1" u="none" strike="noStrike">
                <a:solidFill>
                  <a:srgbClr val="0A0A0A"/>
                </a:solidFill>
                <a:effectLst/>
                <a:uFillTx/>
                <a:latin typeface="Courier New"/>
                <a:ea typeface="Courier New"/>
              </a:rPr>
              <a:t>/public/css/</a:t>
            </a:r>
            <a:endParaRPr lang="fr-FR" sz="100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tokens.css — variables (couleurs, typo, espacements)</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base.css — reset, typographie, layout primitives</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components.css — header, cards, calendar, etc.</a:t>
            </a:r>
            <a:endParaRPr lang="fr-FR" sz="950" b="0" u="none" strike="noStrike">
              <a:solidFill>
                <a:srgbClr val="000000"/>
              </a:solidFill>
              <a:effectLst/>
              <a:uFillTx/>
              <a:latin typeface="Arial"/>
            </a:endParaRPr>
          </a:p>
          <a:p>
            <a:pPr defTabSz="914400">
              <a:lnSpc>
                <a:spcPct val="100000"/>
              </a:lnSpc>
              <a:tabLst>
                <a:tab pos="0" algn="l"/>
              </a:tabLst>
            </a:pPr>
            <a:r>
              <a:rPr lang="fr-FR" sz="400" b="0" u="none" strike="noStrike">
                <a:solidFill>
                  <a:srgbClr val="000000"/>
                </a:solidFill>
                <a:effectLst/>
                <a:uFillTx/>
                <a:latin typeface="Calibri"/>
                <a:ea typeface="Courier New"/>
              </a:rPr>
              <a:t> </a:t>
            </a:r>
            <a:endParaRPr lang="fr-FR" sz="400" b="0" u="none" strike="noStrike">
              <a:solidFill>
                <a:srgbClr val="000000"/>
              </a:solidFill>
              <a:effectLst/>
              <a:uFillTx/>
              <a:latin typeface="Arial"/>
            </a:endParaRPr>
          </a:p>
          <a:p>
            <a:pPr defTabSz="914400">
              <a:lnSpc>
                <a:spcPct val="100000"/>
              </a:lnSpc>
              <a:tabLst>
                <a:tab pos="0" algn="l"/>
              </a:tabLst>
            </a:pPr>
            <a:r>
              <a:rPr lang="fr-FR" sz="1000" b="1" u="none" strike="noStrike">
                <a:solidFill>
                  <a:srgbClr val="0A0A0A"/>
                </a:solidFill>
                <a:effectLst/>
                <a:uFillTx/>
                <a:latin typeface="Courier New"/>
                <a:ea typeface="Courier New"/>
              </a:rPr>
              <a:t>/public/js/</a:t>
            </a:r>
            <a:endParaRPr lang="fr-FR" sz="100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i18n.js — système de traduction FR/EN/NL</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calendar.js — calendrier multi-mois interactif</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carousel.js — galerie photo (47 images)</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lightbox.js — visionneuse clavier + tactile</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main.js — header sticky, scroll reveal</a:t>
            </a:r>
            <a:endParaRPr lang="fr-FR" sz="950" b="0" u="none" strike="noStrike">
              <a:solidFill>
                <a:srgbClr val="000000"/>
              </a:solidFill>
              <a:effectLst/>
              <a:uFillTx/>
              <a:latin typeface="Arial"/>
            </a:endParaRPr>
          </a:p>
        </p:txBody>
      </p:sp>
      <p:sp>
        <p:nvSpPr>
          <p:cNvPr id="1915" name="Text 8"/>
          <p:cNvSpPr/>
          <p:nvPr/>
        </p:nvSpPr>
        <p:spPr>
          <a:xfrm>
            <a:off x="5303520" y="2743200"/>
            <a:ext cx="3467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CE QUE CETTE APPROCHE PROUVE</a:t>
            </a:r>
            <a:endParaRPr lang="fr-FR" sz="1000" b="0" u="none" strike="noStrike">
              <a:solidFill>
                <a:srgbClr val="000000"/>
              </a:solidFill>
              <a:effectLst/>
              <a:uFillTx/>
              <a:latin typeface="Arial"/>
            </a:endParaRPr>
          </a:p>
        </p:txBody>
      </p:sp>
      <p:sp>
        <p:nvSpPr>
          <p:cNvPr id="1916" name="Text 9"/>
          <p:cNvSpPr/>
          <p:nvPr/>
        </p:nvSpPr>
        <p:spPr>
          <a:xfrm>
            <a:off x="5303520" y="2971800"/>
            <a:ext cx="346752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Maîtrise des fondamentaux</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Le code fonctionne sans React, Vue ou jQuery.</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Lecture immédiate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Un recruteur peut tout inspecter via les DevTools.</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Performance native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Aucun JS framework à parser, chargement direct.</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Migration future facilitée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Le code se convertit ensuite en thème WP ou Drupal.</a:t>
            </a:r>
            <a:endParaRPr lang="fr-FR" sz="900" b="0" u="none" strike="noStrike">
              <a:solidFill>
                <a:srgbClr val="000000"/>
              </a:solidFill>
              <a:effectLst/>
              <a:uFillTx/>
              <a:latin typeface="Arial"/>
            </a:endParaRPr>
          </a:p>
        </p:txBody>
      </p:sp>
      <p:sp>
        <p:nvSpPr>
          <p:cNvPr id="1917" name="Shape 1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18" name="Text 1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919" name="Text 1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92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92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92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2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LES TOURELLES — DESIGN</a:t>
            </a:r>
            <a:endParaRPr lang="fr-FR" sz="3200" b="0" u="none" strike="noStrike">
              <a:solidFill>
                <a:srgbClr val="000000"/>
              </a:solidFill>
              <a:effectLst/>
              <a:uFillTx/>
              <a:latin typeface="Arial"/>
            </a:endParaRPr>
          </a:p>
        </p:txBody>
      </p:sp>
      <p:sp>
        <p:nvSpPr>
          <p:cNvPr id="192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Design system « Forêt normande » — la teinte du bocage</a:t>
            </a:r>
            <a:endParaRPr lang="fr-FR" sz="1300" b="0" u="none" strike="noStrike">
              <a:solidFill>
                <a:srgbClr val="000000"/>
              </a:solidFill>
              <a:effectLst/>
              <a:uFillTx/>
              <a:latin typeface="Arial"/>
            </a:endParaRPr>
          </a:p>
        </p:txBody>
      </p:sp>
      <p:sp>
        <p:nvSpPr>
          <p:cNvPr id="1925" name="Text 5"/>
          <p:cNvSpPr/>
          <p:nvPr/>
        </p:nvSpPr>
        <p:spPr>
          <a:xfrm>
            <a:off x="457200" y="2011680"/>
            <a:ext cx="822240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 design system des Tourelles s'éloigne complètement de celui du portfolio. Le gîte appelle un univers boisé, calme, profondément normand. Le bocage qui l'entoure m'a guidé vers une palette dominée par le vert forêt et le cuivre des charpentes.</a:t>
            </a:r>
            <a:endParaRPr lang="fr-FR" sz="1100" b="0" u="none" strike="noStrike">
              <a:solidFill>
                <a:srgbClr val="000000"/>
              </a:solidFill>
              <a:effectLst/>
              <a:uFillTx/>
              <a:latin typeface="Arial"/>
            </a:endParaRPr>
          </a:p>
        </p:txBody>
      </p:sp>
      <p:sp>
        <p:nvSpPr>
          <p:cNvPr id="1926" name="Shape 6"/>
          <p:cNvSpPr/>
          <p:nvPr/>
        </p:nvSpPr>
        <p:spPr>
          <a:xfrm>
            <a:off x="457200" y="2697480"/>
            <a:ext cx="1958760" cy="705960"/>
          </a:xfrm>
          <a:prstGeom prst="rect">
            <a:avLst/>
          </a:prstGeom>
          <a:solidFill>
            <a:srgbClr val="1F4435"/>
          </a:solidFill>
          <a:ln w="12700">
            <a:solidFill>
              <a:srgbClr val="1F4435"/>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27" name="Shape 7"/>
          <p:cNvSpPr/>
          <p:nvPr/>
        </p:nvSpPr>
        <p:spPr>
          <a:xfrm>
            <a:off x="45720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28" name="Text 8"/>
          <p:cNvSpPr/>
          <p:nvPr/>
        </p:nvSpPr>
        <p:spPr>
          <a:xfrm>
            <a:off x="54864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Vert forêt</a:t>
            </a:r>
            <a:endParaRPr lang="fr-FR" sz="1000" b="0" u="none" strike="noStrike">
              <a:solidFill>
                <a:srgbClr val="000000"/>
              </a:solidFill>
              <a:effectLst/>
              <a:uFillTx/>
              <a:latin typeface="Arial"/>
            </a:endParaRPr>
          </a:p>
        </p:txBody>
      </p:sp>
      <p:sp>
        <p:nvSpPr>
          <p:cNvPr id="1929" name="Text 9"/>
          <p:cNvSpPr/>
          <p:nvPr/>
        </p:nvSpPr>
        <p:spPr>
          <a:xfrm>
            <a:off x="144036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#1F4435</a:t>
            </a:r>
            <a:endParaRPr lang="fr-FR" sz="900" b="0" u="none" strike="noStrike">
              <a:solidFill>
                <a:srgbClr val="000000"/>
              </a:solidFill>
              <a:effectLst/>
              <a:uFillTx/>
              <a:latin typeface="Arial"/>
            </a:endParaRPr>
          </a:p>
        </p:txBody>
      </p:sp>
      <p:sp>
        <p:nvSpPr>
          <p:cNvPr id="1930" name="Text 10"/>
          <p:cNvSpPr/>
          <p:nvPr/>
        </p:nvSpPr>
        <p:spPr>
          <a:xfrm>
            <a:off x="54864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Primaire</a:t>
            </a:r>
            <a:endParaRPr lang="fr-FR" sz="800" b="0" u="none" strike="noStrike">
              <a:solidFill>
                <a:srgbClr val="000000"/>
              </a:solidFill>
              <a:effectLst/>
              <a:uFillTx/>
              <a:latin typeface="Arial"/>
            </a:endParaRPr>
          </a:p>
        </p:txBody>
      </p:sp>
      <p:sp>
        <p:nvSpPr>
          <p:cNvPr id="1931" name="Shape 11"/>
          <p:cNvSpPr/>
          <p:nvPr/>
        </p:nvSpPr>
        <p:spPr>
          <a:xfrm>
            <a:off x="2541960" y="2697480"/>
            <a:ext cx="1958760" cy="705960"/>
          </a:xfrm>
          <a:prstGeom prst="rect">
            <a:avLst/>
          </a:prstGeom>
          <a:solidFill>
            <a:srgbClr val="B8893E"/>
          </a:solidFill>
          <a:ln w="12700">
            <a:solidFill>
              <a:srgbClr val="B8893E"/>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32" name="Shape 12"/>
          <p:cNvSpPr/>
          <p:nvPr/>
        </p:nvSpPr>
        <p:spPr>
          <a:xfrm>
            <a:off x="254196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33" name="Text 13"/>
          <p:cNvSpPr/>
          <p:nvPr/>
        </p:nvSpPr>
        <p:spPr>
          <a:xfrm>
            <a:off x="263340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Cuivre</a:t>
            </a:r>
            <a:endParaRPr lang="fr-FR" sz="1000" b="0" u="none" strike="noStrike">
              <a:solidFill>
                <a:srgbClr val="000000"/>
              </a:solidFill>
              <a:effectLst/>
              <a:uFillTx/>
              <a:latin typeface="Arial"/>
            </a:endParaRPr>
          </a:p>
        </p:txBody>
      </p:sp>
      <p:sp>
        <p:nvSpPr>
          <p:cNvPr id="1934" name="Text 14"/>
          <p:cNvSpPr/>
          <p:nvPr/>
        </p:nvSpPr>
        <p:spPr>
          <a:xfrm>
            <a:off x="352512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#B8893E</a:t>
            </a:r>
            <a:endParaRPr lang="fr-FR" sz="900" b="0" u="none" strike="noStrike">
              <a:solidFill>
                <a:srgbClr val="000000"/>
              </a:solidFill>
              <a:effectLst/>
              <a:uFillTx/>
              <a:latin typeface="Arial"/>
            </a:endParaRPr>
          </a:p>
        </p:txBody>
      </p:sp>
      <p:sp>
        <p:nvSpPr>
          <p:cNvPr id="1935" name="Text 15"/>
          <p:cNvSpPr/>
          <p:nvPr/>
        </p:nvSpPr>
        <p:spPr>
          <a:xfrm>
            <a:off x="263340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Accent</a:t>
            </a:r>
            <a:endParaRPr lang="fr-FR" sz="800" b="0" u="none" strike="noStrike">
              <a:solidFill>
                <a:srgbClr val="000000"/>
              </a:solidFill>
              <a:effectLst/>
              <a:uFillTx/>
              <a:latin typeface="Arial"/>
            </a:endParaRPr>
          </a:p>
        </p:txBody>
      </p:sp>
      <p:sp>
        <p:nvSpPr>
          <p:cNvPr id="1936" name="Shape 16"/>
          <p:cNvSpPr/>
          <p:nvPr/>
        </p:nvSpPr>
        <p:spPr>
          <a:xfrm>
            <a:off x="4626720" y="2697480"/>
            <a:ext cx="1958760" cy="705960"/>
          </a:xfrm>
          <a:prstGeom prst="rect">
            <a:avLst/>
          </a:prstGeom>
          <a:solidFill>
            <a:srgbClr val="FBF7EE"/>
          </a:solidFill>
          <a:ln w="12700">
            <a:solidFill>
              <a:srgbClr val="FBF7EE"/>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37" name="Shape 17"/>
          <p:cNvSpPr/>
          <p:nvPr/>
        </p:nvSpPr>
        <p:spPr>
          <a:xfrm>
            <a:off x="462672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38" name="Text 18"/>
          <p:cNvSpPr/>
          <p:nvPr/>
        </p:nvSpPr>
        <p:spPr>
          <a:xfrm>
            <a:off x="471816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Crème</a:t>
            </a:r>
            <a:endParaRPr lang="fr-FR" sz="1000" b="0" u="none" strike="noStrike">
              <a:solidFill>
                <a:srgbClr val="000000"/>
              </a:solidFill>
              <a:effectLst/>
              <a:uFillTx/>
              <a:latin typeface="Arial"/>
            </a:endParaRPr>
          </a:p>
        </p:txBody>
      </p:sp>
      <p:sp>
        <p:nvSpPr>
          <p:cNvPr id="1939" name="Text 19"/>
          <p:cNvSpPr/>
          <p:nvPr/>
        </p:nvSpPr>
        <p:spPr>
          <a:xfrm>
            <a:off x="560988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#FBF7EE</a:t>
            </a:r>
            <a:endParaRPr lang="fr-FR" sz="900" b="0" u="none" strike="noStrike">
              <a:solidFill>
                <a:srgbClr val="000000"/>
              </a:solidFill>
              <a:effectLst/>
              <a:uFillTx/>
              <a:latin typeface="Arial"/>
            </a:endParaRPr>
          </a:p>
        </p:txBody>
      </p:sp>
      <p:sp>
        <p:nvSpPr>
          <p:cNvPr id="1940" name="Text 20"/>
          <p:cNvSpPr/>
          <p:nvPr/>
        </p:nvSpPr>
        <p:spPr>
          <a:xfrm>
            <a:off x="471816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Surface</a:t>
            </a:r>
            <a:endParaRPr lang="fr-FR" sz="800" b="0" u="none" strike="noStrike">
              <a:solidFill>
                <a:srgbClr val="000000"/>
              </a:solidFill>
              <a:effectLst/>
              <a:uFillTx/>
              <a:latin typeface="Arial"/>
            </a:endParaRPr>
          </a:p>
        </p:txBody>
      </p:sp>
      <p:sp>
        <p:nvSpPr>
          <p:cNvPr id="1941" name="Shape 21"/>
          <p:cNvSpPr/>
          <p:nvPr/>
        </p:nvSpPr>
        <p:spPr>
          <a:xfrm>
            <a:off x="6711840" y="2697480"/>
            <a:ext cx="1958760" cy="705960"/>
          </a:xfrm>
          <a:prstGeom prst="rect">
            <a:avLst/>
          </a:prstGeom>
          <a:solidFill>
            <a:srgbClr val="2A2A28"/>
          </a:solidFill>
          <a:ln w="12700">
            <a:solidFill>
              <a:srgbClr val="2A2A28"/>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42" name="Shape 22"/>
          <p:cNvSpPr/>
          <p:nvPr/>
        </p:nvSpPr>
        <p:spPr>
          <a:xfrm>
            <a:off x="671184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43" name="Text 23"/>
          <p:cNvSpPr/>
          <p:nvPr/>
        </p:nvSpPr>
        <p:spPr>
          <a:xfrm>
            <a:off x="680328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Pierre</a:t>
            </a:r>
            <a:endParaRPr lang="fr-FR" sz="1000" b="0" u="none" strike="noStrike">
              <a:solidFill>
                <a:srgbClr val="000000"/>
              </a:solidFill>
              <a:effectLst/>
              <a:uFillTx/>
              <a:latin typeface="Arial"/>
            </a:endParaRPr>
          </a:p>
        </p:txBody>
      </p:sp>
      <p:sp>
        <p:nvSpPr>
          <p:cNvPr id="1944" name="Text 24"/>
          <p:cNvSpPr/>
          <p:nvPr/>
        </p:nvSpPr>
        <p:spPr>
          <a:xfrm>
            <a:off x="769464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#2A2A28</a:t>
            </a:r>
            <a:endParaRPr lang="fr-FR" sz="900" b="0" u="none" strike="noStrike">
              <a:solidFill>
                <a:srgbClr val="000000"/>
              </a:solidFill>
              <a:effectLst/>
              <a:uFillTx/>
              <a:latin typeface="Arial"/>
            </a:endParaRPr>
          </a:p>
        </p:txBody>
      </p:sp>
      <p:sp>
        <p:nvSpPr>
          <p:cNvPr id="1945" name="Text 25"/>
          <p:cNvSpPr/>
          <p:nvPr/>
        </p:nvSpPr>
        <p:spPr>
          <a:xfrm>
            <a:off x="680328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Texte</a:t>
            </a:r>
            <a:endParaRPr lang="fr-FR" sz="800" b="0" u="none" strike="noStrike">
              <a:solidFill>
                <a:srgbClr val="000000"/>
              </a:solidFill>
              <a:effectLst/>
              <a:uFillTx/>
              <a:latin typeface="Arial"/>
            </a:endParaRPr>
          </a:p>
        </p:txBody>
      </p:sp>
      <p:sp>
        <p:nvSpPr>
          <p:cNvPr id="1946" name="Text 26"/>
          <p:cNvSpPr/>
          <p:nvPr/>
        </p:nvSpPr>
        <p:spPr>
          <a:xfrm>
            <a:off x="457200" y="393192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TRIO TYPOGRAPHIQUE</a:t>
            </a:r>
            <a:endParaRPr lang="fr-FR" sz="1000" b="0" u="none" strike="noStrike">
              <a:solidFill>
                <a:srgbClr val="000000"/>
              </a:solidFill>
              <a:effectLst/>
              <a:uFillTx/>
              <a:latin typeface="Arial"/>
            </a:endParaRPr>
          </a:p>
        </p:txBody>
      </p:sp>
      <p:sp>
        <p:nvSpPr>
          <p:cNvPr id="1947" name="Text 27"/>
          <p:cNvSpPr/>
          <p:nvPr/>
        </p:nvSpPr>
        <p:spPr>
          <a:xfrm>
            <a:off x="457200" y="418788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Cormorant Garamond</a:t>
            </a:r>
            <a:endParaRPr lang="fr-FR" sz="1000" b="0" u="none" strike="noStrike">
              <a:solidFill>
                <a:srgbClr val="000000"/>
              </a:solidFill>
              <a:effectLst/>
              <a:uFillTx/>
              <a:latin typeface="Arial"/>
            </a:endParaRPr>
          </a:p>
        </p:txBody>
      </p:sp>
      <p:sp>
        <p:nvSpPr>
          <p:cNvPr id="1948" name="Text 28"/>
          <p:cNvSpPr/>
          <p:nvPr/>
        </p:nvSpPr>
        <p:spPr>
          <a:xfrm>
            <a:off x="3200400" y="418788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Display — titres élégants à empattements</a:t>
            </a:r>
            <a:endParaRPr lang="fr-FR" sz="950" b="0" u="none" strike="noStrike">
              <a:solidFill>
                <a:srgbClr val="000000"/>
              </a:solidFill>
              <a:effectLst/>
              <a:uFillTx/>
              <a:latin typeface="Arial"/>
            </a:endParaRPr>
          </a:p>
        </p:txBody>
      </p:sp>
      <p:sp>
        <p:nvSpPr>
          <p:cNvPr id="1949" name="Text 29"/>
          <p:cNvSpPr/>
          <p:nvPr/>
        </p:nvSpPr>
        <p:spPr>
          <a:xfrm>
            <a:off x="457200" y="435240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Manrope</a:t>
            </a:r>
            <a:endParaRPr lang="fr-FR" sz="1000" b="0" u="none" strike="noStrike">
              <a:solidFill>
                <a:srgbClr val="000000"/>
              </a:solidFill>
              <a:effectLst/>
              <a:uFillTx/>
              <a:latin typeface="Arial"/>
            </a:endParaRPr>
          </a:p>
        </p:txBody>
      </p:sp>
      <p:sp>
        <p:nvSpPr>
          <p:cNvPr id="1950" name="Text 30"/>
          <p:cNvSpPr/>
          <p:nvPr/>
        </p:nvSpPr>
        <p:spPr>
          <a:xfrm>
            <a:off x="3200400" y="435240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Body — texte courant, UI, lisibilité</a:t>
            </a:r>
            <a:endParaRPr lang="fr-FR" sz="950" b="0" u="none" strike="noStrike">
              <a:solidFill>
                <a:srgbClr val="000000"/>
              </a:solidFill>
              <a:effectLst/>
              <a:uFillTx/>
              <a:latin typeface="Arial"/>
            </a:endParaRPr>
          </a:p>
        </p:txBody>
      </p:sp>
      <p:sp>
        <p:nvSpPr>
          <p:cNvPr id="1951" name="Text 31"/>
          <p:cNvSpPr/>
          <p:nvPr/>
        </p:nvSpPr>
        <p:spPr>
          <a:xfrm>
            <a:off x="457200" y="451728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Caveat</a:t>
            </a:r>
            <a:endParaRPr lang="fr-FR" sz="1000" b="0" u="none" strike="noStrike">
              <a:solidFill>
                <a:srgbClr val="000000"/>
              </a:solidFill>
              <a:effectLst/>
              <a:uFillTx/>
              <a:latin typeface="Arial"/>
            </a:endParaRPr>
          </a:p>
        </p:txBody>
      </p:sp>
      <p:sp>
        <p:nvSpPr>
          <p:cNvPr id="1952" name="Text 32"/>
          <p:cNvSpPr/>
          <p:nvPr/>
        </p:nvSpPr>
        <p:spPr>
          <a:xfrm>
            <a:off x="3200400" y="451728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Accent — citations, signatures, mentions manuscrites</a:t>
            </a:r>
            <a:endParaRPr lang="fr-FR" sz="950" b="0" u="none" strike="noStrike">
              <a:solidFill>
                <a:srgbClr val="000000"/>
              </a:solidFill>
              <a:effectLst/>
              <a:uFillTx/>
              <a:latin typeface="Arial"/>
            </a:endParaRPr>
          </a:p>
        </p:txBody>
      </p:sp>
      <p:sp>
        <p:nvSpPr>
          <p:cNvPr id="1953" name="Shape 3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54" name="Text 3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955" name="Text 3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95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95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95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5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LES TOURELLES — FEATURES</a:t>
            </a:r>
            <a:endParaRPr lang="fr-FR" sz="3200" b="0" u="none" strike="noStrike">
              <a:solidFill>
                <a:srgbClr val="000000"/>
              </a:solidFill>
              <a:effectLst/>
              <a:uFillTx/>
              <a:latin typeface="Arial"/>
            </a:endParaRPr>
          </a:p>
        </p:txBody>
      </p:sp>
      <p:sp>
        <p:nvSpPr>
          <p:cNvPr id="196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Quatre fonctionnalités que je documente volontiers en entretien</a:t>
            </a:r>
            <a:endParaRPr lang="fr-FR" sz="1300" b="0" u="none" strike="noStrike">
              <a:solidFill>
                <a:srgbClr val="000000"/>
              </a:solidFill>
              <a:effectLst/>
              <a:uFillTx/>
              <a:latin typeface="Arial"/>
            </a:endParaRPr>
          </a:p>
        </p:txBody>
      </p:sp>
      <p:sp>
        <p:nvSpPr>
          <p:cNvPr id="1961" name="Shape 5"/>
          <p:cNvSpPr/>
          <p:nvPr/>
        </p:nvSpPr>
        <p:spPr>
          <a:xfrm>
            <a:off x="457200" y="210312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62" name="Text 6"/>
          <p:cNvSpPr/>
          <p:nvPr/>
        </p:nvSpPr>
        <p:spPr>
          <a:xfrm>
            <a:off x="621720" y="205740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01</a:t>
            </a:r>
            <a:endParaRPr lang="fr-FR" sz="1300" b="0" u="none" strike="noStrike">
              <a:solidFill>
                <a:srgbClr val="000000"/>
              </a:solidFill>
              <a:effectLst/>
              <a:uFillTx/>
              <a:latin typeface="Arial"/>
            </a:endParaRPr>
          </a:p>
        </p:txBody>
      </p:sp>
      <p:sp>
        <p:nvSpPr>
          <p:cNvPr id="1963" name="Text 7"/>
          <p:cNvSpPr/>
          <p:nvPr/>
        </p:nvSpPr>
        <p:spPr>
          <a:xfrm>
            <a:off x="1097280" y="207576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CALENDRIER DE DISPONIBILITÉS</a:t>
            </a:r>
            <a:endParaRPr lang="fr-FR" sz="1100" b="0" u="none" strike="noStrike">
              <a:solidFill>
                <a:srgbClr val="000000"/>
              </a:solidFill>
              <a:effectLst/>
              <a:uFillTx/>
              <a:latin typeface="Arial"/>
            </a:endParaRPr>
          </a:p>
        </p:txBody>
      </p:sp>
      <p:sp>
        <p:nvSpPr>
          <p:cNvPr id="1964" name="Text 8"/>
          <p:cNvSpPr/>
          <p:nvPr/>
        </p:nvSpPr>
        <p:spPr>
          <a:xfrm>
            <a:off x="621720" y="242316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Un calendrier multi-mois interactif, alimenté par un fichier JSON éditable (disponibilites.json). Quatre statuts gérés : disponible, indisponible, provisoire, jour de changement. Navigation clavier, multilingue, ouverture du formulaire au clic sur une date libre.</a:t>
            </a:r>
            <a:endParaRPr lang="fr-FR" sz="950" b="0" u="none" strike="noStrike">
              <a:solidFill>
                <a:srgbClr val="000000"/>
              </a:solidFill>
              <a:effectLst/>
              <a:uFillTx/>
              <a:latin typeface="Arial"/>
            </a:endParaRPr>
          </a:p>
        </p:txBody>
      </p:sp>
      <p:sp>
        <p:nvSpPr>
          <p:cNvPr id="1965" name="Shape 9"/>
          <p:cNvSpPr/>
          <p:nvPr/>
        </p:nvSpPr>
        <p:spPr>
          <a:xfrm>
            <a:off x="4663440" y="210312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66" name="Text 10"/>
          <p:cNvSpPr/>
          <p:nvPr/>
        </p:nvSpPr>
        <p:spPr>
          <a:xfrm>
            <a:off x="4827960" y="205740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02</a:t>
            </a:r>
            <a:endParaRPr lang="fr-FR" sz="1300" b="0" u="none" strike="noStrike">
              <a:solidFill>
                <a:srgbClr val="000000"/>
              </a:solidFill>
              <a:effectLst/>
              <a:uFillTx/>
              <a:latin typeface="Arial"/>
            </a:endParaRPr>
          </a:p>
        </p:txBody>
      </p:sp>
      <p:sp>
        <p:nvSpPr>
          <p:cNvPr id="1967" name="Text 11"/>
          <p:cNvSpPr/>
          <p:nvPr/>
        </p:nvSpPr>
        <p:spPr>
          <a:xfrm>
            <a:off x="5303520" y="207576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SYSTÈME I18N CUSTOM</a:t>
            </a:r>
            <a:endParaRPr lang="fr-FR" sz="1100" b="0" u="none" strike="noStrike">
              <a:solidFill>
                <a:srgbClr val="000000"/>
              </a:solidFill>
              <a:effectLst/>
              <a:uFillTx/>
              <a:latin typeface="Arial"/>
            </a:endParaRPr>
          </a:p>
        </p:txBody>
      </p:sp>
      <p:sp>
        <p:nvSpPr>
          <p:cNvPr id="1968" name="Text 12"/>
          <p:cNvSpPr/>
          <p:nvPr/>
        </p:nvSpPr>
        <p:spPr>
          <a:xfrm>
            <a:off x="4827960" y="242316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Trois langues prises en charge sans plugin tiers (FR, EN, NL). Les textes vivent dans des fichiers JSON séparés, l'attribut data-i18n désigne la clé à remplacer. La préférence est mémorisée dans localStorage. Préparation au hreflang pour le SEO multilingue.</a:t>
            </a:r>
            <a:endParaRPr lang="fr-FR" sz="950" b="0" u="none" strike="noStrike">
              <a:solidFill>
                <a:srgbClr val="000000"/>
              </a:solidFill>
              <a:effectLst/>
              <a:uFillTx/>
              <a:latin typeface="Arial"/>
            </a:endParaRPr>
          </a:p>
        </p:txBody>
      </p:sp>
      <p:sp>
        <p:nvSpPr>
          <p:cNvPr id="1969" name="Shape 13"/>
          <p:cNvSpPr/>
          <p:nvPr/>
        </p:nvSpPr>
        <p:spPr>
          <a:xfrm>
            <a:off x="457200" y="338328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70" name="Text 14"/>
          <p:cNvSpPr/>
          <p:nvPr/>
        </p:nvSpPr>
        <p:spPr>
          <a:xfrm>
            <a:off x="621720" y="33375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03</a:t>
            </a:r>
            <a:endParaRPr lang="fr-FR" sz="1300" b="0" u="none" strike="noStrike">
              <a:solidFill>
                <a:srgbClr val="000000"/>
              </a:solidFill>
              <a:effectLst/>
              <a:uFillTx/>
              <a:latin typeface="Arial"/>
            </a:endParaRPr>
          </a:p>
        </p:txBody>
      </p:sp>
      <p:sp>
        <p:nvSpPr>
          <p:cNvPr id="1971" name="Text 15"/>
          <p:cNvSpPr/>
          <p:nvPr/>
        </p:nvSpPr>
        <p:spPr>
          <a:xfrm>
            <a:off x="1097280" y="33559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LIGHTBOX ACCESSIBLE</a:t>
            </a:r>
            <a:endParaRPr lang="fr-FR" sz="1100" b="0" u="none" strike="noStrike">
              <a:solidFill>
                <a:srgbClr val="000000"/>
              </a:solidFill>
              <a:effectLst/>
              <a:uFillTx/>
              <a:latin typeface="Arial"/>
            </a:endParaRPr>
          </a:p>
        </p:txBody>
      </p:sp>
      <p:sp>
        <p:nvSpPr>
          <p:cNvPr id="1972" name="Text 16"/>
          <p:cNvSpPr/>
          <p:nvPr/>
        </p:nvSpPr>
        <p:spPr>
          <a:xfrm>
            <a:off x="621720" y="370332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Visionneuse photo conforme aux WCAG : rôle dialog, aria-modal, focus piégé, gestion de la touche Escape. Swipe tactile sur mobile. Navigation flèches du clavier sur desktop. Le focus revient à l'élément déclencheur à la fermeture.</a:t>
            </a:r>
            <a:endParaRPr lang="fr-FR" sz="950" b="0" u="none" strike="noStrike">
              <a:solidFill>
                <a:srgbClr val="000000"/>
              </a:solidFill>
              <a:effectLst/>
              <a:uFillTx/>
              <a:latin typeface="Arial"/>
            </a:endParaRPr>
          </a:p>
        </p:txBody>
      </p:sp>
      <p:sp>
        <p:nvSpPr>
          <p:cNvPr id="1973" name="Shape 17"/>
          <p:cNvSpPr/>
          <p:nvPr/>
        </p:nvSpPr>
        <p:spPr>
          <a:xfrm>
            <a:off x="4663440" y="338328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74" name="Text 18"/>
          <p:cNvSpPr/>
          <p:nvPr/>
        </p:nvSpPr>
        <p:spPr>
          <a:xfrm>
            <a:off x="4827960" y="33375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04</a:t>
            </a:r>
            <a:endParaRPr lang="fr-FR" sz="1300" b="0" u="none" strike="noStrike">
              <a:solidFill>
                <a:srgbClr val="000000"/>
              </a:solidFill>
              <a:effectLst/>
              <a:uFillTx/>
              <a:latin typeface="Arial"/>
            </a:endParaRPr>
          </a:p>
        </p:txBody>
      </p:sp>
      <p:sp>
        <p:nvSpPr>
          <p:cNvPr id="1975" name="Text 19"/>
          <p:cNvSpPr/>
          <p:nvPr/>
        </p:nvSpPr>
        <p:spPr>
          <a:xfrm>
            <a:off x="5303520" y="33559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CARROUSEL DE 47 PHOTOS</a:t>
            </a:r>
            <a:endParaRPr lang="fr-FR" sz="1100" b="0" u="none" strike="noStrike">
              <a:solidFill>
                <a:srgbClr val="000000"/>
              </a:solidFill>
              <a:effectLst/>
              <a:uFillTx/>
              <a:latin typeface="Arial"/>
            </a:endParaRPr>
          </a:p>
        </p:txBody>
      </p:sp>
      <p:sp>
        <p:nvSpPr>
          <p:cNvPr id="1976" name="Text 20"/>
          <p:cNvSpPr/>
          <p:nvPr/>
        </p:nvSpPr>
        <p:spPr>
          <a:xfrm>
            <a:off x="4827960" y="370332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Carrousel avec autoplay configurable, vignettes, dots, navigation clavier. Pause automatique au hover et quand l'onglet n'est pas visible. Lazy loading natif, intégration directe avec la lightbox via une classe partagée.</a:t>
            </a:r>
            <a:endParaRPr lang="fr-FR" sz="950" b="0" u="none" strike="noStrike">
              <a:solidFill>
                <a:srgbClr val="000000"/>
              </a:solidFill>
              <a:effectLst/>
              <a:uFillTx/>
              <a:latin typeface="Arial"/>
            </a:endParaRPr>
          </a:p>
        </p:txBody>
      </p:sp>
      <p:sp>
        <p:nvSpPr>
          <p:cNvPr id="1977" name="Text 21"/>
          <p:cNvSpPr/>
          <p:nvPr/>
        </p:nvSpPr>
        <p:spPr>
          <a:xfrm>
            <a:off x="457200" y="4617720"/>
            <a:ext cx="82224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Contraste vert forêt / crème : 9.6:1 — niveau AAA des WCAG 2.1.</a:t>
            </a:r>
            <a:endParaRPr lang="fr-FR" sz="900" b="0" u="none" strike="noStrike">
              <a:solidFill>
                <a:srgbClr val="000000"/>
              </a:solidFill>
              <a:effectLst/>
              <a:uFillTx/>
              <a:latin typeface="Arial"/>
            </a:endParaRPr>
          </a:p>
        </p:txBody>
      </p:sp>
      <p:sp>
        <p:nvSpPr>
          <p:cNvPr id="1978"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79"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1980"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93</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198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198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198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1984" name="Text 3"/>
          <p:cNvSpPr/>
          <p:nvPr/>
        </p:nvSpPr>
        <p:spPr>
          <a:xfrm>
            <a:off x="457200" y="777240"/>
            <a:ext cx="82224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201" strike="noStrike">
                <a:solidFill>
                  <a:srgbClr val="BF360C"/>
                </a:solidFill>
                <a:effectLst/>
                <a:uFillTx/>
                <a:latin typeface="Satoshi"/>
                <a:ea typeface="Satoshi"/>
              </a:rPr>
              <a:t>PROJET · 02</a:t>
            </a:r>
            <a:endParaRPr lang="fr-FR" sz="1100" b="0" u="none" strike="noStrike">
              <a:solidFill>
                <a:srgbClr val="000000"/>
              </a:solidFill>
              <a:effectLst/>
              <a:uFillTx/>
              <a:latin typeface="Arial"/>
            </a:endParaRPr>
          </a:p>
        </p:txBody>
      </p:sp>
      <p:sp>
        <p:nvSpPr>
          <p:cNvPr id="1985" name="Text 4"/>
          <p:cNvSpPr/>
          <p:nvPr/>
        </p:nvSpPr>
        <p:spPr>
          <a:xfrm>
            <a:off x="457200" y="109728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Saobio</a:t>
            </a:r>
            <a:endParaRPr lang="fr-FR" sz="5600" b="0" u="none" strike="noStrike">
              <a:solidFill>
                <a:srgbClr val="000000"/>
              </a:solidFill>
              <a:effectLst/>
              <a:uFillTx/>
              <a:latin typeface="Arial"/>
            </a:endParaRPr>
          </a:p>
        </p:txBody>
      </p:sp>
      <p:sp>
        <p:nvSpPr>
          <p:cNvPr id="1986" name="Text 5"/>
          <p:cNvSpPr/>
          <p:nvPr/>
        </p:nvSpPr>
        <p:spPr>
          <a:xfrm>
            <a:off x="457200" y="182880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500" b="0" i="1" u="none" strike="noStrike">
                <a:solidFill>
                  <a:srgbClr val="37474F"/>
                </a:solidFill>
                <a:effectLst/>
                <a:uFillTx/>
                <a:latin typeface="Satoshi"/>
                <a:ea typeface="Satoshi"/>
              </a:rPr>
              <a:t>secretdecoton.fr — stage Bachelor (14 semaines)</a:t>
            </a:r>
            <a:endParaRPr lang="fr-FR" sz="1500" b="0" u="none" strike="noStrike">
              <a:solidFill>
                <a:srgbClr val="000000"/>
              </a:solidFill>
              <a:effectLst/>
              <a:uFillTx/>
              <a:latin typeface="Arial"/>
            </a:endParaRPr>
          </a:p>
        </p:txBody>
      </p:sp>
      <p:sp>
        <p:nvSpPr>
          <p:cNvPr id="1987" name="Text 6"/>
          <p:cNvSpPr/>
          <p:nvPr/>
        </p:nvSpPr>
        <p:spPr>
          <a:xfrm>
            <a:off x="457200" y="2286000"/>
            <a:ext cx="4930560" cy="23702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Saobio est une entreprise normande qui développe une gamme de lingerie et de cosmétiques en coton biologique. Le stage couvre la création complète d'un nouveau site marchand, secretdecoton.fr, au sein d'un écosystème PrestaShop multiboutique.</a:t>
            </a:r>
            <a:endParaRPr lang="fr-FR" sz="11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100" b="0" u="none" strike="noStrike">
                <a:solidFill>
                  <a:srgbClr val="0A0A0A"/>
                </a:solidFill>
                <a:effectLst/>
                <a:uFillTx/>
                <a:latin typeface="Satoshi"/>
                <a:ea typeface="Satoshi"/>
              </a:rPr>
              <a:t>C'est mon premier projet à enjeu commercial direct. La logique est très différente de celle des Tourelles : l'utilisateur arrive avec une intention d'achat, le tunnel doit l'y conduire sans friction. J'apprends la rigueur particulière des catalogues — variantes, attributs, stocks, fiches produits localisées —, et les compromis qu'impose un CMS e-commerce installé.</a:t>
            </a:r>
            <a:endParaRPr lang="fr-FR" sz="1100" b="0" u="none" strike="noStrike">
              <a:solidFill>
                <a:srgbClr val="000000"/>
              </a:solidFill>
              <a:effectLst/>
              <a:uFillTx/>
              <a:latin typeface="Arial"/>
            </a:endParaRPr>
          </a:p>
        </p:txBody>
      </p:sp>
      <p:sp>
        <p:nvSpPr>
          <p:cNvPr id="1988" name="Shape 7"/>
          <p:cNvSpPr/>
          <p:nvPr/>
        </p:nvSpPr>
        <p:spPr>
          <a:xfrm>
            <a:off x="5669280" y="2286000"/>
            <a:ext cx="3101760" cy="2370240"/>
          </a:xfrm>
          <a:prstGeom prst="rect">
            <a:avLst/>
          </a:prstGeom>
          <a:solidFill>
            <a:srgbClr val="0A0A0A"/>
          </a:solidFill>
          <a:ln w="12700">
            <a:solidFill>
              <a:srgbClr val="0A0A0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89" name="Text 8"/>
          <p:cNvSpPr/>
          <p:nvPr/>
        </p:nvSpPr>
        <p:spPr>
          <a:xfrm>
            <a:off x="5852160" y="2423160"/>
            <a:ext cx="27360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FFB300"/>
                </a:solidFill>
                <a:effectLst/>
                <a:uFillTx/>
                <a:latin typeface="Satoshi"/>
                <a:ea typeface="Satoshi"/>
              </a:rPr>
              <a:t>FICHE</a:t>
            </a:r>
            <a:endParaRPr lang="fr-FR" sz="900" b="0" u="none" strike="noStrike">
              <a:solidFill>
                <a:srgbClr val="000000"/>
              </a:solidFill>
              <a:effectLst/>
              <a:uFillTx/>
              <a:latin typeface="Arial"/>
            </a:endParaRPr>
          </a:p>
        </p:txBody>
      </p:sp>
      <p:sp>
        <p:nvSpPr>
          <p:cNvPr id="1990" name="Text 9"/>
          <p:cNvSpPr/>
          <p:nvPr/>
        </p:nvSpPr>
        <p:spPr>
          <a:xfrm>
            <a:off x="5852160" y="27432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PÉRIODE</a:t>
            </a:r>
            <a:endParaRPr lang="fr-FR" sz="800" b="0" u="none" strike="noStrike">
              <a:solidFill>
                <a:srgbClr val="000000"/>
              </a:solidFill>
              <a:effectLst/>
              <a:uFillTx/>
              <a:latin typeface="Arial"/>
            </a:endParaRPr>
          </a:p>
        </p:txBody>
      </p:sp>
      <p:sp>
        <p:nvSpPr>
          <p:cNvPr id="1991" name="Text 10"/>
          <p:cNvSpPr/>
          <p:nvPr/>
        </p:nvSpPr>
        <p:spPr>
          <a:xfrm>
            <a:off x="6949440" y="274320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23 fév → 31 mai 2026</a:t>
            </a:r>
            <a:endParaRPr lang="fr-FR" sz="950" b="0" u="none" strike="noStrike">
              <a:solidFill>
                <a:srgbClr val="000000"/>
              </a:solidFill>
              <a:effectLst/>
              <a:uFillTx/>
              <a:latin typeface="Arial"/>
            </a:endParaRPr>
          </a:p>
        </p:txBody>
      </p:sp>
      <p:sp>
        <p:nvSpPr>
          <p:cNvPr id="1992" name="Text 11"/>
          <p:cNvSpPr/>
          <p:nvPr/>
        </p:nvSpPr>
        <p:spPr>
          <a:xfrm>
            <a:off x="5852160" y="29901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LOCALISATION</a:t>
            </a:r>
            <a:endParaRPr lang="fr-FR" sz="800" b="0" u="none" strike="noStrike">
              <a:solidFill>
                <a:srgbClr val="000000"/>
              </a:solidFill>
              <a:effectLst/>
              <a:uFillTx/>
              <a:latin typeface="Arial"/>
            </a:endParaRPr>
          </a:p>
        </p:txBody>
      </p:sp>
      <p:sp>
        <p:nvSpPr>
          <p:cNvPr id="1993" name="Text 12"/>
          <p:cNvSpPr/>
          <p:nvPr/>
        </p:nvSpPr>
        <p:spPr>
          <a:xfrm>
            <a:off x="6949440" y="299016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Saint-Pair-sur-Mer, La Manche (50)</a:t>
            </a:r>
            <a:endParaRPr lang="fr-FR" sz="950" b="0" u="none" strike="noStrike">
              <a:solidFill>
                <a:srgbClr val="000000"/>
              </a:solidFill>
              <a:effectLst/>
              <a:uFillTx/>
              <a:latin typeface="Arial"/>
            </a:endParaRPr>
          </a:p>
        </p:txBody>
      </p:sp>
      <p:sp>
        <p:nvSpPr>
          <p:cNvPr id="1994" name="Text 13"/>
          <p:cNvSpPr/>
          <p:nvPr/>
        </p:nvSpPr>
        <p:spPr>
          <a:xfrm>
            <a:off x="5852160" y="3237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TYPE</a:t>
            </a:r>
            <a:endParaRPr lang="fr-FR" sz="800" b="0" u="none" strike="noStrike">
              <a:solidFill>
                <a:srgbClr val="000000"/>
              </a:solidFill>
              <a:effectLst/>
              <a:uFillTx/>
              <a:latin typeface="Arial"/>
            </a:endParaRPr>
          </a:p>
        </p:txBody>
      </p:sp>
      <p:sp>
        <p:nvSpPr>
          <p:cNvPr id="1995" name="Text 14"/>
          <p:cNvSpPr/>
          <p:nvPr/>
        </p:nvSpPr>
        <p:spPr>
          <a:xfrm>
            <a:off x="6949440" y="323712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Site marchand B2C</a:t>
            </a:r>
            <a:endParaRPr lang="fr-FR" sz="950" b="0" u="none" strike="noStrike">
              <a:solidFill>
                <a:srgbClr val="000000"/>
              </a:solidFill>
              <a:effectLst/>
              <a:uFillTx/>
              <a:latin typeface="Arial"/>
            </a:endParaRPr>
          </a:p>
        </p:txBody>
      </p:sp>
      <p:sp>
        <p:nvSpPr>
          <p:cNvPr id="1996" name="Text 15"/>
          <p:cNvSpPr/>
          <p:nvPr/>
        </p:nvSpPr>
        <p:spPr>
          <a:xfrm>
            <a:off x="5852160" y="34837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CMS</a:t>
            </a:r>
            <a:endParaRPr lang="fr-FR" sz="800" b="0" u="none" strike="noStrike">
              <a:solidFill>
                <a:srgbClr val="000000"/>
              </a:solidFill>
              <a:effectLst/>
              <a:uFillTx/>
              <a:latin typeface="Arial"/>
            </a:endParaRPr>
          </a:p>
        </p:txBody>
      </p:sp>
      <p:sp>
        <p:nvSpPr>
          <p:cNvPr id="1997" name="Text 16"/>
          <p:cNvSpPr/>
          <p:nvPr/>
        </p:nvSpPr>
        <p:spPr>
          <a:xfrm>
            <a:off x="6949440" y="348372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PrestaShop multiboutique</a:t>
            </a:r>
            <a:endParaRPr lang="fr-FR" sz="950" b="0" u="none" strike="noStrike">
              <a:solidFill>
                <a:srgbClr val="000000"/>
              </a:solidFill>
              <a:effectLst/>
              <a:uFillTx/>
              <a:latin typeface="Arial"/>
            </a:endParaRPr>
          </a:p>
        </p:txBody>
      </p:sp>
      <p:sp>
        <p:nvSpPr>
          <p:cNvPr id="1998" name="Text 17"/>
          <p:cNvSpPr/>
          <p:nvPr/>
        </p:nvSpPr>
        <p:spPr>
          <a:xfrm>
            <a:off x="5852160" y="373068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ENCADRANT</a:t>
            </a:r>
            <a:endParaRPr lang="fr-FR" sz="800" b="0" u="none" strike="noStrike">
              <a:solidFill>
                <a:srgbClr val="000000"/>
              </a:solidFill>
              <a:effectLst/>
              <a:uFillTx/>
              <a:latin typeface="Arial"/>
            </a:endParaRPr>
          </a:p>
        </p:txBody>
      </p:sp>
      <p:sp>
        <p:nvSpPr>
          <p:cNvPr id="1999" name="Text 18"/>
          <p:cNvSpPr/>
          <p:nvPr/>
        </p:nvSpPr>
        <p:spPr>
          <a:xfrm>
            <a:off x="6949440" y="373068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Lucas TREHET</a:t>
            </a:r>
            <a:endParaRPr lang="fr-FR" sz="950" b="0" u="none" strike="noStrike">
              <a:solidFill>
                <a:srgbClr val="000000"/>
              </a:solidFill>
              <a:effectLst/>
              <a:uFillTx/>
              <a:latin typeface="Arial"/>
            </a:endParaRPr>
          </a:p>
        </p:txBody>
      </p:sp>
      <p:sp>
        <p:nvSpPr>
          <p:cNvPr id="2000" name="Text 19"/>
          <p:cNvSpPr/>
          <p:nvPr/>
        </p:nvSpPr>
        <p:spPr>
          <a:xfrm>
            <a:off x="5852160" y="397764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RÉFÉRENT</a:t>
            </a:r>
            <a:endParaRPr lang="fr-FR" sz="800" b="0" u="none" strike="noStrike">
              <a:solidFill>
                <a:srgbClr val="000000"/>
              </a:solidFill>
              <a:effectLst/>
              <a:uFillTx/>
              <a:latin typeface="Arial"/>
            </a:endParaRPr>
          </a:p>
        </p:txBody>
      </p:sp>
      <p:sp>
        <p:nvSpPr>
          <p:cNvPr id="2001" name="Text 20"/>
          <p:cNvSpPr/>
          <p:nvPr/>
        </p:nvSpPr>
        <p:spPr>
          <a:xfrm>
            <a:off x="6949440" y="397764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Benoît MOTTIN (FIM)</a:t>
            </a:r>
            <a:endParaRPr lang="fr-FR" sz="950" b="0" u="none" strike="noStrike">
              <a:solidFill>
                <a:srgbClr val="000000"/>
              </a:solidFill>
              <a:effectLst/>
              <a:uFillTx/>
              <a:latin typeface="Arial"/>
            </a:endParaRPr>
          </a:p>
        </p:txBody>
      </p:sp>
      <p:sp>
        <p:nvSpPr>
          <p:cNvPr id="2002" name="Text 21"/>
          <p:cNvSpPr/>
          <p:nvPr/>
        </p:nvSpPr>
        <p:spPr>
          <a:xfrm>
            <a:off x="5852160" y="42246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1" u="none" spc="99" strike="noStrike">
                <a:solidFill>
                  <a:srgbClr val="78909C"/>
                </a:solidFill>
                <a:effectLst/>
                <a:uFillTx/>
                <a:latin typeface="Satoshi"/>
                <a:ea typeface="Satoshi"/>
              </a:rPr>
              <a:t>STATUT</a:t>
            </a:r>
            <a:endParaRPr lang="fr-FR" sz="800" b="0" u="none" strike="noStrike">
              <a:solidFill>
                <a:srgbClr val="000000"/>
              </a:solidFill>
              <a:effectLst/>
              <a:uFillTx/>
              <a:latin typeface="Arial"/>
            </a:endParaRPr>
          </a:p>
        </p:txBody>
      </p:sp>
      <p:sp>
        <p:nvSpPr>
          <p:cNvPr id="2003" name="Text 22"/>
          <p:cNvSpPr/>
          <p:nvPr/>
        </p:nvSpPr>
        <p:spPr>
          <a:xfrm>
            <a:off x="6949440" y="4224600"/>
            <a:ext cx="1730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F4EFE6"/>
                </a:solidFill>
                <a:effectLst/>
                <a:uFillTx/>
                <a:latin typeface="Satoshi"/>
                <a:ea typeface="Satoshi"/>
              </a:rPr>
              <a:t>En production</a:t>
            </a:r>
            <a:endParaRPr lang="fr-FR" sz="950" b="0" u="none" strike="noStrike">
              <a:solidFill>
                <a:srgbClr val="000000"/>
              </a:solidFill>
              <a:effectLst/>
              <a:uFillTx/>
              <a:latin typeface="Arial"/>
            </a:endParaRPr>
          </a:p>
        </p:txBody>
      </p:sp>
      <p:sp>
        <p:nvSpPr>
          <p:cNvPr id="2004" name="Shape 2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05" name="Text 2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006" name="Text 2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007"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008"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009"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10"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SAOBIO — TECHNIQUE</a:t>
            </a:r>
            <a:endParaRPr lang="fr-FR" sz="3200" b="0" u="none" strike="noStrike">
              <a:solidFill>
                <a:srgbClr val="000000"/>
              </a:solidFill>
              <a:effectLst/>
              <a:uFillTx/>
              <a:latin typeface="Arial"/>
            </a:endParaRPr>
          </a:p>
        </p:txBody>
      </p:sp>
      <p:sp>
        <p:nvSpPr>
          <p:cNvPr id="2011"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PrestaShop multistore et personnalisations front-end — architecture de secretdecoton.fr</a:t>
            </a:r>
            <a:endParaRPr lang="fr-FR" sz="1300" b="0" u="none" strike="noStrike">
              <a:solidFill>
                <a:srgbClr val="000000"/>
              </a:solidFill>
              <a:effectLst/>
              <a:uFillTx/>
              <a:latin typeface="Arial"/>
            </a:endParaRPr>
          </a:p>
        </p:txBody>
      </p:sp>
      <p:sp>
        <p:nvSpPr>
          <p:cNvPr id="2012" name="Text 5"/>
          <p:cNvSpPr/>
          <p:nvPr/>
        </p:nvSpPr>
        <p:spPr>
          <a:xfrm>
            <a:off x="457200" y="2011680"/>
            <a:ext cx="8222400" cy="632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 site secretdecoton.fr s'intègre dans un écosystème PrestaShop multiboutique. Le travail couvre la personnalisation du thème, l'architecture du catalogue produits, et le développement de composants front-end en HTML/CSS/JavaScript natifs greffés au CMS. Une bonne occasion de manipuler un e-commerce de taille réelle tout en gardant le contact avec le code.</a:t>
            </a:r>
            <a:endParaRPr lang="fr-FR" sz="1100" b="0" u="none" strike="noStrike">
              <a:solidFill>
                <a:srgbClr val="000000"/>
              </a:solidFill>
              <a:effectLst/>
              <a:uFillTx/>
              <a:latin typeface="Arial"/>
            </a:endParaRPr>
          </a:p>
        </p:txBody>
      </p:sp>
      <p:sp>
        <p:nvSpPr>
          <p:cNvPr id="2013" name="Text 6"/>
          <p:cNvSpPr/>
          <p:nvPr/>
        </p:nvSpPr>
        <p:spPr>
          <a:xfrm>
            <a:off x="457200" y="2635200"/>
            <a:ext cx="401616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ORGANISATION DU CODE</a:t>
            </a:r>
            <a:endParaRPr lang="fr-FR" sz="1000" b="0" u="none" strike="noStrike">
              <a:solidFill>
                <a:srgbClr val="000000"/>
              </a:solidFill>
              <a:effectLst/>
              <a:uFillTx/>
              <a:latin typeface="Arial"/>
            </a:endParaRPr>
          </a:p>
        </p:txBody>
      </p:sp>
      <p:sp>
        <p:nvSpPr>
          <p:cNvPr id="2014" name="Text 7"/>
          <p:cNvSpPr/>
          <p:nvPr/>
        </p:nvSpPr>
        <p:spPr>
          <a:xfrm>
            <a:off x="457200" y="2863800"/>
            <a:ext cx="456480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fr-FR" sz="1000" b="1" u="none" strike="noStrike">
                <a:solidFill>
                  <a:srgbClr val="0A0A0A"/>
                </a:solidFill>
                <a:effectLst/>
                <a:uFillTx/>
                <a:latin typeface="Courier New"/>
                <a:ea typeface="Courier New"/>
              </a:rPr>
              <a:t>/public/css/</a:t>
            </a:r>
            <a:endParaRPr lang="fr-FR" sz="100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style.css — feuille principale du thème</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Variables CSS personnalisées (palette, typo)</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Composants : header, mega-menu, hero, cartes</a:t>
            </a:r>
            <a:endParaRPr lang="fr-FR" sz="950" b="0" u="none" strike="noStrike">
              <a:solidFill>
                <a:srgbClr val="000000"/>
              </a:solidFill>
              <a:effectLst/>
              <a:uFillTx/>
              <a:latin typeface="Arial"/>
            </a:endParaRPr>
          </a:p>
          <a:p>
            <a:pPr defTabSz="914400">
              <a:lnSpc>
                <a:spcPct val="100000"/>
              </a:lnSpc>
              <a:tabLst>
                <a:tab pos="0" algn="l"/>
              </a:tabLst>
            </a:pPr>
            <a:r>
              <a:rPr lang="fr-FR" sz="400" b="0" u="none" strike="noStrike">
                <a:solidFill>
                  <a:srgbClr val="000000"/>
                </a:solidFill>
                <a:effectLst/>
                <a:uFillTx/>
                <a:latin typeface="Calibri"/>
                <a:ea typeface="Courier New"/>
              </a:rPr>
              <a:t> </a:t>
            </a:r>
            <a:endParaRPr lang="fr-FR" sz="400" b="0" u="none" strike="noStrike">
              <a:solidFill>
                <a:srgbClr val="000000"/>
              </a:solidFill>
              <a:effectLst/>
              <a:uFillTx/>
              <a:latin typeface="Arial"/>
            </a:endParaRPr>
          </a:p>
          <a:p>
            <a:pPr defTabSz="914400">
              <a:lnSpc>
                <a:spcPct val="100000"/>
              </a:lnSpc>
              <a:tabLst>
                <a:tab pos="0" algn="l"/>
              </a:tabLst>
            </a:pPr>
            <a:r>
              <a:rPr lang="fr-FR" sz="1000" b="1" u="none" strike="noStrike">
                <a:solidFill>
                  <a:srgbClr val="0A0A0A"/>
                </a:solidFill>
                <a:effectLst/>
                <a:uFillTx/>
                <a:latin typeface="Courier New"/>
                <a:ea typeface="Courier New"/>
              </a:rPr>
              <a:t>/public/js/</a:t>
            </a:r>
            <a:endParaRPr lang="fr-FR" sz="100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lang.js — bascule FR/EN avec drapeaux SVG</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hero-slider.js — carrousel hero avec dots</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promo-bar.js — bandeau promo défilant</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mega-menu.js — navigation à plusieurs colonnes</a:t>
            </a:r>
            <a:endParaRPr lang="fr-FR" sz="950" b="0" u="none" strike="noStrike">
              <a:solidFill>
                <a:srgbClr val="000000"/>
              </a:solidFill>
              <a:effectLst/>
              <a:uFillTx/>
              <a:latin typeface="Arial"/>
            </a:endParaRPr>
          </a:p>
          <a:p>
            <a:pPr defTabSz="914400">
              <a:lnSpc>
                <a:spcPct val="100000"/>
              </a:lnSpc>
              <a:tabLst>
                <a:tab pos="0" algn="l"/>
              </a:tabLst>
            </a:pPr>
            <a:r>
              <a:rPr lang="fr-FR" sz="950" b="0" u="none" strike="noStrike">
                <a:solidFill>
                  <a:srgbClr val="37474F"/>
                </a:solidFill>
                <a:effectLst/>
                <a:uFillTx/>
                <a:latin typeface="Courier New"/>
                <a:ea typeface="Courier New"/>
              </a:rPr>
              <a:t>  newsletter.js — formulaire avec validation</a:t>
            </a:r>
            <a:endParaRPr lang="fr-FR" sz="950" b="0" u="none" strike="noStrike">
              <a:solidFill>
                <a:srgbClr val="000000"/>
              </a:solidFill>
              <a:effectLst/>
              <a:uFillTx/>
              <a:latin typeface="Arial"/>
            </a:endParaRPr>
          </a:p>
        </p:txBody>
      </p:sp>
      <p:sp>
        <p:nvSpPr>
          <p:cNvPr id="2015" name="Text 8"/>
          <p:cNvSpPr/>
          <p:nvPr/>
        </p:nvSpPr>
        <p:spPr>
          <a:xfrm>
            <a:off x="5303520" y="2635200"/>
            <a:ext cx="3467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CE QUE CE PROJET PROUVE</a:t>
            </a:r>
            <a:endParaRPr lang="fr-FR" sz="1000" b="0" u="none" strike="noStrike">
              <a:solidFill>
                <a:srgbClr val="000000"/>
              </a:solidFill>
              <a:effectLst/>
              <a:uFillTx/>
              <a:latin typeface="Arial"/>
            </a:endParaRPr>
          </a:p>
        </p:txBody>
      </p:sp>
      <p:sp>
        <p:nvSpPr>
          <p:cNvPr id="2016" name="Text 9"/>
          <p:cNvSpPr/>
          <p:nvPr/>
        </p:nvSpPr>
        <p:spPr>
          <a:xfrm>
            <a:off x="5303520" y="2863800"/>
            <a:ext cx="346752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Maîtrise du CMS e-commerce</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Configuration et personnalisation d'un PrestaShop multistore complet.</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Catalogue structuré</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Architecture catégories, variantes produits, fiches multilingues.</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Front-end optimisé</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CSS et JS vanille ajoutés sans alourdir le CMS, lazy loading natif.</a:t>
            </a:r>
            <a:endParaRPr lang="fr-FR" sz="900" b="0" u="none" strike="noStrike">
              <a:solidFill>
                <a:srgbClr val="000000"/>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000000"/>
              </a:solidFill>
              <a:effectLst/>
              <a:uFillTx/>
              <a:latin typeface="Arial"/>
            </a:endParaRPr>
          </a:p>
          <a:p>
            <a:pPr defTabSz="914400">
              <a:lnSpc>
                <a:spcPct val="100000"/>
              </a:lnSpc>
              <a:spcAft>
                <a:spcPts val="99"/>
              </a:spcAft>
              <a:tabLst>
                <a:tab pos="0" algn="l"/>
              </a:tabLst>
            </a:pPr>
            <a:r>
              <a:rPr lang="fr-FR" sz="1000" b="1" u="none" strike="noStrike">
                <a:solidFill>
                  <a:srgbClr val="0A0A0A"/>
                </a:solidFill>
                <a:effectLst/>
                <a:uFillTx/>
                <a:latin typeface="Satoshi"/>
                <a:ea typeface="Satoshi"/>
              </a:rPr>
              <a:t>Contexte professionnel</a:t>
            </a:r>
            <a:endParaRPr lang="fr-FR" sz="1000" b="0" u="none" strike="noStrike">
              <a:solidFill>
                <a:srgbClr val="000000"/>
              </a:solidFill>
              <a:effectLst/>
              <a:uFillTx/>
              <a:latin typeface="Arial"/>
            </a:endParaRPr>
          </a:p>
          <a:p>
            <a:pPr defTabSz="914400">
              <a:lnSpc>
                <a:spcPct val="100000"/>
              </a:lnSpc>
              <a:spcAft>
                <a:spcPts val="99"/>
              </a:spcAft>
              <a:tabLst>
                <a:tab pos="0" algn="l"/>
              </a:tabLst>
            </a:pPr>
            <a:r>
              <a:rPr lang="fr-FR" sz="900" b="0" u="none" strike="noStrike">
                <a:solidFill>
                  <a:srgbClr val="37474F"/>
                </a:solidFill>
                <a:effectLst/>
                <a:uFillTx/>
                <a:latin typeface="Satoshi"/>
                <a:ea typeface="Satoshi"/>
              </a:rPr>
              <a:t>Projet de stage chez Saobio sur 14 semaines — site secretdecoton.fr.</a:t>
            </a:r>
            <a:endParaRPr lang="fr-FR" sz="900" b="0" u="none" strike="noStrike">
              <a:solidFill>
                <a:srgbClr val="000000"/>
              </a:solidFill>
              <a:effectLst/>
              <a:uFillTx/>
              <a:latin typeface="Arial"/>
            </a:endParaRPr>
          </a:p>
        </p:txBody>
      </p:sp>
      <p:sp>
        <p:nvSpPr>
          <p:cNvPr id="2017" name="Shape 1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18" name="Text 1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019" name="Text 1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02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02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02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2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SAOBIO — DESIGN</a:t>
            </a:r>
            <a:endParaRPr lang="fr-FR" sz="3200" b="0" u="none" strike="noStrike">
              <a:solidFill>
                <a:srgbClr val="000000"/>
              </a:solidFill>
              <a:effectLst/>
              <a:uFillTx/>
              <a:latin typeface="Arial"/>
            </a:endParaRPr>
          </a:p>
        </p:txBody>
      </p:sp>
      <p:sp>
        <p:nvSpPr>
          <p:cNvPr id="202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Design system « Coton bio » — élégance naturelle pour une marque de lingerie</a:t>
            </a:r>
            <a:endParaRPr lang="fr-FR" sz="1300" b="0" u="none" strike="noStrike">
              <a:solidFill>
                <a:srgbClr val="000000"/>
              </a:solidFill>
              <a:effectLst/>
              <a:uFillTx/>
              <a:latin typeface="Arial"/>
            </a:endParaRPr>
          </a:p>
        </p:txBody>
      </p:sp>
      <p:sp>
        <p:nvSpPr>
          <p:cNvPr id="2025" name="Text 5"/>
          <p:cNvSpPr/>
          <p:nvPr/>
        </p:nvSpPr>
        <p:spPr>
          <a:xfrm>
            <a:off x="457200" y="2011680"/>
            <a:ext cx="822240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0A0A0A"/>
                </a:solidFill>
                <a:effectLst/>
                <a:uFillTx/>
                <a:latin typeface="Satoshi"/>
                <a:ea typeface="Satoshi"/>
              </a:rPr>
              <a:t>Le design system de Secret de Coton transpose l'univers du coton biologique : douceur des teintes, élégance discrète, références botaniques. La palette dominée par le vert sauge évoque la naturalité du produit et installe une ambiance rassurante propice à l'achat.</a:t>
            </a:r>
            <a:endParaRPr lang="fr-FR" sz="1100" b="0" u="none" strike="noStrike">
              <a:solidFill>
                <a:srgbClr val="000000"/>
              </a:solidFill>
              <a:effectLst/>
              <a:uFillTx/>
              <a:latin typeface="Arial"/>
            </a:endParaRPr>
          </a:p>
        </p:txBody>
      </p:sp>
      <p:sp>
        <p:nvSpPr>
          <p:cNvPr id="2026" name="Shape 6"/>
          <p:cNvSpPr/>
          <p:nvPr/>
        </p:nvSpPr>
        <p:spPr>
          <a:xfrm>
            <a:off x="457200" y="2697480"/>
            <a:ext cx="1958760" cy="705960"/>
          </a:xfrm>
          <a:prstGeom prst="rect">
            <a:avLst/>
          </a:prstGeom>
          <a:solidFill>
            <a:srgbClr val="7E9B6D"/>
          </a:solidFill>
          <a:ln w="12700">
            <a:solidFill>
              <a:srgbClr val="7E9B6D"/>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27" name="Shape 7"/>
          <p:cNvSpPr/>
          <p:nvPr/>
        </p:nvSpPr>
        <p:spPr>
          <a:xfrm>
            <a:off x="45720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28" name="Text 8"/>
          <p:cNvSpPr/>
          <p:nvPr/>
        </p:nvSpPr>
        <p:spPr>
          <a:xfrm>
            <a:off x="54864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Vert sauge</a:t>
            </a:r>
            <a:endParaRPr lang="fr-FR" sz="1000" b="0" u="none" strike="noStrike">
              <a:solidFill>
                <a:srgbClr val="000000"/>
              </a:solidFill>
              <a:effectLst/>
              <a:uFillTx/>
              <a:latin typeface="Arial"/>
            </a:endParaRPr>
          </a:p>
        </p:txBody>
      </p:sp>
      <p:sp>
        <p:nvSpPr>
          <p:cNvPr id="2029" name="Text 9"/>
          <p:cNvSpPr/>
          <p:nvPr/>
        </p:nvSpPr>
        <p:spPr>
          <a:xfrm>
            <a:off x="144036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#7E9B6D</a:t>
            </a:r>
            <a:endParaRPr lang="fr-FR" sz="900" b="0" u="none" strike="noStrike">
              <a:solidFill>
                <a:srgbClr val="000000"/>
              </a:solidFill>
              <a:effectLst/>
              <a:uFillTx/>
              <a:latin typeface="Arial"/>
            </a:endParaRPr>
          </a:p>
        </p:txBody>
      </p:sp>
      <p:sp>
        <p:nvSpPr>
          <p:cNvPr id="2030" name="Text 10"/>
          <p:cNvSpPr/>
          <p:nvPr/>
        </p:nvSpPr>
        <p:spPr>
          <a:xfrm>
            <a:off x="54864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Primaire</a:t>
            </a:r>
            <a:endParaRPr lang="fr-FR" sz="800" b="0" u="none" strike="noStrike">
              <a:solidFill>
                <a:srgbClr val="000000"/>
              </a:solidFill>
              <a:effectLst/>
              <a:uFillTx/>
              <a:latin typeface="Arial"/>
            </a:endParaRPr>
          </a:p>
        </p:txBody>
      </p:sp>
      <p:sp>
        <p:nvSpPr>
          <p:cNvPr id="2031" name="Shape 11"/>
          <p:cNvSpPr/>
          <p:nvPr/>
        </p:nvSpPr>
        <p:spPr>
          <a:xfrm>
            <a:off x="2541960" y="2697480"/>
            <a:ext cx="1958760" cy="705960"/>
          </a:xfrm>
          <a:prstGeom prst="rect">
            <a:avLst/>
          </a:prstGeom>
          <a:solidFill>
            <a:srgbClr val="C9A879"/>
          </a:solidFill>
          <a:ln w="12700">
            <a:solidFill>
              <a:srgbClr val="C9A879"/>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32" name="Shape 12"/>
          <p:cNvSpPr/>
          <p:nvPr/>
        </p:nvSpPr>
        <p:spPr>
          <a:xfrm>
            <a:off x="254196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33" name="Text 13"/>
          <p:cNvSpPr/>
          <p:nvPr/>
        </p:nvSpPr>
        <p:spPr>
          <a:xfrm>
            <a:off x="263340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Sable doré</a:t>
            </a:r>
            <a:endParaRPr lang="fr-FR" sz="1000" b="0" u="none" strike="noStrike">
              <a:solidFill>
                <a:srgbClr val="000000"/>
              </a:solidFill>
              <a:effectLst/>
              <a:uFillTx/>
              <a:latin typeface="Arial"/>
            </a:endParaRPr>
          </a:p>
        </p:txBody>
      </p:sp>
      <p:sp>
        <p:nvSpPr>
          <p:cNvPr id="2034" name="Text 14"/>
          <p:cNvSpPr/>
          <p:nvPr/>
        </p:nvSpPr>
        <p:spPr>
          <a:xfrm>
            <a:off x="352512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#C9A879</a:t>
            </a:r>
            <a:endParaRPr lang="fr-FR" sz="900" b="0" u="none" strike="noStrike">
              <a:solidFill>
                <a:srgbClr val="000000"/>
              </a:solidFill>
              <a:effectLst/>
              <a:uFillTx/>
              <a:latin typeface="Arial"/>
            </a:endParaRPr>
          </a:p>
        </p:txBody>
      </p:sp>
      <p:sp>
        <p:nvSpPr>
          <p:cNvPr id="2035" name="Text 15"/>
          <p:cNvSpPr/>
          <p:nvPr/>
        </p:nvSpPr>
        <p:spPr>
          <a:xfrm>
            <a:off x="263340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Accent</a:t>
            </a:r>
            <a:endParaRPr lang="fr-FR" sz="800" b="0" u="none" strike="noStrike">
              <a:solidFill>
                <a:srgbClr val="000000"/>
              </a:solidFill>
              <a:effectLst/>
              <a:uFillTx/>
              <a:latin typeface="Arial"/>
            </a:endParaRPr>
          </a:p>
        </p:txBody>
      </p:sp>
      <p:sp>
        <p:nvSpPr>
          <p:cNvPr id="2036" name="Shape 16"/>
          <p:cNvSpPr/>
          <p:nvPr/>
        </p:nvSpPr>
        <p:spPr>
          <a:xfrm>
            <a:off x="4626720" y="2697480"/>
            <a:ext cx="1958760" cy="705960"/>
          </a:xfrm>
          <a:prstGeom prst="rect">
            <a:avLst/>
          </a:prstGeom>
          <a:solidFill>
            <a:srgbClr val="FAF7F2"/>
          </a:solidFill>
          <a:ln w="12700">
            <a:solidFill>
              <a:srgbClr val="FAF7F2"/>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37" name="Shape 17"/>
          <p:cNvSpPr/>
          <p:nvPr/>
        </p:nvSpPr>
        <p:spPr>
          <a:xfrm>
            <a:off x="462672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38" name="Text 18"/>
          <p:cNvSpPr/>
          <p:nvPr/>
        </p:nvSpPr>
        <p:spPr>
          <a:xfrm>
            <a:off x="471816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Crème coton</a:t>
            </a:r>
            <a:endParaRPr lang="fr-FR" sz="1000" b="0" u="none" strike="noStrike">
              <a:solidFill>
                <a:srgbClr val="000000"/>
              </a:solidFill>
              <a:effectLst/>
              <a:uFillTx/>
              <a:latin typeface="Arial"/>
            </a:endParaRPr>
          </a:p>
        </p:txBody>
      </p:sp>
      <p:sp>
        <p:nvSpPr>
          <p:cNvPr id="2039" name="Text 19"/>
          <p:cNvSpPr/>
          <p:nvPr/>
        </p:nvSpPr>
        <p:spPr>
          <a:xfrm>
            <a:off x="560988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#FAF7F2</a:t>
            </a:r>
            <a:endParaRPr lang="fr-FR" sz="900" b="0" u="none" strike="noStrike">
              <a:solidFill>
                <a:srgbClr val="000000"/>
              </a:solidFill>
              <a:effectLst/>
              <a:uFillTx/>
              <a:latin typeface="Arial"/>
            </a:endParaRPr>
          </a:p>
        </p:txBody>
      </p:sp>
      <p:sp>
        <p:nvSpPr>
          <p:cNvPr id="2040" name="Text 20"/>
          <p:cNvSpPr/>
          <p:nvPr/>
        </p:nvSpPr>
        <p:spPr>
          <a:xfrm>
            <a:off x="471816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Surface</a:t>
            </a:r>
            <a:endParaRPr lang="fr-FR" sz="800" b="0" u="none" strike="noStrike">
              <a:solidFill>
                <a:srgbClr val="000000"/>
              </a:solidFill>
              <a:effectLst/>
              <a:uFillTx/>
              <a:latin typeface="Arial"/>
            </a:endParaRPr>
          </a:p>
        </p:txBody>
      </p:sp>
      <p:sp>
        <p:nvSpPr>
          <p:cNvPr id="2041" name="Shape 21"/>
          <p:cNvSpPr/>
          <p:nvPr/>
        </p:nvSpPr>
        <p:spPr>
          <a:xfrm>
            <a:off x="6711840" y="2697480"/>
            <a:ext cx="1958760" cy="705960"/>
          </a:xfrm>
          <a:prstGeom prst="rect">
            <a:avLst/>
          </a:prstGeom>
          <a:solidFill>
            <a:srgbClr val="1A1A1A"/>
          </a:solidFill>
          <a:ln w="12700">
            <a:solidFill>
              <a:srgbClr val="1A1A1A"/>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42" name="Shape 22"/>
          <p:cNvSpPr/>
          <p:nvPr/>
        </p:nvSpPr>
        <p:spPr>
          <a:xfrm>
            <a:off x="6711840" y="3410640"/>
            <a:ext cx="1958760" cy="46836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43" name="Text 23"/>
          <p:cNvSpPr/>
          <p:nvPr/>
        </p:nvSpPr>
        <p:spPr>
          <a:xfrm>
            <a:off x="6803280" y="3434400"/>
            <a:ext cx="107424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Encre</a:t>
            </a:r>
            <a:endParaRPr lang="fr-FR" sz="1000" b="0" u="none" strike="noStrike">
              <a:solidFill>
                <a:srgbClr val="000000"/>
              </a:solidFill>
              <a:effectLst/>
              <a:uFillTx/>
              <a:latin typeface="Arial"/>
            </a:endParaRPr>
          </a:p>
        </p:txBody>
      </p:sp>
      <p:sp>
        <p:nvSpPr>
          <p:cNvPr id="2044" name="Text 24"/>
          <p:cNvSpPr/>
          <p:nvPr/>
        </p:nvSpPr>
        <p:spPr>
          <a:xfrm>
            <a:off x="7694640" y="3434400"/>
            <a:ext cx="884520" cy="175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0" u="none" strike="noStrike">
                <a:solidFill>
                  <a:srgbClr val="37474F"/>
                </a:solidFill>
                <a:effectLst/>
                <a:uFillTx/>
                <a:latin typeface="Satoshi"/>
                <a:ea typeface="Satoshi"/>
              </a:rPr>
              <a:t>#1A1A1A</a:t>
            </a:r>
            <a:endParaRPr lang="fr-FR" sz="900" b="0" u="none" strike="noStrike">
              <a:solidFill>
                <a:srgbClr val="000000"/>
              </a:solidFill>
              <a:effectLst/>
              <a:uFillTx/>
              <a:latin typeface="Arial"/>
            </a:endParaRPr>
          </a:p>
        </p:txBody>
      </p:sp>
      <p:sp>
        <p:nvSpPr>
          <p:cNvPr id="2045" name="Text 25"/>
          <p:cNvSpPr/>
          <p:nvPr/>
        </p:nvSpPr>
        <p:spPr>
          <a:xfrm>
            <a:off x="6803280" y="3672360"/>
            <a:ext cx="1775880" cy="157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800" b="0" i="1" u="none" strike="noStrike">
                <a:solidFill>
                  <a:srgbClr val="37474F"/>
                </a:solidFill>
                <a:effectLst/>
                <a:uFillTx/>
                <a:latin typeface="Satoshi"/>
                <a:ea typeface="Satoshi"/>
              </a:rPr>
              <a:t>Texte</a:t>
            </a:r>
            <a:endParaRPr lang="fr-FR" sz="800" b="0" u="none" strike="noStrike">
              <a:solidFill>
                <a:srgbClr val="000000"/>
              </a:solidFill>
              <a:effectLst/>
              <a:uFillTx/>
              <a:latin typeface="Arial"/>
            </a:endParaRPr>
          </a:p>
        </p:txBody>
      </p:sp>
      <p:sp>
        <p:nvSpPr>
          <p:cNvPr id="2046" name="Text 26"/>
          <p:cNvSpPr/>
          <p:nvPr/>
        </p:nvSpPr>
        <p:spPr>
          <a:xfrm>
            <a:off x="457200" y="3931920"/>
            <a:ext cx="82224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150" strike="noStrike">
                <a:solidFill>
                  <a:srgbClr val="BF360C"/>
                </a:solidFill>
                <a:effectLst/>
                <a:uFillTx/>
                <a:latin typeface="Satoshi"/>
                <a:ea typeface="Satoshi"/>
              </a:rPr>
              <a:t>DUO TYPOGRAPHIQUE</a:t>
            </a:r>
            <a:endParaRPr lang="fr-FR" sz="1000" b="0" u="none" strike="noStrike">
              <a:solidFill>
                <a:srgbClr val="000000"/>
              </a:solidFill>
              <a:effectLst/>
              <a:uFillTx/>
              <a:latin typeface="Arial"/>
            </a:endParaRPr>
          </a:p>
        </p:txBody>
      </p:sp>
      <p:sp>
        <p:nvSpPr>
          <p:cNvPr id="2047" name="Text 27"/>
          <p:cNvSpPr/>
          <p:nvPr/>
        </p:nvSpPr>
        <p:spPr>
          <a:xfrm>
            <a:off x="457200" y="418788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Cormorant Garamond</a:t>
            </a:r>
            <a:endParaRPr lang="fr-FR" sz="1000" b="0" u="none" strike="noStrike">
              <a:solidFill>
                <a:srgbClr val="000000"/>
              </a:solidFill>
              <a:effectLst/>
              <a:uFillTx/>
              <a:latin typeface="Arial"/>
            </a:endParaRPr>
          </a:p>
        </p:txBody>
      </p:sp>
      <p:sp>
        <p:nvSpPr>
          <p:cNvPr id="2048" name="Text 28"/>
          <p:cNvSpPr/>
          <p:nvPr/>
        </p:nvSpPr>
        <p:spPr>
          <a:xfrm>
            <a:off x="3200400" y="418788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Display — accroches élégantes à empattements</a:t>
            </a:r>
            <a:endParaRPr lang="fr-FR" sz="950" b="0" u="none" strike="noStrike">
              <a:solidFill>
                <a:srgbClr val="000000"/>
              </a:solidFill>
              <a:effectLst/>
              <a:uFillTx/>
              <a:latin typeface="Arial"/>
            </a:endParaRPr>
          </a:p>
        </p:txBody>
      </p:sp>
      <p:sp>
        <p:nvSpPr>
          <p:cNvPr id="2049" name="Text 29"/>
          <p:cNvSpPr/>
          <p:nvPr/>
        </p:nvSpPr>
        <p:spPr>
          <a:xfrm>
            <a:off x="457200" y="435240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Inter</a:t>
            </a:r>
            <a:endParaRPr lang="fr-FR" sz="1000" b="0" u="none" strike="noStrike">
              <a:solidFill>
                <a:srgbClr val="000000"/>
              </a:solidFill>
              <a:effectLst/>
              <a:uFillTx/>
              <a:latin typeface="Arial"/>
            </a:endParaRPr>
          </a:p>
        </p:txBody>
      </p:sp>
      <p:sp>
        <p:nvSpPr>
          <p:cNvPr id="2050" name="Text 30"/>
          <p:cNvSpPr/>
          <p:nvPr/>
        </p:nvSpPr>
        <p:spPr>
          <a:xfrm>
            <a:off x="3200400" y="435240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Body — titres et corps de texte, fiches produits</a:t>
            </a:r>
            <a:endParaRPr lang="fr-FR" sz="950" b="0" u="none" strike="noStrike">
              <a:solidFill>
                <a:srgbClr val="000000"/>
              </a:solidFill>
              <a:effectLst/>
              <a:uFillTx/>
              <a:latin typeface="Arial"/>
            </a:endParaRPr>
          </a:p>
        </p:txBody>
      </p:sp>
      <p:sp>
        <p:nvSpPr>
          <p:cNvPr id="2051" name="Text 31"/>
          <p:cNvSpPr/>
          <p:nvPr/>
        </p:nvSpPr>
        <p:spPr>
          <a:xfrm>
            <a:off x="457200" y="4517280"/>
            <a:ext cx="27360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 </a:t>
            </a:r>
            <a:endParaRPr lang="fr-FR" sz="1000" b="0" u="none" strike="noStrike">
              <a:solidFill>
                <a:srgbClr val="000000"/>
              </a:solidFill>
              <a:effectLst/>
              <a:uFillTx/>
              <a:latin typeface="Arial"/>
            </a:endParaRPr>
          </a:p>
        </p:txBody>
      </p:sp>
      <p:sp>
        <p:nvSpPr>
          <p:cNvPr id="2052" name="Text 32"/>
          <p:cNvSpPr/>
          <p:nvPr/>
        </p:nvSpPr>
        <p:spPr>
          <a:xfrm>
            <a:off x="3200400" y="4517280"/>
            <a:ext cx="5479200" cy="175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u="none" strike="noStrike">
                <a:solidFill>
                  <a:srgbClr val="37474F"/>
                </a:solidFill>
                <a:effectLst/>
                <a:uFillTx/>
                <a:latin typeface="Satoshi"/>
                <a:ea typeface="Satoshi"/>
              </a:rPr>
              <a:t> </a:t>
            </a:r>
            <a:endParaRPr lang="fr-FR" sz="950" b="0" u="none" strike="noStrike">
              <a:solidFill>
                <a:srgbClr val="000000"/>
              </a:solidFill>
              <a:effectLst/>
              <a:uFillTx/>
              <a:latin typeface="Arial"/>
            </a:endParaRPr>
          </a:p>
        </p:txBody>
      </p:sp>
      <p:sp>
        <p:nvSpPr>
          <p:cNvPr id="2053" name="Shape 33"/>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54" name="Text 34"/>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055" name="Text 35"/>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96</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056"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057"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058"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59"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0A0A0A"/>
                </a:solidFill>
                <a:effectLst/>
                <a:uFillTx/>
                <a:latin typeface="Arelv"/>
                <a:ea typeface="Arelv"/>
              </a:rPr>
              <a:t>SAOBIO — FEATURES</a:t>
            </a:r>
            <a:endParaRPr lang="fr-FR" sz="3200" b="0" u="none" strike="noStrike">
              <a:solidFill>
                <a:srgbClr val="000000"/>
              </a:solidFill>
              <a:effectLst/>
              <a:uFillTx/>
              <a:latin typeface="Arial"/>
            </a:endParaRPr>
          </a:p>
        </p:txBody>
      </p:sp>
      <p:sp>
        <p:nvSpPr>
          <p:cNvPr id="2060"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0" i="1" u="none" strike="noStrike">
                <a:solidFill>
                  <a:srgbClr val="37474F"/>
                </a:solidFill>
                <a:effectLst/>
                <a:uFillTx/>
                <a:latin typeface="Satoshi"/>
                <a:ea typeface="Satoshi"/>
              </a:rPr>
              <a:t>Quatre composants personnalisés au-dessus du CMS PrestaShop</a:t>
            </a:r>
            <a:endParaRPr lang="fr-FR" sz="1300" b="0" u="none" strike="noStrike">
              <a:solidFill>
                <a:srgbClr val="000000"/>
              </a:solidFill>
              <a:effectLst/>
              <a:uFillTx/>
              <a:latin typeface="Arial"/>
            </a:endParaRPr>
          </a:p>
        </p:txBody>
      </p:sp>
      <p:sp>
        <p:nvSpPr>
          <p:cNvPr id="2061" name="Shape 5"/>
          <p:cNvSpPr/>
          <p:nvPr/>
        </p:nvSpPr>
        <p:spPr>
          <a:xfrm>
            <a:off x="457200" y="210312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62" name="Text 6"/>
          <p:cNvSpPr/>
          <p:nvPr/>
        </p:nvSpPr>
        <p:spPr>
          <a:xfrm>
            <a:off x="621720" y="205740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01</a:t>
            </a:r>
            <a:endParaRPr lang="fr-FR" sz="1300" b="0" u="none" strike="noStrike">
              <a:solidFill>
                <a:srgbClr val="000000"/>
              </a:solidFill>
              <a:effectLst/>
              <a:uFillTx/>
              <a:latin typeface="Arial"/>
            </a:endParaRPr>
          </a:p>
        </p:txBody>
      </p:sp>
      <p:sp>
        <p:nvSpPr>
          <p:cNvPr id="2063" name="Text 7"/>
          <p:cNvSpPr/>
          <p:nvPr/>
        </p:nvSpPr>
        <p:spPr>
          <a:xfrm>
            <a:off x="1097280" y="207576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HERO SLIDER MULTIMÉDIA</a:t>
            </a:r>
            <a:endParaRPr lang="fr-FR" sz="1100" b="0" u="none" strike="noStrike">
              <a:solidFill>
                <a:srgbClr val="000000"/>
              </a:solidFill>
              <a:effectLst/>
              <a:uFillTx/>
              <a:latin typeface="Arial"/>
            </a:endParaRPr>
          </a:p>
        </p:txBody>
      </p:sp>
      <p:sp>
        <p:nvSpPr>
          <p:cNvPr id="2064" name="Text 8"/>
          <p:cNvSpPr/>
          <p:nvPr/>
        </p:nvSpPr>
        <p:spPr>
          <a:xfrm>
            <a:off x="621720" y="242316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Carrousel hero affichant plusieurs visuels de campagne saisonnière. Navigation par dots, autoplay configurable, transitions douces. Chaque slide porte son propre titre, sous-titre et boutons d'action. Compatible mobile via swipe.</a:t>
            </a:r>
            <a:endParaRPr lang="fr-FR" sz="950" b="0" u="none" strike="noStrike">
              <a:solidFill>
                <a:srgbClr val="000000"/>
              </a:solidFill>
              <a:effectLst/>
              <a:uFillTx/>
              <a:latin typeface="Arial"/>
            </a:endParaRPr>
          </a:p>
        </p:txBody>
      </p:sp>
      <p:sp>
        <p:nvSpPr>
          <p:cNvPr id="2065" name="Shape 9"/>
          <p:cNvSpPr/>
          <p:nvPr/>
        </p:nvSpPr>
        <p:spPr>
          <a:xfrm>
            <a:off x="4663440" y="210312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66" name="Text 10"/>
          <p:cNvSpPr/>
          <p:nvPr/>
        </p:nvSpPr>
        <p:spPr>
          <a:xfrm>
            <a:off x="4827960" y="205740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02</a:t>
            </a:r>
            <a:endParaRPr lang="fr-FR" sz="1300" b="0" u="none" strike="noStrike">
              <a:solidFill>
                <a:srgbClr val="000000"/>
              </a:solidFill>
              <a:effectLst/>
              <a:uFillTx/>
              <a:latin typeface="Arial"/>
            </a:endParaRPr>
          </a:p>
        </p:txBody>
      </p:sp>
      <p:sp>
        <p:nvSpPr>
          <p:cNvPr id="2067" name="Text 11"/>
          <p:cNvSpPr/>
          <p:nvPr/>
        </p:nvSpPr>
        <p:spPr>
          <a:xfrm>
            <a:off x="5303520" y="207576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BASCULE LINGUISTIQUE FR/EN</a:t>
            </a:r>
            <a:endParaRPr lang="fr-FR" sz="1100" b="0" u="none" strike="noStrike">
              <a:solidFill>
                <a:srgbClr val="000000"/>
              </a:solidFill>
              <a:effectLst/>
              <a:uFillTx/>
              <a:latin typeface="Arial"/>
            </a:endParaRPr>
          </a:p>
        </p:txBody>
      </p:sp>
      <p:sp>
        <p:nvSpPr>
          <p:cNvPr id="2068" name="Text 12"/>
          <p:cNvSpPr/>
          <p:nvPr/>
        </p:nvSpPr>
        <p:spPr>
          <a:xfrm>
            <a:off x="4827960" y="242316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Système de bascule FR/EN au-dessus du multistore PrestaShop. Boutons avec drapeaux SVG inline pour éviter le poids des PNG. État actif visuel et aria-pressed pour l'accessibilité. Préférence alignée sur l'arborescence multiboutique.</a:t>
            </a:r>
            <a:endParaRPr lang="fr-FR" sz="950" b="0" u="none" strike="noStrike">
              <a:solidFill>
                <a:srgbClr val="000000"/>
              </a:solidFill>
              <a:effectLst/>
              <a:uFillTx/>
              <a:latin typeface="Arial"/>
            </a:endParaRPr>
          </a:p>
        </p:txBody>
      </p:sp>
      <p:sp>
        <p:nvSpPr>
          <p:cNvPr id="2069" name="Shape 13"/>
          <p:cNvSpPr/>
          <p:nvPr/>
        </p:nvSpPr>
        <p:spPr>
          <a:xfrm>
            <a:off x="457200" y="338328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70" name="Text 14"/>
          <p:cNvSpPr/>
          <p:nvPr/>
        </p:nvSpPr>
        <p:spPr>
          <a:xfrm>
            <a:off x="621720" y="33375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03</a:t>
            </a:r>
            <a:endParaRPr lang="fr-FR" sz="1300" b="0" u="none" strike="noStrike">
              <a:solidFill>
                <a:srgbClr val="000000"/>
              </a:solidFill>
              <a:effectLst/>
              <a:uFillTx/>
              <a:latin typeface="Arial"/>
            </a:endParaRPr>
          </a:p>
        </p:txBody>
      </p:sp>
      <p:sp>
        <p:nvSpPr>
          <p:cNvPr id="2071" name="Text 15"/>
          <p:cNvSpPr/>
          <p:nvPr/>
        </p:nvSpPr>
        <p:spPr>
          <a:xfrm>
            <a:off x="1097280" y="33559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BANDEAU PROMO DÉFILANT</a:t>
            </a:r>
            <a:endParaRPr lang="fr-FR" sz="1100" b="0" u="none" strike="noStrike">
              <a:solidFill>
                <a:srgbClr val="000000"/>
              </a:solidFill>
              <a:effectLst/>
              <a:uFillTx/>
              <a:latin typeface="Arial"/>
            </a:endParaRPr>
          </a:p>
        </p:txBody>
      </p:sp>
      <p:sp>
        <p:nvSpPr>
          <p:cNvPr id="2072" name="Text 16"/>
          <p:cNvSpPr/>
          <p:nvPr/>
        </p:nvSpPr>
        <p:spPr>
          <a:xfrm>
            <a:off x="621720" y="370332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Bandeau promo en haut de page avec messages rotatifs (livraison offerte, retour gratuit, lot Pockets -20 %). Animation CSS sobre, pause au survol. Pensé pour rester visible sans gêner la lecture du contenu principal.</a:t>
            </a:r>
            <a:endParaRPr lang="fr-FR" sz="950" b="0" u="none" strike="noStrike">
              <a:solidFill>
                <a:srgbClr val="000000"/>
              </a:solidFill>
              <a:effectLst/>
              <a:uFillTx/>
              <a:latin typeface="Arial"/>
            </a:endParaRPr>
          </a:p>
        </p:txBody>
      </p:sp>
      <p:sp>
        <p:nvSpPr>
          <p:cNvPr id="2073" name="Shape 17"/>
          <p:cNvSpPr/>
          <p:nvPr/>
        </p:nvSpPr>
        <p:spPr>
          <a:xfrm>
            <a:off x="4663440" y="3383280"/>
            <a:ext cx="38520" cy="40428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74" name="Text 18"/>
          <p:cNvSpPr/>
          <p:nvPr/>
        </p:nvSpPr>
        <p:spPr>
          <a:xfrm>
            <a:off x="4827960" y="3337560"/>
            <a:ext cx="45000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BF360C"/>
                </a:solidFill>
                <a:effectLst/>
                <a:uFillTx/>
                <a:latin typeface="Arelv"/>
                <a:ea typeface="Arelv"/>
              </a:rPr>
              <a:t>04</a:t>
            </a:r>
            <a:endParaRPr lang="fr-FR" sz="1300" b="0" u="none" strike="noStrike">
              <a:solidFill>
                <a:srgbClr val="000000"/>
              </a:solidFill>
              <a:effectLst/>
              <a:uFillTx/>
              <a:latin typeface="Arial"/>
            </a:endParaRPr>
          </a:p>
        </p:txBody>
      </p:sp>
      <p:sp>
        <p:nvSpPr>
          <p:cNvPr id="2075" name="Text 19"/>
          <p:cNvSpPr/>
          <p:nvPr/>
        </p:nvSpPr>
        <p:spPr>
          <a:xfrm>
            <a:off x="5303520" y="3355920"/>
            <a:ext cx="328464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99" strike="noStrike">
                <a:solidFill>
                  <a:srgbClr val="0A0A0A"/>
                </a:solidFill>
                <a:effectLst/>
                <a:uFillTx/>
                <a:latin typeface="Arelv"/>
                <a:ea typeface="Arelv"/>
              </a:rPr>
              <a:t>MEGA-MENU CATÉGORIES</a:t>
            </a:r>
            <a:endParaRPr lang="fr-FR" sz="1100" b="0" u="none" strike="noStrike">
              <a:solidFill>
                <a:srgbClr val="000000"/>
              </a:solidFill>
              <a:effectLst/>
              <a:uFillTx/>
              <a:latin typeface="Arial"/>
            </a:endParaRPr>
          </a:p>
        </p:txBody>
      </p:sp>
      <p:sp>
        <p:nvSpPr>
          <p:cNvPr id="2076" name="Text 20"/>
          <p:cNvSpPr/>
          <p:nvPr/>
        </p:nvSpPr>
        <p:spPr>
          <a:xfrm>
            <a:off x="4827960" y="3703320"/>
            <a:ext cx="3833280" cy="770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37474F"/>
                </a:solidFill>
                <a:effectLst/>
                <a:uFillTx/>
                <a:latin typeface="Satoshi"/>
                <a:ea typeface="Satoshi"/>
              </a:rPr>
              <a:t>Navigation principale enrichie d'un mega-menu à plusieurs colonnes par catégorie. Badges sur certaines sous-catégories. Ouverture au survol, accessible au clavier.</a:t>
            </a:r>
            <a:endParaRPr lang="fr-FR" sz="950" b="0" u="none" strike="noStrike">
              <a:solidFill>
                <a:srgbClr val="000000"/>
              </a:solidFill>
              <a:effectLst/>
              <a:uFillTx/>
              <a:latin typeface="Arial"/>
            </a:endParaRPr>
          </a:p>
        </p:txBody>
      </p:sp>
      <p:sp>
        <p:nvSpPr>
          <p:cNvPr id="2077" name="Text 21"/>
          <p:cNvSpPr/>
          <p:nvPr/>
        </p:nvSpPr>
        <p:spPr>
          <a:xfrm>
            <a:off x="457200" y="4581720"/>
            <a:ext cx="82224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i="1" u="none" strike="noStrike">
                <a:solidFill>
                  <a:srgbClr val="37474F"/>
                </a:solidFill>
                <a:effectLst/>
                <a:uFillTx/>
                <a:latin typeface="Satoshi"/>
                <a:ea typeface="Satoshi"/>
              </a:rPr>
              <a:t>Stage chez Saobio · 14 semaines (23 février → 31 mai 2026) · maître de stage Lucas TREHET.</a:t>
            </a:r>
            <a:endParaRPr lang="fr-FR" sz="900" b="0" u="none" strike="noStrike">
              <a:solidFill>
                <a:srgbClr val="000000"/>
              </a:solidFill>
              <a:effectLst/>
              <a:uFillTx/>
              <a:latin typeface="Arial"/>
            </a:endParaRPr>
          </a:p>
        </p:txBody>
      </p:sp>
      <p:sp>
        <p:nvSpPr>
          <p:cNvPr id="2078" name="Shape 22"/>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79" name="Text 23"/>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080" name="Text 24"/>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97</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08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08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08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8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400" b="1" u="none" strike="noStrike">
                <a:solidFill>
                  <a:srgbClr val="0A0A0A"/>
                </a:solidFill>
                <a:effectLst/>
                <a:uFillTx/>
                <a:latin typeface="Arelv"/>
                <a:ea typeface="Arelv"/>
              </a:rPr>
              <a:t>AUTRES TRAVAUX</a:t>
            </a:r>
            <a:endParaRPr lang="fr-FR" sz="4400" b="0" u="none" strike="noStrike">
              <a:solidFill>
                <a:srgbClr val="000000"/>
              </a:solidFill>
              <a:effectLst/>
              <a:uFillTx/>
              <a:latin typeface="Arial"/>
            </a:endParaRPr>
          </a:p>
        </p:txBody>
      </p:sp>
      <p:sp>
        <p:nvSpPr>
          <p:cNvPr id="208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Réalisations annexes, expérimentations, veille</a:t>
            </a:r>
            <a:endParaRPr lang="fr-FR" sz="1400" b="0" u="none" strike="noStrike">
              <a:solidFill>
                <a:srgbClr val="000000"/>
              </a:solidFill>
              <a:effectLst/>
              <a:uFillTx/>
              <a:latin typeface="Arial"/>
            </a:endParaRPr>
          </a:p>
        </p:txBody>
      </p:sp>
      <p:sp>
        <p:nvSpPr>
          <p:cNvPr id="2086" name="Shape 5"/>
          <p:cNvSpPr/>
          <p:nvPr/>
        </p:nvSpPr>
        <p:spPr>
          <a:xfrm>
            <a:off x="45720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87" name="Text 6"/>
          <p:cNvSpPr/>
          <p:nvPr/>
        </p:nvSpPr>
        <p:spPr>
          <a:xfrm>
            <a:off x="640080" y="219456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VAULT STAGE</a:t>
            </a:r>
            <a:endParaRPr lang="fr-FR" sz="1300" b="0" u="none" strike="noStrike">
              <a:solidFill>
                <a:srgbClr val="000000"/>
              </a:solidFill>
              <a:effectLst/>
              <a:uFillTx/>
              <a:latin typeface="Arial"/>
            </a:endParaRPr>
          </a:p>
        </p:txBody>
      </p:sp>
      <p:sp>
        <p:nvSpPr>
          <p:cNvPr id="2088" name="Text 7"/>
          <p:cNvSpPr/>
          <p:nvPr/>
        </p:nvSpPr>
        <p:spPr>
          <a:xfrm>
            <a:off x="640080" y="246888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Obsidian — outil de pensée</a:t>
            </a:r>
            <a:endParaRPr lang="fr-FR" sz="1000" b="0" u="none" strike="noStrike">
              <a:solidFill>
                <a:srgbClr val="000000"/>
              </a:solidFill>
              <a:effectLst/>
              <a:uFillTx/>
              <a:latin typeface="Arial"/>
            </a:endParaRPr>
          </a:p>
        </p:txBody>
      </p:sp>
      <p:sp>
        <p:nvSpPr>
          <p:cNvPr id="2089" name="Shape 8"/>
          <p:cNvSpPr/>
          <p:nvPr/>
        </p:nvSpPr>
        <p:spPr>
          <a:xfrm>
            <a:off x="640080" y="2743200"/>
            <a:ext cx="23317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90" name="Text 9"/>
          <p:cNvSpPr/>
          <p:nvPr/>
        </p:nvSpPr>
        <p:spPr>
          <a:xfrm>
            <a:off x="640080" y="2834640"/>
            <a:ext cx="2324520" cy="168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Un vault Obsidian de 49 notes interconnectées, qui retrace l'intégralité du stage Saobio. Audits SEO (Screaming Frog, Haloscan), propositions de charte graphique, analyse de noms de domaine, arborescences successives du site, planification Trello. Le graphe sert d'outil de réflexion autant que d'archive — c'est sans doute le projet où ma formation d'anthropologue se voit le plus.</a:t>
            </a:r>
            <a:endParaRPr lang="fr-FR" sz="950" b="0" u="none" strike="noStrike">
              <a:solidFill>
                <a:srgbClr val="000000"/>
              </a:solidFill>
              <a:effectLst/>
              <a:uFillTx/>
              <a:latin typeface="Arial"/>
            </a:endParaRPr>
          </a:p>
        </p:txBody>
      </p:sp>
      <p:sp>
        <p:nvSpPr>
          <p:cNvPr id="2091" name="Shape 10"/>
          <p:cNvSpPr/>
          <p:nvPr/>
        </p:nvSpPr>
        <p:spPr>
          <a:xfrm>
            <a:off x="327348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92" name="Text 11"/>
          <p:cNvSpPr/>
          <p:nvPr/>
        </p:nvSpPr>
        <p:spPr>
          <a:xfrm>
            <a:off x="3456360" y="219456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EXPÉRIMENTATIONS</a:t>
            </a:r>
            <a:endParaRPr lang="fr-FR" sz="1300" b="0" u="none" strike="noStrike">
              <a:solidFill>
                <a:srgbClr val="000000"/>
              </a:solidFill>
              <a:effectLst/>
              <a:uFillTx/>
              <a:latin typeface="Arial"/>
            </a:endParaRPr>
          </a:p>
        </p:txBody>
      </p:sp>
      <p:sp>
        <p:nvSpPr>
          <p:cNvPr id="2093" name="Text 12"/>
          <p:cNvSpPr/>
          <p:nvPr/>
        </p:nvSpPr>
        <p:spPr>
          <a:xfrm>
            <a:off x="3456360" y="246888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Prototypes JS</a:t>
            </a:r>
            <a:endParaRPr lang="fr-FR" sz="1000" b="0" u="none" strike="noStrike">
              <a:solidFill>
                <a:srgbClr val="000000"/>
              </a:solidFill>
              <a:effectLst/>
              <a:uFillTx/>
              <a:latin typeface="Arial"/>
            </a:endParaRPr>
          </a:p>
        </p:txBody>
      </p:sp>
      <p:sp>
        <p:nvSpPr>
          <p:cNvPr id="2094" name="Shape 13"/>
          <p:cNvSpPr/>
          <p:nvPr/>
        </p:nvSpPr>
        <p:spPr>
          <a:xfrm>
            <a:off x="3456360" y="2743200"/>
            <a:ext cx="23317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095" name="Text 14"/>
          <p:cNvSpPr/>
          <p:nvPr/>
        </p:nvSpPr>
        <p:spPr>
          <a:xfrm>
            <a:off x="3456360" y="2834640"/>
            <a:ext cx="2324520" cy="168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Plusieurs prototypes courts, conservés dans des repos séparés : un fond starfield animé en canvas, un curseur custom qui réagit aux survols, des animations au scroll en IntersectionObserver. Ces tests nourrissent le portfolio sans s'y substituer.</a:t>
            </a:r>
            <a:endParaRPr lang="fr-FR" sz="950" b="0" u="none" strike="noStrike">
              <a:solidFill>
                <a:srgbClr val="000000"/>
              </a:solidFill>
              <a:effectLst/>
              <a:uFillTx/>
              <a:latin typeface="Arial"/>
            </a:endParaRPr>
          </a:p>
        </p:txBody>
      </p:sp>
      <p:sp>
        <p:nvSpPr>
          <p:cNvPr id="2096" name="Shape 15"/>
          <p:cNvSpPr/>
          <p:nvPr/>
        </p:nvSpPr>
        <p:spPr>
          <a:xfrm>
            <a:off x="608976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97" name="Text 16"/>
          <p:cNvSpPr/>
          <p:nvPr/>
        </p:nvSpPr>
        <p:spPr>
          <a:xfrm>
            <a:off x="6272640" y="219456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VEILLE</a:t>
            </a:r>
            <a:endParaRPr lang="fr-FR" sz="1300" b="0" u="none" strike="noStrike">
              <a:solidFill>
                <a:srgbClr val="000000"/>
              </a:solidFill>
              <a:effectLst/>
              <a:uFillTx/>
              <a:latin typeface="Arial"/>
            </a:endParaRPr>
          </a:p>
        </p:txBody>
      </p:sp>
      <p:sp>
        <p:nvSpPr>
          <p:cNvPr id="2098" name="Text 17"/>
          <p:cNvSpPr/>
          <p:nvPr/>
        </p:nvSpPr>
        <p:spPr>
          <a:xfrm>
            <a:off x="6272640" y="2468880"/>
            <a:ext cx="232452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0" i="1" u="none" strike="noStrike">
                <a:solidFill>
                  <a:srgbClr val="37474F"/>
                </a:solidFill>
                <a:effectLst/>
                <a:uFillTx/>
                <a:latin typeface="Satoshi"/>
                <a:ea typeface="Satoshi"/>
              </a:rPr>
              <a:t>Présence en ligne</a:t>
            </a:r>
            <a:endParaRPr lang="fr-FR" sz="1000" b="0" u="none" strike="noStrike">
              <a:solidFill>
                <a:srgbClr val="000000"/>
              </a:solidFill>
              <a:effectLst/>
              <a:uFillTx/>
              <a:latin typeface="Arial"/>
            </a:endParaRPr>
          </a:p>
        </p:txBody>
      </p:sp>
      <p:sp>
        <p:nvSpPr>
          <p:cNvPr id="2099" name="Shape 18"/>
          <p:cNvSpPr/>
          <p:nvPr/>
        </p:nvSpPr>
        <p:spPr>
          <a:xfrm>
            <a:off x="6272640" y="2743200"/>
            <a:ext cx="2331720" cy="360"/>
          </a:xfrm>
          <a:prstGeom prst="line">
            <a:avLst/>
          </a:prstGeom>
          <a:ln w="6350">
            <a:solidFill>
              <a:srgbClr val="78909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00" name="Text 19"/>
          <p:cNvSpPr/>
          <p:nvPr/>
        </p:nvSpPr>
        <p:spPr>
          <a:xfrm>
            <a:off x="6272640" y="2834640"/>
            <a:ext cx="2324520" cy="1684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50" b="0" u="none" strike="noStrike">
                <a:solidFill>
                  <a:srgbClr val="0A0A0A"/>
                </a:solidFill>
                <a:effectLst/>
                <a:uFillTx/>
                <a:latin typeface="Satoshi"/>
                <a:ea typeface="Satoshi"/>
              </a:rPr>
              <a:t>Présence active sur GitHub (LEMON-216), lectures techniques régulières sur Bluesky, veille design via dribbble et awwwards. Pas d'ambition d'audience massive — un fil maîtrisé, qui complète le portfolio sans le concurrencer.</a:t>
            </a:r>
            <a:endParaRPr lang="fr-FR" sz="950" b="0" u="none" strike="noStrike">
              <a:solidFill>
                <a:srgbClr val="000000"/>
              </a:solidFill>
              <a:effectLst/>
              <a:uFillTx/>
              <a:latin typeface="Arial"/>
            </a:endParaRPr>
          </a:p>
        </p:txBody>
      </p:sp>
      <p:sp>
        <p:nvSpPr>
          <p:cNvPr id="2101" name="Shape 20"/>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02" name="Text 21"/>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03" name="Text 22"/>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98</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2104" name="Text 0"/>
          <p:cNvSpPr/>
          <p:nvPr/>
        </p:nvSpPr>
        <p:spPr>
          <a:xfrm>
            <a:off x="274320" y="731520"/>
            <a:ext cx="5022000" cy="365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0" b="1" u="none" strike="noStrike">
                <a:solidFill>
                  <a:srgbClr val="F4EFE6"/>
                </a:solidFill>
                <a:effectLst/>
                <a:uFillTx/>
                <a:latin typeface="Arelv"/>
                <a:ea typeface="Arelv"/>
              </a:rPr>
              <a:t>12</a:t>
            </a:r>
            <a:endParaRPr lang="fr-FR" sz="28000" b="0" u="none" strike="noStrike">
              <a:solidFill>
                <a:srgbClr val="FFFFFF"/>
              </a:solidFill>
              <a:effectLst/>
              <a:uFillTx/>
              <a:latin typeface="Arial"/>
            </a:endParaRPr>
          </a:p>
        </p:txBody>
      </p:sp>
      <p:sp>
        <p:nvSpPr>
          <p:cNvPr id="2105" name="Text 1"/>
          <p:cNvSpPr/>
          <p:nvPr/>
        </p:nvSpPr>
        <p:spPr>
          <a:xfrm>
            <a:off x="4846320" y="182880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4EFE6"/>
                </a:solidFill>
                <a:effectLst/>
                <a:uFillTx/>
                <a:latin typeface="Arelv"/>
                <a:ea typeface="Arelv"/>
              </a:rPr>
              <a:t>ANNEXES &amp;</a:t>
            </a:r>
            <a:endParaRPr lang="fr-FR" sz="3200" b="0" u="none" strike="noStrike">
              <a:solidFill>
                <a:srgbClr val="FFFFFF"/>
              </a:solidFill>
              <a:effectLst/>
              <a:uFillTx/>
              <a:latin typeface="Arial"/>
            </a:endParaRPr>
          </a:p>
        </p:txBody>
      </p:sp>
      <p:sp>
        <p:nvSpPr>
          <p:cNvPr id="2106" name="Text 2"/>
          <p:cNvSpPr/>
          <p:nvPr/>
        </p:nvSpPr>
        <p:spPr>
          <a:xfrm>
            <a:off x="4846320" y="2468880"/>
            <a:ext cx="4107600" cy="63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200" b="1" u="none" strike="noStrike">
                <a:solidFill>
                  <a:srgbClr val="FFB300"/>
                </a:solidFill>
                <a:effectLst/>
                <a:uFillTx/>
                <a:latin typeface="Arelv"/>
                <a:ea typeface="Arelv"/>
              </a:rPr>
              <a:t>CONCLUSION</a:t>
            </a:r>
            <a:endParaRPr lang="fr-FR" sz="3200" b="0" u="none" strike="noStrike">
              <a:solidFill>
                <a:srgbClr val="FFFFFF"/>
              </a:solidFill>
              <a:effectLst/>
              <a:uFillTx/>
              <a:latin typeface="Arial"/>
            </a:endParaRPr>
          </a:p>
        </p:txBody>
      </p:sp>
      <p:sp>
        <p:nvSpPr>
          <p:cNvPr id="2107" name="Text 3"/>
          <p:cNvSpPr/>
          <p:nvPr/>
        </p:nvSpPr>
        <p:spPr>
          <a:xfrm>
            <a:off x="4846320" y="4617720"/>
            <a:ext cx="4107600" cy="2671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00" b="0" u="none" spc="201" strike="noStrike">
                <a:solidFill>
                  <a:srgbClr val="F4EFE6"/>
                </a:solidFill>
                <a:effectLst/>
                <a:uFillTx/>
                <a:latin typeface="Satoshi"/>
                <a:ea typeface="Satoshi"/>
              </a:rPr>
              <a:t>Douzième partie · pages 99 → 106</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08"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09"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10"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11"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GLOSSAIRE</a:t>
            </a:r>
            <a:endParaRPr lang="fr-FR" sz="5600" b="0" u="none" strike="noStrike">
              <a:solidFill>
                <a:srgbClr val="000000"/>
              </a:solidFill>
              <a:effectLst/>
              <a:uFillTx/>
              <a:latin typeface="Arial"/>
            </a:endParaRPr>
          </a:p>
        </p:txBody>
      </p:sp>
      <p:sp>
        <p:nvSpPr>
          <p:cNvPr id="2112"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Petit lexique pour la lecture du document</a:t>
            </a:r>
            <a:endParaRPr lang="fr-FR" sz="1400" b="0" u="none" strike="noStrike">
              <a:solidFill>
                <a:srgbClr val="000000"/>
              </a:solidFill>
              <a:effectLst/>
              <a:uFillTx/>
              <a:latin typeface="Arial"/>
            </a:endParaRPr>
          </a:p>
        </p:txBody>
      </p:sp>
      <p:sp>
        <p:nvSpPr>
          <p:cNvPr id="2113" name="Text 5"/>
          <p:cNvSpPr/>
          <p:nvPr/>
        </p:nvSpPr>
        <p:spPr>
          <a:xfrm>
            <a:off x="457200" y="2103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CMS</a:t>
            </a:r>
            <a:endParaRPr lang="fr-FR" sz="1000" b="0" u="none" strike="noStrike">
              <a:solidFill>
                <a:srgbClr val="000000"/>
              </a:solidFill>
              <a:effectLst/>
              <a:uFillTx/>
              <a:latin typeface="Arial"/>
            </a:endParaRPr>
          </a:p>
        </p:txBody>
      </p:sp>
      <p:sp>
        <p:nvSpPr>
          <p:cNvPr id="2114" name="Text 6"/>
          <p:cNvSpPr/>
          <p:nvPr/>
        </p:nvSpPr>
        <p:spPr>
          <a:xfrm>
            <a:off x="1600200" y="210312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Content Management System. Logiciel qui gère le contenu d'un site sans coder à chaque modification. WordPress et PrestaShop en sont.</a:t>
            </a:r>
            <a:endParaRPr lang="fr-FR" sz="850" b="0" u="none" strike="noStrike">
              <a:solidFill>
                <a:srgbClr val="000000"/>
              </a:solidFill>
              <a:effectLst/>
              <a:uFillTx/>
              <a:latin typeface="Arial"/>
            </a:endParaRPr>
          </a:p>
        </p:txBody>
      </p:sp>
      <p:sp>
        <p:nvSpPr>
          <p:cNvPr id="2115" name="Text 7"/>
          <p:cNvSpPr/>
          <p:nvPr/>
        </p:nvSpPr>
        <p:spPr>
          <a:xfrm>
            <a:off x="457200" y="25689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Core Web Vitals</a:t>
            </a:r>
            <a:endParaRPr lang="fr-FR" sz="1000" b="0" u="none" strike="noStrike">
              <a:solidFill>
                <a:srgbClr val="000000"/>
              </a:solidFill>
              <a:effectLst/>
              <a:uFillTx/>
              <a:latin typeface="Arial"/>
            </a:endParaRPr>
          </a:p>
        </p:txBody>
      </p:sp>
      <p:sp>
        <p:nvSpPr>
          <p:cNvPr id="2116" name="Text 8"/>
          <p:cNvSpPr/>
          <p:nvPr/>
        </p:nvSpPr>
        <p:spPr>
          <a:xfrm>
            <a:off x="1600200" y="256896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Trois indicateurs de performance retenus par Google : LCP (vitesse d'affichage), INP (réactivité), CLS (stabilité visuelle).</a:t>
            </a:r>
            <a:endParaRPr lang="fr-FR" sz="850" b="0" u="none" strike="noStrike">
              <a:solidFill>
                <a:srgbClr val="000000"/>
              </a:solidFill>
              <a:effectLst/>
              <a:uFillTx/>
              <a:latin typeface="Arial"/>
            </a:endParaRPr>
          </a:p>
        </p:txBody>
      </p:sp>
      <p:sp>
        <p:nvSpPr>
          <p:cNvPr id="2117" name="Text 9"/>
          <p:cNvSpPr/>
          <p:nvPr/>
        </p:nvSpPr>
        <p:spPr>
          <a:xfrm>
            <a:off x="457200" y="29628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Hreflang</a:t>
            </a:r>
            <a:endParaRPr lang="fr-FR" sz="1000" b="0" u="none" strike="noStrike">
              <a:solidFill>
                <a:srgbClr val="000000"/>
              </a:solidFill>
              <a:effectLst/>
              <a:uFillTx/>
              <a:latin typeface="Arial"/>
            </a:endParaRPr>
          </a:p>
        </p:txBody>
      </p:sp>
      <p:sp>
        <p:nvSpPr>
          <p:cNvPr id="2118" name="Text 10"/>
          <p:cNvSpPr/>
          <p:nvPr/>
        </p:nvSpPr>
        <p:spPr>
          <a:xfrm>
            <a:off x="1600200" y="296280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Balise HTML qui signale aux moteurs de recherche qu'une page existe en plusieurs langues — évite la duplication SEO.</a:t>
            </a:r>
            <a:endParaRPr lang="fr-FR" sz="850" b="0" u="none" strike="noStrike">
              <a:solidFill>
                <a:srgbClr val="000000"/>
              </a:solidFill>
              <a:effectLst/>
              <a:uFillTx/>
              <a:latin typeface="Arial"/>
            </a:endParaRPr>
          </a:p>
        </p:txBody>
      </p:sp>
      <p:sp>
        <p:nvSpPr>
          <p:cNvPr id="2119" name="Text 11"/>
          <p:cNvSpPr/>
          <p:nvPr/>
        </p:nvSpPr>
        <p:spPr>
          <a:xfrm>
            <a:off x="457200" y="339228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i18n</a:t>
            </a:r>
            <a:endParaRPr lang="fr-FR" sz="1000" b="0" u="none" strike="noStrike">
              <a:solidFill>
                <a:srgbClr val="000000"/>
              </a:solidFill>
              <a:effectLst/>
              <a:uFillTx/>
              <a:latin typeface="Arial"/>
            </a:endParaRPr>
          </a:p>
        </p:txBody>
      </p:sp>
      <p:sp>
        <p:nvSpPr>
          <p:cNvPr id="2120" name="Text 12"/>
          <p:cNvSpPr/>
          <p:nvPr/>
        </p:nvSpPr>
        <p:spPr>
          <a:xfrm>
            <a:off x="1600200" y="339228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Internationalisation. Numéronyme : i + 18 lettres + n. Désigne le travail de préparation d'un logiciel à être traduit.</a:t>
            </a:r>
            <a:endParaRPr lang="fr-FR" sz="850" b="0" u="none" strike="noStrike">
              <a:solidFill>
                <a:srgbClr val="000000"/>
              </a:solidFill>
              <a:effectLst/>
              <a:uFillTx/>
              <a:latin typeface="Arial"/>
            </a:endParaRPr>
          </a:p>
        </p:txBody>
      </p:sp>
      <p:sp>
        <p:nvSpPr>
          <p:cNvPr id="2121" name="Text 13"/>
          <p:cNvSpPr/>
          <p:nvPr/>
        </p:nvSpPr>
        <p:spPr>
          <a:xfrm>
            <a:off x="457200" y="3822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MoSCoW</a:t>
            </a:r>
            <a:endParaRPr lang="fr-FR" sz="1000" b="0" u="none" strike="noStrike">
              <a:solidFill>
                <a:srgbClr val="000000"/>
              </a:solidFill>
              <a:effectLst/>
              <a:uFillTx/>
              <a:latin typeface="Arial"/>
            </a:endParaRPr>
          </a:p>
        </p:txBody>
      </p:sp>
      <p:sp>
        <p:nvSpPr>
          <p:cNvPr id="2122" name="Text 14"/>
          <p:cNvSpPr/>
          <p:nvPr/>
        </p:nvSpPr>
        <p:spPr>
          <a:xfrm>
            <a:off x="1600200" y="382212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Méthode de priorisation des fonctionnalités : Must / Should / Could / Won't have.</a:t>
            </a:r>
            <a:endParaRPr lang="fr-FR" sz="850" b="0" u="none" strike="noStrike">
              <a:solidFill>
                <a:srgbClr val="000000"/>
              </a:solidFill>
              <a:effectLst/>
              <a:uFillTx/>
              <a:latin typeface="Arial"/>
            </a:endParaRPr>
          </a:p>
        </p:txBody>
      </p:sp>
      <p:sp>
        <p:nvSpPr>
          <p:cNvPr id="2123" name="Text 15"/>
          <p:cNvSpPr/>
          <p:nvPr/>
        </p:nvSpPr>
        <p:spPr>
          <a:xfrm>
            <a:off x="457200" y="42519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Polylang</a:t>
            </a:r>
            <a:endParaRPr lang="fr-FR" sz="1000" b="0" u="none" strike="noStrike">
              <a:solidFill>
                <a:srgbClr val="000000"/>
              </a:solidFill>
              <a:effectLst/>
              <a:uFillTx/>
              <a:latin typeface="Arial"/>
            </a:endParaRPr>
          </a:p>
        </p:txBody>
      </p:sp>
      <p:sp>
        <p:nvSpPr>
          <p:cNvPr id="2124" name="Text 16"/>
          <p:cNvSpPr/>
          <p:nvPr/>
        </p:nvSpPr>
        <p:spPr>
          <a:xfrm>
            <a:off x="1600200" y="4251960"/>
            <a:ext cx="296460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Plugin WordPress de gestion multilingue. Permet de servir le même site en plusieurs langues avec URL distinctes.</a:t>
            </a:r>
            <a:endParaRPr lang="fr-FR" sz="850" b="0" u="none" strike="noStrike">
              <a:solidFill>
                <a:srgbClr val="000000"/>
              </a:solidFill>
              <a:effectLst/>
              <a:uFillTx/>
              <a:latin typeface="Arial"/>
            </a:endParaRPr>
          </a:p>
        </p:txBody>
      </p:sp>
      <p:sp>
        <p:nvSpPr>
          <p:cNvPr id="2125" name="Text 17"/>
          <p:cNvSpPr/>
          <p:nvPr/>
        </p:nvSpPr>
        <p:spPr>
          <a:xfrm>
            <a:off x="4898880" y="2103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RGPD</a:t>
            </a:r>
            <a:endParaRPr lang="fr-FR" sz="1000" b="0" u="none" strike="noStrike">
              <a:solidFill>
                <a:srgbClr val="000000"/>
              </a:solidFill>
              <a:effectLst/>
              <a:uFillTx/>
              <a:latin typeface="Arial"/>
            </a:endParaRPr>
          </a:p>
        </p:txBody>
      </p:sp>
      <p:sp>
        <p:nvSpPr>
          <p:cNvPr id="2126" name="Text 18"/>
          <p:cNvSpPr/>
          <p:nvPr/>
        </p:nvSpPr>
        <p:spPr>
          <a:xfrm>
            <a:off x="5897880" y="210312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Règlement général sur la protection des données. Cadre européen, en vigueur depuis 2018.</a:t>
            </a:r>
            <a:endParaRPr lang="fr-FR" sz="850" b="0" u="none" strike="noStrike">
              <a:solidFill>
                <a:srgbClr val="000000"/>
              </a:solidFill>
              <a:effectLst/>
              <a:uFillTx/>
              <a:latin typeface="Arial"/>
            </a:endParaRPr>
          </a:p>
        </p:txBody>
      </p:sp>
      <p:sp>
        <p:nvSpPr>
          <p:cNvPr id="2127" name="Text 19"/>
          <p:cNvSpPr/>
          <p:nvPr/>
        </p:nvSpPr>
        <p:spPr>
          <a:xfrm>
            <a:off x="4898880" y="25329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Schema.org</a:t>
            </a:r>
            <a:endParaRPr lang="fr-FR" sz="1000" b="0" u="none" strike="noStrike">
              <a:solidFill>
                <a:srgbClr val="000000"/>
              </a:solidFill>
              <a:effectLst/>
              <a:uFillTx/>
              <a:latin typeface="Arial"/>
            </a:endParaRPr>
          </a:p>
        </p:txBody>
      </p:sp>
      <p:sp>
        <p:nvSpPr>
          <p:cNvPr id="2128" name="Text 20"/>
          <p:cNvSpPr/>
          <p:nvPr/>
        </p:nvSpPr>
        <p:spPr>
          <a:xfrm>
            <a:off x="5897880" y="253296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Vocabulaire structuré que les moteurs utilisent pour comprendre un contenu (personne, événement, recette, etc.).</a:t>
            </a:r>
            <a:endParaRPr lang="fr-FR" sz="850" b="0" u="none" strike="noStrike">
              <a:solidFill>
                <a:srgbClr val="000000"/>
              </a:solidFill>
              <a:effectLst/>
              <a:uFillTx/>
              <a:latin typeface="Arial"/>
            </a:endParaRPr>
          </a:p>
        </p:txBody>
      </p:sp>
      <p:sp>
        <p:nvSpPr>
          <p:cNvPr id="2129" name="Text 21"/>
          <p:cNvSpPr/>
          <p:nvPr/>
        </p:nvSpPr>
        <p:spPr>
          <a:xfrm>
            <a:off x="4898880" y="296280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SEO</a:t>
            </a:r>
            <a:endParaRPr lang="fr-FR" sz="1000" b="0" u="none" strike="noStrike">
              <a:solidFill>
                <a:srgbClr val="000000"/>
              </a:solidFill>
              <a:effectLst/>
              <a:uFillTx/>
              <a:latin typeface="Arial"/>
            </a:endParaRPr>
          </a:p>
        </p:txBody>
      </p:sp>
      <p:sp>
        <p:nvSpPr>
          <p:cNvPr id="2130" name="Text 22"/>
          <p:cNvSpPr/>
          <p:nvPr/>
        </p:nvSpPr>
        <p:spPr>
          <a:xfrm>
            <a:off x="5897880" y="296280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Search Engine Optimization. Travail d'optimisation pour le référencement naturel — par opposition au SEA (payant).</a:t>
            </a:r>
            <a:endParaRPr lang="fr-FR" sz="850" b="0" u="none" strike="noStrike">
              <a:solidFill>
                <a:srgbClr val="000000"/>
              </a:solidFill>
              <a:effectLst/>
              <a:uFillTx/>
              <a:latin typeface="Arial"/>
            </a:endParaRPr>
          </a:p>
        </p:txBody>
      </p:sp>
      <p:sp>
        <p:nvSpPr>
          <p:cNvPr id="2131" name="Text 23"/>
          <p:cNvSpPr/>
          <p:nvPr/>
        </p:nvSpPr>
        <p:spPr>
          <a:xfrm>
            <a:off x="4898880" y="339228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Sprint</a:t>
            </a:r>
            <a:endParaRPr lang="fr-FR" sz="1000" b="0" u="none" strike="noStrike">
              <a:solidFill>
                <a:srgbClr val="000000"/>
              </a:solidFill>
              <a:effectLst/>
              <a:uFillTx/>
              <a:latin typeface="Arial"/>
            </a:endParaRPr>
          </a:p>
        </p:txBody>
      </p:sp>
      <p:sp>
        <p:nvSpPr>
          <p:cNvPr id="2132" name="Text 24"/>
          <p:cNvSpPr/>
          <p:nvPr/>
        </p:nvSpPr>
        <p:spPr>
          <a:xfrm>
            <a:off x="5897880" y="339228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En méthode agile : période courte (souvent 1 à 2 semaines) avec un objectif livrable précis.</a:t>
            </a:r>
            <a:endParaRPr lang="fr-FR" sz="850" b="0" u="none" strike="noStrike">
              <a:solidFill>
                <a:srgbClr val="000000"/>
              </a:solidFill>
              <a:effectLst/>
              <a:uFillTx/>
              <a:latin typeface="Arial"/>
            </a:endParaRPr>
          </a:p>
        </p:txBody>
      </p:sp>
      <p:sp>
        <p:nvSpPr>
          <p:cNvPr id="2133" name="Text 25"/>
          <p:cNvSpPr/>
          <p:nvPr/>
        </p:nvSpPr>
        <p:spPr>
          <a:xfrm>
            <a:off x="4898880" y="382212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SWOT</a:t>
            </a:r>
            <a:endParaRPr lang="fr-FR" sz="1000" b="0" u="none" strike="noStrike">
              <a:solidFill>
                <a:srgbClr val="000000"/>
              </a:solidFill>
              <a:effectLst/>
              <a:uFillTx/>
              <a:latin typeface="Arial"/>
            </a:endParaRPr>
          </a:p>
        </p:txBody>
      </p:sp>
      <p:sp>
        <p:nvSpPr>
          <p:cNvPr id="2134" name="Text 26"/>
          <p:cNvSpPr/>
          <p:nvPr/>
        </p:nvSpPr>
        <p:spPr>
          <a:xfrm>
            <a:off x="5897880" y="382212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Cadre d'analyse stratégique : Forces, Faiblesses, Opportunités, Menaces.</a:t>
            </a:r>
            <a:endParaRPr lang="fr-FR" sz="850" b="0" u="none" strike="noStrike">
              <a:solidFill>
                <a:srgbClr val="000000"/>
              </a:solidFill>
              <a:effectLst/>
              <a:uFillTx/>
              <a:latin typeface="Arial"/>
            </a:endParaRPr>
          </a:p>
        </p:txBody>
      </p:sp>
      <p:sp>
        <p:nvSpPr>
          <p:cNvPr id="2135" name="Text 27"/>
          <p:cNvSpPr/>
          <p:nvPr/>
        </p:nvSpPr>
        <p:spPr>
          <a:xfrm>
            <a:off x="4898880" y="4251960"/>
            <a:ext cx="109008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BF360C"/>
                </a:solidFill>
                <a:effectLst/>
                <a:uFillTx/>
                <a:latin typeface="Satoshi"/>
                <a:ea typeface="Satoshi"/>
              </a:rPr>
              <a:t>WCAG</a:t>
            </a:r>
            <a:endParaRPr lang="fr-FR" sz="1000" b="0" u="none" strike="noStrike">
              <a:solidFill>
                <a:srgbClr val="000000"/>
              </a:solidFill>
              <a:effectLst/>
              <a:uFillTx/>
              <a:latin typeface="Arial"/>
            </a:endParaRPr>
          </a:p>
        </p:txBody>
      </p:sp>
      <p:sp>
        <p:nvSpPr>
          <p:cNvPr id="2136" name="Text 28"/>
          <p:cNvSpPr/>
          <p:nvPr/>
        </p:nvSpPr>
        <p:spPr>
          <a:xfrm>
            <a:off x="5897880" y="4251960"/>
            <a:ext cx="2873160" cy="404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850" b="0" u="none" strike="noStrike">
                <a:solidFill>
                  <a:srgbClr val="0A0A0A"/>
                </a:solidFill>
                <a:effectLst/>
                <a:uFillTx/>
                <a:latin typeface="Satoshi"/>
                <a:ea typeface="Satoshi"/>
              </a:rPr>
              <a:t>Web Content Accessibility Guidelines. Référentiel international d'accessibilité du web. Niveaux A, AA, AAA.</a:t>
            </a:r>
            <a:endParaRPr lang="fr-FR" sz="850" b="0" u="none" strike="noStrike">
              <a:solidFill>
                <a:srgbClr val="000000"/>
              </a:solidFill>
              <a:effectLst/>
              <a:uFillTx/>
              <a:latin typeface="Arial"/>
            </a:endParaRPr>
          </a:p>
        </p:txBody>
      </p:sp>
      <p:sp>
        <p:nvSpPr>
          <p:cNvPr id="2137" name="Shape 29"/>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38" name="Text 30"/>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39" name="Text 31"/>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100</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4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4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4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4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200" b="1" u="none" strike="noStrike">
                <a:solidFill>
                  <a:srgbClr val="0A0A0A"/>
                </a:solidFill>
                <a:effectLst/>
                <a:uFillTx/>
                <a:latin typeface="Arelv"/>
                <a:ea typeface="Arelv"/>
              </a:rPr>
              <a:t>RESSOURCES</a:t>
            </a:r>
            <a:endParaRPr lang="fr-FR" sz="5200" b="0" u="none" strike="noStrike">
              <a:solidFill>
                <a:srgbClr val="000000"/>
              </a:solidFill>
              <a:effectLst/>
              <a:uFillTx/>
              <a:latin typeface="Arial"/>
            </a:endParaRPr>
          </a:p>
        </p:txBody>
      </p:sp>
      <p:sp>
        <p:nvSpPr>
          <p:cNvPr id="214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Ce qui a nourri le projet — au-delà du cours</a:t>
            </a:r>
            <a:endParaRPr lang="fr-FR" sz="1400" b="0" u="none" strike="noStrike">
              <a:solidFill>
                <a:srgbClr val="000000"/>
              </a:solidFill>
              <a:effectLst/>
              <a:uFillTx/>
              <a:latin typeface="Arial"/>
            </a:endParaRPr>
          </a:p>
        </p:txBody>
      </p:sp>
      <p:sp>
        <p:nvSpPr>
          <p:cNvPr id="2145" name="Shape 5"/>
          <p:cNvSpPr/>
          <p:nvPr/>
        </p:nvSpPr>
        <p:spPr>
          <a:xfrm>
            <a:off x="45720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46" name="Text 6"/>
          <p:cNvSpPr/>
          <p:nvPr/>
        </p:nvSpPr>
        <p:spPr>
          <a:xfrm>
            <a:off x="640080" y="224028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LECTURES</a:t>
            </a:r>
            <a:endParaRPr lang="fr-FR" sz="1300" b="0" u="none" strike="noStrike">
              <a:solidFill>
                <a:srgbClr val="000000"/>
              </a:solidFill>
              <a:effectLst/>
              <a:uFillTx/>
              <a:latin typeface="Arial"/>
            </a:endParaRPr>
          </a:p>
        </p:txBody>
      </p:sp>
      <p:sp>
        <p:nvSpPr>
          <p:cNvPr id="2147" name="Shape 7"/>
          <p:cNvSpPr/>
          <p:nvPr/>
        </p:nvSpPr>
        <p:spPr>
          <a:xfrm>
            <a:off x="640080" y="2606040"/>
            <a:ext cx="2331720" cy="360"/>
          </a:xfrm>
          <a:prstGeom prst="line">
            <a:avLst/>
          </a:prstGeom>
          <a:ln w="10160">
            <a:solidFill>
              <a:srgbClr val="BF360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48" name="Text 8"/>
          <p:cNvSpPr/>
          <p:nvPr/>
        </p:nvSpPr>
        <p:spPr>
          <a:xfrm>
            <a:off x="640080" y="2788920"/>
            <a:ext cx="232452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Don't Make Me Think — Steve Krug</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Atomic Design — Brad Frost</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Refactoring UI — A. Wathan &amp; S. Schoger</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Inclusive Components — Heydon Pickering</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Web Design — Rob Ford</a:t>
            </a:r>
            <a:endParaRPr lang="fr-FR" sz="1000" b="0" u="none" strike="noStrike">
              <a:solidFill>
                <a:srgbClr val="000000"/>
              </a:solidFill>
              <a:effectLst/>
              <a:uFillTx/>
              <a:latin typeface="Arial"/>
            </a:endParaRPr>
          </a:p>
        </p:txBody>
      </p:sp>
      <p:sp>
        <p:nvSpPr>
          <p:cNvPr id="2149" name="Shape 9"/>
          <p:cNvSpPr/>
          <p:nvPr/>
        </p:nvSpPr>
        <p:spPr>
          <a:xfrm>
            <a:off x="327348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50" name="Text 10"/>
          <p:cNvSpPr/>
          <p:nvPr/>
        </p:nvSpPr>
        <p:spPr>
          <a:xfrm>
            <a:off x="3456360" y="224028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SITES</a:t>
            </a:r>
            <a:endParaRPr lang="fr-FR" sz="1300" b="0" u="none" strike="noStrike">
              <a:solidFill>
                <a:srgbClr val="000000"/>
              </a:solidFill>
              <a:effectLst/>
              <a:uFillTx/>
              <a:latin typeface="Arial"/>
            </a:endParaRPr>
          </a:p>
        </p:txBody>
      </p:sp>
      <p:sp>
        <p:nvSpPr>
          <p:cNvPr id="2151" name="Shape 11"/>
          <p:cNvSpPr/>
          <p:nvPr/>
        </p:nvSpPr>
        <p:spPr>
          <a:xfrm>
            <a:off x="3456360" y="2606040"/>
            <a:ext cx="2331720" cy="360"/>
          </a:xfrm>
          <a:prstGeom prst="line">
            <a:avLst/>
          </a:prstGeom>
          <a:ln w="10160">
            <a:solidFill>
              <a:srgbClr val="BF360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52" name="Text 12"/>
          <p:cNvSpPr/>
          <p:nvPr/>
        </p:nvSpPr>
        <p:spPr>
          <a:xfrm>
            <a:off x="3456360" y="2788920"/>
            <a:ext cx="232452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developer.mozilla.org</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web.dev (Core Web Vitals)</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wordpress.org/documentation</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a11yproject.com</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smashingmagazine.com</a:t>
            </a:r>
            <a:endParaRPr lang="fr-FR" sz="1000" b="0" u="none" strike="noStrike">
              <a:solidFill>
                <a:srgbClr val="000000"/>
              </a:solidFill>
              <a:effectLst/>
              <a:uFillTx/>
              <a:latin typeface="Arial"/>
            </a:endParaRPr>
          </a:p>
        </p:txBody>
      </p:sp>
      <p:sp>
        <p:nvSpPr>
          <p:cNvPr id="2153" name="Shape 13"/>
          <p:cNvSpPr/>
          <p:nvPr/>
        </p:nvSpPr>
        <p:spPr>
          <a:xfrm>
            <a:off x="6089760" y="2057400"/>
            <a:ext cx="2690280" cy="2553120"/>
          </a:xfrm>
          <a:prstGeom prst="rect">
            <a:avLst/>
          </a:prstGeom>
          <a:solidFill>
            <a:srgbClr val="EBE4D5"/>
          </a:solidFill>
          <a:ln w="12700">
            <a:solidFill>
              <a:srgbClr val="EBE4D5"/>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54" name="Text 14"/>
          <p:cNvSpPr/>
          <p:nvPr/>
        </p:nvSpPr>
        <p:spPr>
          <a:xfrm>
            <a:off x="6272640" y="2240280"/>
            <a:ext cx="232452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150" strike="noStrike">
                <a:solidFill>
                  <a:srgbClr val="BF360C"/>
                </a:solidFill>
                <a:effectLst/>
                <a:uFillTx/>
                <a:latin typeface="Arelv"/>
                <a:ea typeface="Arelv"/>
              </a:rPr>
              <a:t>PODCASTS</a:t>
            </a:r>
            <a:endParaRPr lang="fr-FR" sz="1300" b="0" u="none" strike="noStrike">
              <a:solidFill>
                <a:srgbClr val="000000"/>
              </a:solidFill>
              <a:effectLst/>
              <a:uFillTx/>
              <a:latin typeface="Arial"/>
            </a:endParaRPr>
          </a:p>
        </p:txBody>
      </p:sp>
      <p:sp>
        <p:nvSpPr>
          <p:cNvPr id="2155" name="Shape 15"/>
          <p:cNvSpPr/>
          <p:nvPr/>
        </p:nvSpPr>
        <p:spPr>
          <a:xfrm>
            <a:off x="6272640" y="2606040"/>
            <a:ext cx="2331720" cy="360"/>
          </a:xfrm>
          <a:prstGeom prst="line">
            <a:avLst/>
          </a:prstGeom>
          <a:ln w="10160">
            <a:solidFill>
              <a:srgbClr val="BF360C"/>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56" name="Text 16"/>
          <p:cNvSpPr/>
          <p:nvPr/>
        </p:nvSpPr>
        <p:spPr>
          <a:xfrm>
            <a:off x="6272640" y="2788920"/>
            <a:ext cx="2324520" cy="16844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Syntax.fm — Wes Bos &amp; Scott Tolinski</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ShopTalk Show — Chris Coyier</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Design Better — InVision</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If/Then — Stanford GSB</a:t>
            </a:r>
            <a:endParaRPr lang="fr-FR" sz="1000" b="0" u="none" strike="noStrike">
              <a:solidFill>
                <a:srgbClr val="000000"/>
              </a:solidFill>
              <a:effectLst/>
              <a:uFillTx/>
              <a:latin typeface="Arial"/>
            </a:endParaRPr>
          </a:p>
          <a:p>
            <a:pPr defTabSz="914400">
              <a:lnSpc>
                <a:spcPct val="100000"/>
              </a:lnSpc>
              <a:spcAft>
                <a:spcPts val="499"/>
              </a:spcAft>
              <a:tabLst>
                <a:tab pos="0" algn="l"/>
              </a:tabLst>
            </a:pPr>
            <a:r>
              <a:rPr lang="fr-FR" sz="1000" b="0" u="none" strike="noStrike">
                <a:solidFill>
                  <a:srgbClr val="0A0A0A"/>
                </a:solidFill>
                <a:effectLst/>
                <a:uFillTx/>
                <a:latin typeface="Satoshi"/>
                <a:ea typeface="Satoshi"/>
              </a:rPr>
              <a:t>› Tech Café (FR)</a:t>
            </a:r>
            <a:endParaRPr lang="fr-FR" sz="1000" b="0" u="none" strike="noStrike">
              <a:solidFill>
                <a:srgbClr val="000000"/>
              </a:solidFill>
              <a:effectLst/>
              <a:uFillTx/>
              <a:latin typeface="Arial"/>
            </a:endParaRPr>
          </a:p>
        </p:txBody>
      </p:sp>
      <p:sp>
        <p:nvSpPr>
          <p:cNvPr id="2157"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58"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59"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101</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60"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61"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62"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63"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CRÉDITS</a:t>
            </a:r>
            <a:endParaRPr lang="fr-FR" sz="5600" b="0" u="none" strike="noStrike">
              <a:solidFill>
                <a:srgbClr val="000000"/>
              </a:solidFill>
              <a:effectLst/>
              <a:uFillTx/>
              <a:latin typeface="Arial"/>
            </a:endParaRPr>
          </a:p>
        </p:txBody>
      </p:sp>
      <p:sp>
        <p:nvSpPr>
          <p:cNvPr id="2164"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Droits, mentions et historique du document</a:t>
            </a:r>
            <a:endParaRPr lang="fr-FR" sz="1400" b="0" u="none" strike="noStrike">
              <a:solidFill>
                <a:srgbClr val="000000"/>
              </a:solidFill>
              <a:effectLst/>
              <a:uFillTx/>
              <a:latin typeface="Arial"/>
            </a:endParaRPr>
          </a:p>
        </p:txBody>
      </p:sp>
      <p:sp>
        <p:nvSpPr>
          <p:cNvPr id="2165" name="Text 5"/>
          <p:cNvSpPr/>
          <p:nvPr/>
        </p:nvSpPr>
        <p:spPr>
          <a:xfrm>
            <a:off x="457200" y="205740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DROITS &amp; ATTRIBUTIONS</a:t>
            </a:r>
            <a:endParaRPr lang="fr-FR" sz="1100" b="0" u="none" strike="noStrike">
              <a:solidFill>
                <a:srgbClr val="000000"/>
              </a:solidFill>
              <a:effectLst/>
              <a:uFillTx/>
              <a:latin typeface="Arial"/>
            </a:endParaRPr>
          </a:p>
        </p:txBody>
      </p:sp>
      <p:sp>
        <p:nvSpPr>
          <p:cNvPr id="2166" name="Text 6"/>
          <p:cNvSpPr/>
          <p:nvPr/>
        </p:nvSpPr>
        <p:spPr>
          <a:xfrm>
            <a:off x="457200" y="23774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Photographies</a:t>
            </a:r>
            <a:endParaRPr lang="fr-FR" sz="1000" b="0" u="none" strike="noStrike">
              <a:solidFill>
                <a:srgbClr val="000000"/>
              </a:solidFill>
              <a:effectLst/>
              <a:uFillTx/>
              <a:latin typeface="Arial"/>
            </a:endParaRPr>
          </a:p>
        </p:txBody>
      </p:sp>
      <p:sp>
        <p:nvSpPr>
          <p:cNvPr id="2167" name="Text 7"/>
          <p:cNvSpPr/>
          <p:nvPr/>
        </p:nvSpPr>
        <p:spPr>
          <a:xfrm>
            <a:off x="457200" y="2578680"/>
            <a:ext cx="401616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37474F"/>
                </a:solidFill>
                <a:effectLst/>
                <a:uFillTx/>
                <a:latin typeface="Satoshi"/>
                <a:ea typeface="Satoshi"/>
              </a:rPr>
              <a:t>Prises de vue personnelles</a:t>
            </a:r>
            <a:endParaRPr lang="fr-FR" sz="900" b="0" u="none" strike="noStrike">
              <a:solidFill>
                <a:srgbClr val="000000"/>
              </a:solidFill>
              <a:effectLst/>
              <a:uFillTx/>
              <a:latin typeface="Arial"/>
            </a:endParaRPr>
          </a:p>
        </p:txBody>
      </p:sp>
      <p:sp>
        <p:nvSpPr>
          <p:cNvPr id="2168" name="Text 8"/>
          <p:cNvSpPr/>
          <p:nvPr/>
        </p:nvSpPr>
        <p:spPr>
          <a:xfrm>
            <a:off x="457200" y="28346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Polices Arelv &amp; Satoshi</a:t>
            </a:r>
            <a:endParaRPr lang="fr-FR" sz="1000" b="0" u="none" strike="noStrike">
              <a:solidFill>
                <a:srgbClr val="000000"/>
              </a:solidFill>
              <a:effectLst/>
              <a:uFillTx/>
              <a:latin typeface="Arial"/>
            </a:endParaRPr>
          </a:p>
        </p:txBody>
      </p:sp>
      <p:sp>
        <p:nvSpPr>
          <p:cNvPr id="2169" name="Text 9"/>
          <p:cNvSpPr/>
          <p:nvPr/>
        </p:nvSpPr>
        <p:spPr>
          <a:xfrm>
            <a:off x="457200" y="3035880"/>
            <a:ext cx="401616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37474F"/>
                </a:solidFill>
                <a:effectLst/>
                <a:uFillTx/>
                <a:latin typeface="Satoshi"/>
                <a:ea typeface="Satoshi"/>
              </a:rPr>
              <a:t>Licences gratuites, pour usage personnel uniquement</a:t>
            </a:r>
            <a:endParaRPr lang="fr-FR" sz="900" b="0" u="none" strike="noStrike">
              <a:solidFill>
                <a:srgbClr val="000000"/>
              </a:solidFill>
              <a:effectLst/>
              <a:uFillTx/>
              <a:latin typeface="Arial"/>
            </a:endParaRPr>
          </a:p>
        </p:txBody>
      </p:sp>
      <p:sp>
        <p:nvSpPr>
          <p:cNvPr id="2170" name="Text 10"/>
          <p:cNvSpPr/>
          <p:nvPr/>
        </p:nvSpPr>
        <p:spPr>
          <a:xfrm>
            <a:off x="457200" y="32918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Symbole, logo, charte</a:t>
            </a:r>
            <a:endParaRPr lang="fr-FR" sz="1000" b="0" u="none" strike="noStrike">
              <a:solidFill>
                <a:srgbClr val="000000"/>
              </a:solidFill>
              <a:effectLst/>
              <a:uFillTx/>
              <a:latin typeface="Arial"/>
            </a:endParaRPr>
          </a:p>
        </p:txBody>
      </p:sp>
      <p:sp>
        <p:nvSpPr>
          <p:cNvPr id="2171" name="Text 11"/>
          <p:cNvSpPr/>
          <p:nvPr/>
        </p:nvSpPr>
        <p:spPr>
          <a:xfrm>
            <a:off x="457200" y="3493080"/>
            <a:ext cx="401616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37474F"/>
                </a:solidFill>
                <a:effectLst/>
                <a:uFillTx/>
                <a:latin typeface="Satoshi"/>
                <a:ea typeface="Satoshi"/>
              </a:rPr>
              <a:t>Créations originales — Aymen CHAABANE, 2025-2026</a:t>
            </a:r>
            <a:endParaRPr lang="fr-FR" sz="900" b="0" u="none" strike="noStrike">
              <a:solidFill>
                <a:srgbClr val="000000"/>
              </a:solidFill>
              <a:effectLst/>
              <a:uFillTx/>
              <a:latin typeface="Arial"/>
            </a:endParaRPr>
          </a:p>
        </p:txBody>
      </p:sp>
      <p:sp>
        <p:nvSpPr>
          <p:cNvPr id="2172" name="Text 12"/>
          <p:cNvSpPr/>
          <p:nvPr/>
        </p:nvSpPr>
        <p:spPr>
          <a:xfrm>
            <a:off x="457200" y="37490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Ressources techniques</a:t>
            </a:r>
            <a:endParaRPr lang="fr-FR" sz="1000" b="0" u="none" strike="noStrike">
              <a:solidFill>
                <a:srgbClr val="000000"/>
              </a:solidFill>
              <a:effectLst/>
              <a:uFillTx/>
              <a:latin typeface="Arial"/>
            </a:endParaRPr>
          </a:p>
        </p:txBody>
      </p:sp>
      <p:sp>
        <p:nvSpPr>
          <p:cNvPr id="2173" name="Text 13"/>
          <p:cNvSpPr/>
          <p:nvPr/>
        </p:nvSpPr>
        <p:spPr>
          <a:xfrm>
            <a:off x="457200" y="3950280"/>
            <a:ext cx="401616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37474F"/>
                </a:solidFill>
                <a:effectLst/>
                <a:uFillTx/>
                <a:latin typeface="Satoshi"/>
                <a:ea typeface="Satoshi"/>
              </a:rPr>
              <a:t>WordPress.org, MDN Web Docs (Creative Commons)</a:t>
            </a:r>
            <a:endParaRPr lang="fr-FR" sz="900" b="0" u="none" strike="noStrike">
              <a:solidFill>
                <a:srgbClr val="000000"/>
              </a:solidFill>
              <a:effectLst/>
              <a:uFillTx/>
              <a:latin typeface="Arial"/>
            </a:endParaRPr>
          </a:p>
        </p:txBody>
      </p:sp>
      <p:sp>
        <p:nvSpPr>
          <p:cNvPr id="2174" name="Text 14"/>
          <p:cNvSpPr/>
          <p:nvPr/>
        </p:nvSpPr>
        <p:spPr>
          <a:xfrm>
            <a:off x="457200" y="4206240"/>
            <a:ext cx="401616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trike="noStrike">
                <a:solidFill>
                  <a:srgbClr val="0A0A0A"/>
                </a:solidFill>
                <a:effectLst/>
                <a:uFillTx/>
                <a:latin typeface="Satoshi"/>
                <a:ea typeface="Satoshi"/>
              </a:rPr>
              <a:t>Icônes SVG</a:t>
            </a:r>
            <a:endParaRPr lang="fr-FR" sz="1000" b="0" u="none" strike="noStrike">
              <a:solidFill>
                <a:srgbClr val="000000"/>
              </a:solidFill>
              <a:effectLst/>
              <a:uFillTx/>
              <a:latin typeface="Arial"/>
            </a:endParaRPr>
          </a:p>
        </p:txBody>
      </p:sp>
      <p:sp>
        <p:nvSpPr>
          <p:cNvPr id="2175" name="Text 15"/>
          <p:cNvSpPr/>
          <p:nvPr/>
        </p:nvSpPr>
        <p:spPr>
          <a:xfrm>
            <a:off x="457200" y="4407480"/>
            <a:ext cx="4016160" cy="267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u="none" strike="noStrike">
                <a:solidFill>
                  <a:srgbClr val="37474F"/>
                </a:solidFill>
                <a:effectLst/>
                <a:uFillTx/>
                <a:latin typeface="Satoshi"/>
                <a:ea typeface="Satoshi"/>
              </a:rPr>
              <a:t>Lucide Icons (ISC License), créations personnelles</a:t>
            </a:r>
            <a:endParaRPr lang="fr-FR" sz="900" b="0" u="none" strike="noStrike">
              <a:solidFill>
                <a:srgbClr val="000000"/>
              </a:solidFill>
              <a:effectLst/>
              <a:uFillTx/>
              <a:latin typeface="Arial"/>
            </a:endParaRPr>
          </a:p>
        </p:txBody>
      </p:sp>
      <p:sp>
        <p:nvSpPr>
          <p:cNvPr id="2176" name="Text 16"/>
          <p:cNvSpPr/>
          <p:nvPr/>
        </p:nvSpPr>
        <p:spPr>
          <a:xfrm>
            <a:off x="4754880" y="2057400"/>
            <a:ext cx="4016160" cy="26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1" u="none" spc="150" strike="noStrike">
                <a:solidFill>
                  <a:srgbClr val="BF360C"/>
                </a:solidFill>
                <a:effectLst/>
                <a:uFillTx/>
                <a:latin typeface="Satoshi"/>
                <a:ea typeface="Satoshi"/>
              </a:rPr>
              <a:t>HISTORIQUE DU DOCUMENT</a:t>
            </a:r>
            <a:endParaRPr lang="fr-FR" sz="1100" b="0" u="none" strike="noStrike">
              <a:solidFill>
                <a:srgbClr val="000000"/>
              </a:solidFill>
              <a:effectLst/>
              <a:uFillTx/>
              <a:latin typeface="Arial"/>
            </a:endParaRPr>
          </a:p>
        </p:txBody>
      </p:sp>
      <p:graphicFrame>
        <p:nvGraphicFramePr>
          <p:cNvPr id="2177" name="Table 0"/>
          <p:cNvGraphicFramePr/>
          <p:nvPr/>
        </p:nvGraphicFramePr>
        <p:xfrm>
          <a:off x="4754880" y="2423160"/>
          <a:ext cx="4023000" cy="1169280"/>
        </p:xfrm>
        <a:graphic>
          <a:graphicData uri="http://schemas.openxmlformats.org/drawingml/2006/table">
            <a:tbl>
              <a:tblPr/>
              <a:tblGrid>
                <a:gridCol w="822960"/>
                <a:gridCol w="1097280"/>
                <a:gridCol w="2103120"/>
              </a:tblGrid>
              <a:tr h="292320">
                <a:tc>
                  <a:txBody>
                    <a:bodyPr anchor="t">
                      <a:noAutofit/>
                    </a:bodyPr>
                    <a:p>
                      <a:pPr algn="ctr" defTabSz="914400">
                        <a:lnSpc>
                          <a:spcPct val="100000"/>
                        </a:lnSpc>
                        <a:tabLst>
                          <a:tab pos="0" algn="l"/>
                        </a:tabLst>
                      </a:pPr>
                      <a:r>
                        <a:rPr lang="fr-FR" sz="950" b="1" u="none" strike="noStrike">
                          <a:solidFill>
                            <a:srgbClr val="F4EFE6"/>
                          </a:solidFill>
                          <a:effectLst/>
                          <a:uFillTx/>
                          <a:latin typeface="Satoshi"/>
                          <a:ea typeface="Satoshi"/>
                        </a:rPr>
                        <a:t>VERSION</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DATE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NOTES</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92320">
                <a:tc>
                  <a:txBody>
                    <a:bodyPr anchor="ctr">
                      <a:noAutofit/>
                    </a:bodyPr>
                    <a:p>
                      <a:pPr algn="ctr" defTabSz="914400">
                        <a:lnSpc>
                          <a:spcPct val="100000"/>
                        </a:lnSpc>
                        <a:tabLst>
                          <a:tab pos="0" algn="l"/>
                        </a:tabLst>
                      </a:pPr>
                      <a:r>
                        <a:rPr lang="en-US" sz="950" b="1" u="none" strike="noStrike">
                          <a:solidFill>
                            <a:srgbClr val="0A0A0A"/>
                          </a:solidFill>
                          <a:effectLst/>
                          <a:uFillTx/>
                          <a:latin typeface="Satoshi"/>
                          <a:ea typeface="Satoshi"/>
                        </a:rPr>
                        <a:t>v1.0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Déc. 2025</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Première version, 22 pages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ctr">
                      <a:noAutofit/>
                    </a:bodyPr>
                    <a:p>
                      <a:pPr algn="ctr" defTabSz="914400">
                        <a:lnSpc>
                          <a:spcPct val="100000"/>
                        </a:lnSpc>
                        <a:tabLst>
                          <a:tab pos="0" algn="l"/>
                        </a:tabLst>
                      </a:pPr>
                      <a:r>
                        <a:rPr lang="en-US" sz="950" b="1" u="none" strike="noStrike">
                          <a:solidFill>
                            <a:srgbClr val="0A0A0A"/>
                          </a:solidFill>
                          <a:effectLst/>
                          <a:uFillTx/>
                          <a:latin typeface="Satoshi"/>
                          <a:ea typeface="Satoshi"/>
                        </a:rPr>
                        <a:t>v1.1</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Fév. 2026</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Retours Benoît MOTTIN</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92320">
                <a:tc>
                  <a:txBody>
                    <a:bodyPr anchor="ctr">
                      <a:noAutofit/>
                    </a:bodyPr>
                    <a:p>
                      <a:pPr algn="ctr" defTabSz="914400">
                        <a:lnSpc>
                          <a:spcPct val="100000"/>
                        </a:lnSpc>
                        <a:tabLst>
                          <a:tab pos="0" algn="l"/>
                        </a:tabLst>
                      </a:pPr>
                      <a:r>
                        <a:rPr lang="en-US" sz="950" b="1" u="none" strike="noStrike">
                          <a:solidFill>
                            <a:srgbClr val="0A0A0A"/>
                          </a:solidFill>
                          <a:effectLst/>
                          <a:uFillTx/>
                          <a:latin typeface="Satoshi"/>
                          <a:ea typeface="Satoshi"/>
                        </a:rPr>
                        <a:t>v5.0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Mai. 2026</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Refonte complète, 106 pages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2178" name="Text 17"/>
          <p:cNvSpPr/>
          <p:nvPr/>
        </p:nvSpPr>
        <p:spPr>
          <a:xfrm>
            <a:off x="4754880" y="3840480"/>
            <a:ext cx="4016160" cy="541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00" b="0" i="1" u="none" strike="noStrike">
                <a:solidFill>
                  <a:srgbClr val="37474F"/>
                </a:solidFill>
                <a:effectLst/>
                <a:uFillTx/>
                <a:latin typeface="Satoshi"/>
                <a:ea typeface="Satoshi"/>
              </a:rPr>
              <a:t>Le document est versionné dans le dépôt GitHub LEMON-216/portfolio-cdc. Les retours évaluateurs sont consignés en commits dédiés.</a:t>
            </a:r>
            <a:endParaRPr lang="fr-FR" sz="900" b="0" u="none" strike="noStrike">
              <a:solidFill>
                <a:srgbClr val="000000"/>
              </a:solidFill>
              <a:effectLst/>
              <a:uFillTx/>
              <a:latin typeface="Arial"/>
            </a:endParaRPr>
          </a:p>
        </p:txBody>
      </p:sp>
      <p:sp>
        <p:nvSpPr>
          <p:cNvPr id="2179" name="Shape 18"/>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80" name="Text 19"/>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81" name="Text 20"/>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102</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82"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83"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84"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85"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200" b="1" u="none" strike="noStrike">
                <a:solidFill>
                  <a:srgbClr val="0A0A0A"/>
                </a:solidFill>
                <a:effectLst/>
                <a:uFillTx/>
                <a:latin typeface="Arelv"/>
                <a:ea typeface="Arelv"/>
              </a:rPr>
              <a:t>CONCLUSION</a:t>
            </a:r>
            <a:endParaRPr lang="fr-FR" sz="5200" b="0" u="none" strike="noStrike">
              <a:solidFill>
                <a:srgbClr val="000000"/>
              </a:solidFill>
              <a:effectLst/>
              <a:uFillTx/>
              <a:latin typeface="Arial"/>
            </a:endParaRPr>
          </a:p>
        </p:txBody>
      </p:sp>
      <p:sp>
        <p:nvSpPr>
          <p:cNvPr id="2186"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Synthèse du projet et perspectives</a:t>
            </a:r>
            <a:endParaRPr lang="fr-FR" sz="1600" b="0" u="none" strike="noStrike">
              <a:solidFill>
                <a:srgbClr val="000000"/>
              </a:solidFill>
              <a:effectLst/>
              <a:uFillTx/>
              <a:latin typeface="Arial"/>
            </a:endParaRPr>
          </a:p>
        </p:txBody>
      </p:sp>
      <p:sp>
        <p:nvSpPr>
          <p:cNvPr id="2187" name="Text 5"/>
          <p:cNvSpPr/>
          <p:nvPr/>
        </p:nvSpPr>
        <p:spPr>
          <a:xfrm>
            <a:off x="457200" y="2011680"/>
            <a:ext cx="8222400" cy="2644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Ce document a posé le cadre. Reste maintenant le plus exigeant : produire un site qui soit à la hauteur de ce qu'il annonce. J'en suis bien conscient — un cahier des charges peut promettre beaucoup, et un portfolio livré peut décevoir si l'exécution ne suit pas.</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u="none" strike="noStrike">
                <a:solidFill>
                  <a:srgbClr val="0A0A0A"/>
                </a:solidFill>
                <a:effectLst/>
                <a:uFillTx/>
                <a:latin typeface="Satoshi"/>
                <a:ea typeface="Satoshi"/>
              </a:rPr>
              <a:t>Si je devais retenir une seule décision structurante, ce serait celle d'assumer la double identité — chercheur en sciences humaines et praticien du web. Ni l'une ni l'autre seule ne suffit. Les recruteurs que j'imagine consulter ce portfolio n'attendent pas un développeur de plus ; ils cherchent un profil qui sache problématiser avant de coder. La charte graphique, la stratégie éditoriale, jusqu'au choix de WordPress, découlent de cette ligne.</a:t>
            </a:r>
            <a:endParaRPr lang="fr-FR" sz="1200" b="0" u="none" strike="noStrike">
              <a:solidFill>
                <a:srgbClr val="000000"/>
              </a:solidFill>
              <a:effectLst/>
              <a:uFillTx/>
              <a:latin typeface="Arial"/>
            </a:endParaRPr>
          </a:p>
          <a:p>
            <a:pPr defTabSz="914400">
              <a:lnSpc>
                <a:spcPct val="100000"/>
              </a:lnSpc>
              <a:spcAft>
                <a:spcPts val="201"/>
              </a:spcAft>
              <a:tabLst>
                <a:tab pos="0" algn="l"/>
              </a:tabLst>
            </a:pPr>
            <a:r>
              <a:rPr lang="fr-FR" sz="600" b="0" u="none" strike="noStrike">
                <a:solidFill>
                  <a:srgbClr val="0A0A0A"/>
                </a:solidFill>
                <a:effectLst/>
                <a:uFillTx/>
                <a:latin typeface="Satoshi"/>
                <a:ea typeface="Satoshi"/>
              </a:rPr>
              <a:t> </a:t>
            </a:r>
            <a:endParaRPr lang="fr-FR" sz="600" b="0" u="none" strike="noStrike">
              <a:solidFill>
                <a:srgbClr val="000000"/>
              </a:solidFill>
              <a:effectLst/>
              <a:uFillTx/>
              <a:latin typeface="Arial"/>
            </a:endParaRPr>
          </a:p>
          <a:p>
            <a:pPr defTabSz="914400">
              <a:lnSpc>
                <a:spcPct val="100000"/>
              </a:lnSpc>
              <a:spcAft>
                <a:spcPts val="201"/>
              </a:spcAft>
              <a:tabLst>
                <a:tab pos="0" algn="l"/>
              </a:tabLst>
            </a:pPr>
            <a:r>
              <a:rPr lang="fr-FR" sz="1200" b="0" i="1" u="none" strike="noStrike">
                <a:solidFill>
                  <a:srgbClr val="37474F"/>
                </a:solidFill>
                <a:effectLst/>
                <a:uFillTx/>
                <a:latin typeface="Satoshi"/>
                <a:ea typeface="Satoshi"/>
              </a:rPr>
              <a:t>Le site sera mis en ligne en juin 2026 sur l'hébergement pédagogique FIM pour la soutenance. La migration vers aymen-chaabane.fr (OVH) suivra en juillet. C'est à partir de là que le travail réel commence — celui qui consiste à le maintenir vivant.</a:t>
            </a:r>
            <a:endParaRPr lang="fr-FR" sz="1200" b="0" u="none" strike="noStrike">
              <a:solidFill>
                <a:srgbClr val="000000"/>
              </a:solidFill>
              <a:effectLst/>
              <a:uFillTx/>
              <a:latin typeface="Arial"/>
            </a:endParaRPr>
          </a:p>
        </p:txBody>
      </p:sp>
      <p:sp>
        <p:nvSpPr>
          <p:cNvPr id="2188"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89"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190"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103</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19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19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19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19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000" b="1" u="none" strike="noStrike">
                <a:solidFill>
                  <a:srgbClr val="0A0A0A"/>
                </a:solidFill>
                <a:effectLst/>
                <a:uFillTx/>
                <a:latin typeface="Arelv"/>
                <a:ea typeface="Arelv"/>
              </a:rPr>
              <a:t>SOUTENANCE</a:t>
            </a:r>
            <a:endParaRPr lang="fr-FR" sz="5000" b="0" u="none" strike="noStrike">
              <a:solidFill>
                <a:srgbClr val="000000"/>
              </a:solidFill>
              <a:effectLst/>
              <a:uFillTx/>
              <a:latin typeface="Arial"/>
            </a:endParaRPr>
          </a:p>
        </p:txBody>
      </p:sp>
      <p:sp>
        <p:nvSpPr>
          <p:cNvPr id="219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i="1" u="none" strike="noStrike">
                <a:solidFill>
                  <a:srgbClr val="37474F"/>
                </a:solidFill>
                <a:effectLst/>
                <a:uFillTx/>
                <a:latin typeface="Satoshi"/>
                <a:ea typeface="Satoshi"/>
              </a:rPr>
              <a:t>Format officiel de la soutenance — 50 minutes au total</a:t>
            </a:r>
            <a:endParaRPr lang="fr-FR" sz="1600" b="0" u="none" strike="noStrike">
              <a:solidFill>
                <a:srgbClr val="000000"/>
              </a:solidFill>
              <a:effectLst/>
              <a:uFillTx/>
              <a:latin typeface="Arial"/>
            </a:endParaRPr>
          </a:p>
        </p:txBody>
      </p:sp>
      <p:sp>
        <p:nvSpPr>
          <p:cNvPr id="2196" name="Shape 5"/>
          <p:cNvSpPr/>
          <p:nvPr/>
        </p:nvSpPr>
        <p:spPr>
          <a:xfrm>
            <a:off x="45720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197" name="Text 6"/>
          <p:cNvSpPr/>
          <p:nvPr/>
        </p:nvSpPr>
        <p:spPr>
          <a:xfrm>
            <a:off x="64008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PRÉSENTATION</a:t>
            </a:r>
            <a:endParaRPr lang="fr-FR" sz="1600" b="0" u="none" strike="noStrike">
              <a:solidFill>
                <a:srgbClr val="000000"/>
              </a:solidFill>
              <a:effectLst/>
              <a:uFillTx/>
              <a:latin typeface="Arial"/>
            </a:endParaRPr>
          </a:p>
        </p:txBody>
      </p:sp>
      <p:sp>
        <p:nvSpPr>
          <p:cNvPr id="2198" name="Text 7"/>
          <p:cNvSpPr/>
          <p:nvPr/>
        </p:nvSpPr>
        <p:spPr>
          <a:xfrm>
            <a:off x="457200" y="25603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Durée : 20 minutes. Exposé du projet portfolio — démarche, charte, wireframes, maquettes, prototype Figma, site WordPress final. Répartition équilibrée du temps. Tous moyens de présentation autorisés.</a:t>
            </a:r>
            <a:endParaRPr lang="fr-FR" sz="1000" b="0" u="none" strike="noStrike">
              <a:solidFill>
                <a:srgbClr val="000000"/>
              </a:solidFill>
              <a:effectLst/>
              <a:uFillTx/>
              <a:latin typeface="Arial"/>
            </a:endParaRPr>
          </a:p>
        </p:txBody>
      </p:sp>
      <p:sp>
        <p:nvSpPr>
          <p:cNvPr id="2199" name="Shape 8"/>
          <p:cNvSpPr/>
          <p:nvPr/>
        </p:nvSpPr>
        <p:spPr>
          <a:xfrm>
            <a:off x="4663440" y="21031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200" name="Text 9"/>
          <p:cNvSpPr/>
          <p:nvPr/>
        </p:nvSpPr>
        <p:spPr>
          <a:xfrm>
            <a:off x="4846320" y="20574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QUESTIONS-RÉPONSES</a:t>
            </a:r>
            <a:endParaRPr lang="fr-FR" sz="1600" b="0" u="none" strike="noStrike">
              <a:solidFill>
                <a:srgbClr val="000000"/>
              </a:solidFill>
              <a:effectLst/>
              <a:uFillTx/>
              <a:latin typeface="Arial"/>
            </a:endParaRPr>
          </a:p>
        </p:txBody>
      </p:sp>
      <p:sp>
        <p:nvSpPr>
          <p:cNvPr id="2201" name="Text 10"/>
          <p:cNvSpPr/>
          <p:nvPr/>
        </p:nvSpPr>
        <p:spPr>
          <a:xfrm>
            <a:off x="4663440" y="25603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Durée : 20 minutes. Échange avec le jury composé de professionnels et/ou formateurs. Posture d'écoute, compréhension des objections, précision du vocabulaire technique et stratégique.</a:t>
            </a:r>
            <a:endParaRPr lang="fr-FR" sz="1000" b="0" u="none" strike="noStrike">
              <a:solidFill>
                <a:srgbClr val="000000"/>
              </a:solidFill>
              <a:effectLst/>
              <a:uFillTx/>
              <a:latin typeface="Arial"/>
            </a:endParaRPr>
          </a:p>
        </p:txBody>
      </p:sp>
      <p:sp>
        <p:nvSpPr>
          <p:cNvPr id="2202" name="Shape 11"/>
          <p:cNvSpPr/>
          <p:nvPr/>
        </p:nvSpPr>
        <p:spPr>
          <a:xfrm>
            <a:off x="45720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203" name="Text 12"/>
          <p:cNvSpPr/>
          <p:nvPr/>
        </p:nvSpPr>
        <p:spPr>
          <a:xfrm>
            <a:off x="64008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DÉBRIEFING JURY</a:t>
            </a:r>
            <a:endParaRPr lang="fr-FR" sz="1600" b="0" u="none" strike="noStrike">
              <a:solidFill>
                <a:srgbClr val="000000"/>
              </a:solidFill>
              <a:effectLst/>
              <a:uFillTx/>
              <a:latin typeface="Arial"/>
            </a:endParaRPr>
          </a:p>
        </p:txBody>
      </p:sp>
      <p:sp>
        <p:nvSpPr>
          <p:cNvPr id="2204" name="Text 13"/>
          <p:cNvSpPr/>
          <p:nvPr/>
        </p:nvSpPr>
        <p:spPr>
          <a:xfrm>
            <a:off x="457200" y="39319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Durée : 10 minutes. Le jury débrieffe à huis clos avant restitution. Critères : communication (2,5), charte graphique (4), conception web et maquettage (3,5), réalisation technique (5).</a:t>
            </a:r>
            <a:endParaRPr lang="fr-FR" sz="1000" b="0" u="none" strike="noStrike">
              <a:solidFill>
                <a:srgbClr val="000000"/>
              </a:solidFill>
              <a:effectLst/>
              <a:uFillTx/>
              <a:latin typeface="Arial"/>
            </a:endParaRPr>
          </a:p>
        </p:txBody>
      </p:sp>
      <p:sp>
        <p:nvSpPr>
          <p:cNvPr id="2205" name="Shape 14"/>
          <p:cNvSpPr/>
          <p:nvPr/>
        </p:nvSpPr>
        <p:spPr>
          <a:xfrm>
            <a:off x="4663440" y="3474720"/>
            <a:ext cx="47520" cy="450000"/>
          </a:xfrm>
          <a:prstGeom prst="rect">
            <a:avLst/>
          </a:prstGeom>
          <a:solidFill>
            <a:srgbClr val="BF360C"/>
          </a:solidFill>
          <a:ln w="12700">
            <a:solidFill>
              <a:srgbClr val="BF360C"/>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206" name="Text 15"/>
          <p:cNvSpPr/>
          <p:nvPr/>
        </p:nvSpPr>
        <p:spPr>
          <a:xfrm>
            <a:off x="4846320" y="3429000"/>
            <a:ext cx="3833280" cy="450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A0A0A"/>
                </a:solidFill>
                <a:effectLst/>
                <a:uFillTx/>
                <a:latin typeface="Arelv"/>
                <a:ea typeface="Arelv"/>
              </a:rPr>
              <a:t>DATE</a:t>
            </a:r>
            <a:endParaRPr lang="fr-FR" sz="1600" b="0" u="none" strike="noStrike">
              <a:solidFill>
                <a:srgbClr val="000000"/>
              </a:solidFill>
              <a:effectLst/>
              <a:uFillTx/>
              <a:latin typeface="Arial"/>
            </a:endParaRPr>
          </a:p>
        </p:txBody>
      </p:sp>
      <p:sp>
        <p:nvSpPr>
          <p:cNvPr id="2207" name="Text 16"/>
          <p:cNvSpPr/>
          <p:nvPr/>
        </p:nvSpPr>
        <p:spPr>
          <a:xfrm>
            <a:off x="4663440" y="3931920"/>
            <a:ext cx="4016160" cy="724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37474F"/>
                </a:solidFill>
                <a:effectLst/>
                <a:uFillTx/>
                <a:latin typeface="Satoshi"/>
                <a:ea typeface="Satoshi"/>
              </a:rPr>
              <a:t>25-26 juin 2026. Soutenance devant jury professionnel à FIM CCI Campus 2, Saint-Lô. Cadre fixé par le brief pédagogique de Benoît MOTTIN — projet technique portfolio, 1ère année Chef de Projet Digital.</a:t>
            </a:r>
            <a:endParaRPr lang="fr-FR" sz="1000" b="0" u="none" strike="noStrike">
              <a:solidFill>
                <a:srgbClr val="000000"/>
              </a:solidFill>
              <a:effectLst/>
              <a:uFillTx/>
              <a:latin typeface="Arial"/>
            </a:endParaRPr>
          </a:p>
        </p:txBody>
      </p:sp>
      <p:sp>
        <p:nvSpPr>
          <p:cNvPr id="2208" name="Shape 17"/>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209" name="Text 18"/>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210" name="Text 19"/>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104</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2211" name="Text 0"/>
          <p:cNvSpPr/>
          <p:nvPr/>
        </p:nvSpPr>
        <p:spPr>
          <a:xfrm>
            <a:off x="365760" y="164520"/>
            <a:ext cx="41076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1" u="none" spc="201" strike="noStrike">
                <a:solidFill>
                  <a:srgbClr val="0A0A0A"/>
                </a:solidFill>
                <a:effectLst/>
                <a:uFillTx/>
                <a:latin typeface="Satoshi"/>
                <a:ea typeface="Satoshi"/>
              </a:rPr>
              <a:t>CAHIER DES CHARGES</a:t>
            </a:r>
            <a:endParaRPr lang="fr-FR" sz="900" b="0" u="none" strike="noStrike">
              <a:solidFill>
                <a:srgbClr val="000000"/>
              </a:solidFill>
              <a:effectLst/>
              <a:uFillTx/>
              <a:latin typeface="Arial"/>
            </a:endParaRPr>
          </a:p>
        </p:txBody>
      </p:sp>
      <p:sp>
        <p:nvSpPr>
          <p:cNvPr id="2212" name="Text 1"/>
          <p:cNvSpPr/>
          <p:nvPr/>
        </p:nvSpPr>
        <p:spPr>
          <a:xfrm>
            <a:off x="8046720" y="164520"/>
            <a:ext cx="724320" cy="221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pc="201" strike="noStrike">
                <a:solidFill>
                  <a:srgbClr val="0A0A0A"/>
                </a:solidFill>
                <a:effectLst/>
                <a:uFillTx/>
                <a:latin typeface="Satoshi"/>
                <a:ea typeface="Satoshi"/>
              </a:rPr>
              <a:t>2026</a:t>
            </a:r>
            <a:endParaRPr lang="fr-FR" sz="900" b="0" u="none" strike="noStrike">
              <a:solidFill>
                <a:srgbClr val="000000"/>
              </a:solidFill>
              <a:effectLst/>
              <a:uFillTx/>
              <a:latin typeface="Arial"/>
            </a:endParaRPr>
          </a:p>
        </p:txBody>
      </p:sp>
      <p:sp>
        <p:nvSpPr>
          <p:cNvPr id="2213" name="Shape 2"/>
          <p:cNvSpPr/>
          <p:nvPr/>
        </p:nvSpPr>
        <p:spPr>
          <a:xfrm>
            <a:off x="365760" y="4572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214" name="Text 3"/>
          <p:cNvSpPr/>
          <p:nvPr/>
        </p:nvSpPr>
        <p:spPr>
          <a:xfrm>
            <a:off x="457200" y="777240"/>
            <a:ext cx="8222400" cy="815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0" b="1" u="none" strike="noStrike">
                <a:solidFill>
                  <a:srgbClr val="0A0A0A"/>
                </a:solidFill>
                <a:effectLst/>
                <a:uFillTx/>
                <a:latin typeface="Arelv"/>
                <a:ea typeface="Arelv"/>
              </a:rPr>
              <a:t>ÉVALUATION</a:t>
            </a:r>
            <a:endParaRPr lang="fr-FR" sz="5600" b="0" u="none" strike="noStrike">
              <a:solidFill>
                <a:srgbClr val="000000"/>
              </a:solidFill>
              <a:effectLst/>
              <a:uFillTx/>
              <a:latin typeface="Arial"/>
            </a:endParaRPr>
          </a:p>
        </p:txBody>
      </p:sp>
      <p:sp>
        <p:nvSpPr>
          <p:cNvPr id="2215" name="Text 4"/>
          <p:cNvSpPr/>
          <p:nvPr/>
        </p:nvSpPr>
        <p:spPr>
          <a:xfrm>
            <a:off x="457200" y="15544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0" i="1" u="none" strike="noStrike">
                <a:solidFill>
                  <a:srgbClr val="37474F"/>
                </a:solidFill>
                <a:effectLst/>
                <a:uFillTx/>
                <a:latin typeface="Satoshi"/>
                <a:ea typeface="Satoshi"/>
              </a:rPr>
              <a:t>Grille de soutenance — critères et pondération ECTS</a:t>
            </a:r>
            <a:endParaRPr lang="fr-FR" sz="1400" b="0" u="none" strike="noStrike">
              <a:solidFill>
                <a:srgbClr val="000000"/>
              </a:solidFill>
              <a:effectLst/>
              <a:uFillTx/>
              <a:latin typeface="Arial"/>
            </a:endParaRPr>
          </a:p>
        </p:txBody>
      </p:sp>
      <p:graphicFrame>
        <p:nvGraphicFramePr>
          <p:cNvPr id="2216" name="Table 0"/>
          <p:cNvGraphicFramePr/>
          <p:nvPr/>
        </p:nvGraphicFramePr>
        <p:xfrm>
          <a:off x="457200" y="2057400"/>
          <a:ext cx="8362440" cy="2127240"/>
        </p:xfrm>
        <a:graphic>
          <a:graphicData uri="http://schemas.openxmlformats.org/drawingml/2006/table">
            <a:tbl>
              <a:tblPr/>
              <a:tblGrid>
                <a:gridCol w="4054680"/>
                <a:gridCol w="1752480"/>
                <a:gridCol w="2555640"/>
              </a:tblGrid>
              <a:tr h="251280">
                <a:tc>
                  <a:txBody>
                    <a:bodyPr anchor="t">
                      <a:noAutofit/>
                    </a:bodyPr>
                    <a:p>
                      <a:pPr defTabSz="914400">
                        <a:lnSpc>
                          <a:spcPct val="100000"/>
                        </a:lnSpc>
                        <a:tabLst>
                          <a:tab pos="0" algn="l"/>
                        </a:tabLst>
                      </a:pPr>
                      <a:r>
                        <a:rPr lang="fr-FR" sz="950" b="1" u="none" strike="noStrike">
                          <a:solidFill>
                            <a:srgbClr val="F4EFE6"/>
                          </a:solidFill>
                          <a:effectLst/>
                          <a:uFillTx/>
                          <a:latin typeface="Satoshi"/>
                          <a:ea typeface="Satoshi"/>
                        </a:rPr>
                        <a:t>CRITÈRE</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algn="r" defTabSz="914400">
                        <a:lnSpc>
                          <a:spcPct val="100000"/>
                        </a:lnSpc>
                        <a:tabLst>
                          <a:tab pos="0" algn="l"/>
                        </a:tabLst>
                      </a:pPr>
                      <a:r>
                        <a:rPr lang="en-US" sz="950" b="1" u="none" strike="noStrike">
                          <a:solidFill>
                            <a:srgbClr val="F4EFE6"/>
                          </a:solidFill>
                          <a:effectLst/>
                          <a:uFillTx/>
                          <a:latin typeface="Satoshi"/>
                          <a:ea typeface="Satoshi"/>
                        </a:rPr>
                        <a:t>ECTS</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c>
                  <a:txBody>
                    <a:bodyPr anchor="t">
                      <a:noAutofit/>
                    </a:bodyPr>
                    <a:p>
                      <a:pPr defTabSz="914400">
                        <a:lnSpc>
                          <a:spcPct val="100000"/>
                        </a:lnSpc>
                        <a:tabLst>
                          <a:tab pos="0" algn="l"/>
                        </a:tabLst>
                      </a:pPr>
                      <a:r>
                        <a:rPr lang="en-US" sz="950" b="1" u="none" strike="noStrike">
                          <a:solidFill>
                            <a:srgbClr val="F4EFE6"/>
                          </a:solidFill>
                          <a:effectLst/>
                          <a:uFillTx/>
                          <a:latin typeface="Satoshi"/>
                          <a:ea typeface="Satoshi"/>
                        </a:rPr>
                        <a:t>DÉTAIL</a:t>
                      </a:r>
                      <a:endParaRPr lang="fr-FR" sz="950" b="0" u="none" strike="noStrike">
                        <a:solidFill>
                          <a:srgbClr val="FFFFFF"/>
                        </a:solidFill>
                        <a:effectLst/>
                        <a:uFillTx/>
                        <a:latin typeface="Arial"/>
                      </a:endParaRPr>
                    </a:p>
                  </a:txBody>
                  <a:tcPr anchor="t"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0A0A0A"/>
                    </a:solid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Communication</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2,50</a:t>
                      </a:r>
                      <a:r>
                        <a:rPr lang="en-US" sz="1800" b="0" u="none" strike="noStrike">
                          <a:solidFill>
                            <a:srgbClr val="0A0A0A"/>
                          </a:solidFill>
                          <a:effectLst/>
                          <a:uFillTx/>
                          <a:latin typeface="Satoshi"/>
                          <a:ea typeface="Satoshi"/>
                        </a:rPr>
                        <a:t> </a:t>
                      </a:r>
                      <a:endParaRPr lang="fr-FR" sz="180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Diction, relation jury, qualité des supports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Charte graphique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1800" b="0" u="none" strike="noStrike">
                          <a:solidFill>
                            <a:srgbClr val="0A0A0A"/>
                          </a:solidFill>
                          <a:effectLst/>
                          <a:uFillTx/>
                          <a:latin typeface="Satoshi"/>
                          <a:ea typeface="Satoshi"/>
                        </a:rPr>
                        <a:t> </a:t>
                      </a:r>
                      <a:r>
                        <a:rPr lang="en-US" sz="950" b="0" u="none" strike="noStrike">
                          <a:solidFill>
                            <a:srgbClr val="0A0A0A"/>
                          </a:solidFill>
                          <a:effectLst/>
                          <a:uFillTx/>
                          <a:latin typeface="Satoshi"/>
                          <a:ea typeface="Satoshi"/>
                        </a:rPr>
                        <a:t>4,00</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Logotype, choix typo/icono, moodboard, style guide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Conception graphique web et maquettage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3,50</a:t>
                      </a:r>
                      <a:r>
                        <a:rPr lang="en-US" sz="1800" b="0" u="none" strike="noStrike">
                          <a:solidFill>
                            <a:srgbClr val="0A0A0A"/>
                          </a:solidFill>
                          <a:effectLst/>
                          <a:uFillTx/>
                          <a:latin typeface="Satoshi"/>
                          <a:ea typeface="Satoshi"/>
                        </a:rPr>
                        <a:t> </a:t>
                      </a:r>
                      <a:endParaRPr lang="fr-FR" sz="180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Wireframes niveau de gris, prototype interactif Figma</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Réalisation technique</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5,00</a:t>
                      </a:r>
                      <a:r>
                        <a:rPr lang="en-US" sz="1800" b="0" u="none" strike="noStrike">
                          <a:solidFill>
                            <a:srgbClr val="0A0A0A"/>
                          </a:solidFill>
                          <a:effectLst/>
                          <a:uFillTx/>
                          <a:latin typeface="Satoshi"/>
                          <a:ea typeface="Satoshi"/>
                        </a:rPr>
                        <a:t> </a:t>
                      </a:r>
                      <a:endParaRPr lang="fr-FR" sz="180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Maquette respectée, balisage sémantique, SEO, CMS</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251280">
                <a:tc>
                  <a:txBody>
                    <a:bodyPr anchor="ctr">
                      <a:noAutofit/>
                    </a:bodyPr>
                    <a:p>
                      <a:pPr defTabSz="914400">
                        <a:lnSpc>
                          <a:spcPct val="100000"/>
                        </a:lnSpc>
                        <a:tabLst>
                          <a:tab pos="0" algn="l"/>
                        </a:tabLst>
                      </a:pPr>
                      <a:r>
                        <a:rPr lang="en-US" sz="950" b="1" u="none" strike="noStrike">
                          <a:solidFill>
                            <a:srgbClr val="0A0A0A"/>
                          </a:solidFill>
                          <a:effectLst/>
                          <a:uFillTx/>
                          <a:latin typeface="Satoshi"/>
                          <a:ea typeface="Satoshi"/>
                        </a:rPr>
                        <a:t>  SITE PORTFOLIO</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algn="r" defTabSz="914400">
                        <a:lnSpc>
                          <a:spcPct val="100000"/>
                        </a:lnSpc>
                        <a:tabLst>
                          <a:tab pos="0" algn="l"/>
                        </a:tabLst>
                      </a:pPr>
                      <a:r>
                        <a:rPr lang="en-US" sz="950" b="0" u="none" strike="noStrike">
                          <a:solidFill>
                            <a:srgbClr val="0A0A0A"/>
                          </a:solidFill>
                          <a:effectLst/>
                          <a:uFillTx/>
                          <a:latin typeface="Satoshi"/>
                          <a:ea typeface="Satoshi"/>
                        </a:rPr>
                        <a:t>15,00</a:t>
                      </a:r>
                      <a:r>
                        <a:rPr lang="en-US" sz="1800" b="0" u="none" strike="noStrike">
                          <a:solidFill>
                            <a:srgbClr val="0A0A0A"/>
                          </a:solidFill>
                          <a:effectLst/>
                          <a:uFillTx/>
                          <a:latin typeface="Satoshi"/>
                          <a:ea typeface="Satoshi"/>
                        </a:rPr>
                        <a:t> </a:t>
                      </a:r>
                      <a:endParaRPr lang="fr-FR" sz="180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ctr">
                      <a:noAutofit/>
                    </a:bodyPr>
                    <a:p>
                      <a:pPr defTabSz="914400">
                        <a:lnSpc>
                          <a:spcPct val="100000"/>
                        </a:lnSpc>
                        <a:tabLst>
                          <a:tab pos="0" algn="l"/>
                        </a:tabLst>
                      </a:pPr>
                      <a:r>
                        <a:rPr lang="en-US" sz="950" b="0" u="none" strike="noStrike">
                          <a:solidFill>
                            <a:srgbClr val="0A0A0A"/>
                          </a:solidFill>
                          <a:effectLst/>
                          <a:uFillTx/>
                          <a:latin typeface="Satoshi"/>
                          <a:ea typeface="Satoshi"/>
                        </a:rPr>
                        <a:t>15 ECTS — soutenance le 25/06/2026</a:t>
                      </a:r>
                      <a:endParaRPr lang="fr-FR" sz="950" b="0" u="none" strike="noStrike">
                        <a:solidFill>
                          <a:srgbClr val="000000"/>
                        </a:solidFill>
                        <a:effectLst/>
                        <a:uFillTx/>
                        <a:latin typeface="Arial"/>
                      </a:endParaRPr>
                    </a:p>
                  </a:txBody>
                  <a:tcPr anchor="ctr" marL="91440" marR="91440" marT="45720" marB="4572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2217" name="Text 5"/>
          <p:cNvSpPr/>
          <p:nvPr/>
        </p:nvSpPr>
        <p:spPr>
          <a:xfrm>
            <a:off x="457200" y="4526280"/>
            <a:ext cx="8222400" cy="267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0" i="1" u="none" strike="noStrike">
                <a:solidFill>
                  <a:srgbClr val="37474F"/>
                </a:solidFill>
                <a:effectLst/>
                <a:uFillTx/>
                <a:latin typeface="Satoshi"/>
                <a:ea typeface="Satoshi"/>
              </a:rPr>
              <a:t>Source : DIAPO_CAHIER_DES_CHARGES_1ERE_ANNE_CPDIGITAL. Document de référence pour la soutenance du 25 juin 2026.</a:t>
            </a:r>
            <a:endParaRPr lang="fr-FR" sz="1000" b="0" u="none" strike="noStrike">
              <a:solidFill>
                <a:srgbClr val="000000"/>
              </a:solidFill>
              <a:effectLst/>
              <a:uFillTx/>
              <a:latin typeface="Arial"/>
            </a:endParaRPr>
          </a:p>
        </p:txBody>
      </p:sp>
      <p:sp>
        <p:nvSpPr>
          <p:cNvPr id="2218" name="Shape 6"/>
          <p:cNvSpPr/>
          <p:nvPr/>
        </p:nvSpPr>
        <p:spPr>
          <a:xfrm>
            <a:off x="365760" y="4800600"/>
            <a:ext cx="8412480" cy="360"/>
          </a:xfrm>
          <a:prstGeom prst="line">
            <a:avLst/>
          </a:prstGeom>
          <a:ln w="9525">
            <a:solidFill>
              <a:srgbClr val="0A0A0A"/>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Arial"/>
            </a:endParaRPr>
          </a:p>
        </p:txBody>
      </p:sp>
      <p:sp>
        <p:nvSpPr>
          <p:cNvPr id="2219" name="Text 7"/>
          <p:cNvSpPr/>
          <p:nvPr/>
        </p:nvSpPr>
        <p:spPr>
          <a:xfrm>
            <a:off x="365760" y="4864680"/>
            <a:ext cx="4107600" cy="19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 b="0" u="none" strike="noStrike">
                <a:solidFill>
                  <a:srgbClr val="0A0A0A"/>
                </a:solidFill>
                <a:effectLst/>
                <a:uFillTx/>
                <a:latin typeface="Satoshi"/>
                <a:ea typeface="Satoshi"/>
              </a:rPr>
              <a:t>Aymen CHAABANE</a:t>
            </a:r>
            <a:endParaRPr lang="fr-FR" sz="900" b="0" u="none" strike="noStrike">
              <a:solidFill>
                <a:srgbClr val="000000"/>
              </a:solidFill>
              <a:effectLst/>
              <a:uFillTx/>
              <a:latin typeface="Arial"/>
            </a:endParaRPr>
          </a:p>
        </p:txBody>
      </p:sp>
      <p:sp>
        <p:nvSpPr>
          <p:cNvPr id="2220" name="Text 8"/>
          <p:cNvSpPr/>
          <p:nvPr/>
        </p:nvSpPr>
        <p:spPr>
          <a:xfrm>
            <a:off x="8046720" y="4864680"/>
            <a:ext cx="724320" cy="194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00" b="1" u="none" strike="noStrike">
                <a:solidFill>
                  <a:srgbClr val="0A0A0A"/>
                </a:solidFill>
                <a:effectLst/>
                <a:uFillTx/>
                <a:latin typeface="Satoshi"/>
                <a:ea typeface="Satoshi"/>
              </a:rPr>
              <a:t>105</a:t>
            </a:r>
            <a:endParaRPr lang="fr-FR"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A0A"/>
        </a:solidFill>
      </p:bgPr>
    </p:bg>
    <p:spTree>
      <p:nvGrpSpPr>
        <p:cNvPr id="1" name=""/>
        <p:cNvGrpSpPr/>
        <p:nvPr/>
      </p:nvGrpSpPr>
      <p:grpSpPr>
        <a:xfrm>
          <a:off x="0" y="0"/>
          <a:ext cx="0" cy="0"/>
          <a:chOff x="0" y="0"/>
          <a:chExt cx="0" cy="0"/>
        </a:xfrm>
      </p:grpSpPr>
      <p:sp>
        <p:nvSpPr>
          <p:cNvPr id="2221" name="Text 0"/>
          <p:cNvSpPr/>
          <p:nvPr/>
        </p:nvSpPr>
        <p:spPr>
          <a:xfrm>
            <a:off x="457200" y="731520"/>
            <a:ext cx="8222400" cy="1090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000" b="1" u="none" strike="noStrike">
                <a:solidFill>
                  <a:srgbClr val="F4EFE6"/>
                </a:solidFill>
                <a:effectLst/>
                <a:uFillTx/>
                <a:latin typeface="Arelv"/>
                <a:ea typeface="Arelv"/>
              </a:rPr>
              <a:t>MERCI</a:t>
            </a:r>
            <a:endParaRPr lang="fr-FR" sz="9000" b="0" u="none" strike="noStrike">
              <a:solidFill>
                <a:srgbClr val="FFFFFF"/>
              </a:solidFill>
              <a:effectLst/>
              <a:uFillTx/>
              <a:latin typeface="Arial"/>
            </a:endParaRPr>
          </a:p>
        </p:txBody>
      </p:sp>
      <p:sp>
        <p:nvSpPr>
          <p:cNvPr id="2222" name="Text 1"/>
          <p:cNvSpPr/>
          <p:nvPr/>
        </p:nvSpPr>
        <p:spPr>
          <a:xfrm>
            <a:off x="457200" y="1783080"/>
            <a:ext cx="8222400" cy="35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0" i="1" u="none" strike="noStrike">
                <a:solidFill>
                  <a:srgbClr val="FFB300"/>
                </a:solidFill>
                <a:effectLst/>
                <a:uFillTx/>
                <a:latin typeface="Satoshi"/>
                <a:ea typeface="Satoshi"/>
              </a:rPr>
              <a:t>Pour votre attention</a:t>
            </a:r>
            <a:endParaRPr lang="fr-FR" sz="1800" b="0" u="none" strike="noStrike">
              <a:solidFill>
                <a:srgbClr val="FFFFFF"/>
              </a:solidFill>
              <a:effectLst/>
              <a:uFillTx/>
              <a:latin typeface="Arial"/>
            </a:endParaRPr>
          </a:p>
        </p:txBody>
      </p:sp>
      <p:sp>
        <p:nvSpPr>
          <p:cNvPr id="2223" name="Text 2"/>
          <p:cNvSpPr/>
          <p:nvPr/>
        </p:nvSpPr>
        <p:spPr>
          <a:xfrm>
            <a:off x="457200" y="2468880"/>
            <a:ext cx="27360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REMERCIEMENTS</a:t>
            </a:r>
            <a:endParaRPr lang="fr-FR" sz="1000" b="0" u="none" strike="noStrike">
              <a:solidFill>
                <a:srgbClr val="FFFFFF"/>
              </a:solidFill>
              <a:effectLst/>
              <a:uFillTx/>
              <a:latin typeface="Arial"/>
            </a:endParaRPr>
          </a:p>
        </p:txBody>
      </p:sp>
      <p:sp>
        <p:nvSpPr>
          <p:cNvPr id="2224" name="Text 3"/>
          <p:cNvSpPr/>
          <p:nvPr/>
        </p:nvSpPr>
        <p:spPr>
          <a:xfrm>
            <a:off x="457200" y="2743200"/>
            <a:ext cx="2736000" cy="1821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100" b="1" u="none" strike="noStrike">
                <a:solidFill>
                  <a:srgbClr val="F4EFE6"/>
                </a:solidFill>
                <a:effectLst/>
                <a:uFillTx/>
                <a:latin typeface="Satoshi"/>
                <a:ea typeface="Satoshi"/>
              </a:rPr>
              <a:t>Benoît MOTTIN</a:t>
            </a:r>
            <a:endParaRPr lang="fr-FR" sz="11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Référent pédagogique FIM</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FFFFFF"/>
              </a:solidFill>
              <a:effectLst/>
              <a:uFillTx/>
              <a:latin typeface="Arial"/>
            </a:endParaRPr>
          </a:p>
          <a:p>
            <a:pPr defTabSz="914400">
              <a:lnSpc>
                <a:spcPct val="100000"/>
              </a:lnSpc>
              <a:spcAft>
                <a:spcPts val="99"/>
              </a:spcAft>
              <a:tabLst>
                <a:tab pos="0" algn="l"/>
              </a:tabLst>
            </a:pPr>
            <a:r>
              <a:rPr lang="fr-FR" sz="1100" b="1" u="none" strike="noStrike">
                <a:solidFill>
                  <a:srgbClr val="F4EFE6"/>
                </a:solidFill>
                <a:effectLst/>
                <a:uFillTx/>
                <a:latin typeface="Satoshi"/>
                <a:ea typeface="Satoshi"/>
              </a:rPr>
              <a:t>Lucas TREHET</a:t>
            </a:r>
            <a:endParaRPr lang="fr-FR" sz="11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Maître de stage Saobio</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FFFFFF"/>
              </a:solidFill>
              <a:effectLst/>
              <a:uFillTx/>
              <a:latin typeface="Arial"/>
            </a:endParaRPr>
          </a:p>
          <a:p>
            <a:pPr defTabSz="914400">
              <a:lnSpc>
                <a:spcPct val="100000"/>
              </a:lnSpc>
              <a:spcAft>
                <a:spcPts val="99"/>
              </a:spcAft>
              <a:tabLst>
                <a:tab pos="0" algn="l"/>
              </a:tabLst>
            </a:pPr>
            <a:r>
              <a:rPr lang="fr-FR" sz="1100" b="1" u="none" strike="noStrike">
                <a:solidFill>
                  <a:srgbClr val="F4EFE6"/>
                </a:solidFill>
                <a:effectLst/>
                <a:uFillTx/>
                <a:latin typeface="Satoshi"/>
                <a:ea typeface="Satoshi"/>
              </a:rPr>
              <a:t>L'équipe pédagogique FIM CCI</a:t>
            </a:r>
            <a:endParaRPr lang="fr-FR" sz="11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78909C"/>
                </a:solidFill>
                <a:effectLst/>
                <a:uFillTx/>
                <a:latin typeface="Satoshi"/>
                <a:ea typeface="Satoshi"/>
              </a:rPr>
              <a:t>Campus 2 — Saint-Lô</a:t>
            </a:r>
            <a:endParaRPr lang="fr-FR" sz="950" b="0" u="none" strike="noStrike">
              <a:solidFill>
                <a:srgbClr val="FFFFFF"/>
              </a:solidFill>
              <a:effectLst/>
              <a:uFillTx/>
              <a:latin typeface="Arial"/>
            </a:endParaRPr>
          </a:p>
        </p:txBody>
      </p:sp>
      <p:sp>
        <p:nvSpPr>
          <p:cNvPr id="2225" name="Text 4"/>
          <p:cNvSpPr/>
          <p:nvPr/>
        </p:nvSpPr>
        <p:spPr>
          <a:xfrm>
            <a:off x="3474720" y="2468880"/>
            <a:ext cx="273600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RÉFÉRENCES</a:t>
            </a:r>
            <a:endParaRPr lang="fr-FR" sz="1000" b="0" u="none" strike="noStrike">
              <a:solidFill>
                <a:srgbClr val="FFFFFF"/>
              </a:solidFill>
              <a:effectLst/>
              <a:uFillTx/>
              <a:latin typeface="Arial"/>
            </a:endParaRPr>
          </a:p>
        </p:txBody>
      </p:sp>
      <p:sp>
        <p:nvSpPr>
          <p:cNvPr id="2226" name="Text 5"/>
          <p:cNvSpPr/>
          <p:nvPr/>
        </p:nvSpPr>
        <p:spPr>
          <a:xfrm>
            <a:off x="3474720" y="2743200"/>
            <a:ext cx="2736000" cy="1821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p5aholic.me · Keita YAMADA</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lauren-waller.com</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raoul-gaillard.com</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500" b="0" u="none" strike="noStrike">
                <a:solidFill>
                  <a:srgbClr val="000000"/>
                </a:solidFill>
                <a:effectLst/>
                <a:uFillTx/>
                <a:latin typeface="Satoshi"/>
                <a:ea typeface="Satoshi"/>
              </a:rPr>
              <a:t> </a:t>
            </a:r>
            <a:endParaRPr lang="fr-FR" sz="5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MDN Web Docs</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WordPress.org Codex</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WCAG 2.1 — W3C</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Google Web.dev (Core Web Vitals)</a:t>
            </a:r>
            <a:endParaRPr lang="fr-FR" sz="950" b="0" u="none" strike="noStrike">
              <a:solidFill>
                <a:srgbClr val="FFFFFF"/>
              </a:solidFill>
              <a:effectLst/>
              <a:uFillTx/>
              <a:latin typeface="Arial"/>
            </a:endParaRPr>
          </a:p>
        </p:txBody>
      </p:sp>
      <p:sp>
        <p:nvSpPr>
          <p:cNvPr id="2227" name="Text 6"/>
          <p:cNvSpPr/>
          <p:nvPr/>
        </p:nvSpPr>
        <p:spPr>
          <a:xfrm>
            <a:off x="6400800" y="2468880"/>
            <a:ext cx="2370240" cy="221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00" b="1" u="none" spc="201" strike="noStrike">
                <a:solidFill>
                  <a:srgbClr val="FFB300"/>
                </a:solidFill>
                <a:effectLst/>
                <a:uFillTx/>
                <a:latin typeface="Satoshi"/>
                <a:ea typeface="Satoshi"/>
              </a:rPr>
              <a:t>CONTACT</a:t>
            </a:r>
            <a:endParaRPr lang="fr-FR" sz="1000" b="0" u="none" strike="noStrike">
              <a:solidFill>
                <a:srgbClr val="FFFFFF"/>
              </a:solidFill>
              <a:effectLst/>
              <a:uFillTx/>
              <a:latin typeface="Arial"/>
            </a:endParaRPr>
          </a:p>
        </p:txBody>
      </p:sp>
      <p:sp>
        <p:nvSpPr>
          <p:cNvPr id="2228" name="Text 7"/>
          <p:cNvSpPr/>
          <p:nvPr/>
        </p:nvSpPr>
        <p:spPr>
          <a:xfrm>
            <a:off x="6400800" y="2743200"/>
            <a:ext cx="2370240" cy="18216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spcAft>
                <a:spcPts val="99"/>
              </a:spcAft>
              <a:tabLst>
                <a:tab pos="0" algn="l"/>
              </a:tabLst>
            </a:pPr>
            <a:r>
              <a:rPr lang="fr-FR" sz="1100" b="1" u="none" strike="noStrike">
                <a:solidFill>
                  <a:srgbClr val="F4EFE6"/>
                </a:solidFill>
                <a:effectLst/>
                <a:uFillTx/>
                <a:latin typeface="Satoshi"/>
                <a:ea typeface="Satoshi"/>
              </a:rPr>
              <a:t>Aymen CHAABANE</a:t>
            </a:r>
            <a:endParaRPr lang="fr-FR" sz="1100" b="0" u="none" strike="noStrike">
              <a:solidFill>
                <a:srgbClr val="FFFFFF"/>
              </a:solidFill>
              <a:effectLst/>
              <a:uFillTx/>
              <a:latin typeface="Arial"/>
            </a:endParaRPr>
          </a:p>
          <a:p>
            <a:pPr defTabSz="914400">
              <a:lnSpc>
                <a:spcPct val="100000"/>
              </a:lnSpc>
              <a:spcAft>
                <a:spcPts val="99"/>
              </a:spcAft>
              <a:tabLst>
                <a:tab pos="0" algn="l"/>
              </a:tabLst>
            </a:pPr>
            <a:r>
              <a:rPr lang="fr-FR" sz="950" b="0" i="1" u="none" strike="noStrike">
                <a:solidFill>
                  <a:srgbClr val="78909C"/>
                </a:solidFill>
                <a:effectLst/>
                <a:uFillTx/>
                <a:latin typeface="Satoshi"/>
                <a:ea typeface="Satoshi"/>
              </a:rPr>
              <a:t>Chef de Projet Digital</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chaabane_aymen@outlook.fr</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+33 6 52 88 17 26</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600" b="0" u="none" strike="noStrike">
                <a:solidFill>
                  <a:srgbClr val="000000"/>
                </a:solidFill>
                <a:effectLst/>
                <a:uFillTx/>
                <a:latin typeface="Satoshi"/>
                <a:ea typeface="Satoshi"/>
              </a:rPr>
              <a:t> </a:t>
            </a:r>
            <a:endParaRPr lang="fr-FR" sz="60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4EFE6"/>
                </a:solidFill>
                <a:effectLst/>
                <a:uFillTx/>
                <a:latin typeface="Satoshi"/>
                <a:ea typeface="Satoshi"/>
              </a:rPr>
              <a:t>GitHub : LEMON-216</a:t>
            </a:r>
            <a:endParaRPr lang="fr-FR" sz="950" b="0" u="none" strike="noStrike">
              <a:solidFill>
                <a:srgbClr val="FFFFFF"/>
              </a:solidFill>
              <a:effectLst/>
              <a:uFillTx/>
              <a:latin typeface="Arial"/>
            </a:endParaRPr>
          </a:p>
          <a:p>
            <a:pPr defTabSz="914400">
              <a:lnSpc>
                <a:spcPct val="100000"/>
              </a:lnSpc>
              <a:spcAft>
                <a:spcPts val="99"/>
              </a:spcAft>
              <a:tabLst>
                <a:tab pos="0" algn="l"/>
              </a:tabLst>
            </a:pPr>
            <a:r>
              <a:rPr lang="fr-FR" sz="950" b="0" u="none" strike="noStrike">
                <a:solidFill>
                  <a:srgbClr val="FFB300"/>
                </a:solidFill>
                <a:effectLst/>
                <a:uFillTx/>
                <a:latin typeface="Satoshi"/>
                <a:ea typeface="Satoshi"/>
              </a:rPr>
              <a:t>aymen-chaabane.fr</a:t>
            </a:r>
            <a:endParaRPr lang="fr-FR" sz="950" b="0" u="none" strike="noStrike">
              <a:solidFill>
                <a:srgbClr val="FFFFFF"/>
              </a:solidFill>
              <a:effectLst/>
              <a:uFillTx/>
              <a:latin typeface="Arial"/>
            </a:endParaRPr>
          </a:p>
        </p:txBody>
      </p:sp>
      <p:sp>
        <p:nvSpPr>
          <p:cNvPr id="2229" name="Text 8"/>
          <p:cNvSpPr/>
          <p:nvPr/>
        </p:nvSpPr>
        <p:spPr>
          <a:xfrm>
            <a:off x="460080" y="4709160"/>
            <a:ext cx="8222400" cy="221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00" b="0" u="none" spc="201" strike="noStrike">
                <a:solidFill>
                  <a:srgbClr val="78909C"/>
                </a:solidFill>
                <a:effectLst/>
                <a:uFillTx/>
                <a:latin typeface="Satoshi"/>
                <a:ea typeface="Satoshi"/>
              </a:rPr>
              <a:t>Cahier des charges · v5.0 · juin 2026</a:t>
            </a:r>
            <a:endParaRPr lang="fr-FR"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1232</TotalTime>
  <Application>LibreOffice/26.2.1.2$Windows_X86_64 LibreOffice_project/620$Build-2</Application>
  <AppVersion>15.0000</AppVersion>
  <Words>0</Words>
  <Paragraphs>0</Paragraphs>
  <Company>FIM CCI Campus 2 — Saint-Lô</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2026-05-27T07:58:52Z</dcterms:created>
  <dc:creator>Aymen CHAABANE</dc:creator>
  <dc:description/>
  <dc:language>fr-FR</dc:language>
  <cp:lastModifiedBy/>
  <cp:lastPrinted>2026-05-29T17:00:31Z</cp:lastPrinted>
  <dcterms:modified xsi:type="dcterms:W3CDTF">2026-06-06T01:37:25Z</dcterms:modified>
  <cp:revision>157</cp:revision>
  <dc:subject>PptxGenJS Presentation</dc:subject>
  <dc:title>Cahier des charges — Portfolio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102</vt:i4>
  </property>
  <property fmtid="{D5CDD505-2E9C-101B-9397-08002B2CF9AE}" pid="3" name="PresentationFormat">
    <vt:lpwstr>On-screen Show (16:9)</vt:lpwstr>
  </property>
  <property fmtid="{D5CDD505-2E9C-101B-9397-08002B2CF9AE}" pid="4" name="Slides">
    <vt:i4>102</vt:i4>
  </property>
</Properties>
</file>